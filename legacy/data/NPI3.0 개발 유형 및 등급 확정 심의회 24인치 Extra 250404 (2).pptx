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6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7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8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9" r:id="rId1"/>
    <p:sldMasterId id="2147483724" r:id="rId2"/>
    <p:sldMasterId id="2147483729" r:id="rId3"/>
    <p:sldMasterId id="2147483758" r:id="rId4"/>
    <p:sldMasterId id="2147483788" r:id="rId5"/>
    <p:sldMasterId id="2147483790" r:id="rId6"/>
    <p:sldMasterId id="2147483822" r:id="rId7"/>
    <p:sldMasterId id="2147483837" r:id="rId8"/>
    <p:sldMasterId id="2147483848" r:id="rId9"/>
  </p:sldMasterIdLst>
  <p:notesMasterIdLst>
    <p:notesMasterId r:id="rId31"/>
  </p:notesMasterIdLst>
  <p:handoutMasterIdLst>
    <p:handoutMasterId r:id="rId32"/>
  </p:handoutMasterIdLst>
  <p:sldIdLst>
    <p:sldId id="929" r:id="rId10"/>
    <p:sldId id="926" r:id="rId11"/>
    <p:sldId id="930" r:id="rId12"/>
    <p:sldId id="919" r:id="rId13"/>
    <p:sldId id="920" r:id="rId14"/>
    <p:sldId id="922" r:id="rId15"/>
    <p:sldId id="921" r:id="rId16"/>
    <p:sldId id="873" r:id="rId17"/>
    <p:sldId id="874" r:id="rId18"/>
    <p:sldId id="875" r:id="rId19"/>
    <p:sldId id="924" r:id="rId20"/>
    <p:sldId id="925" r:id="rId21"/>
    <p:sldId id="848" r:id="rId22"/>
    <p:sldId id="894" r:id="rId23"/>
    <p:sldId id="895" r:id="rId24"/>
    <p:sldId id="896" r:id="rId25"/>
    <p:sldId id="871" r:id="rId26"/>
    <p:sldId id="843" r:id="rId27"/>
    <p:sldId id="845" r:id="rId28"/>
    <p:sldId id="846" r:id="rId29"/>
    <p:sldId id="847" r:id="rId30"/>
  </p:sldIdLst>
  <p:sldSz cx="9906000" cy="6858000" type="A4"/>
  <p:notesSz cx="6797675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1pPr>
    <a:lvl2pPr marL="436215" algn="l" rtl="0" fontAlgn="base" latinLnBrk="1">
      <a:spcBef>
        <a:spcPct val="0"/>
      </a:spcBef>
      <a:spcAft>
        <a:spcPct val="0"/>
      </a:spcAft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2pPr>
    <a:lvl3pPr marL="872431" algn="l" rtl="0" fontAlgn="base" latinLnBrk="1">
      <a:spcBef>
        <a:spcPct val="0"/>
      </a:spcBef>
      <a:spcAft>
        <a:spcPct val="0"/>
      </a:spcAft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3pPr>
    <a:lvl4pPr marL="1308643" algn="l" rtl="0" fontAlgn="base" latinLnBrk="1">
      <a:spcBef>
        <a:spcPct val="0"/>
      </a:spcBef>
      <a:spcAft>
        <a:spcPct val="0"/>
      </a:spcAft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4pPr>
    <a:lvl5pPr marL="1744861" algn="l" rtl="0" fontAlgn="base" latinLnBrk="1">
      <a:spcBef>
        <a:spcPct val="0"/>
      </a:spcBef>
      <a:spcAft>
        <a:spcPct val="0"/>
      </a:spcAft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5pPr>
    <a:lvl6pPr marL="2181074" algn="l" defTabSz="872431" rtl="0" eaLnBrk="1" latinLnBrk="1" hangingPunct="1"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6pPr>
    <a:lvl7pPr marL="2617290" algn="l" defTabSz="872431" rtl="0" eaLnBrk="1" latinLnBrk="1" hangingPunct="1"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7pPr>
    <a:lvl8pPr marL="3053504" algn="l" defTabSz="872431" rtl="0" eaLnBrk="1" latinLnBrk="1" hangingPunct="1"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8pPr>
    <a:lvl9pPr marL="3489719" algn="l" defTabSz="872431" rtl="0" eaLnBrk="1" latinLnBrk="1" hangingPunct="1">
      <a:defRPr kumimoji="1" sz="1300" b="1" kern="1200">
        <a:solidFill>
          <a:schemeClr val="tx1"/>
        </a:solidFill>
        <a:latin typeface="Arial" charset="0"/>
        <a:ea typeface="돋움" pitchFamily="50" charset="-127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회의록" id="{524F3574-940E-4EF8-85C5-168258D3F507}">
          <p14:sldIdLst>
            <p14:sldId id="929"/>
          </p14:sldIdLst>
        </p14:section>
        <p14:section name="(KOR) 개발 유형 및 등급 확정 심의 양식" id="{BCBDC747-E19E-4893-8EB0-47EE514E91CB}">
          <p14:sldIdLst>
            <p14:sldId id="926"/>
            <p14:sldId id="930"/>
            <p14:sldId id="919"/>
            <p14:sldId id="920"/>
            <p14:sldId id="922"/>
            <p14:sldId id="921"/>
            <p14:sldId id="873"/>
            <p14:sldId id="874"/>
            <p14:sldId id="875"/>
            <p14:sldId id="924"/>
            <p14:sldId id="925"/>
          </p14:sldIdLst>
        </p14:section>
        <p14:section name="Activity Check list(NPI3.0)" id="{B2C13E4A-7C4C-44B5-B3AC-FBDC22A0052B}">
          <p14:sldIdLst>
            <p14:sldId id="848"/>
            <p14:sldId id="894"/>
            <p14:sldId id="895"/>
            <p14:sldId id="896"/>
          </p14:sldIdLst>
        </p14:section>
        <p14:section name="유첨.개발유형 및 등급확정 심의 기준(보완)" id="{29FB7E96-A6E3-43D1-8178-AAB1D4CF0518}">
          <p14:sldIdLst>
            <p14:sldId id="871"/>
          </p14:sldIdLst>
        </p14:section>
        <p14:section name="유첨.개발PJT운영기준안" id="{3F0C5FA6-5A73-4000-9D27-D7544CECA94E}">
          <p14:sldIdLst>
            <p14:sldId id="843"/>
            <p14:sldId id="845"/>
            <p14:sldId id="846"/>
            <p14:sldId id="8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orient="horz" pos="2341" userDrawn="1">
          <p15:clr>
            <a:srgbClr val="A4A3A4"/>
          </p15:clr>
        </p15:guide>
        <p15:guide id="3" orient="horz" pos="1117" userDrawn="1">
          <p15:clr>
            <a:srgbClr val="A4A3A4"/>
          </p15:clr>
        </p15:guide>
        <p15:guide id="4" pos="483" userDrawn="1">
          <p15:clr>
            <a:srgbClr val="A4A3A4"/>
          </p15:clr>
        </p15:guide>
        <p15:guide id="5" pos="5877" userDrawn="1">
          <p15:clr>
            <a:srgbClr val="A4A3A4"/>
          </p15:clr>
        </p15:guide>
        <p15:guide id="6" pos="2702" userDrawn="1">
          <p15:clr>
            <a:srgbClr val="A4A3A4"/>
          </p15:clr>
        </p15:guide>
        <p15:guide id="7" pos="791" userDrawn="1">
          <p15:clr>
            <a:srgbClr val="A4A3A4"/>
          </p15:clr>
        </p15:guide>
        <p15:guide id="8" pos="1090" userDrawn="1">
          <p15:clr>
            <a:srgbClr val="A4A3A4"/>
          </p15:clr>
        </p15:guide>
        <p15:guide id="9" pos="2810" userDrawn="1">
          <p15:clr>
            <a:srgbClr val="A4A3A4"/>
          </p15:clr>
        </p15:guide>
        <p15:guide id="10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6600"/>
    <a:srgbClr val="FF0000"/>
    <a:srgbClr val="00FF00"/>
    <a:srgbClr val="CC66FF"/>
    <a:srgbClr val="FFFFFF"/>
    <a:srgbClr val="FFFF99"/>
    <a:srgbClr val="00CC00"/>
    <a:srgbClr val="CC99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86384" autoAdjust="0"/>
  </p:normalViewPr>
  <p:slideViewPr>
    <p:cSldViewPr>
      <p:cViewPr varScale="1">
        <p:scale>
          <a:sx n="116" d="100"/>
          <a:sy n="116" d="100"/>
        </p:scale>
        <p:origin x="1470" y="108"/>
      </p:cViewPr>
      <p:guideLst>
        <p:guide orient="horz" pos="709"/>
        <p:guide orient="horz" pos="2341"/>
        <p:guide orient="horz" pos="1117"/>
        <p:guide pos="483"/>
        <p:guide pos="5877"/>
        <p:guide pos="2702"/>
        <p:guide pos="791"/>
        <p:guide pos="1090"/>
        <p:guide pos="2810"/>
        <p:guide pos="3120"/>
      </p:guideLst>
    </p:cSldViewPr>
  </p:slideViewPr>
  <p:outlineViewPr>
    <p:cViewPr>
      <p:scale>
        <a:sx n="33" d="100"/>
        <a:sy n="33" d="100"/>
      </p:scale>
      <p:origin x="36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4032" y="-10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2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C3384-588B-4981-8D7B-59559094B3D8}" type="datetimeFigureOut">
              <a:rPr lang="ko-KR" altLang="en-US" smtClean="0"/>
              <a:pPr/>
              <a:t>2025-05-15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3E5EDC-71CF-4B18-A9F2-6FD8A6481F8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6959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FontTx/>
              <a:buNone/>
              <a:defRPr sz="1200" b="0">
                <a:latin typeface="굴림" pitchFamily="50" charset="-127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b="0">
                <a:latin typeface="굴림" pitchFamily="50" charset="-127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686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FontTx/>
              <a:buNone/>
              <a:defRPr sz="1200" b="0">
                <a:latin typeface="굴림" pitchFamily="50" charset="-127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b="0">
                <a:latin typeface="굴림" pitchFamily="50" charset="-127"/>
                <a:ea typeface="굴림" pitchFamily="50" charset="-127"/>
                <a:cs typeface="+mn-cs"/>
              </a:defRPr>
            </a:lvl1pPr>
          </a:lstStyle>
          <a:p>
            <a:pPr>
              <a:defRPr/>
            </a:pPr>
            <a:fld id="{AD60512F-43DA-4FEC-9FA7-52BAE0DD74FC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111740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36215"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872431"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08643"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744861"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181074" algn="l" defTabSz="87243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617290" algn="l" defTabSz="87243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053504" algn="l" defTabSz="87243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89719" algn="l" defTabSz="872431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A68077-94B1-4921-86E9-D47F8D7E3E40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828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6C52CA-CCDF-4DAC-9D5A-52BB0172029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730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6C52CA-CCDF-4DAC-9D5A-52BB0172029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4633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6C52CA-CCDF-4DAC-9D5A-52BB0172029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1340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6C52CA-CCDF-4DAC-9D5A-52BB0172029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135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6C52CA-CCDF-4DAC-9D5A-52BB0172029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808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A68077-94B1-4921-86E9-D47F8D7E3E40}" type="slidenum">
              <a:rPr lang="ko-KR" altLang="en-US" smtClean="0">
                <a:solidFill>
                  <a:prstClr val="black"/>
                </a:solidFill>
              </a:rPr>
              <a:pPr/>
              <a:t>9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419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104D4-0E55-4306-A8B2-AFC5E31B068A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561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104D4-0E55-4306-A8B2-AFC5E31B068A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018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95301" y="6245224"/>
            <a:ext cx="2312988" cy="477838"/>
          </a:xfrm>
          <a:prstGeom prst="rect">
            <a:avLst/>
          </a:prstGeom>
          <a:ln/>
        </p:spPr>
        <p:txBody>
          <a:bodyPr lIns="87242" tIns="43621" rIns="87242" bIns="43621"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1" y="6245224"/>
            <a:ext cx="3136900" cy="477838"/>
          </a:xfrm>
          <a:prstGeom prst="rect">
            <a:avLst/>
          </a:prstGeom>
          <a:ln/>
        </p:spPr>
        <p:txBody>
          <a:bodyPr lIns="87242" tIns="43621" rIns="87242" bIns="43621"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7717" y="6245224"/>
            <a:ext cx="2312987" cy="477838"/>
          </a:xfrm>
          <a:prstGeom prst="rect">
            <a:avLst/>
          </a:prstGeom>
          <a:ln/>
        </p:spPr>
        <p:txBody>
          <a:bodyPr lIns="87242" tIns="43621" rIns="87242" bIns="43621"/>
          <a:lstStyle>
            <a:lvl1pPr>
              <a:defRPr/>
            </a:lvl1pPr>
          </a:lstStyle>
          <a:p>
            <a:pPr>
              <a:defRPr/>
            </a:pPr>
            <a:fld id="{F6FA7202-355A-4F7A-921C-8D880F39668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 lIns="91405" tIns="45703" rIns="91405" bIns="45703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440112" y="6526217"/>
            <a:ext cx="2311400" cy="2873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0293FC-C5D6-4CEB-9858-E5CF7FEFFD3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4"/>
          <p:cNvSpPr>
            <a:spLocks noChangeShapeType="1"/>
          </p:cNvSpPr>
          <p:nvPr userDrawn="1"/>
        </p:nvSpPr>
        <p:spPr bwMode="auto">
          <a:xfrm>
            <a:off x="0" y="5349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1056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653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007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406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95300" y="6245225"/>
            <a:ext cx="2313120" cy="477838"/>
          </a:xfrm>
          <a:prstGeom prst="rect">
            <a:avLst/>
          </a:prstGeom>
        </p:spPr>
        <p:txBody>
          <a:bodyPr lIns="87242" tIns="43621" rIns="87242" bIns="43621"/>
          <a:lstStyle>
            <a:lvl1pPr eaLnBrk="1" latin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5225"/>
            <a:ext cx="3136900" cy="477838"/>
          </a:xfrm>
          <a:prstGeom prst="rect">
            <a:avLst/>
          </a:prstGeom>
        </p:spPr>
        <p:txBody>
          <a:bodyPr lIns="87242" tIns="43621" rIns="87242" bIns="43621"/>
          <a:lstStyle>
            <a:lvl1pPr eaLnBrk="1" latin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7584" y="6245225"/>
            <a:ext cx="2313119" cy="477838"/>
          </a:xfrm>
          <a:prstGeom prst="rect">
            <a:avLst/>
          </a:prstGeom>
        </p:spPr>
        <p:txBody>
          <a:bodyPr vert="horz" wrap="square" lIns="87242" tIns="43621" rIns="87242" bIns="43621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D355C6B-2410-4428-93C3-4C89B07A2395}" type="slidenum">
              <a:rPr lang="en-US" altLang="ko-KR">
                <a:solidFill>
                  <a:srgbClr val="000000"/>
                </a:solidFill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959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 lIns="91405" tIns="45703" rIns="91405" bIns="45703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439583" y="6526218"/>
            <a:ext cx="2311400" cy="2873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95C3E20-869D-40DC-A352-CC48159669C2}" type="slidenum">
              <a:rPr lang="en-US" altLang="ko-KR">
                <a:solidFill>
                  <a:srgbClr val="000000"/>
                </a:solidFill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674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0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0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4175-86C1-4D49-BE45-170EB118439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2025-05-15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2466-D369-4133-A394-FDE5160901D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648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4175-86C1-4D49-BE45-170EB118439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2025-05-15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2466-D369-4133-A394-FDE5160901D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167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5"/>
            <a:ext cx="8420100" cy="1362075"/>
          </a:xfr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1pPr>
            <a:lvl2pPr marL="422039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2pPr>
            <a:lvl3pPr marL="844078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3pPr>
            <a:lvl4pPr marL="126611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4pPr>
            <a:lvl5pPr marL="1688155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5pPr>
            <a:lvl6pPr marL="2110195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6pPr>
            <a:lvl7pPr marL="2532233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7pPr>
            <a:lvl8pPr marL="2954272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8pPr>
            <a:lvl9pPr marL="3376311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4175-86C1-4D49-BE45-170EB118439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2025-05-15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2466-D369-4133-A394-FDE5160901D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491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575" y="1600205"/>
            <a:ext cx="4746625" cy="4525963"/>
          </a:xfr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48300" y="1600205"/>
            <a:ext cx="4746625" cy="4525963"/>
          </a:xfr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4175-86C1-4D49-BE45-170EB118439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2025-05-15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2466-D369-4133-A394-FDE5160901D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489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039" indent="0">
              <a:buNone/>
              <a:defRPr sz="1846" b="1"/>
            </a:lvl2pPr>
            <a:lvl3pPr marL="844078" indent="0">
              <a:buNone/>
              <a:defRPr sz="1662" b="1"/>
            </a:lvl3pPr>
            <a:lvl4pPr marL="1266117" indent="0">
              <a:buNone/>
              <a:defRPr sz="1477" b="1"/>
            </a:lvl4pPr>
            <a:lvl5pPr marL="1688155" indent="0">
              <a:buNone/>
              <a:defRPr sz="1477" b="1"/>
            </a:lvl5pPr>
            <a:lvl6pPr marL="2110195" indent="0">
              <a:buNone/>
              <a:defRPr sz="1477" b="1"/>
            </a:lvl6pPr>
            <a:lvl7pPr marL="2532233" indent="0">
              <a:buNone/>
              <a:defRPr sz="1477" b="1"/>
            </a:lvl7pPr>
            <a:lvl8pPr marL="2954272" indent="0">
              <a:buNone/>
              <a:defRPr sz="1477" b="1"/>
            </a:lvl8pPr>
            <a:lvl9pPr marL="3376311" indent="0">
              <a:buNone/>
              <a:defRPr sz="1477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3" y="1535113"/>
            <a:ext cx="4378590" cy="63976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039" indent="0">
              <a:buNone/>
              <a:defRPr sz="1846" b="1"/>
            </a:lvl2pPr>
            <a:lvl3pPr marL="844078" indent="0">
              <a:buNone/>
              <a:defRPr sz="1662" b="1"/>
            </a:lvl3pPr>
            <a:lvl4pPr marL="1266117" indent="0">
              <a:buNone/>
              <a:defRPr sz="1477" b="1"/>
            </a:lvl4pPr>
            <a:lvl5pPr marL="1688155" indent="0">
              <a:buNone/>
              <a:defRPr sz="1477" b="1"/>
            </a:lvl5pPr>
            <a:lvl6pPr marL="2110195" indent="0">
              <a:buNone/>
              <a:defRPr sz="1477" b="1"/>
            </a:lvl6pPr>
            <a:lvl7pPr marL="2532233" indent="0">
              <a:buNone/>
              <a:defRPr sz="1477" b="1"/>
            </a:lvl7pPr>
            <a:lvl8pPr marL="2954272" indent="0">
              <a:buNone/>
              <a:defRPr sz="1477" b="1"/>
            </a:lvl8pPr>
            <a:lvl9pPr marL="3376311" indent="0">
              <a:buNone/>
              <a:defRPr sz="1477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3" y="2174875"/>
            <a:ext cx="4378590" cy="3951288"/>
          </a:xfr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4175-86C1-4D49-BE45-170EB118439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2025-05-15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2466-D369-4133-A394-FDE5160901D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305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4175-86C1-4D49-BE45-170EB118439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2025-05-15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2466-D369-4133-A394-FDE5160901D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949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4175-86C1-4D49-BE45-170EB118439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2025-05-15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2466-D369-4133-A394-FDE5160901D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16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2" y="273055"/>
            <a:ext cx="5537729" cy="5853113"/>
          </a:xfr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5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006" cy="4691063"/>
          </a:xfrm>
        </p:spPr>
        <p:txBody>
          <a:bodyPr/>
          <a:lstStyle>
            <a:lvl1pPr marL="0" indent="0">
              <a:buNone/>
              <a:defRPr sz="1292"/>
            </a:lvl1pPr>
            <a:lvl2pPr marL="422039" indent="0">
              <a:buNone/>
              <a:defRPr sz="1108"/>
            </a:lvl2pPr>
            <a:lvl3pPr marL="844078" indent="0">
              <a:buNone/>
              <a:defRPr sz="923"/>
            </a:lvl3pPr>
            <a:lvl4pPr marL="1266117" indent="0">
              <a:buNone/>
              <a:defRPr sz="831"/>
            </a:lvl4pPr>
            <a:lvl5pPr marL="1688155" indent="0">
              <a:buNone/>
              <a:defRPr sz="831"/>
            </a:lvl5pPr>
            <a:lvl6pPr marL="2110195" indent="0">
              <a:buNone/>
              <a:defRPr sz="831"/>
            </a:lvl6pPr>
            <a:lvl7pPr marL="2532233" indent="0">
              <a:buNone/>
              <a:defRPr sz="831"/>
            </a:lvl7pPr>
            <a:lvl8pPr marL="2954272" indent="0">
              <a:buNone/>
              <a:defRPr sz="831"/>
            </a:lvl8pPr>
            <a:lvl9pPr marL="3376311" indent="0">
              <a:buNone/>
              <a:defRPr sz="83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4175-86C1-4D49-BE45-170EB1184398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2025-05-15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2466-D369-4133-A394-FDE5160901D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4235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2878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1"/>
          <p:cNvSpPr>
            <a:spLocks noChangeShapeType="1"/>
          </p:cNvSpPr>
          <p:nvPr userDrawn="1"/>
        </p:nvSpPr>
        <p:spPr bwMode="auto">
          <a:xfrm>
            <a:off x="0" y="64531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 sz="1662" b="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" name="Line 14"/>
          <p:cNvSpPr>
            <a:spLocks noChangeShapeType="1"/>
          </p:cNvSpPr>
          <p:nvPr userDrawn="1"/>
        </p:nvSpPr>
        <p:spPr bwMode="auto">
          <a:xfrm>
            <a:off x="0" y="5349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 sz="1662" b="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" name="Text Box 168"/>
          <p:cNvSpPr txBox="1">
            <a:spLocks noChangeArrowheads="1"/>
          </p:cNvSpPr>
          <p:nvPr userDrawn="1"/>
        </p:nvSpPr>
        <p:spPr bwMode="auto">
          <a:xfrm>
            <a:off x="4089400" y="153994"/>
            <a:ext cx="1606530" cy="262829"/>
          </a:xfrm>
          <a:prstGeom prst="rect">
            <a:avLst/>
          </a:prstGeom>
          <a:noFill/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108" b="0">
                <a:solidFill>
                  <a:srgbClr val="C0C0C0"/>
                </a:solidFill>
                <a:ea typeface="맑은 고딕" pitchFamily="50" charset="-127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2728931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ko-KR" altLang="en-US" noProof="0" smtClean="0"/>
          </a:p>
        </p:txBody>
      </p:sp>
    </p:spTree>
    <p:extLst>
      <p:ext uri="{BB962C8B-B14F-4D97-AF65-F5344CB8AC3E}">
        <p14:creationId xmlns:p14="http://schemas.microsoft.com/office/powerpoint/2010/main" val="30768930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9981" y="274637"/>
            <a:ext cx="6659668" cy="1143000"/>
          </a:xfrm>
          <a:prstGeom prst="rect">
            <a:avLst/>
          </a:prstGeom>
        </p:spPr>
        <p:txBody>
          <a:bodyPr lIns="80250" tIns="40126" rIns="80250" bIns="40126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69981" y="1600205"/>
            <a:ext cx="6659668" cy="4525963"/>
          </a:xfrm>
          <a:prstGeom prst="rect">
            <a:avLst/>
          </a:prstGeom>
        </p:spPr>
        <p:txBody>
          <a:bodyPr lIns="80250" tIns="40126" rIns="80250" bIns="40126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3627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1557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7609" y="2717286"/>
            <a:ext cx="10739543" cy="1874965"/>
          </a:xfrm>
          <a:prstGeom prst="rect">
            <a:avLst/>
          </a:prstGeom>
        </p:spPr>
        <p:txBody>
          <a:bodyPr lIns="122182" tIns="61091" rIns="122182" bIns="61091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5216" y="4956712"/>
            <a:ext cx="8844329" cy="2235380"/>
          </a:xfrm>
          <a:prstGeom prst="rect">
            <a:avLst/>
          </a:prstGeom>
        </p:spPr>
        <p:txBody>
          <a:bodyPr lIns="122182" tIns="61091" rIns="122182" bIns="61091"/>
          <a:lstStyle>
            <a:lvl1pPr marL="0" indent="0" algn="ctr">
              <a:buNone/>
              <a:defRPr/>
            </a:lvl1pPr>
            <a:lvl2pPr marL="563929" indent="0" algn="ctr">
              <a:buNone/>
              <a:defRPr/>
            </a:lvl2pPr>
            <a:lvl3pPr marL="1127857" indent="0" algn="ctr">
              <a:buNone/>
              <a:defRPr/>
            </a:lvl3pPr>
            <a:lvl4pPr marL="1691786" indent="0" algn="ctr">
              <a:buNone/>
              <a:defRPr/>
            </a:lvl4pPr>
            <a:lvl5pPr marL="2255714" indent="0" algn="ctr">
              <a:buNone/>
              <a:defRPr/>
            </a:lvl5pPr>
            <a:lvl6pPr marL="2819642" indent="0" algn="ctr">
              <a:buNone/>
              <a:defRPr/>
            </a:lvl6pPr>
            <a:lvl7pPr marL="3383570" indent="0" algn="ctr">
              <a:buNone/>
              <a:defRPr/>
            </a:lvl7pPr>
            <a:lvl8pPr marL="3947498" indent="0" algn="ctr">
              <a:buNone/>
              <a:defRPr/>
            </a:lvl8pPr>
            <a:lvl9pPr marL="4511427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131754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1740" y="350291"/>
            <a:ext cx="11371281" cy="1457856"/>
          </a:xfrm>
          <a:prstGeom prst="rect">
            <a:avLst/>
          </a:prstGeom>
        </p:spPr>
        <p:txBody>
          <a:bodyPr lIns="122182" tIns="61091" rIns="122182" bIns="61091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31740" y="2041004"/>
            <a:ext cx="11371281" cy="5772707"/>
          </a:xfrm>
          <a:prstGeom prst="rect">
            <a:avLst/>
          </a:prstGeom>
        </p:spPr>
        <p:txBody>
          <a:bodyPr lIns="122182" tIns="61091" rIns="122182" bIns="61091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486339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8061" y="5620851"/>
            <a:ext cx="10739543" cy="1737279"/>
          </a:xfrm>
          <a:prstGeom prst="rect">
            <a:avLst/>
          </a:prstGeom>
        </p:spPr>
        <p:txBody>
          <a:bodyPr lIns="122182" tIns="61091" rIns="122182" bIns="61091" anchor="t"/>
          <a:lstStyle>
            <a:lvl1pPr algn="l">
              <a:defRPr sz="4892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8061" y="3707411"/>
            <a:ext cx="10739543" cy="1913436"/>
          </a:xfrm>
          <a:prstGeom prst="rect">
            <a:avLst/>
          </a:prstGeom>
        </p:spPr>
        <p:txBody>
          <a:bodyPr lIns="122182" tIns="61091" rIns="122182" bIns="61091" anchor="b"/>
          <a:lstStyle>
            <a:lvl1pPr marL="0" indent="0">
              <a:buNone/>
              <a:defRPr sz="2492"/>
            </a:lvl1pPr>
            <a:lvl2pPr marL="563929" indent="0">
              <a:buNone/>
              <a:defRPr sz="2215"/>
            </a:lvl2pPr>
            <a:lvl3pPr marL="1127857" indent="0">
              <a:buNone/>
              <a:defRPr sz="1939"/>
            </a:lvl3pPr>
            <a:lvl4pPr marL="1691786" indent="0">
              <a:buNone/>
              <a:defRPr sz="1754"/>
            </a:lvl4pPr>
            <a:lvl5pPr marL="2255714" indent="0">
              <a:buNone/>
              <a:defRPr sz="1754"/>
            </a:lvl5pPr>
            <a:lvl6pPr marL="2819642" indent="0">
              <a:buNone/>
              <a:defRPr sz="1754"/>
            </a:lvl6pPr>
            <a:lvl7pPr marL="3383570" indent="0">
              <a:buNone/>
              <a:defRPr sz="1754"/>
            </a:lvl7pPr>
            <a:lvl8pPr marL="3947498" indent="0">
              <a:buNone/>
              <a:defRPr sz="1754"/>
            </a:lvl8pPr>
            <a:lvl9pPr marL="4511427" indent="0">
              <a:buNone/>
              <a:defRPr sz="1754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5857795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1740" y="350291"/>
            <a:ext cx="11371281" cy="1457856"/>
          </a:xfrm>
          <a:prstGeom prst="rect">
            <a:avLst/>
          </a:prstGeom>
        </p:spPr>
        <p:txBody>
          <a:bodyPr lIns="122182" tIns="61091" rIns="122182" bIns="61091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1740" y="2041004"/>
            <a:ext cx="5580351" cy="5772707"/>
          </a:xfrm>
          <a:prstGeom prst="rect">
            <a:avLst/>
          </a:prstGeom>
        </p:spPr>
        <p:txBody>
          <a:bodyPr lIns="122182" tIns="61091" rIns="122182" bIns="61091"/>
          <a:lstStyle>
            <a:lvl1pPr>
              <a:defRPr sz="3415"/>
            </a:lvl1pPr>
            <a:lvl2pPr>
              <a:defRPr sz="2954"/>
            </a:lvl2pPr>
            <a:lvl3pPr>
              <a:defRPr sz="2492"/>
            </a:lvl3pPr>
            <a:lvl4pPr>
              <a:defRPr sz="2215"/>
            </a:lvl4pPr>
            <a:lvl5pPr>
              <a:defRPr sz="2215"/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22670" y="2041004"/>
            <a:ext cx="5580351" cy="5772707"/>
          </a:xfrm>
          <a:prstGeom prst="rect">
            <a:avLst/>
          </a:prstGeom>
        </p:spPr>
        <p:txBody>
          <a:bodyPr lIns="122182" tIns="61091" rIns="122182" bIns="61091"/>
          <a:lstStyle>
            <a:lvl1pPr>
              <a:defRPr sz="3415"/>
            </a:lvl1pPr>
            <a:lvl2pPr>
              <a:defRPr sz="2954"/>
            </a:lvl2pPr>
            <a:lvl3pPr>
              <a:defRPr sz="2492"/>
            </a:lvl3pPr>
            <a:lvl4pPr>
              <a:defRPr sz="2215"/>
            </a:lvl4pPr>
            <a:lvl5pPr>
              <a:defRPr sz="2215"/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520023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1740" y="350291"/>
            <a:ext cx="11371281" cy="1457856"/>
          </a:xfrm>
          <a:prstGeom prst="rect">
            <a:avLst/>
          </a:prstGeom>
        </p:spPr>
        <p:txBody>
          <a:bodyPr lIns="122182" tIns="61091" rIns="122182" bIns="61091"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1738" y="1957983"/>
            <a:ext cx="5582545" cy="815994"/>
          </a:xfrm>
          <a:prstGeom prst="rect">
            <a:avLst/>
          </a:prstGeom>
        </p:spPr>
        <p:txBody>
          <a:bodyPr lIns="122182" tIns="61091" rIns="122182" bIns="61091" anchor="b"/>
          <a:lstStyle>
            <a:lvl1pPr marL="0" indent="0">
              <a:buNone/>
              <a:defRPr sz="2954" b="1"/>
            </a:lvl1pPr>
            <a:lvl2pPr marL="563929" indent="0">
              <a:buNone/>
              <a:defRPr sz="2492" b="1"/>
            </a:lvl2pPr>
            <a:lvl3pPr marL="1127857" indent="0">
              <a:buNone/>
              <a:defRPr sz="2215" b="1"/>
            </a:lvl3pPr>
            <a:lvl4pPr marL="1691786" indent="0">
              <a:buNone/>
              <a:defRPr sz="1939" b="1"/>
            </a:lvl4pPr>
            <a:lvl5pPr marL="2255714" indent="0">
              <a:buNone/>
              <a:defRPr sz="1939" b="1"/>
            </a:lvl5pPr>
            <a:lvl6pPr marL="2819642" indent="0">
              <a:buNone/>
              <a:defRPr sz="1939" b="1"/>
            </a:lvl6pPr>
            <a:lvl7pPr marL="3383570" indent="0">
              <a:buNone/>
              <a:defRPr sz="1939" b="1"/>
            </a:lvl7pPr>
            <a:lvl8pPr marL="3947498" indent="0">
              <a:buNone/>
              <a:defRPr sz="1939" b="1"/>
            </a:lvl8pPr>
            <a:lvl9pPr marL="4511427" indent="0">
              <a:buNone/>
              <a:defRPr sz="1939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1738" y="2773981"/>
            <a:ext cx="5582545" cy="5039729"/>
          </a:xfrm>
          <a:prstGeom prst="rect">
            <a:avLst/>
          </a:prstGeom>
        </p:spPr>
        <p:txBody>
          <a:bodyPr lIns="122182" tIns="61091" rIns="122182" bIns="61091"/>
          <a:lstStyle>
            <a:lvl1pPr>
              <a:defRPr sz="2954"/>
            </a:lvl1pPr>
            <a:lvl2pPr>
              <a:defRPr sz="2492"/>
            </a:lvl2pPr>
            <a:lvl3pPr>
              <a:defRPr sz="2215"/>
            </a:lvl3pPr>
            <a:lvl4pPr>
              <a:defRPr sz="1939"/>
            </a:lvl4pPr>
            <a:lvl5pPr>
              <a:defRPr sz="1939"/>
            </a:lvl5pPr>
            <a:lvl6pPr>
              <a:defRPr sz="1939"/>
            </a:lvl6pPr>
            <a:lvl7pPr>
              <a:defRPr sz="1939"/>
            </a:lvl7pPr>
            <a:lvl8pPr>
              <a:defRPr sz="1939"/>
            </a:lvl8pPr>
            <a:lvl9pPr>
              <a:defRPr sz="1939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18283" y="1957983"/>
            <a:ext cx="5584738" cy="815994"/>
          </a:xfrm>
          <a:prstGeom prst="rect">
            <a:avLst/>
          </a:prstGeom>
        </p:spPr>
        <p:txBody>
          <a:bodyPr lIns="122182" tIns="61091" rIns="122182" bIns="61091" anchor="b"/>
          <a:lstStyle>
            <a:lvl1pPr marL="0" indent="0">
              <a:buNone/>
              <a:defRPr sz="2954" b="1"/>
            </a:lvl1pPr>
            <a:lvl2pPr marL="563929" indent="0">
              <a:buNone/>
              <a:defRPr sz="2492" b="1"/>
            </a:lvl2pPr>
            <a:lvl3pPr marL="1127857" indent="0">
              <a:buNone/>
              <a:defRPr sz="2215" b="1"/>
            </a:lvl3pPr>
            <a:lvl4pPr marL="1691786" indent="0">
              <a:buNone/>
              <a:defRPr sz="1939" b="1"/>
            </a:lvl4pPr>
            <a:lvl5pPr marL="2255714" indent="0">
              <a:buNone/>
              <a:defRPr sz="1939" b="1"/>
            </a:lvl5pPr>
            <a:lvl6pPr marL="2819642" indent="0">
              <a:buNone/>
              <a:defRPr sz="1939" b="1"/>
            </a:lvl6pPr>
            <a:lvl7pPr marL="3383570" indent="0">
              <a:buNone/>
              <a:defRPr sz="1939" b="1"/>
            </a:lvl7pPr>
            <a:lvl8pPr marL="3947498" indent="0">
              <a:buNone/>
              <a:defRPr sz="1939" b="1"/>
            </a:lvl8pPr>
            <a:lvl9pPr marL="4511427" indent="0">
              <a:buNone/>
              <a:defRPr sz="1939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18283" y="2773981"/>
            <a:ext cx="5584738" cy="5039729"/>
          </a:xfrm>
          <a:prstGeom prst="rect">
            <a:avLst/>
          </a:prstGeom>
        </p:spPr>
        <p:txBody>
          <a:bodyPr lIns="122182" tIns="61091" rIns="122182" bIns="61091"/>
          <a:lstStyle>
            <a:lvl1pPr>
              <a:defRPr sz="2954"/>
            </a:lvl1pPr>
            <a:lvl2pPr>
              <a:defRPr sz="2492"/>
            </a:lvl2pPr>
            <a:lvl3pPr>
              <a:defRPr sz="2215"/>
            </a:lvl3pPr>
            <a:lvl4pPr>
              <a:defRPr sz="1939"/>
            </a:lvl4pPr>
            <a:lvl5pPr>
              <a:defRPr sz="1939"/>
            </a:lvl5pPr>
            <a:lvl6pPr>
              <a:defRPr sz="1939"/>
            </a:lvl6pPr>
            <a:lvl7pPr>
              <a:defRPr sz="1939"/>
            </a:lvl7pPr>
            <a:lvl8pPr>
              <a:defRPr sz="1939"/>
            </a:lvl8pPr>
            <a:lvl9pPr>
              <a:defRPr sz="1939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876309"/>
      </p:ext>
    </p:extLst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1740" y="350291"/>
            <a:ext cx="11371281" cy="1457856"/>
          </a:xfrm>
          <a:prstGeom prst="rect">
            <a:avLst/>
          </a:prstGeom>
        </p:spPr>
        <p:txBody>
          <a:bodyPr lIns="122182" tIns="61091" rIns="122182" bIns="61091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357793"/>
      </p:ext>
    </p:extLst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733927"/>
      </p:ext>
    </p:extLst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1738" y="348266"/>
            <a:ext cx="4156748" cy="1482154"/>
          </a:xfrm>
          <a:prstGeom prst="rect">
            <a:avLst/>
          </a:prstGeom>
        </p:spPr>
        <p:txBody>
          <a:bodyPr lIns="122182" tIns="61091" rIns="122182" bIns="61091" anchor="b"/>
          <a:lstStyle>
            <a:lvl1pPr algn="l">
              <a:defRPr sz="2492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39839" y="348266"/>
            <a:ext cx="7063180" cy="7465440"/>
          </a:xfrm>
          <a:prstGeom prst="rect">
            <a:avLst/>
          </a:prstGeom>
        </p:spPr>
        <p:txBody>
          <a:bodyPr lIns="122182" tIns="61091" rIns="122182" bIns="61091"/>
          <a:lstStyle>
            <a:lvl1pPr>
              <a:defRPr sz="3969"/>
            </a:lvl1pPr>
            <a:lvl2pPr>
              <a:defRPr sz="3415"/>
            </a:lvl2pPr>
            <a:lvl3pPr>
              <a:defRPr sz="2954"/>
            </a:lvl3pPr>
            <a:lvl4pPr>
              <a:defRPr sz="2492"/>
            </a:lvl4pPr>
            <a:lvl5pPr>
              <a:defRPr sz="2492"/>
            </a:lvl5pPr>
            <a:lvl6pPr>
              <a:defRPr sz="2492"/>
            </a:lvl6pPr>
            <a:lvl7pPr>
              <a:defRPr sz="2492"/>
            </a:lvl7pPr>
            <a:lvl8pPr>
              <a:defRPr sz="2492"/>
            </a:lvl8pPr>
            <a:lvl9pPr>
              <a:defRPr sz="249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1738" y="1830420"/>
            <a:ext cx="4156748" cy="5983286"/>
          </a:xfrm>
          <a:prstGeom prst="rect">
            <a:avLst/>
          </a:prstGeom>
        </p:spPr>
        <p:txBody>
          <a:bodyPr lIns="122182" tIns="61091" rIns="122182" bIns="61091"/>
          <a:lstStyle>
            <a:lvl1pPr marL="0" indent="0">
              <a:buNone/>
              <a:defRPr sz="1754"/>
            </a:lvl1pPr>
            <a:lvl2pPr marL="563929" indent="0">
              <a:buNone/>
              <a:defRPr sz="1477"/>
            </a:lvl2pPr>
            <a:lvl3pPr marL="1127857" indent="0">
              <a:buNone/>
              <a:defRPr sz="1200"/>
            </a:lvl3pPr>
            <a:lvl4pPr marL="1691786" indent="0">
              <a:buNone/>
              <a:defRPr sz="1108"/>
            </a:lvl4pPr>
            <a:lvl5pPr marL="2255714" indent="0">
              <a:buNone/>
              <a:defRPr sz="1108"/>
            </a:lvl5pPr>
            <a:lvl6pPr marL="2819642" indent="0">
              <a:buNone/>
              <a:defRPr sz="1108"/>
            </a:lvl6pPr>
            <a:lvl7pPr marL="3383570" indent="0">
              <a:buNone/>
              <a:defRPr sz="1108"/>
            </a:lvl7pPr>
            <a:lvl8pPr marL="3947498" indent="0">
              <a:buNone/>
              <a:defRPr sz="1108"/>
            </a:lvl8pPr>
            <a:lvl9pPr marL="4511427" indent="0">
              <a:buNone/>
              <a:defRPr sz="1108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12658198"/>
      </p:ext>
    </p:extLst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76501" y="6122997"/>
            <a:ext cx="7580854" cy="722854"/>
          </a:xfrm>
          <a:prstGeom prst="rect">
            <a:avLst/>
          </a:prstGeom>
        </p:spPr>
        <p:txBody>
          <a:bodyPr lIns="122182" tIns="61091" rIns="122182" bIns="61091" anchor="b"/>
          <a:lstStyle>
            <a:lvl1pPr algn="l">
              <a:defRPr sz="2492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76501" y="781577"/>
            <a:ext cx="7580854" cy="5248283"/>
          </a:xfrm>
          <a:prstGeom prst="rect">
            <a:avLst/>
          </a:prstGeom>
        </p:spPr>
        <p:txBody>
          <a:bodyPr lIns="122182" tIns="61091" rIns="122182" bIns="61091"/>
          <a:lstStyle>
            <a:lvl1pPr marL="0" indent="0">
              <a:buNone/>
              <a:defRPr sz="3969"/>
            </a:lvl1pPr>
            <a:lvl2pPr marL="563929" indent="0">
              <a:buNone/>
              <a:defRPr sz="3415"/>
            </a:lvl2pPr>
            <a:lvl3pPr marL="1127857" indent="0">
              <a:buNone/>
              <a:defRPr sz="2954"/>
            </a:lvl3pPr>
            <a:lvl4pPr marL="1691786" indent="0">
              <a:buNone/>
              <a:defRPr sz="2492"/>
            </a:lvl4pPr>
            <a:lvl5pPr marL="2255714" indent="0">
              <a:buNone/>
              <a:defRPr sz="2492"/>
            </a:lvl5pPr>
            <a:lvl6pPr marL="2819642" indent="0">
              <a:buNone/>
              <a:defRPr sz="2492"/>
            </a:lvl6pPr>
            <a:lvl7pPr marL="3383570" indent="0">
              <a:buNone/>
              <a:defRPr sz="2492"/>
            </a:lvl7pPr>
            <a:lvl8pPr marL="3947498" indent="0">
              <a:buNone/>
              <a:defRPr sz="2492"/>
            </a:lvl8pPr>
            <a:lvl9pPr marL="4511427" indent="0">
              <a:buNone/>
              <a:defRPr sz="2492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76501" y="6845855"/>
            <a:ext cx="7580854" cy="1026573"/>
          </a:xfrm>
          <a:prstGeom prst="rect">
            <a:avLst/>
          </a:prstGeom>
        </p:spPr>
        <p:txBody>
          <a:bodyPr lIns="122182" tIns="61091" rIns="122182" bIns="61091"/>
          <a:lstStyle>
            <a:lvl1pPr marL="0" indent="0">
              <a:buNone/>
              <a:defRPr sz="1754"/>
            </a:lvl1pPr>
            <a:lvl2pPr marL="563929" indent="0">
              <a:buNone/>
              <a:defRPr sz="1477"/>
            </a:lvl2pPr>
            <a:lvl3pPr marL="1127857" indent="0">
              <a:buNone/>
              <a:defRPr sz="1200"/>
            </a:lvl3pPr>
            <a:lvl4pPr marL="1691786" indent="0">
              <a:buNone/>
              <a:defRPr sz="1108"/>
            </a:lvl4pPr>
            <a:lvl5pPr marL="2255714" indent="0">
              <a:buNone/>
              <a:defRPr sz="1108"/>
            </a:lvl5pPr>
            <a:lvl6pPr marL="2819642" indent="0">
              <a:buNone/>
              <a:defRPr sz="1108"/>
            </a:lvl6pPr>
            <a:lvl7pPr marL="3383570" indent="0">
              <a:buNone/>
              <a:defRPr sz="1108"/>
            </a:lvl7pPr>
            <a:lvl8pPr marL="3947498" indent="0">
              <a:buNone/>
              <a:defRPr sz="1108"/>
            </a:lvl8pPr>
            <a:lvl9pPr marL="4511427" indent="0">
              <a:buNone/>
              <a:defRPr sz="1108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98487128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1740" y="350291"/>
            <a:ext cx="11371281" cy="1457856"/>
          </a:xfrm>
          <a:prstGeom prst="rect">
            <a:avLst/>
          </a:prstGeom>
        </p:spPr>
        <p:txBody>
          <a:bodyPr lIns="122182" tIns="61091" rIns="122182" bIns="61091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1740" y="2041004"/>
            <a:ext cx="11371281" cy="5772707"/>
          </a:xfrm>
          <a:prstGeom prst="rect">
            <a:avLst/>
          </a:prstGeom>
        </p:spPr>
        <p:txBody>
          <a:bodyPr vert="eaVert" lIns="122182" tIns="61091" rIns="122182" bIns="61091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153116"/>
      </p:ext>
    </p:extLst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60198" y="350296"/>
            <a:ext cx="2842821" cy="7463415"/>
          </a:xfrm>
          <a:prstGeom prst="rect">
            <a:avLst/>
          </a:prstGeom>
        </p:spPr>
        <p:txBody>
          <a:bodyPr vert="eaVert" lIns="122182" tIns="61091" rIns="122182" bIns="61091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1738" y="350296"/>
            <a:ext cx="8317881" cy="7463415"/>
          </a:xfrm>
          <a:prstGeom prst="rect">
            <a:avLst/>
          </a:prstGeom>
        </p:spPr>
        <p:txBody>
          <a:bodyPr vert="eaVert" lIns="122182" tIns="61091" rIns="122182" bIns="61091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505031"/>
      </p:ext>
    </p:extLst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631740" y="350296"/>
            <a:ext cx="11371281" cy="7463415"/>
          </a:xfrm>
          <a:prstGeom prst="rect">
            <a:avLst/>
          </a:prstGeom>
        </p:spPr>
        <p:txBody>
          <a:bodyPr lIns="122182" tIns="61091" rIns="122182" bIns="61091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141002"/>
      </p:ext>
    </p:extLst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4403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9172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6004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95300" y="6245225"/>
            <a:ext cx="2313120" cy="477838"/>
          </a:xfrm>
          <a:prstGeom prst="rect">
            <a:avLst/>
          </a:prstGeom>
        </p:spPr>
        <p:txBody>
          <a:bodyPr lIns="87242" tIns="43621" rIns="87242" bIns="43621"/>
          <a:lstStyle>
            <a:lvl1pPr eaLnBrk="1" latin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5225"/>
            <a:ext cx="3136900" cy="477838"/>
          </a:xfrm>
          <a:prstGeom prst="rect">
            <a:avLst/>
          </a:prstGeom>
        </p:spPr>
        <p:txBody>
          <a:bodyPr lIns="87242" tIns="43621" rIns="87242" bIns="43621"/>
          <a:lstStyle>
            <a:lvl1pPr eaLnBrk="1" latin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7604" y="6245225"/>
            <a:ext cx="2313119" cy="477838"/>
          </a:xfrm>
          <a:prstGeom prst="rect">
            <a:avLst/>
          </a:prstGeom>
        </p:spPr>
        <p:txBody>
          <a:bodyPr vert="horz" wrap="square" lIns="87242" tIns="43621" rIns="87242" bIns="43621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D355C6B-2410-4428-93C3-4C89B07A2395}" type="slidenum">
              <a:rPr lang="en-US" altLang="ko-KR">
                <a:solidFill>
                  <a:srgbClr val="000000"/>
                </a:solidFill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12162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 lIns="91405" tIns="45703" rIns="91405" bIns="45703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439583" y="6526256"/>
            <a:ext cx="2311400" cy="2873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95C3E20-869D-40DC-A352-CC48159669C2}" type="slidenum">
              <a:rPr lang="en-US" altLang="ko-KR">
                <a:solidFill>
                  <a:srgbClr val="000000"/>
                </a:solidFill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0754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4"/>
          <p:cNvSpPr>
            <a:spLocks noChangeShapeType="1"/>
          </p:cNvSpPr>
          <p:nvPr userDrawn="1"/>
        </p:nvSpPr>
        <p:spPr bwMode="auto">
          <a:xfrm>
            <a:off x="0" y="5349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1056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3410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2714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31492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771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2"/>
          <p:cNvCxnSpPr>
            <a:cxnSpLocks noChangeShapeType="1"/>
          </p:cNvCxnSpPr>
          <p:nvPr userDrawn="1"/>
        </p:nvCxnSpPr>
        <p:spPr bwMode="auto">
          <a:xfrm>
            <a:off x="0" y="582613"/>
            <a:ext cx="9906000" cy="0"/>
          </a:xfrm>
          <a:prstGeom prst="line">
            <a:avLst/>
          </a:prstGeom>
          <a:noFill/>
          <a:ln w="9525" algn="ctr">
            <a:solidFill>
              <a:srgbClr val="808080"/>
            </a:solidFill>
            <a:round/>
            <a:headEnd/>
            <a:tailEnd/>
          </a:ln>
        </p:spPr>
      </p:cxnSp>
      <p:sp>
        <p:nvSpPr>
          <p:cNvPr id="3" name="직사각형 2"/>
          <p:cNvSpPr/>
          <p:nvPr userDrawn="1"/>
        </p:nvSpPr>
        <p:spPr>
          <a:xfrm>
            <a:off x="4346700" y="154823"/>
            <a:ext cx="1208963" cy="276987"/>
          </a:xfrm>
          <a:prstGeom prst="rect">
            <a:avLst/>
          </a:prstGeom>
          <a:ln>
            <a:solidFill>
              <a:srgbClr val="FFFFFF">
                <a:lumMod val="85000"/>
              </a:srgbClr>
            </a:solidFill>
          </a:ln>
        </p:spPr>
        <p:txBody>
          <a:bodyPr wrap="none" lIns="91429" tIns="45714" rIns="91429" bIns="45714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kern="0" dirty="0">
                <a:solidFill>
                  <a:srgbClr val="FFFFFF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LGE Confidential</a:t>
            </a:r>
            <a:endParaRPr kumimoji="0" lang="ko-KR" altLang="en-US" sz="1200" kern="0" dirty="0">
              <a:solidFill>
                <a:srgbClr val="FFFFFF">
                  <a:lumMod val="75000"/>
                </a:srgb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pic>
        <p:nvPicPr>
          <p:cNvPr id="4" name="Picture 3" descr="C:\Users\hyun\Desktop\비전로고_두줄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09963" y="6386473"/>
            <a:ext cx="971368" cy="4217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68531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 lIns="91405" tIns="45703" rIns="91405" bIns="45703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440112" y="6526215"/>
            <a:ext cx="2311400" cy="2873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0293FC-C5D6-4CEB-9858-E5CF7FEFFD3F}" type="slidenum">
              <a:rPr lang="en-US" altLang="ko-KR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69457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5656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243233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8037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1690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8390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1867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9718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81016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08987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84439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1420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30955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942563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04614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58782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/거버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2051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22060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151390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101113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25607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/거버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8066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9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4.xml"/><Relationship Id="rId2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63.xml"/><Relationship Id="rId20" Type="http://schemas.openxmlformats.org/officeDocument/2006/relationships/theme" Target="../theme/theme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57.xml"/><Relationship Id="rId19" Type="http://schemas.openxmlformats.org/officeDocument/2006/relationships/slideLayout" Target="../slideLayouts/slideLayout66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846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36213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872426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08635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744851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27160" indent="-32716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100">
          <a:solidFill>
            <a:schemeClr val="tx1"/>
          </a:solidFill>
          <a:latin typeface="+mn-lt"/>
          <a:ea typeface="+mn-ea"/>
          <a:cs typeface="+mn-cs"/>
        </a:defRPr>
      </a:lvl1pPr>
      <a:lvl2pPr marL="708844" indent="-27111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700">
          <a:solidFill>
            <a:schemeClr val="tx1"/>
          </a:solidFill>
          <a:latin typeface="+mn-lt"/>
          <a:ea typeface="+mn-ea"/>
        </a:defRPr>
      </a:lvl2pPr>
      <a:lvl3pPr marL="1090531" indent="-21810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300">
          <a:solidFill>
            <a:schemeClr val="tx1"/>
          </a:solidFill>
          <a:latin typeface="+mn-lt"/>
          <a:ea typeface="+mn-ea"/>
        </a:defRPr>
      </a:lvl3pPr>
      <a:lvl4pPr marL="1525230" indent="-215076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00">
          <a:solidFill>
            <a:schemeClr val="tx1"/>
          </a:solidFill>
          <a:latin typeface="+mn-lt"/>
          <a:ea typeface="+mn-ea"/>
        </a:defRPr>
      </a:lvl4pPr>
      <a:lvl5pPr marL="1962956" indent="-21810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5pPr>
      <a:lvl6pPr marL="2399166" indent="-218105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6pPr>
      <a:lvl7pPr marL="2835382" indent="-218105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7pPr>
      <a:lvl8pPr marL="3271594" indent="-218105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8pPr>
      <a:lvl9pPr marL="3707807" indent="-218105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6213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2426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8635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44851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81061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17275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53486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89699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9626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Arial" charset="0"/>
          <a:ea typeface="돋움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Arial" charset="0"/>
          <a:ea typeface="돋움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Arial" charset="0"/>
          <a:ea typeface="돋움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Arial" charset="0"/>
          <a:ea typeface="돋움" pitchFamily="50" charset="-127"/>
        </a:defRPr>
      </a:lvl5pPr>
      <a:lvl6pPr marL="436213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872426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08635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744851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27023" indent="-32702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100">
          <a:solidFill>
            <a:schemeClr val="tx1"/>
          </a:solidFill>
          <a:latin typeface="+mn-lt"/>
          <a:ea typeface="+mn-ea"/>
          <a:cs typeface="+mn-cs"/>
        </a:defRPr>
      </a:lvl1pPr>
      <a:lvl2pPr marL="708020" indent="-269874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700">
          <a:solidFill>
            <a:schemeClr val="tx1"/>
          </a:solidFill>
          <a:latin typeface="+mn-lt"/>
          <a:ea typeface="+mn-ea"/>
        </a:defRPr>
      </a:lvl2pPr>
      <a:lvl3pPr marL="1089019" indent="-217487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300">
          <a:solidFill>
            <a:schemeClr val="tx1"/>
          </a:solidFill>
          <a:latin typeface="+mn-lt"/>
          <a:ea typeface="+mn-ea"/>
        </a:defRPr>
      </a:lvl3pPr>
      <a:lvl4pPr marL="1523991" indent="-214312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00">
          <a:solidFill>
            <a:schemeClr val="tx1"/>
          </a:solidFill>
          <a:latin typeface="+mn-lt"/>
          <a:ea typeface="+mn-ea"/>
        </a:defRPr>
      </a:lvl4pPr>
      <a:lvl5pPr marL="1962139" indent="-217487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5pPr>
      <a:lvl6pPr marL="2399166" indent="-218105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6pPr>
      <a:lvl7pPr marL="2835382" indent="-218105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7pPr>
      <a:lvl8pPr marL="3271594" indent="-218105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8pPr>
      <a:lvl9pPr marL="3707807" indent="-218105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6213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2426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8635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44851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81061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17275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53486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89699" algn="l" defTabSz="872426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5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5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5E504175-86C1-4D49-BE45-170EB1184398}" type="datetimeFigureOut">
              <a:rPr kumimoji="0" lang="ko-KR" altLang="en-US" b="0" smtClean="0">
                <a:solidFill>
                  <a:prstClr val="black">
                    <a:tint val="75000"/>
                  </a:prstClr>
                </a:solidFill>
                <a:latin typeface="맑은 고딕"/>
                <a:ea typeface="맑은 고딕" panose="020B0503020000020004" pitchFamily="50" charset="-127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2025-05-15</a:t>
            </a:fld>
            <a:endParaRPr kumimoji="0" lang="ko-KR" altLang="en-US" b="0">
              <a:solidFill>
                <a:prstClr val="black">
                  <a:tint val="75000"/>
                </a:prstClr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5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b="0">
              <a:solidFill>
                <a:prstClr val="black">
                  <a:tint val="75000"/>
                </a:prstClr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5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1FD12466-D369-4133-A394-FDE5160901D4}" type="slidenum">
              <a:rPr kumimoji="0" lang="ko-KR" altLang="en-US" b="0" smtClean="0">
                <a:solidFill>
                  <a:prstClr val="black">
                    <a:tint val="75000"/>
                  </a:prstClr>
                </a:solidFill>
                <a:latin typeface="맑은 고딕"/>
                <a:ea typeface="맑은 고딕" panose="020B0503020000020004" pitchFamily="50" charset="-127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ko-KR" altLang="en-US" b="0">
              <a:solidFill>
                <a:prstClr val="black">
                  <a:tint val="75000"/>
                </a:prstClr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044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</p:sldLayoutIdLst>
  <p:txStyles>
    <p:titleStyle>
      <a:lvl1pPr algn="ctr" defTabSz="844078" rtl="0" eaLnBrk="1" latinLnBrk="1" hangingPunct="1"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6529" indent="-316529" algn="l" defTabSz="844078" rtl="0" eaLnBrk="1" latinLnBrk="1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1pPr>
      <a:lvl2pPr marL="685813" indent="-263775" algn="l" defTabSz="844078" rtl="0" eaLnBrk="1" latinLnBrk="1" hangingPunct="1">
        <a:spcBef>
          <a:spcPct val="20000"/>
        </a:spcBef>
        <a:buFont typeface="Arial" pitchFamily="34" charset="0"/>
        <a:buChar char="–"/>
        <a:defRPr sz="2585" kern="1200">
          <a:solidFill>
            <a:schemeClr val="tx1"/>
          </a:solidFill>
          <a:latin typeface="+mn-lt"/>
          <a:ea typeface="+mn-ea"/>
          <a:cs typeface="+mn-cs"/>
        </a:defRPr>
      </a:lvl2pPr>
      <a:lvl3pPr marL="1055097" indent="-211020" algn="l" defTabSz="844078" rtl="0" eaLnBrk="1" latinLnBrk="1" hangingPunct="1">
        <a:spcBef>
          <a:spcPct val="20000"/>
        </a:spcBef>
        <a:buFont typeface="Arial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477136" indent="-211020" algn="l" defTabSz="844078" rtl="0" eaLnBrk="1" latinLnBrk="1" hangingPunct="1">
        <a:spcBef>
          <a:spcPct val="20000"/>
        </a:spcBef>
        <a:buFont typeface="Arial" pitchFamily="34" charset="0"/>
        <a:buChar char="–"/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99175" indent="-211020" algn="l" defTabSz="844078" rtl="0" eaLnBrk="1" latinLnBrk="1" hangingPunct="1">
        <a:spcBef>
          <a:spcPct val="20000"/>
        </a:spcBef>
        <a:buFont typeface="Arial" pitchFamily="34" charset="0"/>
        <a:buChar char="»"/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21213" indent="-211020" algn="l" defTabSz="844078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3" indent="-211020" algn="l" defTabSz="844078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291" indent="-211020" algn="l" defTabSz="844078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30" indent="-211020" algn="l" defTabSz="844078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39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78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17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55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95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33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72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11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358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22039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844078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266117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688155" algn="ctr" rtl="0" fontAlgn="base" latinLnBrk="1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16529" indent="-316529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954">
          <a:solidFill>
            <a:schemeClr val="tx1"/>
          </a:solidFill>
          <a:latin typeface="+mn-lt"/>
          <a:ea typeface="+mn-ea"/>
          <a:cs typeface="+mn-cs"/>
        </a:defRPr>
      </a:lvl1pPr>
      <a:lvl2pPr marL="685813" indent="-26377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585">
          <a:solidFill>
            <a:schemeClr val="tx1"/>
          </a:solidFill>
          <a:latin typeface="+mn-lt"/>
          <a:ea typeface="+mn-ea"/>
        </a:defRPr>
      </a:lvl2pPr>
      <a:lvl3pPr marL="1055097" indent="-21102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215">
          <a:solidFill>
            <a:schemeClr val="tx1"/>
          </a:solidFill>
          <a:latin typeface="+mn-lt"/>
          <a:ea typeface="+mn-ea"/>
        </a:defRPr>
      </a:lvl3pPr>
      <a:lvl4pPr marL="1477136" indent="-21102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846">
          <a:solidFill>
            <a:schemeClr val="tx1"/>
          </a:solidFill>
          <a:latin typeface="+mn-lt"/>
          <a:ea typeface="+mn-ea"/>
        </a:defRPr>
      </a:lvl4pPr>
      <a:lvl5pPr marL="1899175" indent="-21102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5pPr>
      <a:lvl6pPr marL="2321213" indent="-211020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6pPr>
      <a:lvl7pPr marL="2743253" indent="-211020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7pPr>
      <a:lvl8pPr marL="3165291" indent="-211020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8pPr>
      <a:lvl9pPr marL="3587330" indent="-211020" algn="l" rtl="0" fontAlgn="base" latinLnBrk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39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78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17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55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95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33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72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11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39"/>
          <p:cNvSpPr>
            <a:spLocks noChangeShapeType="1"/>
          </p:cNvSpPr>
          <p:nvPr userDrawn="1"/>
        </p:nvSpPr>
        <p:spPr bwMode="auto">
          <a:xfrm>
            <a:off x="0" y="490930"/>
            <a:ext cx="9906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84374" tIns="42187" rIns="84374" bIns="42187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923" b="0" kern="0" dirty="0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4254351" y="125417"/>
            <a:ext cx="1606530" cy="2628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108" b="0" dirty="0">
                <a:solidFill>
                  <a:srgbClr val="FFFFFF">
                    <a:lumMod val="75000"/>
                  </a:srgbClr>
                </a:solidFill>
              </a:rPr>
              <a:t>LGE Internal Use Only</a:t>
            </a:r>
            <a:endParaRPr lang="ko-KR" altLang="en-US" sz="1108" b="0" dirty="0">
              <a:solidFill>
                <a:srgbClr val="FFFFFF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619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</p:sldLayoutIdLst>
  <p:hf sldNum="0" hdr="0" ftr="0" dt="0"/>
  <p:txStyles>
    <p:titleStyle>
      <a:lvl1pPr marL="422039" indent="-422039" algn="l" rtl="0" eaLnBrk="0" fontAlgn="base" latinLnBrk="1" hangingPunct="0">
        <a:spcBef>
          <a:spcPct val="0"/>
        </a:spcBef>
        <a:spcAft>
          <a:spcPct val="0"/>
        </a:spcAft>
        <a:defRPr kumimoji="1" sz="923" b="1">
          <a:solidFill>
            <a:schemeClr val="tx1"/>
          </a:solidFill>
          <a:latin typeface="+mj-lt"/>
          <a:ea typeface="+mj-ea"/>
          <a:cs typeface="+mj-cs"/>
        </a:defRPr>
      </a:lvl1pPr>
      <a:lvl2pPr marL="422039" indent="-422039" algn="l" rtl="0" eaLnBrk="0" fontAlgn="base" latinLnBrk="1" hangingPunct="0">
        <a:spcBef>
          <a:spcPct val="0"/>
        </a:spcBef>
        <a:spcAft>
          <a:spcPct val="0"/>
        </a:spcAft>
        <a:defRPr kumimoji="1" sz="2215" b="1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422039" indent="-422039" algn="l" rtl="0" eaLnBrk="0" fontAlgn="base" latinLnBrk="1" hangingPunct="0">
        <a:spcBef>
          <a:spcPct val="0"/>
        </a:spcBef>
        <a:spcAft>
          <a:spcPct val="0"/>
        </a:spcAft>
        <a:defRPr kumimoji="1" sz="2215" b="1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422039" indent="-422039" algn="l" rtl="0" eaLnBrk="0" fontAlgn="base" latinLnBrk="1" hangingPunct="0">
        <a:spcBef>
          <a:spcPct val="0"/>
        </a:spcBef>
        <a:spcAft>
          <a:spcPct val="0"/>
        </a:spcAft>
        <a:defRPr kumimoji="1" sz="2215" b="1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422039" indent="-422039" algn="l" rtl="0" eaLnBrk="0" fontAlgn="base" latinLnBrk="1" hangingPunct="0">
        <a:spcBef>
          <a:spcPct val="0"/>
        </a:spcBef>
        <a:spcAft>
          <a:spcPct val="0"/>
        </a:spcAft>
        <a:defRPr kumimoji="1" sz="2215" b="1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844078" indent="-422039" algn="l" rtl="0" fontAlgn="base" latinLnBrk="1">
        <a:spcBef>
          <a:spcPct val="0"/>
        </a:spcBef>
        <a:spcAft>
          <a:spcPct val="0"/>
        </a:spcAft>
        <a:defRPr kumimoji="1" sz="2215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1266117" indent="-422039" algn="l" rtl="0" fontAlgn="base" latinLnBrk="1">
        <a:spcBef>
          <a:spcPct val="0"/>
        </a:spcBef>
        <a:spcAft>
          <a:spcPct val="0"/>
        </a:spcAft>
        <a:defRPr kumimoji="1" sz="2215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688155" indent="-422039" algn="l" rtl="0" fontAlgn="base" latinLnBrk="1">
        <a:spcBef>
          <a:spcPct val="0"/>
        </a:spcBef>
        <a:spcAft>
          <a:spcPct val="0"/>
        </a:spcAft>
        <a:defRPr kumimoji="1" sz="2215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2110195" indent="-422039" algn="l" rtl="0" fontAlgn="base" latinLnBrk="1">
        <a:spcBef>
          <a:spcPct val="0"/>
        </a:spcBef>
        <a:spcAft>
          <a:spcPct val="0"/>
        </a:spcAft>
        <a:defRPr kumimoji="1" sz="2215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316529" indent="-316529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77" b="1">
          <a:solidFill>
            <a:schemeClr val="tx1"/>
          </a:solidFill>
          <a:latin typeface="+mn-lt"/>
          <a:ea typeface="+mn-ea"/>
          <a:cs typeface="+mn-cs"/>
        </a:defRPr>
      </a:lvl1pPr>
      <a:lvl2pPr marL="703398" indent="-28135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77" b="1">
          <a:solidFill>
            <a:schemeClr val="tx1"/>
          </a:solidFill>
          <a:latin typeface="+mn-lt"/>
          <a:ea typeface="+mn-ea"/>
        </a:defRPr>
      </a:lvl2pPr>
      <a:lvl3pPr marL="1090267" indent="-24619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292" b="1">
          <a:solidFill>
            <a:schemeClr val="tx1"/>
          </a:solidFill>
          <a:latin typeface="+mn-lt"/>
          <a:ea typeface="+mn-ea"/>
        </a:defRPr>
      </a:lvl3pPr>
      <a:lvl4pPr marL="1477136" indent="-21102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108" b="1">
          <a:solidFill>
            <a:schemeClr val="tx1"/>
          </a:solidFill>
          <a:latin typeface="+mn-lt"/>
          <a:ea typeface="+mn-ea"/>
        </a:defRPr>
      </a:lvl4pPr>
      <a:lvl5pPr marL="1899175" indent="-21102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108" b="1">
          <a:solidFill>
            <a:schemeClr val="tx1"/>
          </a:solidFill>
          <a:latin typeface="+mn-lt"/>
          <a:ea typeface="+mn-ea"/>
        </a:defRPr>
      </a:lvl5pPr>
      <a:lvl6pPr marL="2321213" indent="-211020" algn="l" rtl="0" fontAlgn="base" latinLnBrk="1">
        <a:spcBef>
          <a:spcPct val="20000"/>
        </a:spcBef>
        <a:spcAft>
          <a:spcPct val="0"/>
        </a:spcAft>
        <a:buChar char="»"/>
        <a:defRPr kumimoji="1" sz="1108" b="1">
          <a:solidFill>
            <a:schemeClr val="tx1"/>
          </a:solidFill>
          <a:latin typeface="+mn-lt"/>
          <a:ea typeface="+mn-ea"/>
        </a:defRPr>
      </a:lvl6pPr>
      <a:lvl7pPr marL="2743253" indent="-211020" algn="l" rtl="0" fontAlgn="base" latinLnBrk="1">
        <a:spcBef>
          <a:spcPct val="20000"/>
        </a:spcBef>
        <a:spcAft>
          <a:spcPct val="0"/>
        </a:spcAft>
        <a:buChar char="»"/>
        <a:defRPr kumimoji="1" sz="1108" b="1">
          <a:solidFill>
            <a:schemeClr val="tx1"/>
          </a:solidFill>
          <a:latin typeface="+mn-lt"/>
          <a:ea typeface="+mn-ea"/>
        </a:defRPr>
      </a:lvl7pPr>
      <a:lvl8pPr marL="3165291" indent="-211020" algn="l" rtl="0" fontAlgn="base" latinLnBrk="1">
        <a:spcBef>
          <a:spcPct val="20000"/>
        </a:spcBef>
        <a:spcAft>
          <a:spcPct val="0"/>
        </a:spcAft>
        <a:buChar char="»"/>
        <a:defRPr kumimoji="1" sz="1108" b="1">
          <a:solidFill>
            <a:schemeClr val="tx1"/>
          </a:solidFill>
          <a:latin typeface="+mn-lt"/>
          <a:ea typeface="+mn-ea"/>
        </a:defRPr>
      </a:lvl8pPr>
      <a:lvl9pPr marL="3587330" indent="-211020" algn="l" rtl="0" fontAlgn="base" latinLnBrk="1">
        <a:spcBef>
          <a:spcPct val="20000"/>
        </a:spcBef>
        <a:spcAft>
          <a:spcPct val="0"/>
        </a:spcAft>
        <a:buChar char="»"/>
        <a:defRPr kumimoji="1" sz="1108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39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78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17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55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95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33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72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11" algn="l" defTabSz="844078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4" name="Text Box 14"/>
          <p:cNvSpPr txBox="1">
            <a:spLocks noChangeArrowheads="1"/>
          </p:cNvSpPr>
          <p:nvPr userDrawn="1"/>
        </p:nvSpPr>
        <p:spPr bwMode="auto">
          <a:xfrm>
            <a:off x="5280239" y="149227"/>
            <a:ext cx="1233060" cy="212999"/>
          </a:xfrm>
          <a:prstGeom prst="rect">
            <a:avLst/>
          </a:prstGeom>
          <a:noFill/>
          <a:ln w="9525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lIns="84311" tIns="42160" rIns="84311" bIns="42160">
            <a:spAutoFit/>
          </a:bodyPr>
          <a:lstStyle/>
          <a:p>
            <a:pPr algn="ctr" defTabSz="843935">
              <a:defRPr/>
            </a:pPr>
            <a:r>
              <a:rPr lang="en-US" altLang="ko-KR" sz="831" b="0" dirty="0">
                <a:solidFill>
                  <a:srgbClr val="B2B2B2"/>
                </a:solidFill>
                <a:latin typeface="Arial" pitchFamily="34" charset="0"/>
                <a:cs typeface="Arial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81587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  <p:transition spd="slow"/>
  <p:txStyles>
    <p:titleStyle>
      <a:lvl1pPr algn="ctr" defTabSz="842613" rtl="0" eaLnBrk="0" fontAlgn="base" latinLnBrk="1" hangingPunct="0">
        <a:spcBef>
          <a:spcPct val="0"/>
        </a:spcBef>
        <a:spcAft>
          <a:spcPct val="0"/>
        </a:spcAft>
        <a:defRPr kumimoji="1" sz="3969">
          <a:solidFill>
            <a:schemeClr val="tx2"/>
          </a:solidFill>
          <a:latin typeface="+mj-lt"/>
          <a:ea typeface="+mj-ea"/>
          <a:cs typeface="+mj-cs"/>
        </a:defRPr>
      </a:lvl1pPr>
      <a:lvl2pPr algn="ctr" defTabSz="842613" rtl="0" eaLnBrk="0" fontAlgn="base" latinLnBrk="1" hangingPunct="0">
        <a:spcBef>
          <a:spcPct val="0"/>
        </a:spcBef>
        <a:spcAft>
          <a:spcPct val="0"/>
        </a:spcAft>
        <a:defRPr kumimoji="1" sz="3969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defTabSz="842613" rtl="0" eaLnBrk="0" fontAlgn="base" latinLnBrk="1" hangingPunct="0">
        <a:spcBef>
          <a:spcPct val="0"/>
        </a:spcBef>
        <a:spcAft>
          <a:spcPct val="0"/>
        </a:spcAft>
        <a:defRPr kumimoji="1" sz="3969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defTabSz="842613" rtl="0" eaLnBrk="0" fontAlgn="base" latinLnBrk="1" hangingPunct="0">
        <a:spcBef>
          <a:spcPct val="0"/>
        </a:spcBef>
        <a:spcAft>
          <a:spcPct val="0"/>
        </a:spcAft>
        <a:defRPr kumimoji="1" sz="3969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defTabSz="842613" rtl="0" eaLnBrk="0" fontAlgn="base" latinLnBrk="1" hangingPunct="0">
        <a:spcBef>
          <a:spcPct val="0"/>
        </a:spcBef>
        <a:spcAft>
          <a:spcPct val="0"/>
        </a:spcAft>
        <a:defRPr kumimoji="1" sz="3969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563929" algn="ctr" rtl="0" fontAlgn="base" latinLnBrk="1">
        <a:spcBef>
          <a:spcPct val="0"/>
        </a:spcBef>
        <a:spcAft>
          <a:spcPct val="0"/>
        </a:spcAft>
        <a:defRPr kumimoji="1" sz="5262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1127857" algn="ctr" rtl="0" fontAlgn="base" latinLnBrk="1">
        <a:spcBef>
          <a:spcPct val="0"/>
        </a:spcBef>
        <a:spcAft>
          <a:spcPct val="0"/>
        </a:spcAft>
        <a:defRPr kumimoji="1" sz="5262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691786" algn="ctr" rtl="0" fontAlgn="base" latinLnBrk="1">
        <a:spcBef>
          <a:spcPct val="0"/>
        </a:spcBef>
        <a:spcAft>
          <a:spcPct val="0"/>
        </a:spcAft>
        <a:defRPr kumimoji="1" sz="5262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2255714" algn="ctr" rtl="0" fontAlgn="base" latinLnBrk="1">
        <a:spcBef>
          <a:spcPct val="0"/>
        </a:spcBef>
        <a:spcAft>
          <a:spcPct val="0"/>
        </a:spcAft>
        <a:defRPr kumimoji="1" sz="5262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16529" indent="-316529" algn="l" defTabSz="84261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954">
          <a:solidFill>
            <a:schemeClr val="tx1"/>
          </a:solidFill>
          <a:latin typeface="+mn-lt"/>
          <a:ea typeface="+mn-ea"/>
          <a:cs typeface="+mn-cs"/>
        </a:defRPr>
      </a:lvl1pPr>
      <a:lvl2pPr marL="684348" indent="-262310" algn="l" defTabSz="8426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585">
          <a:solidFill>
            <a:schemeClr val="tx1"/>
          </a:solidFill>
          <a:latin typeface="+mn-lt"/>
          <a:ea typeface="+mn-ea"/>
        </a:defRPr>
      </a:lvl2pPr>
      <a:lvl3pPr marL="1052166" indent="-208089" algn="l" defTabSz="842613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475671" indent="-211020" algn="l" defTabSz="84261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846">
          <a:solidFill>
            <a:schemeClr val="tx1"/>
          </a:solidFill>
          <a:latin typeface="+mn-lt"/>
          <a:ea typeface="+mn-ea"/>
        </a:defRPr>
      </a:lvl4pPr>
      <a:lvl5pPr marL="1899175" indent="-211020" algn="l" defTabSz="842613" rtl="0" eaLnBrk="0" fontAlgn="base" latinLnBrk="1" hangingPunct="0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5pPr>
      <a:lvl6pPr marL="3101606" indent="-281965" algn="l" rtl="0" fontAlgn="base" latinLnBrk="1">
        <a:spcBef>
          <a:spcPct val="20000"/>
        </a:spcBef>
        <a:spcAft>
          <a:spcPct val="0"/>
        </a:spcAft>
        <a:buChar char="»"/>
        <a:defRPr kumimoji="1" sz="2492">
          <a:solidFill>
            <a:schemeClr val="tx1"/>
          </a:solidFill>
          <a:latin typeface="+mn-lt"/>
          <a:ea typeface="+mn-ea"/>
        </a:defRPr>
      </a:lvl6pPr>
      <a:lvl7pPr marL="3665534" indent="-281965" algn="l" rtl="0" fontAlgn="base" latinLnBrk="1">
        <a:spcBef>
          <a:spcPct val="20000"/>
        </a:spcBef>
        <a:spcAft>
          <a:spcPct val="0"/>
        </a:spcAft>
        <a:buChar char="»"/>
        <a:defRPr kumimoji="1" sz="2492">
          <a:solidFill>
            <a:schemeClr val="tx1"/>
          </a:solidFill>
          <a:latin typeface="+mn-lt"/>
          <a:ea typeface="+mn-ea"/>
        </a:defRPr>
      </a:lvl7pPr>
      <a:lvl8pPr marL="4229462" indent="-281965" algn="l" rtl="0" fontAlgn="base" latinLnBrk="1">
        <a:spcBef>
          <a:spcPct val="20000"/>
        </a:spcBef>
        <a:spcAft>
          <a:spcPct val="0"/>
        </a:spcAft>
        <a:buChar char="»"/>
        <a:defRPr kumimoji="1" sz="2492">
          <a:solidFill>
            <a:schemeClr val="tx1"/>
          </a:solidFill>
          <a:latin typeface="+mn-lt"/>
          <a:ea typeface="+mn-ea"/>
        </a:defRPr>
      </a:lvl8pPr>
      <a:lvl9pPr marL="4793391" indent="-281965" algn="l" rtl="0" fontAlgn="base" latinLnBrk="1">
        <a:spcBef>
          <a:spcPct val="20000"/>
        </a:spcBef>
        <a:spcAft>
          <a:spcPct val="0"/>
        </a:spcAft>
        <a:buChar char="»"/>
        <a:defRPr kumimoji="1" sz="2492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3929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7857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91786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5714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9642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83570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47498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11427" algn="l" defTabSz="1127857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0308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47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Arial" charset="0"/>
          <a:ea typeface="돋움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Arial" charset="0"/>
          <a:ea typeface="돋움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Arial" charset="0"/>
          <a:ea typeface="돋움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Arial" charset="0"/>
          <a:ea typeface="돋움" pitchFamily="50" charset="-127"/>
        </a:defRPr>
      </a:lvl5pPr>
      <a:lvl6pPr marL="436215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872431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08643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744861" algn="ctr" rtl="0" fontAlgn="base" latinLnBrk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27025" indent="-32702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100">
          <a:solidFill>
            <a:schemeClr val="tx1"/>
          </a:solidFill>
          <a:latin typeface="+mn-lt"/>
          <a:ea typeface="+mn-ea"/>
          <a:cs typeface="+mn-cs"/>
        </a:defRPr>
      </a:lvl1pPr>
      <a:lvl2pPr marL="708025" indent="-26987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700">
          <a:solidFill>
            <a:schemeClr val="tx1"/>
          </a:solidFill>
          <a:latin typeface="+mn-lt"/>
          <a:ea typeface="+mn-ea"/>
        </a:defRPr>
      </a:lvl2pPr>
      <a:lvl3pPr marL="1089025" indent="-217488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300">
          <a:solidFill>
            <a:schemeClr val="tx1"/>
          </a:solidFill>
          <a:latin typeface="+mn-lt"/>
          <a:ea typeface="+mn-ea"/>
        </a:defRPr>
      </a:lvl3pPr>
      <a:lvl4pPr marL="1524000" indent="-2143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00">
          <a:solidFill>
            <a:schemeClr val="tx1"/>
          </a:solidFill>
          <a:latin typeface="+mn-lt"/>
          <a:ea typeface="+mn-ea"/>
        </a:defRPr>
      </a:lvl4pPr>
      <a:lvl5pPr marL="1962150" indent="-217488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5pPr>
      <a:lvl6pPr marL="2399180" indent="-218106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6pPr>
      <a:lvl7pPr marL="2835398" indent="-218106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7pPr>
      <a:lvl8pPr marL="3271613" indent="-218106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8pPr>
      <a:lvl9pPr marL="3707828" indent="-218106" algn="l" rtl="0" fontAlgn="base" latinLnBrk="1">
        <a:spcBef>
          <a:spcPct val="20000"/>
        </a:spcBef>
        <a:spcAft>
          <a:spcPct val="0"/>
        </a:spcAft>
        <a:buChar char="»"/>
        <a:defRPr kumimoji="1"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6215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2431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8643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44861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81074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17290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53504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89719" algn="l" defTabSz="87243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346700" y="116723"/>
            <a:ext cx="1208963" cy="276987"/>
          </a:xfrm>
          <a:prstGeom prst="rect">
            <a:avLst/>
          </a:prstGeom>
          <a:ln>
            <a:solidFill>
              <a:srgbClr val="FFFFFF">
                <a:lumMod val="85000"/>
              </a:srgbClr>
            </a:solidFill>
          </a:ln>
        </p:spPr>
        <p:txBody>
          <a:bodyPr wrap="none" lIns="91429" tIns="45714" rIns="91429" bIns="45714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kern="0" dirty="0">
                <a:solidFill>
                  <a:srgbClr val="FFFFFF">
                    <a:lumMod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LGE Confidential</a:t>
            </a:r>
            <a:endParaRPr kumimoji="0" lang="ko-KR" altLang="en-US" sz="1200" kern="0" dirty="0">
              <a:solidFill>
                <a:srgbClr val="FFFFFF">
                  <a:lumMod val="75000"/>
                </a:srgb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pic>
        <p:nvPicPr>
          <p:cNvPr id="4" name="Picture 3" descr="C:\Users\hyun\Desktop\비전로고_두줄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809963" y="6386473"/>
            <a:ext cx="971368" cy="4217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1808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3" r:id="rId5"/>
    <p:sldLayoutId id="2147483844" r:id="rId6"/>
    <p:sldLayoutId id="2147483845" r:id="rId7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53266" y="116633"/>
            <a:ext cx="9783193" cy="646880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just">
              <a:lnSpc>
                <a:spcPct val="110000"/>
              </a:lnSpc>
              <a:defRPr/>
            </a:pPr>
            <a:endParaRPr lang="ko-KR" altLang="en-US" sz="1100" b="0">
              <a:solidFill>
                <a:srgbClr val="FF0000"/>
              </a:solidFill>
              <a:latin typeface="Arial Narrow" panose="020B0606020202030204" pitchFamily="34" charset="0"/>
              <a:ea typeface="굴림체" pitchFamily="49" charset="-127"/>
              <a:cs typeface="+mn-cs"/>
            </a:endParaRPr>
          </a:p>
        </p:txBody>
      </p:sp>
      <p:grpSp>
        <p:nvGrpSpPr>
          <p:cNvPr id="1028" name="Group 22"/>
          <p:cNvGrpSpPr>
            <a:grpSpLocks/>
          </p:cNvGrpSpPr>
          <p:nvPr/>
        </p:nvGrpSpPr>
        <p:grpSpPr bwMode="auto">
          <a:xfrm>
            <a:off x="3329517" y="108487"/>
            <a:ext cx="3855731" cy="506656"/>
            <a:chOff x="1476" y="211"/>
            <a:chExt cx="1802" cy="460"/>
          </a:xfrm>
        </p:grpSpPr>
        <p:sp>
          <p:nvSpPr>
            <p:cNvPr id="1047" name="Line 23"/>
            <p:cNvSpPr>
              <a:spLocks noChangeShapeType="1"/>
            </p:cNvSpPr>
            <p:nvPr/>
          </p:nvSpPr>
          <p:spPr bwMode="auto">
            <a:xfrm>
              <a:off x="3278" y="211"/>
              <a:ext cx="0" cy="4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just">
                <a:lnSpc>
                  <a:spcPct val="110000"/>
                </a:lnSpc>
                <a:defRPr/>
              </a:pPr>
              <a:endParaRPr lang="ko-KR" altLang="en-US" sz="1100" b="0">
                <a:solidFill>
                  <a:srgbClr val="FF0000"/>
                </a:solidFill>
                <a:latin typeface="Arial Narrow" panose="020B0606020202030204" pitchFamily="34" charset="0"/>
                <a:ea typeface="굴림체" pitchFamily="49" charset="-127"/>
                <a:cs typeface="+mn-cs"/>
              </a:endParaRPr>
            </a:p>
          </p:txBody>
        </p:sp>
        <p:sp>
          <p:nvSpPr>
            <p:cNvPr id="1048" name="Line 24"/>
            <p:cNvSpPr>
              <a:spLocks noChangeShapeType="1"/>
            </p:cNvSpPr>
            <p:nvPr/>
          </p:nvSpPr>
          <p:spPr bwMode="auto">
            <a:xfrm>
              <a:off x="1476" y="211"/>
              <a:ext cx="0" cy="4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just">
                <a:lnSpc>
                  <a:spcPct val="110000"/>
                </a:lnSpc>
                <a:defRPr/>
              </a:pPr>
              <a:endParaRPr lang="ko-KR" altLang="en-US" sz="1100" b="0">
                <a:solidFill>
                  <a:srgbClr val="FF0000"/>
                </a:solidFill>
                <a:latin typeface="Arial Narrow" panose="020B0606020202030204" pitchFamily="34" charset="0"/>
                <a:ea typeface="굴림체" pitchFamily="49" charset="-127"/>
                <a:cs typeface="+mn-cs"/>
              </a:endParaRPr>
            </a:p>
          </p:txBody>
        </p:sp>
        <p:sp>
          <p:nvSpPr>
            <p:cNvPr id="1049" name="Line 25"/>
            <p:cNvSpPr>
              <a:spLocks noChangeShapeType="1"/>
            </p:cNvSpPr>
            <p:nvPr/>
          </p:nvSpPr>
          <p:spPr bwMode="auto">
            <a:xfrm>
              <a:off x="1476" y="443"/>
              <a:ext cx="18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just">
                <a:lnSpc>
                  <a:spcPct val="110000"/>
                </a:lnSpc>
                <a:defRPr/>
              </a:pPr>
              <a:endParaRPr lang="ko-KR" altLang="en-US" sz="1100" b="0">
                <a:solidFill>
                  <a:srgbClr val="FF0000"/>
                </a:solidFill>
                <a:latin typeface="Arial Narrow" panose="020B0606020202030204" pitchFamily="34" charset="0"/>
                <a:ea typeface="굴림체" pitchFamily="49" charset="-127"/>
                <a:cs typeface="+mn-cs"/>
              </a:endParaRPr>
            </a:p>
          </p:txBody>
        </p:sp>
      </p:grpSp>
      <p:sp>
        <p:nvSpPr>
          <p:cNvPr id="1050" name="Rectangle 26"/>
          <p:cNvSpPr>
            <a:spLocks noChangeArrowheads="1"/>
          </p:cNvSpPr>
          <p:nvPr/>
        </p:nvSpPr>
        <p:spPr bwMode="auto">
          <a:xfrm>
            <a:off x="0" y="6609618"/>
            <a:ext cx="3136900" cy="240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312" tIns="42862" rIns="87312" bIns="42862">
            <a:spAutoFit/>
          </a:bodyPr>
          <a:lstStyle/>
          <a:p>
            <a:pPr defTabSz="684213" latinLnBrk="0">
              <a:spcBef>
                <a:spcPct val="50000"/>
              </a:spcBef>
              <a:defRPr/>
            </a:pPr>
            <a:r>
              <a:rPr lang="en-US" altLang="ko-KR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LG(59)</a:t>
            </a:r>
            <a:r>
              <a:rPr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공통</a:t>
            </a:r>
            <a:r>
              <a:rPr lang="en-US" altLang="ko-KR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001 A4(00.5.31) REV.2</a:t>
            </a:r>
          </a:p>
        </p:txBody>
      </p:sp>
      <p:sp>
        <p:nvSpPr>
          <p:cNvPr id="1051" name="Rectangle 27"/>
          <p:cNvSpPr>
            <a:spLocks noChangeArrowheads="1"/>
          </p:cNvSpPr>
          <p:nvPr/>
        </p:nvSpPr>
        <p:spPr bwMode="auto">
          <a:xfrm>
            <a:off x="8864954" y="6596429"/>
            <a:ext cx="1050219" cy="286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7312" tIns="42862" rIns="87312" bIns="42862">
            <a:spAutoFit/>
          </a:bodyPr>
          <a:lstStyle/>
          <a:p>
            <a:pPr defTabSz="684213" latinLnBrk="0">
              <a:spcBef>
                <a:spcPct val="50000"/>
              </a:spcBef>
              <a:defRPr/>
            </a:pPr>
            <a:r>
              <a:rPr lang="en-US" altLang="ko-KR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LG</a:t>
            </a:r>
            <a:r>
              <a:rPr lang="ko-KR" altLang="en-US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전자</a:t>
            </a:r>
          </a:p>
        </p:txBody>
      </p:sp>
      <p:sp>
        <p:nvSpPr>
          <p:cNvPr id="1052" name="Rectangle 28"/>
          <p:cNvSpPr>
            <a:spLocks noChangeArrowheads="1"/>
          </p:cNvSpPr>
          <p:nvPr/>
        </p:nvSpPr>
        <p:spPr bwMode="auto">
          <a:xfrm>
            <a:off x="56456" y="120576"/>
            <a:ext cx="3260362" cy="515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2000" tIns="36000" rIns="72000" bIns="36000">
            <a:spAutoFit/>
          </a:bodyPr>
          <a:lstStyle/>
          <a:p>
            <a:pPr defTabSz="762000" latinLnBrk="0">
              <a:lnSpc>
                <a:spcPct val="120000"/>
              </a:lnSpc>
              <a:defRPr/>
            </a:pPr>
            <a:r>
              <a:rPr lang="en-US" altLang="ko-KR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LG</a:t>
            </a:r>
            <a:r>
              <a:rPr lang="ko-KR" altLang="en-US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전자</a:t>
            </a:r>
            <a:r>
              <a:rPr lang="ko-KR" altLang="en-US" sz="12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㈜ 키친어플라이언스 </a:t>
            </a:r>
            <a:r>
              <a:rPr lang="ko-KR" altLang="en-US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빌트인</a:t>
            </a:r>
            <a:r>
              <a:rPr lang="en-US" altLang="ko-KR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/</a:t>
            </a:r>
            <a:r>
              <a:rPr lang="ko-KR" altLang="en-US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쿠킹 사업담당</a:t>
            </a:r>
            <a:endParaRPr lang="en-US" altLang="ko-KR" sz="1200" b="0" dirty="0" smtClean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  <a:p>
            <a:pPr defTabSz="762000" latinLnBrk="0">
              <a:lnSpc>
                <a:spcPct val="120000"/>
              </a:lnSpc>
              <a:defRPr/>
            </a:pPr>
            <a:r>
              <a:rPr lang="ko-KR" altLang="en-US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제정일 </a:t>
            </a:r>
            <a:r>
              <a:rPr lang="en-US" altLang="ko-KR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: 2017. 12. 18</a:t>
            </a:r>
            <a:endParaRPr lang="en-US" altLang="ko-KR" sz="12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1053" name="Rectangle 29"/>
          <p:cNvSpPr>
            <a:spLocks noChangeArrowheads="1"/>
          </p:cNvSpPr>
          <p:nvPr/>
        </p:nvSpPr>
        <p:spPr bwMode="auto">
          <a:xfrm>
            <a:off x="7197948" y="126072"/>
            <a:ext cx="2508604" cy="515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36000" tIns="36000" rIns="36000" bIns="36000">
            <a:spAutoFit/>
          </a:bodyPr>
          <a:lstStyle/>
          <a:p>
            <a:pPr defTabSz="762000" latinLnBrk="0">
              <a:lnSpc>
                <a:spcPct val="120000"/>
              </a:lnSpc>
              <a:defRPr/>
            </a:pPr>
            <a:r>
              <a:rPr lang="ko-KR" altLang="en-US" sz="1200" b="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페</a:t>
            </a:r>
            <a:r>
              <a:rPr lang="ko-KR" altLang="en-US" sz="12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 이 지 </a:t>
            </a:r>
            <a:r>
              <a:rPr lang="en-US" altLang="ko-KR" sz="12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:  </a:t>
            </a:r>
            <a:fld id="{82432C0D-9BD7-4A5F-A24D-707C0724152C}" type="slidenum">
              <a:rPr lang="en-US" altLang="ko-KR" sz="12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pPr defTabSz="762000" latinLnBrk="0">
                <a:lnSpc>
                  <a:spcPct val="120000"/>
                </a:lnSpc>
                <a:defRPr/>
              </a:pPr>
              <a:t>‹#›</a:t>
            </a:fld>
            <a:r>
              <a:rPr lang="en-US" altLang="ko-KR" sz="12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 </a:t>
            </a:r>
            <a:r>
              <a:rPr lang="en-US" altLang="ko-KR" sz="12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/ </a:t>
            </a:r>
            <a:r>
              <a:rPr lang="en-US" altLang="ko-KR" sz="12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184</a:t>
            </a:r>
            <a:endParaRPr lang="en-US" altLang="ko-KR" sz="1200" b="0" dirty="0" smtClean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  <a:p>
            <a:pPr defTabSz="762000" latinLnBrk="0">
              <a:lnSpc>
                <a:spcPct val="120000"/>
              </a:lnSpc>
              <a:defRPr/>
            </a:pPr>
            <a:r>
              <a:rPr lang="ko-KR" altLang="en-US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개정번호 </a:t>
            </a:r>
            <a:r>
              <a:rPr lang="en-US" altLang="ko-KR" sz="12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: 9 </a:t>
            </a:r>
            <a:r>
              <a:rPr lang="en-US" altLang="ko-KR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개정일</a:t>
            </a:r>
            <a:r>
              <a:rPr lang="en-US" altLang="ko-KR" sz="12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: 2023.05.22</a:t>
            </a:r>
            <a:endParaRPr lang="en-US" altLang="ko-KR" sz="12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1054" name="Rectangle 30"/>
          <p:cNvSpPr>
            <a:spLocks noChangeArrowheads="1"/>
          </p:cNvSpPr>
          <p:nvPr/>
        </p:nvSpPr>
        <p:spPr bwMode="auto">
          <a:xfrm>
            <a:off x="3448756" y="107754"/>
            <a:ext cx="3027606" cy="25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2000" tIns="36000" rIns="72000" bIns="36000">
            <a:spAutoFit/>
          </a:bodyPr>
          <a:lstStyle/>
          <a:p>
            <a:pPr defTabSz="762000" latinLnBrk="0">
              <a:defRPr/>
            </a:pPr>
            <a:r>
              <a:rPr lang="ko-KR" altLang="en-US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제품 </a:t>
            </a:r>
            <a:r>
              <a:rPr lang="ko-KR" altLang="en-US" sz="12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개발 업무 기준 </a:t>
            </a:r>
            <a:r>
              <a:rPr lang="en-US" altLang="ko-KR" sz="12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(</a:t>
            </a:r>
            <a:r>
              <a:rPr lang="en-US" altLang="ko-KR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NPI 3.0) / LG(66)-A-5002-01</a:t>
            </a:r>
            <a:endParaRPr lang="en-US" altLang="ko-KR" sz="12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1147" name="Text Box 123"/>
          <p:cNvSpPr txBox="1">
            <a:spLocks noChangeArrowheads="1"/>
          </p:cNvSpPr>
          <p:nvPr userDrawn="1"/>
        </p:nvSpPr>
        <p:spPr bwMode="auto">
          <a:xfrm>
            <a:off x="4000324" y="6623295"/>
            <a:ext cx="1119465" cy="190240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lIns="36000" tIns="18000" rIns="36000" bIns="18000">
            <a:spAutoFit/>
          </a:bodyPr>
          <a:lstStyle/>
          <a:p>
            <a:pPr>
              <a:defRPr/>
            </a:pPr>
            <a:r>
              <a:rPr lang="en-US" altLang="ko-KR" sz="1000" b="0" dirty="0">
                <a:solidFill>
                  <a:srgbClr val="B2B2B2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LGE Internal Use Only</a:t>
            </a:r>
          </a:p>
        </p:txBody>
      </p:sp>
      <p:cxnSp>
        <p:nvCxnSpPr>
          <p:cNvPr id="19" name="직선 연결선 18"/>
          <p:cNvCxnSpPr/>
          <p:nvPr userDrawn="1"/>
        </p:nvCxnSpPr>
        <p:spPr bwMode="auto">
          <a:xfrm>
            <a:off x="62146" y="620688"/>
            <a:ext cx="9774315" cy="749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168386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  <p:sldLayoutId id="2147483860" r:id="rId12"/>
    <p:sldLayoutId id="2147483861" r:id="rId13"/>
    <p:sldLayoutId id="2147483862" r:id="rId14"/>
    <p:sldLayoutId id="2147483863" r:id="rId15"/>
    <p:sldLayoutId id="2147483864" r:id="rId16"/>
    <p:sldLayoutId id="2147483865" r:id="rId17"/>
    <p:sldLayoutId id="2147483866" r:id="rId18"/>
    <p:sldLayoutId id="2147483867" r:id="rId19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openxmlformats.org/officeDocument/2006/relationships/slideLayout" Target="../slideLayouts/slideLayout39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.xml"/><Relationship Id="rId6" Type="http://schemas.openxmlformats.org/officeDocument/2006/relationships/slide" Target="slide3.xml"/><Relationship Id="rId5" Type="http://schemas.openxmlformats.org/officeDocument/2006/relationships/slide" Target="slide20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/>
          <p:cNvSpPr txBox="1">
            <a:spLocks/>
          </p:cNvSpPr>
          <p:nvPr/>
        </p:nvSpPr>
        <p:spPr>
          <a:xfrm>
            <a:off x="131001" y="144332"/>
            <a:ext cx="2196114" cy="2492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 defTabSz="91432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800" kern="0" smtClean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Extra </a:t>
            </a:r>
            <a:r>
              <a:rPr kumimoji="0" lang="ko-KR" altLang="en-US" sz="1800" kern="0" smtClean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등급심의회 회의록</a:t>
            </a:r>
            <a:endParaRPr kumimoji="0" lang="en-US" altLang="ko-KR" sz="1800" kern="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382127"/>
              </p:ext>
            </p:extLst>
          </p:nvPr>
        </p:nvGraphicFramePr>
        <p:xfrm>
          <a:off x="91629" y="2013554"/>
          <a:ext cx="9720002" cy="4748816"/>
        </p:xfrm>
        <a:graphic>
          <a:graphicData uri="http://schemas.openxmlformats.org/drawingml/2006/table">
            <a:tbl>
              <a:tblPr/>
              <a:tblGrid>
                <a:gridCol w="340573"/>
                <a:gridCol w="3736891"/>
                <a:gridCol w="3902485"/>
                <a:gridCol w="539991"/>
                <a:gridCol w="719988"/>
                <a:gridCol w="480074"/>
              </a:tblGrid>
              <a:tr h="26852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No.</a:t>
                      </a:r>
                    </a:p>
                  </a:txBody>
                  <a:tcPr marL="0" marR="0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Comment</a:t>
                      </a:r>
                    </a:p>
                  </a:txBody>
                  <a:tcPr marL="0" marR="0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F/up</a:t>
                      </a:r>
                    </a:p>
                  </a:txBody>
                  <a:tcPr marL="0" marR="0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일정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0" marR="0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0" marR="0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Signal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0" marR="0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214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개발등급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NPI B</a:t>
                      </a:r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 진행할것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1. Base Platform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내 모듈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change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에 의한 개발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charset="0"/>
                      </a:endParaRP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   :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카메라모듈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, BLDC Convection system, </a:t>
                      </a: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     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6.8</a:t>
                      </a:r>
                      <a:r>
                        <a:rPr kumimoji="1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인치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Controller</a:t>
                      </a: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카메라 및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BLDC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모터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, 6.8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인치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LCD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 적용에 의한  신규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Feature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개발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charset="0"/>
                      </a:endParaRPr>
                    </a:p>
                  </a:txBody>
                  <a:tcPr marL="45720" marR="4572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</a:t>
                      </a:r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 등록 진행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="0" i="0" u="none" strike="noStrike" dirty="0" smtClean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4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2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0" marR="0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 smtClean="0">
                        <a:solidFill>
                          <a:srgbClr val="008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473599"/>
              </p:ext>
            </p:extLst>
          </p:nvPr>
        </p:nvGraphicFramePr>
        <p:xfrm>
          <a:off x="94369" y="476672"/>
          <a:ext cx="9717262" cy="1503078"/>
        </p:xfrm>
        <a:graphic>
          <a:graphicData uri="http://schemas.openxmlformats.org/drawingml/2006/table">
            <a:tbl>
              <a:tblPr/>
              <a:tblGrid>
                <a:gridCol w="641029"/>
                <a:gridCol w="1857385"/>
                <a:gridCol w="857212"/>
                <a:gridCol w="3023787"/>
                <a:gridCol w="967128"/>
                <a:gridCol w="2370721"/>
              </a:tblGrid>
              <a:tr h="206934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PJT</a:t>
                      </a:r>
                    </a:p>
                  </a:txBody>
                  <a:tcPr marL="89989" marR="89989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24</a:t>
                      </a:r>
                      <a:r>
                        <a:rPr kumimoji="1" lang="ko-KR" altLang="en-US" sz="105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인치오븐</a:t>
                      </a:r>
                      <a:r>
                        <a:rPr kumimoji="1" lang="en-US" altLang="ko-KR" sz="105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_Extra</a:t>
                      </a:r>
                      <a:endParaRPr kumimoji="1" lang="en-US" altLang="ko-KR" sz="105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89989" marR="89989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Model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(Grade)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9989" marR="89989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9989" marR="89989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Event</a:t>
                      </a:r>
                    </a:p>
                  </a:txBody>
                  <a:tcPr marL="89989" marR="89989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■ </a:t>
                      </a:r>
                      <a:r>
                        <a:rPr kumimoji="1" lang="en-US" altLang="ko-KR" sz="105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CP □</a:t>
                      </a:r>
                      <a:r>
                        <a:rPr kumimoji="1" lang="ko-KR" altLang="en-US" sz="105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DV □ PreMP</a:t>
                      </a:r>
                    </a:p>
                  </a:txBody>
                  <a:tcPr marL="89989" marR="89989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314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Date</a:t>
                      </a:r>
                    </a:p>
                  </a:txBody>
                  <a:tcPr marL="89989" marR="89989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2025.04.08 15:00 ~ 16:00</a:t>
                      </a:r>
                      <a:endParaRPr kumimoji="1" lang="en-US" altLang="ko-KR" sz="105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9989" marR="89989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Attendant</a:t>
                      </a:r>
                    </a:p>
                  </a:txBody>
                  <a:tcPr marL="89989" marR="89989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defTabSz="960438">
                        <a:spcBef>
                          <a:spcPct val="20000"/>
                        </a:spcBef>
                      </a:pPr>
                      <a:endParaRPr lang="en-US" altLang="ko-KR" sz="105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9989" marR="89989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Main</a:t>
                      </a:r>
                    </a:p>
                  </a:txBody>
                  <a:tcPr marL="89989" marR="89989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모델등급심의회</a:t>
                      </a:r>
                      <a:endParaRPr kumimoji="1" lang="ko-KR" altLang="en-US" sz="105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9989" marR="89989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314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Place</a:t>
                      </a:r>
                    </a:p>
                  </a:txBody>
                  <a:tcPr marL="89989" marR="89989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15</a:t>
                      </a:r>
                      <a:r>
                        <a:rPr kumimoji="1" lang="ko-KR" altLang="en-US" sz="105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층 </a:t>
                      </a:r>
                      <a:r>
                        <a:rPr kumimoji="1" lang="en-US" altLang="ko-KR" sz="105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Innovation2</a:t>
                      </a:r>
                      <a:endParaRPr kumimoji="1" lang="en-US" altLang="ko-KR" sz="105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9989" marR="89989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Recorder</a:t>
                      </a:r>
                    </a:p>
                  </a:txBody>
                  <a:tcPr marL="89989" marR="89989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61091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1221821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832732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244364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3054553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366546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4276374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4887285" algn="l" defTabSz="1221821" rtl="0" eaLnBrk="1" latinLnBrk="1" hangingPunct="1">
                        <a:defRPr sz="24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장승태 선임</a:t>
                      </a:r>
                      <a:endParaRPr kumimoji="1" lang="en-US" altLang="ko-KR" sz="105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9989" marR="89989" marT="53993" marB="53993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3431758" y="932582"/>
            <a:ext cx="2534332" cy="10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67" tIns="46034" rIns="92067" bIns="46034" anchor="ctr">
            <a:spAutoFit/>
          </a:bodyPr>
          <a:lstStyle/>
          <a:p>
            <a:pPr defTabSz="578084" eaLnBrk="0" fontAlgn="auto" latinLnBrk="0" hangingPunct="0">
              <a:spcAft>
                <a:spcPts val="0"/>
              </a:spcAft>
            </a:pPr>
            <a:r>
              <a:rPr kumimoji="0" lang="ko-KR" altLang="en-US" sz="105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품질 </a:t>
            </a:r>
            <a:r>
              <a:rPr kumimoji="0" lang="en-US" altLang="ko-KR" sz="105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1050" b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이재혁 팀장</a:t>
            </a:r>
            <a:r>
              <a:rPr kumimoji="0" lang="en-US" altLang="ko-KR" sz="105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50" b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신성훈 책임</a:t>
            </a:r>
            <a:endParaRPr kumimoji="0" lang="en-US" altLang="ko-KR" sz="1050" b="0" dirty="0" smtClea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578084" eaLnBrk="0" fontAlgn="auto" latinLnBrk="0" hangingPunct="0">
              <a:spcAft>
                <a:spcPts val="0"/>
              </a:spcAft>
            </a:pPr>
            <a:r>
              <a:rPr kumimoji="0" lang="en-US" altLang="ko-KR" sz="105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STC : </a:t>
            </a:r>
            <a:r>
              <a:rPr kumimoji="0" lang="ko-KR" altLang="en-US" sz="1050" b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황근재</a:t>
            </a:r>
            <a:r>
              <a:rPr kumimoji="0" lang="en-US" altLang="ko-KR" sz="105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STC </a:t>
            </a:r>
          </a:p>
          <a:p>
            <a:pPr defTabSz="578084" eaLnBrk="0" fontAlgn="auto" latinLnBrk="0" hangingPunct="0">
              <a:spcAft>
                <a:spcPts val="0"/>
              </a:spcAft>
            </a:pPr>
            <a:r>
              <a:rPr kumimoji="0" lang="ko-KR" altLang="en-US" sz="105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 </a:t>
            </a:r>
            <a:r>
              <a:rPr kumimoji="0" lang="en-US" altLang="ko-KR" sz="105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1050" b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이형구 책임</a:t>
            </a:r>
            <a:r>
              <a:rPr kumimoji="0" lang="en-US" altLang="ko-KR" sz="105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50" b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신명수 선임</a:t>
            </a:r>
            <a:r>
              <a:rPr kumimoji="0" lang="en-US" altLang="ko-KR" sz="105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50" b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신동천 책임</a:t>
            </a:r>
            <a:endParaRPr kumimoji="0" lang="en-US" altLang="ko-KR" sz="1050" b="0" dirty="0" smtClea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578084" eaLnBrk="0" fontAlgn="auto" latinLnBrk="0" hangingPunct="0">
              <a:spcAft>
                <a:spcPts val="0"/>
              </a:spcAft>
            </a:pPr>
            <a:r>
              <a:rPr kumimoji="0" lang="ko-KR" altLang="en-US" sz="105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</a:t>
            </a:r>
            <a:r>
              <a:rPr kumimoji="0" lang="en-US" altLang="ko-KR" sz="105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1050" b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김진환 팀장</a:t>
            </a:r>
            <a:r>
              <a:rPr kumimoji="0" lang="en-US" altLang="ko-KR" sz="105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50" b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장승태 선임</a:t>
            </a:r>
            <a:r>
              <a:rPr kumimoji="0" lang="en-US" altLang="ko-KR" sz="105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50" b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이명로 선임</a:t>
            </a:r>
            <a:endParaRPr kumimoji="0" lang="en-US" altLang="ko-KR" sz="1050" b="0" dirty="0" smtClea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578084" eaLnBrk="0" fontAlgn="auto" latinLnBrk="0" hangingPunct="0">
              <a:spcAft>
                <a:spcPts val="0"/>
              </a:spcAft>
            </a:pPr>
            <a:r>
              <a:rPr kumimoji="0" lang="ko-KR" altLang="en-US" sz="105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시작 </a:t>
            </a:r>
            <a:r>
              <a:rPr kumimoji="0" lang="en-US" altLang="ko-KR" sz="105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1050" b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최상영 팀장 이태경 선임</a:t>
            </a:r>
            <a:r>
              <a:rPr kumimoji="0" lang="en-US" altLang="ko-KR" sz="1050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kumimoji="0" lang="en-US" altLang="ko-KR" sz="1050" b="0" dirty="0" smtClea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578084" eaLnBrk="0" fontAlgn="auto" latinLnBrk="0" hangingPunct="0">
              <a:spcAft>
                <a:spcPts val="0"/>
              </a:spcAft>
            </a:pPr>
            <a:r>
              <a:rPr kumimoji="0" lang="ko-KR" altLang="en-US" sz="105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상품기획 </a:t>
            </a:r>
            <a:r>
              <a:rPr kumimoji="0" lang="en-US" altLang="ko-KR" sz="1050" b="0" dirty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kumimoji="0" lang="ko-KR" altLang="en-US" sz="1050" b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이영혜 선임</a:t>
            </a:r>
            <a:endParaRPr kumimoji="0" lang="en-US" altLang="ko-KR" sz="1050" b="0" dirty="0" smtClea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3468049" y="593020"/>
            <a:ext cx="908887" cy="25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67" tIns="46034" rIns="92067" bIns="46034" anchor="ctr">
            <a:spAutoFit/>
          </a:bodyPr>
          <a:lstStyle/>
          <a:p>
            <a:pPr algn="ctr" defTabSz="578084" eaLnBrk="0" fontAlgn="auto" latinLnBrk="0" hangingPunct="0">
              <a:spcAft>
                <a:spcPts val="0"/>
              </a:spcAft>
            </a:pPr>
            <a:r>
              <a:rPr kumimoji="0" lang="en-US" altLang="ko-KR" sz="1050" b="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B900 Extra(B)</a:t>
            </a:r>
            <a:endParaRPr kumimoji="0" lang="ko-KR" altLang="en-US" sz="1050" b="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37" y="3233716"/>
            <a:ext cx="6454562" cy="337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37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0"/>
          <p:cNvSpPr>
            <a:spLocks noChangeArrowheads="1"/>
          </p:cNvSpPr>
          <p:nvPr/>
        </p:nvSpPr>
        <p:spPr bwMode="auto">
          <a:xfrm flipV="1">
            <a:off x="137068" y="100156"/>
            <a:ext cx="9625675" cy="484188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lIns="95763" tIns="47881" rIns="95763" bIns="47881" anchor="ctr"/>
          <a:lstStyle>
            <a:lvl1pPr defTabSz="960438"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960438"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960438"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960438"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960438"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/>
            <a:endParaRPr lang="ko-KR" altLang="ko-KR" sz="220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" name="Rectangle 1442"/>
          <p:cNvSpPr>
            <a:spLocks noGrp="1" noChangeArrowheads="1"/>
          </p:cNvSpPr>
          <p:nvPr>
            <p:ph type="title"/>
          </p:nvPr>
        </p:nvSpPr>
        <p:spPr bwMode="auto">
          <a:xfrm>
            <a:off x="3386866" y="181461"/>
            <a:ext cx="3132268" cy="323165"/>
          </a:xfrm>
          <a:ln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1" hangingPunct="1">
              <a:defRPr/>
            </a:pPr>
            <a:r>
              <a:rPr lang="ko-KR" altLang="en-US" sz="21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개발 유형 및 등급 확정 심의회</a:t>
            </a:r>
          </a:p>
        </p:txBody>
      </p:sp>
      <p:graphicFrame>
        <p:nvGraphicFramePr>
          <p:cNvPr id="69" name="Group 14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796061"/>
              </p:ext>
            </p:extLst>
          </p:nvPr>
        </p:nvGraphicFramePr>
        <p:xfrm>
          <a:off x="137068" y="885705"/>
          <a:ext cx="2292096" cy="2019600"/>
        </p:xfrm>
        <a:graphic>
          <a:graphicData uri="http://schemas.openxmlformats.org/drawingml/2006/table">
            <a:tbl>
              <a:tblPr/>
              <a:tblGrid>
                <a:gridCol w="783484"/>
                <a:gridCol w="1508612"/>
              </a:tblGrid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심의일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2025.04.08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작성자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장승태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S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부서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24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인치오븐패키지개발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제품군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Built-in Oven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PJT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명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24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인치오븐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_Extra grade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출시 국가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유럽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Base </a:t>
                      </a:r>
                      <a:r>
                        <a:rPr kumimoji="1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모델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WSED7667M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정격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220V~240V /50Hz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19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용량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76L</a:t>
                      </a:r>
                    </a:p>
                  </a:txBody>
                  <a:tcPr marL="134284" marR="134284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0" name="Group 2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731264"/>
              </p:ext>
            </p:extLst>
          </p:nvPr>
        </p:nvGraphicFramePr>
        <p:xfrm>
          <a:off x="137068" y="3114803"/>
          <a:ext cx="2292096" cy="1609362"/>
        </p:xfrm>
        <a:graphic>
          <a:graphicData uri="http://schemas.openxmlformats.org/drawingml/2006/table">
            <a:tbl>
              <a:tblPr/>
              <a:tblGrid>
                <a:gridCol w="2292096"/>
              </a:tblGrid>
              <a:tr h="308333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개 발 목 적</a:t>
                      </a:r>
                    </a:p>
                  </a:txBody>
                  <a:tcPr marL="132325" marR="132325" marT="61073" marB="6107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1301029">
                <a:tc>
                  <a:txBody>
                    <a:bodyPr/>
                    <a:lstStyle/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선도 기능으로 제품 리더십강화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, </a:t>
                      </a: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 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경쟁격차 확대 모델 개발</a:t>
                      </a: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 물량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(Y) : TBD</a:t>
                      </a: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132325" marR="132325" marT="61073" marB="61073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2644701" y="651506"/>
            <a:ext cx="498534" cy="1695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110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1. </a:t>
            </a:r>
            <a:r>
              <a:rPr lang="ko-KR" altLang="en-US" sz="110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참석자</a:t>
            </a:r>
            <a:endParaRPr lang="en-US" altLang="ko-KR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800870"/>
              </p:ext>
            </p:extLst>
          </p:nvPr>
        </p:nvGraphicFramePr>
        <p:xfrm>
          <a:off x="2653960" y="1895378"/>
          <a:ext cx="4908168" cy="1097280"/>
        </p:xfrm>
        <a:graphic>
          <a:graphicData uri="http://schemas.openxmlformats.org/drawingml/2006/table">
            <a:tbl>
              <a:tblPr/>
              <a:tblGrid>
                <a:gridCol w="408832"/>
                <a:gridCol w="1475000"/>
                <a:gridCol w="360040"/>
                <a:gridCol w="2664296"/>
              </a:tblGrid>
              <a:tr h="254818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확정 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등급 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개발 유형</a:t>
                      </a:r>
                      <a:r>
                        <a:rPr kumimoji="1" lang="en-US" altLang="ko-KR" sz="10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1)</a:t>
                      </a:r>
                      <a:endParaRPr kumimoji="1" lang="ko-KR" altLang="en-US" sz="1000" b="1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결정 사유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7952">
                <a:tc rowSpan="5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B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NPI3.0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○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1. Base Platform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내 모듈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change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에 의한 개발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charset="0"/>
                      </a:endParaRP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   : 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카메라모듈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, BLDC Convection system, </a:t>
                      </a: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      </a:t>
                      </a: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6.8</a:t>
                      </a:r>
                      <a:r>
                        <a:rPr kumimoji="1" lang="ko-KR" alt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인치 </a:t>
                      </a: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Controller</a:t>
                      </a: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2.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카메라 및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BLDC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모터 적용에 의한  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신규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Feature 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개발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NPI3.0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법인독자개발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X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Oversea Line-up(Case1) - 3.0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X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Oversea Line-up(Case2) - 3.0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X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Production Transfer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- 3.0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X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4" name="Group 14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429274"/>
              </p:ext>
            </p:extLst>
          </p:nvPr>
        </p:nvGraphicFramePr>
        <p:xfrm>
          <a:off x="2648749" y="836710"/>
          <a:ext cx="7169035" cy="854939"/>
        </p:xfrm>
        <a:graphic>
          <a:graphicData uri="http://schemas.openxmlformats.org/drawingml/2006/table">
            <a:tbl>
              <a:tblPr/>
              <a:tblGrid>
                <a:gridCol w="731351"/>
                <a:gridCol w="585244"/>
                <a:gridCol w="585244"/>
                <a:gridCol w="585244"/>
                <a:gridCol w="585244"/>
                <a:gridCol w="585244"/>
                <a:gridCol w="585244"/>
                <a:gridCol w="585244"/>
                <a:gridCol w="585244"/>
                <a:gridCol w="585244"/>
                <a:gridCol w="585244"/>
                <a:gridCol w="585244"/>
              </a:tblGrid>
              <a:tr h="278893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참석자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STC</a:t>
                      </a: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개발</a:t>
                      </a: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DQA</a:t>
                      </a: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시작기술</a:t>
                      </a: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상품기획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SW</a:t>
                      </a: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SW</a:t>
                      </a: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플랫폼</a:t>
                      </a: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HW</a:t>
                      </a: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79897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팀장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황근재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STC</a:t>
                      </a: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박원경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STC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김진환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P</a:t>
                      </a: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이재혁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P</a:t>
                      </a: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최상영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P</a:t>
                      </a: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-</a:t>
                      </a: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-</a:t>
                      </a: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-</a:t>
                      </a: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-</a:t>
                      </a: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6149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담당자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장승태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S</a:t>
                      </a: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신성훈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이태경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이영혜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S</a:t>
                      </a: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신명수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S</a:t>
                      </a: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신동천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이형구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C</a:t>
                      </a: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5" name="TextBox 94"/>
          <p:cNvSpPr txBox="1"/>
          <p:nvPr/>
        </p:nvSpPr>
        <p:spPr>
          <a:xfrm>
            <a:off x="2644701" y="1725272"/>
            <a:ext cx="654025" cy="1695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2</a:t>
            </a:r>
            <a:r>
              <a:rPr lang="en-US" altLang="ko-KR" sz="110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. </a:t>
            </a:r>
            <a:r>
              <a:rPr lang="ko-KR" altLang="en-US" sz="110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심의 결과</a:t>
            </a:r>
            <a:endParaRPr lang="en-US" altLang="ko-KR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graphicFrame>
        <p:nvGraphicFramePr>
          <p:cNvPr id="96" name="Group 1490"/>
          <p:cNvGraphicFramePr>
            <a:graphicFrameLocks noGrp="1"/>
          </p:cNvGraphicFramePr>
          <p:nvPr>
            <p:extLst/>
          </p:nvPr>
        </p:nvGraphicFramePr>
        <p:xfrm>
          <a:off x="2656742" y="3444581"/>
          <a:ext cx="7104898" cy="703680"/>
        </p:xfrm>
        <a:graphic>
          <a:graphicData uri="http://schemas.openxmlformats.org/drawingml/2006/table">
            <a:tbl>
              <a:tblPr/>
              <a:tblGrid>
                <a:gridCol w="622847"/>
                <a:gridCol w="560563"/>
                <a:gridCol w="560563"/>
                <a:gridCol w="560563"/>
                <a:gridCol w="560563"/>
                <a:gridCol w="560563"/>
                <a:gridCol w="590066"/>
                <a:gridCol w="590066"/>
                <a:gridCol w="590066"/>
                <a:gridCol w="590066"/>
                <a:gridCol w="659486"/>
                <a:gridCol w="659486"/>
              </a:tblGrid>
              <a:tr h="0">
                <a:tc gridSpan="6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Event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진행 여부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나선형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NPI </a:t>
                      </a:r>
                      <a:r>
                        <a:rPr kumimoji="1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진행 여부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돋움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돋움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돋움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Superset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CXR-P</a:t>
                      </a: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대상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Event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CP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DV(1)</a:t>
                      </a:r>
                      <a:endParaRPr kumimoji="1" lang="ko-KR" altLang="en-US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DV2</a:t>
                      </a:r>
                      <a:endParaRPr kumimoji="1" lang="ko-KR" altLang="en-US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PV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Pre MP</a:t>
                      </a: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1</a:t>
                      </a:r>
                      <a:r>
                        <a:rPr kumimoji="1" lang="en-US" altLang="ko-KR" sz="1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st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 MP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고객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평가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Field</a:t>
                      </a: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Test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Pre Marketing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M+6 Task</a:t>
                      </a: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(B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급 이상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)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실행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 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O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O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X</a:t>
                      </a: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O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O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X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O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X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O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O/X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O/X</a:t>
                      </a:r>
                      <a:endParaRPr kumimoji="1" lang="ko-KR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7" name="Group 14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352834"/>
              </p:ext>
            </p:extLst>
          </p:nvPr>
        </p:nvGraphicFramePr>
        <p:xfrm>
          <a:off x="2644701" y="4785944"/>
          <a:ext cx="4981182" cy="1980444"/>
        </p:xfrm>
        <a:graphic>
          <a:graphicData uri="http://schemas.openxmlformats.org/drawingml/2006/table">
            <a:tbl>
              <a:tblPr/>
              <a:tblGrid>
                <a:gridCol w="693738"/>
                <a:gridCol w="612000"/>
                <a:gridCol w="612574"/>
                <a:gridCol w="612574"/>
                <a:gridCol w="612574"/>
                <a:gridCol w="612574"/>
                <a:gridCol w="612574"/>
                <a:gridCol w="612574"/>
              </a:tblGrid>
              <a:tr h="280677">
                <a:tc gridSpan="8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개발일정 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5133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Event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발의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CP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PP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DV(1)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DV2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PV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Pre MP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80677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표준일정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25.04.08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25.08.16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-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26.02.17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-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26.03.44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26.04.03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677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PJT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목표일정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25.04.08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25.07.31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-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26.02.12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-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26.02.27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26.03.23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33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표준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개발기간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360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일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PJT</a:t>
                      </a: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개발기간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349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일</a:t>
                      </a: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표준대비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단축일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11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일</a:t>
                      </a: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표준대비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추가일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-</a:t>
                      </a: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표준일정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미준수 사유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8" name="TextBox 97"/>
          <p:cNvSpPr txBox="1"/>
          <p:nvPr/>
        </p:nvSpPr>
        <p:spPr>
          <a:xfrm>
            <a:off x="978261" y="651188"/>
            <a:ext cx="769441" cy="1695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ko-KR" altLang="en-US" sz="1100" u="sng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 </a:t>
            </a:r>
            <a:r>
              <a:rPr lang="en-US" altLang="ko-KR" sz="1100" u="sng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PJT </a:t>
            </a:r>
            <a:r>
              <a:rPr lang="ko-KR" altLang="en-US" sz="1100" u="sng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개요</a:t>
            </a:r>
            <a:endParaRPr lang="en-US" altLang="ko-KR" sz="1100" u="sng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00" name="Text Box 2"/>
          <p:cNvSpPr txBox="1">
            <a:spLocks noChangeArrowheads="1"/>
          </p:cNvSpPr>
          <p:nvPr/>
        </p:nvSpPr>
        <p:spPr bwMode="auto">
          <a:xfrm>
            <a:off x="2576736" y="4154924"/>
            <a:ext cx="7218434" cy="632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65052" tIns="32528" rIns="65052" bIns="32528">
            <a:spAutoFit/>
          </a:bodyPr>
          <a:lstStyle/>
          <a:p>
            <a:pPr defTabSz="646862">
              <a:spcBef>
                <a:spcPct val="10000"/>
              </a:spcBef>
              <a:spcAft>
                <a:spcPct val="10000"/>
              </a:spcAft>
            </a:pPr>
            <a:r>
              <a:rPr lang="en-US" altLang="ko-KR" sz="8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※ </a:t>
            </a:r>
            <a:r>
              <a:rPr lang="ko-KR" altLang="en-US" sz="8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각</a:t>
            </a:r>
            <a:r>
              <a:rPr lang="en-US" altLang="ko-KR" sz="8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Event</a:t>
            </a:r>
            <a:r>
              <a:rPr lang="ko-KR" altLang="en-US" sz="8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의 필수 </a:t>
            </a:r>
            <a:r>
              <a:rPr lang="en-US" altLang="ko-KR" sz="8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Activity </a:t>
            </a:r>
            <a:r>
              <a:rPr lang="ko-KR" altLang="en-US" sz="8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조정 있을 시 첨부 </a:t>
            </a:r>
            <a:r>
              <a:rPr lang="ko-KR" altLang="en-US" sz="800" b="0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장표에</a:t>
            </a:r>
            <a:r>
              <a:rPr lang="ko-KR" altLang="en-US" sz="8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상세 명기</a:t>
            </a:r>
            <a:endParaRPr lang="en-US" altLang="ko-KR" sz="800" b="0" dirty="0" smtClean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  <a:p>
            <a:pPr defTabSz="646862">
              <a:spcBef>
                <a:spcPct val="10000"/>
              </a:spcBef>
              <a:spcAft>
                <a:spcPct val="10000"/>
              </a:spcAft>
            </a:pPr>
            <a:r>
              <a:rPr lang="en-US" altLang="ko-KR" sz="8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※ Superset : </a:t>
            </a:r>
            <a:r>
              <a:rPr lang="ko-KR" altLang="en-US" sz="8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고객의 사용패턴 파악 및 품질 서비스제공을 위하여 </a:t>
            </a:r>
            <a:r>
              <a:rPr lang="en-US" altLang="ko-KR" sz="8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Wi-Fi</a:t>
            </a:r>
            <a:r>
              <a:rPr lang="ko-KR" altLang="en-US" sz="800" b="0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를</a:t>
            </a:r>
            <a:r>
              <a:rPr lang="ko-KR" altLang="en-US" sz="8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통하여 </a:t>
            </a:r>
            <a:r>
              <a:rPr lang="en-US" altLang="ko-KR" sz="8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ThinQ </a:t>
            </a:r>
            <a:r>
              <a:rPr lang="ko-KR" altLang="en-US" sz="8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서버에 수집되는 데이터</a:t>
            </a:r>
            <a:endParaRPr lang="en-US" altLang="ko-KR" sz="800" b="0" dirty="0" smtClean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  <a:p>
            <a:pPr defTabSz="646862">
              <a:spcBef>
                <a:spcPct val="10000"/>
              </a:spcBef>
              <a:spcAft>
                <a:spcPct val="10000"/>
              </a:spcAft>
            </a:pPr>
            <a:r>
              <a:rPr lang="en-US" altLang="ko-KR" sz="8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※ </a:t>
            </a:r>
            <a:r>
              <a:rPr lang="ko-KR" altLang="en-US" sz="800" b="0" dirty="0" err="1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신규제품군</a:t>
            </a:r>
            <a:r>
              <a:rPr lang="ko-KR" altLang="en-US" sz="8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</a:t>
            </a:r>
            <a:r>
              <a:rPr lang="en-US" altLang="ko-KR" sz="8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Non-</a:t>
            </a:r>
            <a:r>
              <a:rPr lang="en-US" altLang="ko-KR" sz="800" b="0" dirty="0" err="1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Wifi</a:t>
            </a:r>
            <a:r>
              <a:rPr lang="en-US" altLang="ko-KR" sz="8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</a:t>
            </a:r>
            <a:r>
              <a:rPr lang="ko-KR" altLang="en-US" sz="8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제품 </a:t>
            </a:r>
            <a:r>
              <a:rPr lang="en-US" altLang="ko-KR" sz="8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or </a:t>
            </a:r>
            <a:r>
              <a:rPr lang="en-US" altLang="ko-KR" sz="800" b="0" dirty="0" err="1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Wifi</a:t>
            </a:r>
            <a:r>
              <a:rPr lang="ko-KR" altLang="en-US" sz="8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anose="05000000000000000000" pitchFamily="2" charset="2"/>
              </a:rPr>
              <a:t>→</a:t>
            </a:r>
            <a:r>
              <a:rPr lang="en-US" altLang="ko-KR" sz="8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anose="05000000000000000000" pitchFamily="2" charset="2"/>
              </a:rPr>
              <a:t>Non-</a:t>
            </a:r>
            <a:r>
              <a:rPr lang="en-US" altLang="ko-KR" sz="800" b="0" dirty="0" err="1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anose="05000000000000000000" pitchFamily="2" charset="2"/>
              </a:rPr>
              <a:t>Wifi</a:t>
            </a:r>
            <a:r>
              <a:rPr lang="ko-KR" altLang="en-US" sz="800" b="0" dirty="0" err="1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anose="05000000000000000000" pitchFamily="2" charset="2"/>
              </a:rPr>
              <a:t>로</a:t>
            </a:r>
            <a:r>
              <a:rPr lang="ko-KR" altLang="en-US" sz="8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anose="05000000000000000000" pitchFamily="2" charset="2"/>
              </a:rPr>
              <a:t> 변경되는 개발의 경우</a:t>
            </a:r>
            <a:r>
              <a:rPr lang="en-US" altLang="ko-KR" sz="8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8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anose="05000000000000000000" pitchFamily="2" charset="2"/>
              </a:rPr>
              <a:t>상품기획 또는 제품개발팀에서</a:t>
            </a:r>
            <a:endParaRPr lang="en-US" altLang="ko-KR" sz="800" b="0" dirty="0" smtClean="0">
              <a:solidFill>
                <a:srgbClr val="FF0000"/>
              </a:solidFill>
              <a:latin typeface="Arial Narrow" panose="020B0606020202030204" pitchFamily="34" charset="0"/>
              <a:ea typeface="LG스마트체 Regular" pitchFamily="50" charset="-127"/>
              <a:sym typeface="Wingdings" panose="05000000000000000000" pitchFamily="2" charset="2"/>
            </a:endParaRPr>
          </a:p>
          <a:p>
            <a:pPr defTabSz="646862">
              <a:spcBef>
                <a:spcPct val="10000"/>
              </a:spcBef>
              <a:spcAft>
                <a:spcPct val="10000"/>
              </a:spcAft>
            </a:pPr>
            <a:r>
              <a:rPr lang="en-US" altLang="ko-KR" sz="800" b="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8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anose="05000000000000000000" pitchFamily="2" charset="2"/>
              </a:rPr>
              <a:t>   </a:t>
            </a:r>
            <a:r>
              <a:rPr lang="ko-KR" altLang="en-US" sz="8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800" b="0" dirty="0" err="1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anose="05000000000000000000" pitchFamily="2" charset="2"/>
              </a:rPr>
              <a:t>ThinQ</a:t>
            </a:r>
            <a:r>
              <a:rPr lang="ko-KR" altLang="en-US" sz="800" b="0" dirty="0" err="1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anose="05000000000000000000" pitchFamily="2" charset="2"/>
              </a:rPr>
              <a:t>앱</a:t>
            </a:r>
            <a:r>
              <a:rPr lang="ko-KR" altLang="en-US" sz="8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anose="05000000000000000000" pitchFamily="2" charset="2"/>
              </a:rPr>
              <a:t> 개발팀으로 </a:t>
            </a:r>
            <a:r>
              <a:rPr lang="ko-KR" altLang="en-US" sz="800" b="0" dirty="0" err="1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anose="05000000000000000000" pitchFamily="2" charset="2"/>
              </a:rPr>
              <a:t>앱</a:t>
            </a:r>
            <a:r>
              <a:rPr lang="ko-KR" altLang="en-US" sz="8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anose="05000000000000000000" pitchFamily="2" charset="2"/>
              </a:rPr>
              <a:t> 개발 의뢰를 진행한다</a:t>
            </a:r>
            <a:r>
              <a:rPr lang="en-US" altLang="ko-KR" sz="8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anose="05000000000000000000" pitchFamily="2" charset="2"/>
              </a:rPr>
              <a:t>.</a:t>
            </a:r>
            <a:endParaRPr lang="en-US" altLang="ko-KR" sz="800" b="0" dirty="0" smtClean="0">
              <a:solidFill>
                <a:srgbClr val="FF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3386866" y="6546665"/>
            <a:ext cx="2830903" cy="17953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※ </a:t>
            </a:r>
            <a:r>
              <a:rPr lang="ko-KR" altLang="en-US" sz="800" b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표준일정 </a:t>
            </a:r>
            <a:r>
              <a:rPr lang="ko-KR" altLang="en-US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대비 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30% </a:t>
            </a:r>
            <a:r>
              <a:rPr lang="ko-KR" altLang="en-US" sz="8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이상 단축되는 경우 본부장 승인 필요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lang="en-US" altLang="ko-KR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Ca</a:t>
            </a:r>
            <a:r>
              <a:rPr lang="ko-KR" altLang="en-US" sz="800" b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급 </a:t>
            </a:r>
            <a:r>
              <a:rPr lang="ko-KR" altLang="en-US" sz="8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이상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</a:p>
        </p:txBody>
      </p:sp>
      <p:graphicFrame>
        <p:nvGraphicFramePr>
          <p:cNvPr id="104" name="Group 205"/>
          <p:cNvGraphicFramePr>
            <a:graphicFrameLocks noGrp="1"/>
          </p:cNvGraphicFramePr>
          <p:nvPr>
            <p:extLst/>
          </p:nvPr>
        </p:nvGraphicFramePr>
        <p:xfrm>
          <a:off x="137068" y="4812025"/>
          <a:ext cx="2292096" cy="1127280"/>
        </p:xfrm>
        <a:graphic>
          <a:graphicData uri="http://schemas.openxmlformats.org/drawingml/2006/table">
            <a:tbl>
              <a:tblPr/>
              <a:tblGrid>
                <a:gridCol w="1146048"/>
                <a:gridCol w="1146048"/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영업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 PDR </a:t>
                      </a: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요청 여부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(O, X)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PDR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기준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Shipping Date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TBD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PDR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기준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년간 물량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TBD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5" name="직사각형 104"/>
          <p:cNvSpPr/>
          <p:nvPr/>
        </p:nvSpPr>
        <p:spPr>
          <a:xfrm>
            <a:off x="3386866" y="6367129"/>
            <a:ext cx="2673809" cy="17953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ko-KR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※ </a:t>
            </a:r>
            <a:r>
              <a:rPr lang="ko-KR" altLang="en-US" sz="800" b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발의를 진행하지 않는 경우 등급심의회 기준으로 개발기간 산출</a:t>
            </a:r>
            <a:endParaRPr lang="en-US" altLang="ko-KR" sz="800" b="0" dirty="0">
              <a:solidFill>
                <a:srgbClr val="0066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graphicFrame>
        <p:nvGraphicFramePr>
          <p:cNvPr id="109" name="표 108"/>
          <p:cNvGraphicFramePr>
            <a:graphicFrameLocks noGrp="1"/>
          </p:cNvGraphicFramePr>
          <p:nvPr>
            <p:extLst/>
          </p:nvPr>
        </p:nvGraphicFramePr>
        <p:xfrm>
          <a:off x="148180" y="6042498"/>
          <a:ext cx="2284372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2372"/>
                <a:gridCol w="1512000"/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제품 </a:t>
                      </a:r>
                      <a:r>
                        <a:rPr lang="en-US" altLang="ko-KR" sz="900" b="1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UX ODR</a:t>
                      </a:r>
                    </a:p>
                    <a:p>
                      <a:pPr algn="ctr" latinLnBrk="1"/>
                      <a:r>
                        <a:rPr lang="ko-KR" altLang="en-US" sz="900" b="1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실시여부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7243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(O, X)</a:t>
                      </a:r>
                      <a:endParaRPr lang="ko-KR" altLang="en-US" sz="900" b="1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제시연 평가 대상</a:t>
                      </a:r>
                      <a:endParaRPr lang="en-US" altLang="ko-KR" sz="900" b="1" baseline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1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(B</a:t>
                      </a:r>
                      <a:r>
                        <a:rPr lang="ko-KR" altLang="en-US" sz="900" b="1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급↑</a:t>
                      </a:r>
                      <a:r>
                        <a:rPr lang="en-US" altLang="ko-KR" sz="900" b="1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7243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(O, X)</a:t>
                      </a:r>
                      <a:endParaRPr lang="ko-KR" altLang="en-US" sz="900" b="1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0" name="타원 109"/>
          <p:cNvSpPr/>
          <p:nvPr/>
        </p:nvSpPr>
        <p:spPr>
          <a:xfrm>
            <a:off x="1696767" y="4910970"/>
            <a:ext cx="166362" cy="1535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111" name="타원 110"/>
          <p:cNvSpPr/>
          <p:nvPr/>
        </p:nvSpPr>
        <p:spPr>
          <a:xfrm>
            <a:off x="1530405" y="6499017"/>
            <a:ext cx="166362" cy="1535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</a:endParaRP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/>
          </p:nvPr>
        </p:nvGraphicFramePr>
        <p:xfrm>
          <a:off x="7681066" y="5331651"/>
          <a:ext cx="2150696" cy="1430846"/>
        </p:xfrm>
        <a:graphic>
          <a:graphicData uri="http://schemas.openxmlformats.org/drawingml/2006/table">
            <a:tbl>
              <a:tblPr/>
              <a:tblGrid>
                <a:gridCol w="259071"/>
                <a:gridCol w="1512000"/>
                <a:gridCol w="379625"/>
              </a:tblGrid>
              <a:tr h="105779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N0</a:t>
                      </a:r>
                      <a:endParaRPr kumimoji="1" lang="ko-KR" altLang="en-US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필수 작성 자료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유첨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9421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개발 변경점 상세 작성 내용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유첨</a:t>
                      </a: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421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개발 예상 우려점 검토 결과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유첨</a:t>
                      </a: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2737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개발유형 확정 및 </a:t>
                      </a:r>
                      <a:endParaRPr lang="en-US" altLang="ko-KR" sz="900" b="1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단계별 </a:t>
                      </a:r>
                      <a:r>
                        <a:rPr lang="ko-KR" altLang="en-US" sz="900" b="1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실행 </a:t>
                      </a:r>
                      <a:r>
                        <a:rPr lang="en-US" altLang="ko-KR" sz="900" b="1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Activity </a:t>
                      </a:r>
                      <a:r>
                        <a:rPr lang="ko-KR" altLang="en-US" sz="900" b="1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조정 결과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유첨</a:t>
                      </a: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2737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개발 </a:t>
                      </a:r>
                      <a:r>
                        <a:rPr lang="en-US" altLang="ko-KR" sz="900" b="1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PJT </a:t>
                      </a:r>
                      <a:r>
                        <a:rPr lang="ko-KR" altLang="en-US" sz="900" b="1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역량 점검 결과</a:t>
                      </a:r>
                      <a:endParaRPr lang="en-US" altLang="ko-KR" sz="900" b="1" dirty="0" smtClean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  <a:cs typeface="Arial" charset="0"/>
                      </a:endParaRP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-</a:t>
                      </a:r>
                      <a:r>
                        <a:rPr lang="en-US" altLang="ko-KR" sz="900" b="1" baseline="0" dirty="0" smtClean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 </a:t>
                      </a:r>
                      <a:r>
                        <a:rPr lang="ko-KR" altLang="en-US" sz="900" b="1" dirty="0" err="1" smtClean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창원산</a:t>
                      </a:r>
                      <a:r>
                        <a:rPr lang="ko-KR" altLang="en-US" sz="900" b="1" dirty="0" smtClean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 </a:t>
                      </a:r>
                      <a:r>
                        <a:rPr lang="en-US" altLang="ko-KR" sz="900" b="1" dirty="0" smtClean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Cb</a:t>
                      </a:r>
                      <a:r>
                        <a:rPr lang="ko-KR" altLang="en-US" sz="900" b="1" dirty="0" smtClean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↑ </a:t>
                      </a:r>
                      <a:r>
                        <a:rPr lang="ko-KR" altLang="en-US" sz="900" b="1" dirty="0" err="1" smtClean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법인산</a:t>
                      </a:r>
                      <a:r>
                        <a:rPr lang="ko-KR" altLang="en-US" sz="900" b="1" dirty="0" smtClean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 </a:t>
                      </a:r>
                      <a:r>
                        <a:rPr lang="en-US" altLang="ko-KR" sz="900" b="1" dirty="0" smtClean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Ca</a:t>
                      </a:r>
                      <a:r>
                        <a:rPr lang="ko-KR" altLang="en-US" sz="900" b="1" dirty="0" smtClean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↑</a:t>
                      </a:r>
                      <a:endParaRPr lang="en-US" altLang="ko-KR" sz="900" b="1" dirty="0" smtClean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  <a:cs typeface="Arial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유첨</a:t>
                      </a: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2737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5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Base </a:t>
                      </a:r>
                      <a:r>
                        <a:rPr lang="ko-KR" altLang="en-US" sz="900" b="1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모델 대비 변경사항</a:t>
                      </a:r>
                      <a:endParaRPr lang="en-US" altLang="ko-KR" sz="900" b="1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  <a:cs typeface="Arial" charset="0"/>
                      </a:endParaRP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smtClean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-</a:t>
                      </a:r>
                      <a:r>
                        <a:rPr lang="en-US" altLang="ko-KR" sz="900" b="1" baseline="0" smtClean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 Ca</a:t>
                      </a:r>
                      <a:r>
                        <a:rPr lang="ko-KR" altLang="en-US" sz="900" b="1" baseline="0" smtClean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↑</a:t>
                      </a:r>
                      <a:r>
                        <a:rPr lang="en-US" altLang="ko-KR" sz="900" b="1" baseline="0" dirty="0" smtClean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, T</a:t>
                      </a:r>
                      <a:r>
                        <a:rPr lang="ko-KR" altLang="en-US" sz="900" b="1" baseline="0" smtClean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급 작성</a:t>
                      </a:r>
                      <a:endParaRPr lang="en-US" altLang="ko-KR" sz="900" b="1" dirty="0" smtClean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  <a:cs typeface="Arial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유첨</a:t>
                      </a: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5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표 30"/>
          <p:cNvGraphicFramePr>
            <a:graphicFrameLocks noGrp="1"/>
          </p:cNvGraphicFramePr>
          <p:nvPr>
            <p:extLst/>
          </p:nvPr>
        </p:nvGraphicFramePr>
        <p:xfrm>
          <a:off x="7681223" y="4215765"/>
          <a:ext cx="2155011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061"/>
                <a:gridCol w="780087"/>
                <a:gridCol w="828863"/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적용여부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</a:t>
                      </a:r>
                    </a:p>
                    <a:p>
                      <a:pPr algn="ctr" latinLnBrk="1"/>
                      <a:r>
                        <a:rPr lang="en-US" altLang="ko-KR" sz="900" b="1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Model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72431" rtl="0" eaLnBrk="1" latinLnBrk="1" hangingPunct="1"/>
                      <a:r>
                        <a:rPr lang="en-US" altLang="ko-KR" sz="900" b="1" kern="12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New</a:t>
                      </a:r>
                    </a:p>
                    <a:p>
                      <a:pPr marL="0" algn="ctr" defTabSz="872431" rtl="0" eaLnBrk="1" latinLnBrk="1" hangingPunct="1"/>
                      <a:r>
                        <a:rPr lang="en-US" altLang="ko-KR" sz="900" b="1" kern="12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Model</a:t>
                      </a:r>
                      <a:endParaRPr lang="ko-KR" altLang="en-US" sz="900" b="1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과전압</a:t>
                      </a:r>
                      <a:endParaRPr lang="en-US" altLang="ko-KR" sz="900" b="1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b="1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지역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7243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(O,</a:t>
                      </a:r>
                      <a:r>
                        <a:rPr lang="en-US" altLang="ko-KR" sz="900" b="1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X)</a:t>
                      </a:r>
                      <a:endParaRPr lang="ko-KR" altLang="en-US" sz="900" b="1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87243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(O, X)</a:t>
                      </a:r>
                      <a:endParaRPr lang="ko-KR" altLang="en-US" sz="900" b="1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직사각형 32"/>
          <p:cNvSpPr/>
          <p:nvPr/>
        </p:nvSpPr>
        <p:spPr>
          <a:xfrm>
            <a:off x="7660323" y="4770736"/>
            <a:ext cx="2285882" cy="5416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출시 </a:t>
            </a:r>
            <a:r>
              <a:rPr lang="ko-KR" altLang="en-US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국가가 과전압 </a:t>
            </a:r>
            <a:r>
              <a:rPr lang="ko-KR" altLang="en-US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대상인 </a:t>
            </a:r>
            <a:r>
              <a:rPr lang="ko-KR" altLang="en-US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경우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lang="ko-KR" altLang="en-US" sz="800" b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제어팀장 </a:t>
            </a:r>
            <a:r>
              <a:rPr lang="ko-KR" altLang="en-US" sz="8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결재 득할 </a:t>
            </a:r>
            <a:r>
              <a:rPr lang="ko-KR" altLang="en-US" sz="800" b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것</a:t>
            </a:r>
            <a:endParaRPr lang="en-US" altLang="ko-KR" sz="800" b="0" dirty="0" smtClean="0">
              <a:solidFill>
                <a:srgbClr val="0066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과전압 대상 국가 </a:t>
            </a:r>
            <a:r>
              <a:rPr lang="en-US" altLang="ko-KR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: </a:t>
            </a:r>
          </a:p>
          <a:p>
            <a:pPr>
              <a:lnSpc>
                <a:spcPct val="110000"/>
              </a:lnSpc>
            </a:pPr>
            <a:r>
              <a:rPr lang="ko-KR" altLang="en-US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인도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lang="ko-KR" altLang="en-US" sz="8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스리랑카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lang="ko-KR" altLang="en-US" sz="8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방글라데시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lang="ko-KR" altLang="en-US" sz="8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파키스탄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lang="ko-KR" altLang="en-US" sz="800" b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네팔</a:t>
            </a:r>
            <a:r>
              <a:rPr lang="en-US" altLang="ko-KR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lang="ko-KR" altLang="en-US" sz="8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베트남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endParaRPr lang="en-US" altLang="ko-KR" sz="800" b="0" dirty="0" smtClean="0">
              <a:solidFill>
                <a:srgbClr val="0066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>
              <a:lnSpc>
                <a:spcPct val="110000"/>
              </a:lnSpc>
            </a:pPr>
            <a:r>
              <a:rPr lang="ko-KR" altLang="en-US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미얀마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lang="ko-KR" altLang="en-US" sz="8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캄보디아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lang="ko-KR" altLang="en-US" sz="800" b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라오스</a:t>
            </a:r>
            <a:r>
              <a:rPr lang="en-US" altLang="ko-KR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lang="ko-KR" altLang="en-US" sz="800" b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인도네시아</a:t>
            </a:r>
            <a:r>
              <a:rPr lang="en-US" altLang="ko-KR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lang="ko-KR" altLang="en-US" sz="800" b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나이지리아</a:t>
            </a:r>
            <a:endParaRPr lang="en-US" altLang="ko-KR" sz="800" b="0" dirty="0">
              <a:solidFill>
                <a:srgbClr val="0066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677930" y="3039979"/>
            <a:ext cx="711716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eaLnBrk="0" latinLnBrk="0" hangingPunct="0"/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1) </a:t>
            </a:r>
            <a:r>
              <a:rPr lang="en-US" altLang="ko-KR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NPI3.0 : </a:t>
            </a:r>
            <a:r>
              <a:rPr lang="ko-KR" altLang="en-US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일반 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B2C </a:t>
            </a:r>
            <a:r>
              <a:rPr lang="ko-KR" altLang="en-US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제품 </a:t>
            </a:r>
            <a:r>
              <a:rPr lang="ko-KR" altLang="en-US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</a:t>
            </a:r>
            <a:r>
              <a:rPr lang="en-US" altLang="ko-KR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해외독자개발포함</a:t>
            </a:r>
            <a:r>
              <a:rPr lang="en-US" altLang="ko-KR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), Production 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Transfer : </a:t>
            </a:r>
            <a:r>
              <a:rPr lang="ko-KR" altLang="en-US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생산지 이전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한국 또는 해외 법인에서 개발 후 양산 중인 제품을 </a:t>
            </a:r>
            <a:r>
              <a:rPr lang="ko-KR" altLang="en-US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Spec </a:t>
            </a:r>
            <a:r>
              <a:rPr lang="ko-KR" altLang="en-US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없이 </a:t>
            </a:r>
            <a:r>
              <a:rPr lang="ko-KR" altLang="en-US" sz="800" b="0" dirty="0" err="1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금형이관에</a:t>
            </a:r>
            <a:r>
              <a:rPr lang="ko-KR" altLang="en-US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의한 </a:t>
            </a:r>
            <a:r>
              <a:rPr lang="ko-KR" altLang="en-US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부품 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localization </a:t>
            </a:r>
            <a:r>
              <a:rPr lang="ko-KR" altLang="en-US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또는 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CSKD</a:t>
            </a:r>
            <a:r>
              <a:rPr lang="ko-KR" altLang="en-US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 공급하여 </a:t>
            </a:r>
            <a:r>
              <a:rPr lang="ko-KR" altLang="en-US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현지 생산하는 </a:t>
            </a:r>
            <a:r>
              <a:rPr lang="ko-KR" altLang="en-US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경우</a:t>
            </a:r>
            <a:r>
              <a:rPr lang="en-US" altLang="ko-KR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), 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Oversea Line-up(Case1) : </a:t>
            </a:r>
            <a:r>
              <a:rPr lang="ko-KR" altLang="en-US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한국 사업부에서 </a:t>
            </a:r>
            <a:r>
              <a:rPr lang="ko-KR" altLang="en-US" sz="800" b="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금형</a:t>
            </a:r>
            <a:r>
              <a:rPr lang="ko-KR" altLang="en-US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제작하여 개발 진행 후 이관하는 경우</a:t>
            </a:r>
            <a:r>
              <a:rPr lang="en-US" altLang="ko-KR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Oversea Line-up(Case2) : </a:t>
            </a:r>
            <a:r>
              <a:rPr lang="ko-KR" altLang="en-US" sz="800" b="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금형이</a:t>
            </a:r>
            <a:r>
              <a:rPr lang="ko-KR" altLang="en-US" sz="8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현지 법인에서 개발 될 경우</a:t>
            </a: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335830"/>
              </p:ext>
            </p:extLst>
          </p:nvPr>
        </p:nvGraphicFramePr>
        <p:xfrm>
          <a:off x="7595165" y="1748811"/>
          <a:ext cx="2215408" cy="420624"/>
        </p:xfrm>
        <a:graphic>
          <a:graphicData uri="http://schemas.openxmlformats.org/drawingml/2006/table">
            <a:tbl>
              <a:tblPr/>
              <a:tblGrid>
                <a:gridCol w="631232"/>
                <a:gridCol w="792088"/>
                <a:gridCol w="792088"/>
              </a:tblGrid>
              <a:tr h="254818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프리미엄 </a:t>
                      </a: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제품 여부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신뢰성 심사제 </a:t>
                      </a: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대상 여부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별매악세사리</a:t>
                      </a: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개발 유무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7952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해당 없음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○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/ X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○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/ X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표 33"/>
          <p:cNvGraphicFramePr>
            <a:graphicFrameLocks noGrp="1"/>
          </p:cNvGraphicFramePr>
          <p:nvPr>
            <p:extLst/>
          </p:nvPr>
        </p:nvGraphicFramePr>
        <p:xfrm>
          <a:off x="7595164" y="2177909"/>
          <a:ext cx="2222621" cy="821746"/>
        </p:xfrm>
        <a:graphic>
          <a:graphicData uri="http://schemas.openxmlformats.org/drawingml/2006/table">
            <a:tbl>
              <a:tblPr/>
              <a:tblGrid>
                <a:gridCol w="810501"/>
                <a:gridCol w="656120"/>
                <a:gridCol w="756000"/>
              </a:tblGrid>
              <a:tr h="254818">
                <a:tc gridSpan="3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ThinQ App</a:t>
                      </a:r>
                      <a:endParaRPr kumimoji="1" lang="ko-KR" altLang="en-US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7952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서비스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적용 여부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적용 국가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7952">
                <a:tc>
                  <a:txBody>
                    <a:bodyPr/>
                    <a:lstStyle/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kern="12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1.</a:t>
                      </a:r>
                      <a:r>
                        <a:rPr kumimoji="1" lang="en-US" altLang="ko-KR" sz="800" b="0" kern="12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S</a:t>
                      </a:r>
                      <a:r>
                        <a:rPr kumimoji="1" lang="en-US" altLang="ko-KR" sz="800" b="0" kern="12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can to Cook</a:t>
                      </a: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kern="12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2. </a:t>
                      </a:r>
                      <a:r>
                        <a:rPr kumimoji="1" lang="ko-KR" altLang="en-US" sz="800" b="0" kern="12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음성인식</a:t>
                      </a:r>
                      <a:endParaRPr kumimoji="1" lang="en-US" altLang="ko-KR" sz="800" b="0" kern="120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kern="12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3. ThinQ Recipe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O / X</a:t>
                      </a: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O / X</a:t>
                      </a: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O / X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charset="0"/>
                        </a:rPr>
                        <a:t>유럽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5" name="타원 34"/>
          <p:cNvSpPr/>
          <p:nvPr/>
        </p:nvSpPr>
        <p:spPr>
          <a:xfrm>
            <a:off x="9434233" y="2020280"/>
            <a:ext cx="166362" cy="1535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9409066" y="3963197"/>
            <a:ext cx="166362" cy="1535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1530405" y="6157983"/>
            <a:ext cx="166362" cy="1535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8456225" y="2021178"/>
            <a:ext cx="166362" cy="1535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8596732" y="4543436"/>
            <a:ext cx="166362" cy="1535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9400677" y="4543436"/>
            <a:ext cx="166362" cy="1535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8629911" y="3968338"/>
            <a:ext cx="166362" cy="1535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8715199" y="2711388"/>
            <a:ext cx="166362" cy="1535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8586284" y="2553395"/>
            <a:ext cx="166362" cy="1535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8713522" y="2846090"/>
            <a:ext cx="166362" cy="1535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8871245" y="2603356"/>
            <a:ext cx="478428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eaLnBrk="0" latinLnBrk="0" hangingPunct="0"/>
            <a:r>
              <a:rPr lang="ko-KR" altLang="en-US" sz="800" b="0" dirty="0" smtClean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이태리만</a:t>
            </a:r>
            <a:endParaRPr lang="ko-KR" altLang="en-US" sz="800" b="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9198" y="197359"/>
            <a:ext cx="11897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Arial Narrow" panose="020B0606020202030204" pitchFamily="34" charset="0"/>
                <a:ea typeface="LG스마트체 Regular" panose="020B0600000101010101" pitchFamily="50" charset="-127"/>
              </a:rPr>
              <a:t>25.04.08 </a:t>
            </a:r>
            <a:r>
              <a:rPr lang="ko-KR" altLang="en-US" smtClean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심의서</a:t>
            </a:r>
            <a:endParaRPr lang="en-US" altLang="ko-KR" smtClean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8841433" y="140100"/>
            <a:ext cx="905426" cy="2683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</a:t>
            </a:r>
            <a:endParaRPr lang="ko-KR" altLang="en-US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7180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3"/>
          <p:cNvSpPr txBox="1">
            <a:spLocks noChangeArrowheads="1"/>
          </p:cNvSpPr>
          <p:nvPr/>
        </p:nvSpPr>
        <p:spPr bwMode="auto">
          <a:xfrm>
            <a:off x="52167" y="140100"/>
            <a:ext cx="2211333" cy="3250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B900</a:t>
            </a:r>
            <a:r>
              <a:rPr kumimoji="0"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시리즈 라인업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="" xmlns:a16="http://schemas.microsoft.com/office/drawing/2014/main" id="{CBA7C4C2-D932-427B-A90E-24E3499CE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976367"/>
              </p:ext>
            </p:extLst>
          </p:nvPr>
        </p:nvGraphicFramePr>
        <p:xfrm>
          <a:off x="139273" y="548680"/>
          <a:ext cx="9418500" cy="6260654"/>
        </p:xfrm>
        <a:graphic>
          <a:graphicData uri="http://schemas.openxmlformats.org/drawingml/2006/table">
            <a:tbl>
              <a:tblPr/>
              <a:tblGrid>
                <a:gridCol w="4972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312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9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19000">
                  <a:extLst>
                    <a:ext uri="{9D8B030D-6E8A-4147-A177-3AD203B41FA5}">
                      <a16:colId xmlns="" xmlns:a16="http://schemas.microsoft.com/office/drawing/2014/main" val="4258879511"/>
                    </a:ext>
                  </a:extLst>
                </a:gridCol>
                <a:gridCol w="819000">
                  <a:extLst>
                    <a:ext uri="{9D8B030D-6E8A-4147-A177-3AD203B41FA5}">
                      <a16:colId xmlns="" xmlns:a16="http://schemas.microsoft.com/office/drawing/2014/main" val="4258586254"/>
                    </a:ext>
                  </a:extLst>
                </a:gridCol>
                <a:gridCol w="819000">
                  <a:extLst>
                    <a:ext uri="{9D8B030D-6E8A-4147-A177-3AD203B41FA5}">
                      <a16:colId xmlns="" xmlns:a16="http://schemas.microsoft.com/office/drawing/2014/main" val="2597766085"/>
                    </a:ext>
                  </a:extLst>
                </a:gridCol>
                <a:gridCol w="819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190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190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8190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819000">
                  <a:extLst>
                    <a:ext uri="{9D8B030D-6E8A-4147-A177-3AD203B41FA5}">
                      <a16:colId xmlns="" xmlns:a16="http://schemas.microsoft.com/office/drawing/2014/main" val="2538710557"/>
                    </a:ext>
                  </a:extLst>
                </a:gridCol>
                <a:gridCol w="819000">
                  <a:extLst>
                    <a:ext uri="{9D8B030D-6E8A-4147-A177-3AD203B41FA5}">
                      <a16:colId xmlns="" xmlns:a16="http://schemas.microsoft.com/office/drawing/2014/main" val="1969826178"/>
                    </a:ext>
                  </a:extLst>
                </a:gridCol>
              </a:tblGrid>
              <a:tr h="15700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Brand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LG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982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Model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21525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WS9D7612S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21525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WS9D7612B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21525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WS9D7632S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21525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WS9D7632B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21525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baseline="0" dirty="0" smtClean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WSED7664S</a:t>
                      </a:r>
                      <a:endParaRPr lang="en-US" altLang="ko-KR" sz="1000" b="0" kern="0" baseline="0" dirty="0">
                        <a:solidFill>
                          <a:prstClr val="black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21525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baseline="0" dirty="0" smtClean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WSED7665B</a:t>
                      </a:r>
                      <a:endParaRPr lang="en-US" altLang="ko-KR" sz="1000" b="0" kern="0" baseline="0" dirty="0">
                        <a:solidFill>
                          <a:prstClr val="black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21525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baseline="0" dirty="0" smtClean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WSED7667M</a:t>
                      </a:r>
                      <a:endParaRPr lang="en-US" altLang="ko-KR" sz="1000" b="0" kern="0" baseline="0" dirty="0">
                        <a:solidFill>
                          <a:prstClr val="black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21525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baseline="0" dirty="0" smtClean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WSED7668M</a:t>
                      </a:r>
                      <a:endParaRPr lang="en-US" altLang="ko-KR" sz="1000" b="0" kern="0" baseline="0" dirty="0">
                        <a:solidFill>
                          <a:prstClr val="black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21525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WS9D7686M</a:t>
                      </a:r>
                      <a:endParaRPr lang="en-US" altLang="ko-KR" sz="1000" b="0" kern="0" baseline="0" dirty="0">
                        <a:solidFill>
                          <a:prstClr val="black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21525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WS9D7687M</a:t>
                      </a:r>
                      <a:endParaRPr lang="en-US" altLang="ko-KR" sz="1000" b="0" kern="0" baseline="0" dirty="0">
                        <a:solidFill>
                          <a:prstClr val="black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74804">
                <a:tc gridSpan="2">
                  <a:txBody>
                    <a:bodyPr/>
                    <a:lstStyle>
                      <a:lvl1pPr eaLnBrk="0" hangingPunct="0">
                        <a:buSzPct val="120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1pPr>
                      <a:lvl2pPr marL="742950" indent="-285750" eaLnBrk="0" hangingPunct="0">
                        <a:buSzPct val="120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2pPr>
                      <a:lvl3pPr marL="1143000" indent="-228600" eaLnBrk="0" hangingPunct="0"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3pPr>
                      <a:lvl4pPr marL="1600200" indent="-228600" eaLnBrk="0" hangingPunct="0">
                        <a:buSzPct val="89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4pPr>
                      <a:lvl5pPr marL="2057400" indent="-228600" eaLnBrk="0" hangingPunct="0"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Design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9641">
                <a:tc gridSpan="2">
                  <a:txBody>
                    <a:bodyPr/>
                    <a:lstStyle>
                      <a:lvl1pPr defTabSz="912813" eaLnBrk="0" hangingPunct="0">
                        <a:buSzPct val="120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1pPr>
                      <a:lvl2pPr marL="742950" indent="-285750" defTabSz="912813" eaLnBrk="0" hangingPunct="0">
                        <a:buSzPct val="120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2pPr>
                      <a:lvl3pPr marL="1143000" indent="-228600" defTabSz="912813" eaLnBrk="0" hangingPunct="0"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3pPr>
                      <a:lvl4pPr marL="1600200" indent="-228600" defTabSz="912813" eaLnBrk="0" hangingPunct="0">
                        <a:buSzPct val="89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4pPr>
                      <a:lvl5pPr marL="2057400" indent="-228600" defTabSz="912813" eaLnBrk="0" hangingPunct="0"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Retail price (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€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LG스마트체 Regular" pitchFamily="50" charset="-127"/>
                          <a:ea typeface="LG스마트체 Regular" pitchFamily="50" charset="-127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altLang="ko-KR" sz="1000" b="1" baseline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panose="020B0604020202020204" pitchFamily="34" charset="0"/>
                        </a:rPr>
                        <a:t>849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000" b="1" baseline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panose="020B0604020202020204" pitchFamily="34" charset="0"/>
                        </a:rPr>
                        <a:t>(’24.6)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LG스마트체 Regular" pitchFamily="50" charset="-127"/>
                          <a:ea typeface="LG스마트체 Regular" pitchFamily="50" charset="-127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altLang="ko-KR" sz="1000" b="1" baseline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panose="020B0604020202020204" pitchFamily="34" charset="0"/>
                        </a:rPr>
                        <a:t>899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000" b="1" baseline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panose="020B0604020202020204" pitchFamily="34" charset="0"/>
                        </a:rPr>
                        <a:t>(’24.6)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LG스마트체 Regular" pitchFamily="50" charset="-127"/>
                          <a:ea typeface="LG스마트체 Regular" pitchFamily="50" charset="-127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altLang="ko-KR" sz="1000" b="1" baseline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panose="020B0604020202020204" pitchFamily="34" charset="0"/>
                        </a:rPr>
                        <a:t>949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000" b="1" baseline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panose="020B0604020202020204" pitchFamily="34" charset="0"/>
                        </a:rPr>
                        <a:t>(’24.6)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LG스마트체 Regular" pitchFamily="50" charset="-127"/>
                          <a:ea typeface="LG스마트체 Regular" pitchFamily="50" charset="-127"/>
                          <a:cs typeface="Arial" panose="020B0604020202020204" pitchFamily="34" charset="0"/>
                        </a:rPr>
                        <a:t>€</a:t>
                      </a:r>
                      <a:r>
                        <a:rPr lang="en-US" altLang="ko-KR" sz="1000" b="1" baseline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panose="020B0604020202020204" pitchFamily="34" charset="0"/>
                        </a:rPr>
                        <a:t>999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000" b="1" baseline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panose="020B0604020202020204" pitchFamily="34" charset="0"/>
                        </a:rPr>
                        <a:t>(’24.6)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€1,099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€1,199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€1,299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€1,399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panose="020B0604020202020204" pitchFamily="34" charset="0"/>
                        </a:rPr>
                        <a:t>€2,299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  <a:cs typeface="Arial" panose="020B0604020202020204" pitchFamily="34" charset="0"/>
                        </a:rPr>
                        <a:t>€2,699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9641"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Finishing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STS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Black STS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STS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Black STS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STS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Black STS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Matte Black Glass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Matte Black Glass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Matte Black Glass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Matte Black Glass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49820">
                <a:tc rowSpan="3"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Design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Display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(4.3”) Touch LCD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6.8”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49820">
                <a:tc vMerge="1">
                  <a:txBody>
                    <a:bodyPr/>
                    <a:lstStyle>
                      <a:lvl1pPr defTabSz="912813" eaLnBrk="0" hangingPunct="0">
                        <a:buSzPct val="120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1pPr>
                      <a:lvl2pPr marL="742950" indent="-285750" defTabSz="912813" eaLnBrk="0" hangingPunct="0">
                        <a:buSzPct val="120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2pPr>
                      <a:lvl3pPr marL="1143000" indent="-228600" defTabSz="912813" eaLnBrk="0" hangingPunct="0"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3pPr>
                      <a:lvl4pPr marL="1600200" indent="-228600" defTabSz="912813" eaLnBrk="0" hangingPunct="0">
                        <a:buSzPct val="89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4pPr>
                      <a:lvl5pPr marL="2057400" indent="-228600" defTabSz="912813" eaLnBrk="0" hangingPunct="0"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Control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Touch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49820">
                <a:tc vMerge="1"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Cavity Color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Blue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49820">
                <a:tc rowSpan="7">
                  <a:txBody>
                    <a:bodyPr/>
                    <a:lstStyle>
                      <a:lvl1pPr defTabSz="912813" eaLnBrk="0" hangingPunct="0">
                        <a:buSzPct val="120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1pPr>
                      <a:lvl2pPr marL="742950" indent="-285750" defTabSz="912813" eaLnBrk="0" hangingPunct="0">
                        <a:buSzPct val="120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2pPr>
                      <a:lvl3pPr marL="1143000" indent="-228600" defTabSz="912813" eaLnBrk="0" hangingPunct="0"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3pPr>
                      <a:lvl4pPr marL="1600200" indent="-228600" defTabSz="912813" eaLnBrk="0" hangingPunct="0">
                        <a:buSzPct val="89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4pPr>
                      <a:lvl5pPr marL="2057400" indent="-228600" defTabSz="912813" eaLnBrk="0" hangingPunct="0"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Basic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Capacity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76L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49820">
                <a:tc vMerge="1"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Energy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A++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49820">
                <a:tc vMerge="1"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Heating mode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22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49820">
                <a:tc vMerge="1">
                  <a:txBody>
                    <a:bodyPr/>
                    <a:lstStyle>
                      <a:lvl1pPr defTabSz="912813" eaLnBrk="0" hangingPunct="0">
                        <a:buSzPct val="120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1pPr>
                      <a:lvl2pPr marL="742950" indent="-285750" defTabSz="912813" eaLnBrk="0" hangingPunct="0">
                        <a:buSzPct val="120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2pPr>
                      <a:lvl3pPr marL="1143000" indent="-228600" defTabSz="912813" eaLnBrk="0" hangingPunct="0"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3pPr>
                      <a:lvl4pPr marL="1600200" indent="-228600" defTabSz="912813" eaLnBrk="0" hangingPunct="0">
                        <a:buSzPct val="89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4pPr>
                      <a:lvl5pPr marL="2057400" indent="-228600" defTabSz="912813" eaLnBrk="0" hangingPunct="0"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Auto Cook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34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42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80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49820">
                <a:tc vMerge="1"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Temperature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30 ~ 300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℃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30 ~ 250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℃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49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MWO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49820">
                <a:tc vMerge="1"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Steam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O (Assist)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O (Full)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99641">
                <a:tc rowSpan="5">
                  <a:txBody>
                    <a:bodyPr/>
                    <a:lstStyle>
                      <a:lvl1pPr defTabSz="912813" eaLnBrk="0" hangingPunct="0">
                        <a:buSzPct val="120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1pPr>
                      <a:lvl2pPr marL="742950" indent="-285750" defTabSz="912813" eaLnBrk="0" hangingPunct="0">
                        <a:buSzPct val="120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2pPr>
                      <a:lvl3pPr marL="1143000" indent="-228600" defTabSz="912813" eaLnBrk="0" hangingPunct="0"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3pPr>
                      <a:lvl4pPr marL="1600200" indent="-228600" defTabSz="912813" eaLnBrk="0" hangingPunct="0">
                        <a:buSzPct val="89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4pPr>
                      <a:lvl5pPr marL="2057400" indent="-228600" defTabSz="912813" eaLnBrk="0" hangingPunct="0"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Convenience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Cleaning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-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EasyClean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Pyrolysis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EasyClean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-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EasyClean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2996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Lighting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Halogen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(Top </a:t>
                      </a:r>
                      <a:r>
                        <a:rPr kumimoji="0" lang="en-US" altLang="ko-KR" sz="1000" b="0" i="0" u="none" strike="sngStrike" cap="none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+ </a:t>
                      </a:r>
                      <a:r>
                        <a:rPr kumimoji="0" lang="en-US" altLang="ko-KR" sz="1000" b="0" i="0" u="none" strike="sng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Side)</a:t>
                      </a:r>
                    </a:p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(Top + Door)</a:t>
                      </a:r>
                      <a:endParaRPr lang="en-US" altLang="ko-KR" sz="10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2996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Lighting function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Instaview</a:t>
                      </a:r>
                      <a:endParaRPr lang="en-US" altLang="ko-KR" sz="1000" b="0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ctr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lang="en-US" altLang="ko-KR" sz="1000" b="0" i="0" u="none" strike="noStrike" baseline="0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4494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Door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Soft Closing/ Open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O / 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149820">
                <a:tc vMerge="1"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12813" eaLnBrk="0" hangingPunct="0">
                        <a:buSzPct val="120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1pPr>
                      <a:lvl2pPr marL="742950" indent="-285750" defTabSz="912813" eaLnBrk="0" hangingPunct="0">
                        <a:buSzPct val="120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2pPr>
                      <a:lvl3pPr marL="1143000" indent="-228600" defTabSz="912813" eaLnBrk="0" hangingPunct="0"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3pPr>
                      <a:lvl4pPr marL="1600200" indent="-228600" defTabSz="912813" eaLnBrk="0" hangingPunct="0">
                        <a:buSzPct val="89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4pPr>
                      <a:lvl5pPr marL="2057400" indent="-228600" defTabSz="912813" eaLnBrk="0" hangingPunct="0"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Smart (Wi-Fi)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  <a:tr h="149820">
                <a:tc rowSpan="4">
                  <a:txBody>
                    <a:bodyPr/>
                    <a:lstStyle>
                      <a:lvl1pPr defTabSz="912813" eaLnBrk="0" hangingPunct="0">
                        <a:buSzPct val="120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1pPr>
                      <a:lvl2pPr marL="742950" indent="-285750" defTabSz="912813" eaLnBrk="0" hangingPunct="0">
                        <a:buSzPct val="120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2pPr>
                      <a:lvl3pPr marL="1143000" indent="-228600" defTabSz="912813" eaLnBrk="0" hangingPunct="0"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3pPr>
                      <a:lvl4pPr marL="1600200" indent="-228600" defTabSz="912813" eaLnBrk="0" hangingPunct="0">
                        <a:buSzPct val="89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4pPr>
                      <a:lvl5pPr marL="2057400" indent="-228600" defTabSz="912813" eaLnBrk="0" hangingPunct="0"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SzPct val="75000"/>
                        <a:defRPr kumimoji="1" sz="15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Accessory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Telescopic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O (1ea, Half)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O (1ea, Half)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O (1ea, Half)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O (1ea, Half)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O (1ea, Half)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O (1ea)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O (2ea)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O (3ea)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0"/>
                  </a:ext>
                </a:extLst>
              </a:tr>
              <a:tr h="149820">
                <a:tc vMerge="1"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Meat Probe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x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O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(1p Wire)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3p Wire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1"/>
                  </a:ext>
                </a:extLst>
              </a:tr>
              <a:tr h="1498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Camera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O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2"/>
                  </a:ext>
                </a:extLst>
              </a:tr>
              <a:tr h="599282">
                <a:tc vMerge="1"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Equipment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wire rack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universal tray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baking tray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wire rack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universal tray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baking tray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wire rack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universal tray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baking tray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steam tray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wire rack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universal tray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baking tray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steam tray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wire rack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universal tray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baking tray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 steam tray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3"/>
                  </a:ext>
                </a:extLst>
              </a:tr>
              <a:tr h="449461"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Others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Air Sous Vide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Air Fry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1L Water tank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Air Sous Vide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Air Fry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1L Water tank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Sous Vide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Air Fry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1L Water tank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Sous Vide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Air Fry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1L Water tank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Sous Vide</a:t>
                      </a:r>
                    </a:p>
                    <a:p>
                      <a:pPr marL="0" marR="0" lvl="0" indent="0" algn="ctr" defTabSz="91281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Air Fry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4"/>
                  </a:ext>
                </a:extLst>
              </a:tr>
            </a:tbl>
          </a:graphicData>
        </a:graphic>
      </p:graphicFrame>
      <p:sp>
        <p:nvSpPr>
          <p:cNvPr id="13" name="모서리가 둥근 직사각형 85">
            <a:extLst>
              <a:ext uri="{FF2B5EF4-FFF2-40B4-BE49-F238E27FC236}">
                <a16:creationId xmlns="" xmlns:a16="http://schemas.microsoft.com/office/drawing/2014/main" id="{40EDB0A0-D1F3-4C20-B300-F9CA2791CFEF}"/>
              </a:ext>
            </a:extLst>
          </p:cNvPr>
          <p:cNvSpPr/>
          <p:nvPr/>
        </p:nvSpPr>
        <p:spPr>
          <a:xfrm>
            <a:off x="1354272" y="4115236"/>
            <a:ext cx="186513" cy="110669"/>
          </a:xfrm>
          <a:prstGeom prst="roundRect">
            <a:avLst/>
          </a:prstGeom>
          <a:solidFill>
            <a:srgbClr val="C00000">
              <a:alpha val="85000"/>
            </a:srgbClr>
          </a:solidFill>
          <a:ln w="3175">
            <a:noFill/>
          </a:ln>
        </p:spPr>
        <p:txBody>
          <a:bodyPr wrap="none" lIns="11883" tIns="0" rIns="11883" bIns="0" rtlCol="0" anchor="ctr">
            <a:spAutoFit/>
          </a:bodyPr>
          <a:lstStyle/>
          <a:p>
            <a:pPr algn="ctr">
              <a:spcBef>
                <a:spcPts val="975"/>
              </a:spcBef>
            </a:pPr>
            <a:r>
              <a:rPr lang="en-US" altLang="ko-KR" sz="650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Only</a:t>
            </a:r>
            <a:endParaRPr lang="ko-KR" altLang="en-US" sz="650" kern="0" dirty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모서리가 둥근 직사각형 86">
            <a:extLst>
              <a:ext uri="{FF2B5EF4-FFF2-40B4-BE49-F238E27FC236}">
                <a16:creationId xmlns="" xmlns:a16="http://schemas.microsoft.com/office/drawing/2014/main" id="{D6E98F96-4EAC-499E-9F55-526B369CD361}"/>
              </a:ext>
            </a:extLst>
          </p:cNvPr>
          <p:cNvSpPr/>
          <p:nvPr/>
        </p:nvSpPr>
        <p:spPr>
          <a:xfrm>
            <a:off x="1354272" y="4361820"/>
            <a:ext cx="186513" cy="110669"/>
          </a:xfrm>
          <a:prstGeom prst="roundRect">
            <a:avLst/>
          </a:prstGeom>
          <a:solidFill>
            <a:srgbClr val="C00000">
              <a:alpha val="85000"/>
            </a:srgbClr>
          </a:solidFill>
          <a:ln w="3175">
            <a:noFill/>
          </a:ln>
        </p:spPr>
        <p:txBody>
          <a:bodyPr wrap="none" lIns="11883" tIns="0" rIns="11883" bIns="0" rtlCol="0" anchor="ctr">
            <a:spAutoFit/>
          </a:bodyPr>
          <a:lstStyle/>
          <a:p>
            <a:pPr algn="ctr">
              <a:spcBef>
                <a:spcPts val="975"/>
              </a:spcBef>
            </a:pPr>
            <a:r>
              <a:rPr lang="en-US" altLang="ko-KR" sz="650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Only</a:t>
            </a:r>
            <a:endParaRPr lang="ko-KR" altLang="en-US" sz="650" kern="0" dirty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모서리가 둥근 직사각형 87">
            <a:extLst>
              <a:ext uri="{FF2B5EF4-FFF2-40B4-BE49-F238E27FC236}">
                <a16:creationId xmlns="" xmlns:a16="http://schemas.microsoft.com/office/drawing/2014/main" id="{42AB8849-94C5-4849-B39A-ABB7B216C584}"/>
              </a:ext>
            </a:extLst>
          </p:cNvPr>
          <p:cNvSpPr/>
          <p:nvPr/>
        </p:nvSpPr>
        <p:spPr>
          <a:xfrm>
            <a:off x="1358724" y="3171868"/>
            <a:ext cx="183121" cy="110669"/>
          </a:xfrm>
          <a:prstGeom prst="roundRect">
            <a:avLst/>
          </a:prstGeom>
          <a:solidFill>
            <a:srgbClr val="C00000">
              <a:alpha val="85000"/>
            </a:srgbClr>
          </a:solidFill>
          <a:ln w="3175">
            <a:noFill/>
          </a:ln>
        </p:spPr>
        <p:txBody>
          <a:bodyPr wrap="none" lIns="11883" tIns="0" rIns="11883" bIns="0" rtlCol="0" anchor="ctr">
            <a:spAutoFit/>
          </a:bodyPr>
          <a:lstStyle/>
          <a:p>
            <a:pPr algn="ctr">
              <a:spcBef>
                <a:spcPts val="975"/>
              </a:spcBef>
            </a:pPr>
            <a:r>
              <a:rPr lang="en-US" altLang="ko-KR" sz="650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Best</a:t>
            </a:r>
            <a:endParaRPr lang="ko-KR" altLang="en-US" sz="650" kern="0" dirty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모서리가 둥근 직사각형 88">
            <a:extLst>
              <a:ext uri="{FF2B5EF4-FFF2-40B4-BE49-F238E27FC236}">
                <a16:creationId xmlns="" xmlns:a16="http://schemas.microsoft.com/office/drawing/2014/main" id="{574ECCFF-DEB2-4904-A568-EB0CC284DC57}"/>
              </a:ext>
            </a:extLst>
          </p:cNvPr>
          <p:cNvSpPr/>
          <p:nvPr/>
        </p:nvSpPr>
        <p:spPr>
          <a:xfrm>
            <a:off x="1355968" y="4731747"/>
            <a:ext cx="183121" cy="110669"/>
          </a:xfrm>
          <a:prstGeom prst="roundRect">
            <a:avLst/>
          </a:prstGeom>
          <a:solidFill>
            <a:srgbClr val="C00000">
              <a:alpha val="85000"/>
            </a:srgbClr>
          </a:solidFill>
          <a:ln w="3175">
            <a:noFill/>
          </a:ln>
        </p:spPr>
        <p:txBody>
          <a:bodyPr wrap="none" lIns="11883" tIns="0" rIns="11883" bIns="0" rtlCol="0" anchor="ctr">
            <a:spAutoFit/>
          </a:bodyPr>
          <a:lstStyle/>
          <a:p>
            <a:pPr algn="ctr">
              <a:spcBef>
                <a:spcPts val="975"/>
              </a:spcBef>
            </a:pPr>
            <a:r>
              <a:rPr lang="en-US" altLang="ko-KR" sz="650" kern="0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Best</a:t>
            </a:r>
            <a:endParaRPr lang="ko-KR" altLang="en-US" sz="650" kern="0" dirty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="" xmlns:a16="http://schemas.microsoft.com/office/drawing/2014/main" id="{56228A2B-FFBF-42A9-B13E-8A92FCC4B1A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" t="324" r="341" b="625"/>
          <a:stretch/>
        </p:blipFill>
        <p:spPr>
          <a:xfrm>
            <a:off x="6753200" y="916957"/>
            <a:ext cx="713376" cy="702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="" xmlns:a16="http://schemas.microsoft.com/office/drawing/2014/main" id="{32B5AB4E-8734-4590-A070-505D38A16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021" y="916957"/>
            <a:ext cx="703814" cy="702000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7916562" y="706452"/>
            <a:ext cx="1653394" cy="6102881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8841433" y="140100"/>
            <a:ext cx="905426" cy="2683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</a:t>
            </a:r>
            <a:endParaRPr lang="ko-KR" altLang="en-US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632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3"/>
          <p:cNvSpPr txBox="1">
            <a:spLocks noChangeArrowheads="1"/>
          </p:cNvSpPr>
          <p:nvPr/>
        </p:nvSpPr>
        <p:spPr bwMode="auto">
          <a:xfrm>
            <a:off x="52167" y="140100"/>
            <a:ext cx="2908640" cy="57507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</a:t>
            </a:r>
            <a:r>
              <a:rPr lang="ko-KR" altLang="en-US" sz="1625" dirty="0" err="1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변경점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상세 작성 내용</a:t>
            </a:r>
          </a:p>
          <a:p>
            <a:pPr lvl="0">
              <a:defRPr/>
            </a:pPr>
            <a:endParaRPr kumimoji="0"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474178"/>
              </p:ext>
            </p:extLst>
          </p:nvPr>
        </p:nvGraphicFramePr>
        <p:xfrm>
          <a:off x="5054054" y="898008"/>
          <a:ext cx="4483870" cy="3890760"/>
        </p:xfrm>
        <a:graphic>
          <a:graphicData uri="http://schemas.openxmlformats.org/drawingml/2006/table">
            <a:tbl>
              <a:tblPr/>
              <a:tblGrid>
                <a:gridCol w="360000"/>
                <a:gridCol w="936000"/>
                <a:gridCol w="3187870"/>
              </a:tblGrid>
              <a:tr h="4618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No.</a:t>
                      </a:r>
                      <a:endParaRPr lang="ko-KR" altLang="en-US" sz="12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Module</a:t>
                      </a:r>
                      <a:r>
                        <a:rPr lang="ko-KR" altLang="en-US" sz="12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  <a:endParaRPr lang="ko-KR" altLang="en-US" sz="12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변경점</a:t>
                      </a:r>
                      <a:endParaRPr lang="ko-KR" altLang="en-US" sz="12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6857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①</a:t>
                      </a:r>
                      <a:endParaRPr lang="ko-KR" altLang="en-US" sz="12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Cavity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BLDC</a:t>
                      </a:r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Conv. Fan Motor </a:t>
                      </a:r>
                      <a:r>
                        <a:rPr lang="ko-KR" altLang="en-US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 </a:t>
                      </a:r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(AC </a:t>
                      </a:r>
                      <a:r>
                        <a:rPr lang="ko-KR" altLang="en-US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BLDC)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- BLDC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Motor 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적용 </a:t>
                      </a:r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(30</a:t>
                      </a:r>
                      <a:r>
                        <a:rPr lang="ko-KR" altLang="en-US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인치 </a:t>
                      </a:r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SKS</a:t>
                      </a:r>
                      <a:r>
                        <a:rPr lang="ko-KR" altLang="en-US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공용</a:t>
                      </a:r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</a:t>
                      </a:r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Fan Blade </a:t>
                      </a:r>
                      <a:r>
                        <a:rPr lang="ko-KR" altLang="en-US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적용 </a:t>
                      </a:r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(30</a:t>
                      </a:r>
                      <a:r>
                        <a:rPr lang="ko-KR" altLang="en-US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인치 </a:t>
                      </a:r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SKS</a:t>
                      </a:r>
                      <a:r>
                        <a:rPr lang="ko-KR" altLang="en-US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공용</a:t>
                      </a:r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 Fan Cover </a:t>
                      </a:r>
                      <a:r>
                        <a:rPr lang="ko-KR" altLang="en-US" sz="1000" b="0" err="1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금형</a:t>
                      </a:r>
                      <a:r>
                        <a:rPr lang="ko-KR" altLang="en-US" sz="1000" b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신작</a:t>
                      </a:r>
                      <a:endParaRPr lang="en-US" altLang="ko-KR" sz="1000" b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7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②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Camera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Module(LED)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장착 구조 반영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Door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무게 변경으로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soft closing hinge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수정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7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③</a:t>
                      </a:r>
                      <a:endParaRPr lang="ko-KR" altLang="en-US" sz="12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Controller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</a:t>
                      </a:r>
                      <a:r>
                        <a:rPr lang="en-US" altLang="ko-KR" sz="1000" b="0" strike="sngStrike" baseline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4.3”</a:t>
                      </a:r>
                      <a:r>
                        <a:rPr lang="ko-KR" altLang="en-US" sz="1000" b="0" strike="sngStrike" baseline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 </a:t>
                      </a:r>
                      <a:r>
                        <a:rPr lang="en-US" altLang="ko-KR" sz="1000" b="0" strike="sngStrike" baseline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Controller </a:t>
                      </a:r>
                      <a:r>
                        <a:rPr lang="ko-KR" altLang="en-US" sz="1000" b="0" strike="sngStrike" baseline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동일 적용</a:t>
                      </a:r>
                      <a:endParaRPr lang="en-US" altLang="ko-KR" sz="1000" b="0" strike="sngStrike" baseline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6.8” Controller </a:t>
                      </a:r>
                      <a:r>
                        <a:rPr lang="ko-KR" altLang="en-US" sz="1000" b="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신작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774">
                <a:tc>
                  <a:txBody>
                    <a:bodyPr/>
                    <a:lstStyle/>
                    <a:p>
                      <a:pPr marL="0" marR="0" lvl="0" indent="0" algn="ctr" defTabSz="87243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④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제어</a:t>
                      </a:r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(PCB)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AI (DQ1)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PCB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추가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(Camera,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Wi-Fi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Camera PCB / LED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추가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 </a:t>
                      </a:r>
                      <a:r>
                        <a:rPr lang="en-US" altLang="ko-KR" sz="1000" b="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Main PCB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000" b="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 Controller PCB</a:t>
                      </a:r>
                      <a:endParaRPr lang="en-US" altLang="ko-KR" sz="1000" b="0" dirty="0" smtClean="0">
                        <a:solidFill>
                          <a:srgbClr val="008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7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⑤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etc.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1. 1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점인식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→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점인식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Probe</a:t>
                      </a:r>
                    </a:p>
                  </a:txBody>
                  <a:tcPr marL="38087" marR="38087" marT="38087" marB="38087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17" y="989064"/>
            <a:ext cx="4173962" cy="3861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16696" y="3418642"/>
            <a:ext cx="10681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rgbClr val="FF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r>
              <a:rPr lang="ko-KR" altLang="en-US" sz="1200" b="1" dirty="0" smtClean="0">
                <a:solidFill>
                  <a:srgbClr val="FF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dirty="0" smtClean="0">
                <a:solidFill>
                  <a:srgbClr val="FF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Cavity </a:t>
            </a:r>
            <a:r>
              <a:rPr lang="en-US" altLang="ko-KR" sz="1200" b="1" dirty="0" smtClean="0">
                <a:solidFill>
                  <a:srgbClr val="FF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Assy</a:t>
            </a:r>
            <a:endParaRPr lang="ko-KR" altLang="en-US" sz="1200" b="1" dirty="0">
              <a:solidFill>
                <a:srgbClr val="FF0000"/>
              </a:solidFill>
              <a:effectLst>
                <a:glow rad="127000">
                  <a:schemeClr val="bg1"/>
                </a:glow>
              </a:effectLs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8309" y="3778682"/>
            <a:ext cx="983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rgbClr val="FF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② </a:t>
            </a:r>
            <a:r>
              <a:rPr lang="en-US" altLang="ko-KR" sz="1200" dirty="0" smtClean="0">
                <a:solidFill>
                  <a:srgbClr val="FF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Door Assy</a:t>
            </a:r>
            <a:endParaRPr lang="ko-KR" altLang="en-US" sz="1200" b="1" dirty="0">
              <a:solidFill>
                <a:srgbClr val="FF0000"/>
              </a:solidFill>
              <a:effectLst>
                <a:glow rad="127000">
                  <a:schemeClr val="bg1"/>
                </a:glow>
              </a:effectLs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5271" y="2452356"/>
            <a:ext cx="1257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rgbClr val="FF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r>
              <a:rPr lang="en-US" altLang="ko-KR" sz="1200" dirty="0" smtClean="0">
                <a:solidFill>
                  <a:srgbClr val="FF0000"/>
                </a:solidFill>
                <a:effectLst>
                  <a:glow rad="127000">
                    <a:schemeClr val="bg1"/>
                  </a:glow>
                </a:effectLst>
                <a:latin typeface="Arial Narrow" panose="020B0606020202030204" pitchFamily="34" charset="0"/>
                <a:ea typeface="LG스마트체 Regular" panose="020B0600000101010101" pitchFamily="50" charset="-127"/>
              </a:rPr>
              <a:t>Controller Assy</a:t>
            </a:r>
            <a:endParaRPr lang="ko-KR" altLang="en-US" sz="1200" b="1" dirty="0">
              <a:solidFill>
                <a:srgbClr val="FF0000"/>
              </a:solidFill>
              <a:effectLst>
                <a:glow rad="127000">
                  <a:schemeClr val="bg1"/>
                </a:glow>
              </a:effectLs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실행 단추: 앞으로 또는 다음 21">
            <a:hlinkClick r:id="rId4" action="ppaction://hlinksldjump" highlightClick="1"/>
          </p:cNvPr>
          <p:cNvSpPr/>
          <p:nvPr/>
        </p:nvSpPr>
        <p:spPr>
          <a:xfrm>
            <a:off x="6141152" y="1618285"/>
            <a:ext cx="180000" cy="180000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itchFamily="50" charset="-127"/>
              <a:ea typeface="LG스마트체 Regular" pitchFamily="50" charset="-127"/>
            </a:endParaRPr>
          </a:p>
        </p:txBody>
      </p:sp>
      <p:sp>
        <p:nvSpPr>
          <p:cNvPr id="23" name="실행 단추: 앞으로 또는 다음 22">
            <a:hlinkClick r:id="rId5" action="ppaction://hlinksldjump" highlightClick="1"/>
          </p:cNvPr>
          <p:cNvSpPr/>
          <p:nvPr/>
        </p:nvSpPr>
        <p:spPr>
          <a:xfrm>
            <a:off x="6141152" y="2338172"/>
            <a:ext cx="180000" cy="180000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itchFamily="50" charset="-127"/>
              <a:ea typeface="LG스마트체 Regular" pitchFamily="50" charset="-127"/>
            </a:endParaRPr>
          </a:p>
        </p:txBody>
      </p:sp>
      <p:sp>
        <p:nvSpPr>
          <p:cNvPr id="24" name="실행 단추: 앞으로 또는 다음 23">
            <a:hlinkClick r:id="rId6" action="ppaction://hlinksldjump" highlightClick="1"/>
          </p:cNvPr>
          <p:cNvSpPr/>
          <p:nvPr/>
        </p:nvSpPr>
        <p:spPr>
          <a:xfrm>
            <a:off x="6141152" y="2977776"/>
            <a:ext cx="180000" cy="180000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LG스마트체 Regular" pitchFamily="50" charset="-127"/>
              <a:ea typeface="LG스마트체 Regular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8841433" y="140100"/>
            <a:ext cx="905426" cy="2683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</a:t>
            </a:r>
            <a:endParaRPr lang="ko-KR" altLang="en-US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025008" y="2698562"/>
            <a:ext cx="4536504" cy="72008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689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3"/>
          <p:cNvSpPr txBox="1">
            <a:spLocks noChangeArrowheads="1"/>
          </p:cNvSpPr>
          <p:nvPr/>
        </p:nvSpPr>
        <p:spPr bwMode="auto">
          <a:xfrm>
            <a:off x="52167" y="140100"/>
            <a:ext cx="3122032" cy="3250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</a:t>
            </a:r>
            <a:r>
              <a:rPr lang="ko-KR" altLang="en-US" sz="1625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변경점</a:t>
            </a:r>
            <a:r>
              <a:rPr lang="en-US" altLang="ko-KR" sz="1625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_Cavity Assembly</a:t>
            </a:r>
            <a:endParaRPr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297086"/>
              </p:ext>
            </p:extLst>
          </p:nvPr>
        </p:nvGraphicFramePr>
        <p:xfrm>
          <a:off x="128464" y="606346"/>
          <a:ext cx="9618395" cy="5832648"/>
        </p:xfrm>
        <a:graphic>
          <a:graphicData uri="http://schemas.openxmlformats.org/drawingml/2006/table">
            <a:tbl>
              <a:tblPr/>
              <a:tblGrid>
                <a:gridCol w="504056"/>
                <a:gridCol w="1011583"/>
                <a:gridCol w="2918180"/>
                <a:gridCol w="3786856"/>
                <a:gridCol w="1397720"/>
              </a:tblGrid>
              <a:tr h="24980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Module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84407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</a:t>
                      </a:r>
                      <a:endParaRPr lang="ko-KR" altLang="en-US" sz="110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New model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Remark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86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Cavity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Convection</a:t>
                      </a:r>
                    </a:p>
                    <a:p>
                      <a:pPr algn="ctr" latinLnBrk="1"/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Fan Motor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AC Motor + Bracket</a:t>
                      </a:r>
                    </a:p>
                    <a:p>
                      <a:pPr latinLnBrk="1"/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CCW (</a:t>
                      </a:r>
                      <a:r>
                        <a:rPr lang="ko-KR" altLang="en-US" sz="1000" b="0" baseline="0" dirty="0" err="1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반시계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방향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P/No : EAU65078501</a:t>
                      </a: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BLDC Motor + Bracket (</a:t>
                      </a:r>
                      <a:r>
                        <a:rPr lang="en-US" altLang="ko-KR" sz="1000" b="1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  <a:r>
                        <a:rPr lang="ko-KR" altLang="en-US" sz="1000" b="1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인치 </a:t>
                      </a:r>
                      <a:r>
                        <a:rPr lang="en-US" altLang="ko-KR" sz="1000" b="1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SKS </a:t>
                      </a:r>
                      <a:r>
                        <a:rPr lang="ko-KR" altLang="en-US" sz="1000" b="1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공용</a:t>
                      </a:r>
                      <a:r>
                        <a:rPr lang="en-US" altLang="ko-KR" sz="1000" b="1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altLang="ko-KR" sz="1000" b="0" baseline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정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역회전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baseline="0" dirty="0" err="1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가변풍량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(RPM 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제어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Bracket 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개조</a:t>
                      </a:r>
                      <a:endParaRPr lang="en-US" altLang="ko-KR" sz="1000" b="0" baseline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P/no.: 4810W1N060B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Inverter Pro Bake</a:t>
                      </a:r>
                    </a:p>
                    <a:p>
                      <a:pPr latinLnBrk="1"/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BLDC </a:t>
                      </a:r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모터 개발</a:t>
                      </a:r>
                      <a:endParaRPr lang="en-US" altLang="ko-KR" sz="900" b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CMR </a:t>
                      </a:r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요리성능 개선</a:t>
                      </a:r>
                      <a:endParaRPr lang="en-US" altLang="ko-KR" sz="900" b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endParaRPr lang="en-US" altLang="ko-KR" sz="900" b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1) Baking </a:t>
                      </a:r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성능 강화 </a:t>
                      </a:r>
                      <a:endParaRPr lang="en-US" altLang="ko-KR" sz="900" b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2)</a:t>
                      </a:r>
                      <a:r>
                        <a:rPr lang="en-US" altLang="ko-KR" sz="9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Roast </a:t>
                      </a:r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조리 시간 단축 </a:t>
                      </a:r>
                      <a:endParaRPr lang="en-US" altLang="ko-KR" sz="900" b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</a:t>
                      </a:r>
                      <a:endParaRPr lang="ko-KR" altLang="en-US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6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Cavity</a:t>
                      </a:r>
                      <a:endParaRPr lang="en-US" altLang="ko-KR" sz="100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Fan Blade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P/no.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:</a:t>
                      </a:r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5900W1N004D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000" b="1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  <a:r>
                        <a:rPr lang="ko-KR" altLang="en-US" sz="1000" b="1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인치 </a:t>
                      </a:r>
                      <a:r>
                        <a:rPr lang="en-US" altLang="ko-KR" sz="1000" b="1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SKS </a:t>
                      </a:r>
                      <a:r>
                        <a:rPr lang="ko-KR" altLang="en-US" sz="1000" b="1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공용</a:t>
                      </a:r>
                      <a:endParaRPr lang="en-US" altLang="ko-KR" sz="1000" b="1" baseline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- 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재질 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STS430 0.6t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- 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공법 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Blade base +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Blade Projection 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용접</a:t>
                      </a:r>
                      <a:endParaRPr lang="en-US" altLang="ko-KR" sz="1000" b="0" baseline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- P/no. : (MDG63965901)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en-US" altLang="ko-KR" sz="1000" b="0" baseline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CMR </a:t>
                      </a:r>
                      <a:r>
                        <a:rPr lang="ko-KR" altLang="en-US" sz="900" b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요리 개선</a:t>
                      </a:r>
                      <a:endParaRPr lang="en-US" altLang="ko-KR" sz="900" b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BLDC </a:t>
                      </a:r>
                      <a:r>
                        <a:rPr lang="ko-KR" altLang="en-US" sz="900" b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모터용 부품 개발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609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Cavity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Fan Cover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P/no. : MCK71660202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kumimoji="1" lang="en-US" altLang="ko-KR" sz="1000" kern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000" kern="0" dirty="0" err="1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  <a:sym typeface="Wingdings" pitchFamily="2" charset="2"/>
                        </a:rPr>
                        <a:t>열유동</a:t>
                      </a:r>
                      <a:r>
                        <a:rPr kumimoji="1" lang="ko-KR" altLang="en-US" sz="1000" kern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  <a:sym typeface="Wingdings" pitchFamily="2" charset="2"/>
                        </a:rPr>
                        <a:t> 고려한 </a:t>
                      </a:r>
                      <a:r>
                        <a:rPr kumimoji="1" lang="en-US" altLang="ko-KR" sz="1000" kern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  <a:sym typeface="Wingdings" pitchFamily="2" charset="2"/>
                        </a:rPr>
                        <a:t>Inlet/Outlet </a:t>
                      </a:r>
                      <a:r>
                        <a:rPr kumimoji="1" lang="ko-KR" altLang="en-US" sz="1000" kern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  <a:sym typeface="Wingdings" pitchFamily="2" charset="2"/>
                        </a:rPr>
                        <a:t>형상 최적화</a:t>
                      </a:r>
                      <a:endParaRPr lang="en-US" altLang="ko-KR" sz="1000" b="1" baseline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CMR </a:t>
                      </a:r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요리 개선</a:t>
                      </a:r>
                      <a:endParaRPr lang="en-US" altLang="ko-KR" sz="900" b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흡</a:t>
                      </a:r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dirty="0" err="1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토출</a:t>
                      </a:r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유로 변경</a:t>
                      </a:r>
                      <a:endParaRPr lang="en-US" altLang="ko-KR" sz="900" b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endParaRPr lang="en-US" altLang="ko-KR" sz="900" b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endParaRPr lang="ko-KR" altLang="en-US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640" y="1556792"/>
            <a:ext cx="1224136" cy="1045329"/>
          </a:xfrm>
          <a:prstGeom prst="rect">
            <a:avLst/>
          </a:prstGeom>
        </p:spPr>
      </p:pic>
      <p:cxnSp>
        <p:nvCxnSpPr>
          <p:cNvPr id="12" name="직선 화살표 연결선 11"/>
          <p:cNvCxnSpPr/>
          <p:nvPr/>
        </p:nvCxnSpPr>
        <p:spPr>
          <a:xfrm flipV="1">
            <a:off x="2360712" y="1916832"/>
            <a:ext cx="880155" cy="2961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968" y="1556792"/>
            <a:ext cx="1224136" cy="1045329"/>
          </a:xfrm>
          <a:prstGeom prst="rect">
            <a:avLst/>
          </a:prstGeom>
        </p:spPr>
      </p:pic>
      <p:cxnSp>
        <p:nvCxnSpPr>
          <p:cNvPr id="14" name="직선 화살표 연결선 13"/>
          <p:cNvCxnSpPr/>
          <p:nvPr/>
        </p:nvCxnSpPr>
        <p:spPr>
          <a:xfrm flipV="1">
            <a:off x="5313040" y="1916832"/>
            <a:ext cx="880155" cy="2961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393160" y="1074050"/>
            <a:ext cx="1286054" cy="1549524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8939" y="1014909"/>
            <a:ext cx="1080000" cy="15809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47159" y="870874"/>
            <a:ext cx="95090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업체 </a:t>
            </a:r>
            <a:r>
              <a:rPr lang="en-US" altLang="ko-KR" sz="9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9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오성</a:t>
            </a:r>
            <a:endParaRPr lang="en-US" altLang="ko-KR" sz="900" dirty="0" smtClean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9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500~2600rpm</a:t>
            </a:r>
          </a:p>
          <a:p>
            <a:r>
              <a:rPr lang="en-US" altLang="ko-KR" sz="9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DV 24V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64271" y="870874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업체 </a:t>
            </a:r>
            <a:r>
              <a:rPr lang="en-US" altLang="ko-KR" sz="9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9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오성</a:t>
            </a:r>
            <a:endParaRPr lang="en-US" altLang="ko-KR" sz="900" dirty="0" smtClean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9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1600/1300rpm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746" y="2792627"/>
            <a:ext cx="666782" cy="772328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8370" y="3599936"/>
            <a:ext cx="889315" cy="879132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640" y="3433739"/>
            <a:ext cx="1224136" cy="1045329"/>
          </a:xfrm>
          <a:prstGeom prst="rect">
            <a:avLst/>
          </a:prstGeom>
        </p:spPr>
      </p:pic>
      <p:cxnSp>
        <p:nvCxnSpPr>
          <p:cNvPr id="26" name="직선 화살표 연결선 25"/>
          <p:cNvCxnSpPr/>
          <p:nvPr/>
        </p:nvCxnSpPr>
        <p:spPr>
          <a:xfrm flipV="1">
            <a:off x="2360712" y="3793779"/>
            <a:ext cx="880155" cy="2961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그림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968" y="3433739"/>
            <a:ext cx="1224136" cy="1045329"/>
          </a:xfrm>
          <a:prstGeom prst="rect">
            <a:avLst/>
          </a:prstGeom>
        </p:spPr>
      </p:pic>
      <p:cxnSp>
        <p:nvCxnSpPr>
          <p:cNvPr id="28" name="직선 화살표 연결선 27"/>
          <p:cNvCxnSpPr/>
          <p:nvPr/>
        </p:nvCxnSpPr>
        <p:spPr>
          <a:xfrm flipV="1">
            <a:off x="5313040" y="3678138"/>
            <a:ext cx="1474510" cy="4118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5824" y="4769708"/>
            <a:ext cx="1172712" cy="1552832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640" y="5022747"/>
            <a:ext cx="1224136" cy="1045329"/>
          </a:xfrm>
          <a:prstGeom prst="rect">
            <a:avLst/>
          </a:prstGeom>
        </p:spPr>
      </p:pic>
      <p:cxnSp>
        <p:nvCxnSpPr>
          <p:cNvPr id="31" name="직선 화살표 연결선 30"/>
          <p:cNvCxnSpPr/>
          <p:nvPr/>
        </p:nvCxnSpPr>
        <p:spPr>
          <a:xfrm flipV="1">
            <a:off x="2360712" y="5382787"/>
            <a:ext cx="880155" cy="2961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그림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7550" y="2902090"/>
            <a:ext cx="1505510" cy="779713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6187" y="3678138"/>
            <a:ext cx="923484" cy="836540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968" y="5022747"/>
            <a:ext cx="1224136" cy="1045329"/>
          </a:xfrm>
          <a:prstGeom prst="rect">
            <a:avLst/>
          </a:prstGeom>
        </p:spPr>
      </p:pic>
      <p:cxnSp>
        <p:nvCxnSpPr>
          <p:cNvPr id="35" name="직선 화살표 연결선 34"/>
          <p:cNvCxnSpPr/>
          <p:nvPr/>
        </p:nvCxnSpPr>
        <p:spPr>
          <a:xfrm flipV="1">
            <a:off x="5313040" y="5382787"/>
            <a:ext cx="880155" cy="2961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그룹 35"/>
          <p:cNvGrpSpPr>
            <a:grpSpLocks noChangeAspect="1"/>
          </p:cNvGrpSpPr>
          <p:nvPr/>
        </p:nvGrpSpPr>
        <p:grpSpPr>
          <a:xfrm>
            <a:off x="6397422" y="4900128"/>
            <a:ext cx="1747035" cy="1288484"/>
            <a:chOff x="2537192" y="3492069"/>
            <a:chExt cx="3234060" cy="2385203"/>
          </a:xfrm>
        </p:grpSpPr>
        <p:pic>
          <p:nvPicPr>
            <p:cNvPr id="37" name="그림 36"/>
            <p:cNvPicPr>
              <a:picLocks noChangeAspect="1"/>
            </p:cNvPicPr>
            <p:nvPr/>
          </p:nvPicPr>
          <p:blipFill rotWithShape="1">
            <a:blip r:embed="rId11"/>
            <a:srcRect l="3238" t="2325" r="1679" b="2325"/>
            <a:stretch/>
          </p:blipFill>
          <p:spPr>
            <a:xfrm>
              <a:off x="2832482" y="3794057"/>
              <a:ext cx="2624574" cy="1807084"/>
            </a:xfrm>
            <a:prstGeom prst="rect">
              <a:avLst/>
            </a:prstGeom>
          </p:spPr>
        </p:pic>
        <p:pic>
          <p:nvPicPr>
            <p:cNvPr id="38" name="그림 37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537192" y="3794057"/>
              <a:ext cx="183560" cy="1806919"/>
            </a:xfrm>
            <a:prstGeom prst="rect">
              <a:avLst/>
            </a:prstGeom>
          </p:spPr>
        </p:pic>
        <p:pic>
          <p:nvPicPr>
            <p:cNvPr id="39" name="그림 3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605528" y="3748413"/>
              <a:ext cx="165724" cy="1852563"/>
            </a:xfrm>
            <a:prstGeom prst="rect">
              <a:avLst/>
            </a:prstGeom>
          </p:spPr>
        </p:pic>
        <p:pic>
          <p:nvPicPr>
            <p:cNvPr id="40" name="그림 39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832483" y="3492069"/>
              <a:ext cx="2624574" cy="152955"/>
            </a:xfrm>
            <a:prstGeom prst="rect">
              <a:avLst/>
            </a:prstGeom>
          </p:spPr>
        </p:pic>
        <p:pic>
          <p:nvPicPr>
            <p:cNvPr id="41" name="그림 4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32482" y="5719377"/>
              <a:ext cx="2624574" cy="157895"/>
            </a:xfrm>
            <a:prstGeom prst="rect">
              <a:avLst/>
            </a:prstGeom>
          </p:spPr>
        </p:pic>
      </p:grpSp>
      <p:sp>
        <p:nvSpPr>
          <p:cNvPr id="42" name="직사각형 41"/>
          <p:cNvSpPr/>
          <p:nvPr/>
        </p:nvSpPr>
        <p:spPr>
          <a:xfrm>
            <a:off x="8841433" y="140100"/>
            <a:ext cx="905426" cy="2683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없음</a:t>
            </a:r>
            <a:r>
              <a:rPr lang="en-US" altLang="ko-KR" smtClean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36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3"/>
          <p:cNvSpPr txBox="1">
            <a:spLocks noChangeArrowheads="1"/>
          </p:cNvSpPr>
          <p:nvPr/>
        </p:nvSpPr>
        <p:spPr bwMode="auto">
          <a:xfrm>
            <a:off x="52167" y="140100"/>
            <a:ext cx="3008218" cy="3250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lang="ko-KR" altLang="en-US" sz="1625" dirty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</a:t>
            </a:r>
            <a:r>
              <a:rPr lang="ko-KR" altLang="en-US" sz="1625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변경점</a:t>
            </a:r>
            <a:r>
              <a:rPr lang="en-US" altLang="ko-KR" sz="1625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_Door Assembly</a:t>
            </a:r>
            <a:endParaRPr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687885"/>
              </p:ext>
            </p:extLst>
          </p:nvPr>
        </p:nvGraphicFramePr>
        <p:xfrm>
          <a:off x="128464" y="606346"/>
          <a:ext cx="9505056" cy="5991006"/>
        </p:xfrm>
        <a:graphic>
          <a:graphicData uri="http://schemas.openxmlformats.org/drawingml/2006/table">
            <a:tbl>
              <a:tblPr/>
              <a:tblGrid>
                <a:gridCol w="553013"/>
                <a:gridCol w="455099"/>
                <a:gridCol w="3672408"/>
                <a:gridCol w="3672408"/>
                <a:gridCol w="1152128"/>
              </a:tblGrid>
              <a:tr h="24980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Module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84407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</a:t>
                      </a:r>
                      <a:endParaRPr lang="ko-KR" altLang="en-US" sz="110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New model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Remark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7411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</a:t>
                      </a:r>
                    </a:p>
                    <a:p>
                      <a:pPr algn="ctr" latinLnBrk="1"/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</a:t>
                      </a:r>
                      <a:endParaRPr lang="en-US" altLang="ko-KR" sz="100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872431" rtl="0" eaLnBrk="1" latinLnBrk="1" hangingPunct="1"/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Door assembly : ADC74968614</a:t>
                      </a:r>
                    </a:p>
                    <a:p>
                      <a:endParaRPr lang="ko-KR" altLang="en-US" dirty="0"/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assembly </a:t>
                      </a:r>
                      <a:r>
                        <a:rPr lang="ko-KR" altLang="en-US" sz="1000" b="0" baseline="0" dirty="0" err="1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품번추가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TBD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Supporter, Camera  :Camera 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LED PCB 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조립구조 반영</a:t>
                      </a:r>
                      <a:endParaRPr lang="en-US" altLang="ko-KR" sz="1000" b="0" baseline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Cover Harness : Camera 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LED module Harness </a:t>
                      </a:r>
                      <a:r>
                        <a:rPr lang="ko-KR" altLang="en-US" sz="1000" b="0" baseline="0" dirty="0" err="1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가림용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Cover 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추가</a:t>
                      </a:r>
                      <a:endParaRPr lang="en-US" altLang="ko-KR" sz="1000" b="0" baseline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 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Hinge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 : Door 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무게 변경으로 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Soft closing Damper 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</a:t>
                      </a:r>
                      <a:endParaRPr lang="en-US" altLang="ko-KR" sz="1000" b="0" baseline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en-US" altLang="ko-KR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Frame, Door : Supporter Camera 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고정 구조 및 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Harness 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이동 경로 추가</a:t>
                      </a: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3"/>
          <a:srcRect l="8249" r="10200"/>
          <a:stretch/>
        </p:blipFill>
        <p:spPr>
          <a:xfrm>
            <a:off x="1267230" y="1458886"/>
            <a:ext cx="2940583" cy="2050039"/>
          </a:xfrm>
          <a:prstGeom prst="rect">
            <a:avLst/>
          </a:prstGeom>
        </p:spPr>
      </p:pic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135834"/>
              </p:ext>
            </p:extLst>
          </p:nvPr>
        </p:nvGraphicFramePr>
        <p:xfrm>
          <a:off x="5027625" y="4580867"/>
          <a:ext cx="3260202" cy="1976196"/>
        </p:xfrm>
        <a:graphic>
          <a:graphicData uri="http://schemas.openxmlformats.org/drawingml/2006/table">
            <a:tbl>
              <a:tblPr/>
              <a:tblGrid>
                <a:gridCol w="247330"/>
                <a:gridCol w="957419"/>
                <a:gridCol w="767697"/>
                <a:gridCol w="1287756"/>
              </a:tblGrid>
              <a:tr h="5886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50" b="1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</a:t>
                      </a: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5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Part name</a:t>
                      </a: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5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P/No</a:t>
                      </a: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5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Spec.</a:t>
                      </a: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1510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en-US" altLang="ko-KR" sz="750" b="0" i="0" u="none" strike="noStrike" baseline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rtl="0" fontAlgn="ctr">
                        <a:spcBef>
                          <a:spcPts val="0"/>
                        </a:spcBef>
                      </a:pPr>
                      <a:r>
                        <a:rPr lang="en-US" sz="750" b="0" i="0" u="none" strike="noStrike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Handle</a:t>
                      </a:r>
                      <a:r>
                        <a:rPr lang="en-US" sz="750" b="0" i="0" u="none" strike="noStrike" baseline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Assebmly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7199" marR="7199" marT="7206" marB="720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5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AED75499003</a:t>
                      </a:r>
                      <a:endParaRPr lang="en-US" sz="75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b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Black</a:t>
                      </a:r>
                      <a:endParaRPr lang="en-US" altLang="ko-KR" sz="750" b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91428" marR="91428" marT="45759" marB="457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rtl="0" fontAlgn="ctr">
                        <a:spcBef>
                          <a:spcPts val="0"/>
                        </a:spcBef>
                      </a:pPr>
                      <a:r>
                        <a:rPr lang="en-US" sz="750" b="0" i="0" u="none" strike="noStrike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Window,Glass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7199" marR="7199" marT="7206" marB="720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548" rtl="0" eaLnBrk="1" fontAlgn="ctr" latinLnBrk="0" hangingPunct="1"/>
                      <a:r>
                        <a:rPr lang="en-US" altLang="ko-KR" sz="750" b="0" i="0" u="none" strike="noStrike" kern="1200" baseline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MKC67485706</a:t>
                      </a:r>
                      <a:endParaRPr lang="en-US" altLang="ko-KR" sz="75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b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Ti</a:t>
                      </a:r>
                      <a:r>
                        <a:rPr lang="en-US" altLang="ko-KR" sz="750" b="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750" b="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증착</a:t>
                      </a:r>
                      <a:endParaRPr lang="ko-KR" altLang="en-US" sz="750" b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91428" marR="91428" marT="45759" marB="457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en-US" altLang="ko-KR" sz="75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rtl="0" fontAlgn="ctr">
                        <a:spcBef>
                          <a:spcPts val="0"/>
                        </a:spcBef>
                      </a:pPr>
                      <a:r>
                        <a:rPr lang="en-US" sz="750" b="0" i="0" u="none" strike="noStrike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Frame,Door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7199" marR="7199" marT="7206" marB="720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5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MDQ66815401</a:t>
                      </a:r>
                      <a:endParaRPr lang="en-US" sz="75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b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PET</a:t>
                      </a:r>
                      <a:r>
                        <a:rPr lang="en-US" altLang="ko-KR" sz="750" b="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FR530</a:t>
                      </a:r>
                      <a:endParaRPr lang="en-US" altLang="ko-KR" sz="750" b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91428" marR="91428" marT="45759" marB="457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en-US" altLang="ko-KR" sz="750" b="0" i="0" u="none" strike="noStrike" baseline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rtl="0" fontAlgn="ctr">
                        <a:spcBef>
                          <a:spcPts val="0"/>
                        </a:spcBef>
                      </a:pPr>
                      <a:r>
                        <a:rPr lang="en-US" sz="750" b="0" i="0" u="none" strike="noStrike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Cover,Front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7199" marR="7199" marT="7206" marB="720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5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MCK71854103</a:t>
                      </a:r>
                      <a:endParaRPr lang="en-US" sz="75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b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Black</a:t>
                      </a:r>
                      <a:r>
                        <a:rPr lang="en-US" altLang="ko-KR" sz="750" b="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750" b="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무광 도장</a:t>
                      </a:r>
                      <a:endParaRPr lang="en-US" altLang="ko-KR" sz="750" b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91428" marR="91428" marT="45759" marB="457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en-US" altLang="ko-KR" sz="750" b="0" i="0" u="none" strike="noStrike" baseline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l" defTabSz="91254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b="0" i="0" u="none" strike="noStrike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Frame,Décor</a:t>
                      </a:r>
                      <a:endParaRPr lang="en-US" altLang="ko-KR" sz="750" b="0" i="0" u="none" strike="noStrike" dirty="0" smtClean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7199" marR="7199" marT="7206" marB="720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54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b="0" i="0" u="none" strike="noStrike" kern="1200" baseline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MDQ66815602</a:t>
                      </a:r>
                      <a:endParaRPr lang="en-US" altLang="ko-KR" sz="750" b="0" i="0" u="none" strike="noStrike" kern="1200" baseline="0" dirty="0" smtClean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b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Black</a:t>
                      </a:r>
                      <a:r>
                        <a:rPr lang="en-US" altLang="ko-KR" sz="750" b="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750" b="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무광 도장</a:t>
                      </a:r>
                      <a:endParaRPr lang="ko-KR" altLang="en-US" sz="750" b="0" kern="120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91428" marR="91428" marT="45759" marB="457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endParaRPr lang="en-US" altLang="ko-KR" sz="750" b="0" i="0" u="none" strike="noStrike" baseline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rtl="0" fontAlgn="ctr">
                        <a:spcBef>
                          <a:spcPts val="0"/>
                        </a:spcBef>
                      </a:pPr>
                      <a:r>
                        <a:rPr lang="en-US" sz="750" b="0" i="0" u="none" strike="noStrike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Window,Glass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7199" marR="7199" marT="7206" marB="720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548" rtl="0" eaLnBrk="1" fontAlgn="ctr" latinLnBrk="0" hangingPunct="1"/>
                      <a:r>
                        <a:rPr lang="en-US" altLang="ko-KR" sz="750" b="0" i="0" u="none" strike="noStrike" kern="1200" baseline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MKC67485802</a:t>
                      </a:r>
                      <a:endParaRPr lang="en-US" altLang="ko-KR" sz="750" b="0" i="0" u="none" strike="noStrike" kern="1200" baseline="0" dirty="0" smtClean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b="0" kern="120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493.2*</a:t>
                      </a:r>
                      <a:r>
                        <a:rPr lang="en-US" altLang="ko-KR" sz="750" b="1" kern="1200" smtClean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327</a:t>
                      </a:r>
                      <a:r>
                        <a:rPr lang="en-US" altLang="ko-KR" sz="750" b="0" kern="120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./ 0 4t / </a:t>
                      </a:r>
                      <a:r>
                        <a:rPr lang="ko-KR" altLang="en-US" sz="750" b="0" kern="120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방사율 </a:t>
                      </a:r>
                      <a:r>
                        <a:rPr lang="en-US" altLang="ko-KR" sz="750" b="0" kern="120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4%</a:t>
                      </a:r>
                      <a:endParaRPr lang="ko-KR" altLang="en-US" sz="750" b="0" kern="120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91428" marR="91428" marT="45759" marB="457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 smtClean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endParaRPr lang="en-US" altLang="ko-KR" sz="750" b="0" i="0" u="none" strike="noStrike" baseline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l" defTabSz="91373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b="0" i="0" u="none" strike="noStrike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Window,Glass</a:t>
                      </a:r>
                    </a:p>
                  </a:txBody>
                  <a:tcPr marL="7199" marR="7199" marT="7206" marB="720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548" rtl="0" eaLnBrk="1" fontAlgn="ctr" latinLnBrk="0" hangingPunct="1"/>
                      <a:r>
                        <a:rPr lang="en-US" altLang="ko-KR" sz="750" b="0" i="0" u="none" strike="noStrike" kern="1200" baseline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MKC67485801</a:t>
                      </a:r>
                      <a:endParaRPr lang="en-US" altLang="ko-KR" sz="750" b="0" i="0" u="none" strike="noStrike" kern="1200" baseline="0" dirty="0" smtClean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b="0" kern="120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493.2*389./ 0 4t / </a:t>
                      </a:r>
                      <a:r>
                        <a:rPr lang="ko-KR" altLang="en-US" sz="750" b="0" kern="120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방사율 </a:t>
                      </a:r>
                      <a:r>
                        <a:rPr lang="en-US" altLang="ko-KR" sz="750" b="0" kern="120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4%</a:t>
                      </a:r>
                      <a:endParaRPr lang="ko-KR" altLang="en-US" sz="750" b="0" kern="120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91428" marR="91428" marT="45759" marB="457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 smtClean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endParaRPr lang="en-US" altLang="ko-KR" sz="750" b="0" i="0" u="none" strike="noStrike" baseline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l" defTabSz="91373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b="0" i="0" u="none" strike="noStrike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Window,Glass</a:t>
                      </a:r>
                    </a:p>
                  </a:txBody>
                  <a:tcPr marL="7199" marR="7199" marT="7206" marB="720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548" rtl="0" eaLnBrk="1" fontAlgn="ctr" latinLnBrk="0" hangingPunct="1"/>
                      <a:r>
                        <a:rPr lang="en-US" altLang="ko-KR" sz="750" b="0" i="0" u="none" strike="noStrike" kern="1200" baseline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MKC67485901</a:t>
                      </a:r>
                      <a:endParaRPr lang="en-US" altLang="ko-KR" sz="750" b="0" i="0" u="none" strike="noStrike" kern="1200" baseline="0" dirty="0" smtClean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0" kern="120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방사율 </a:t>
                      </a:r>
                      <a:r>
                        <a:rPr lang="en-US" altLang="ko-KR" sz="750" b="0" kern="120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16%</a:t>
                      </a:r>
                      <a:r>
                        <a:rPr lang="en-US" altLang="ko-KR" sz="750" b="0" kern="120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750" b="0" kern="120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→ </a:t>
                      </a:r>
                      <a:r>
                        <a:rPr lang="en-US" altLang="ko-KR" sz="750" b="0" kern="120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4% </a:t>
                      </a:r>
                      <a:r>
                        <a:rPr lang="ko-KR" altLang="en-US" sz="750" b="0" kern="120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변경</a:t>
                      </a:r>
                      <a:endParaRPr lang="ko-KR" altLang="en-US" sz="750" b="0" kern="120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91428" marR="91428" marT="45759" marB="457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baseline="0" smtClean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endParaRPr lang="en-US" altLang="ko-KR" sz="750" b="0" i="0" u="none" strike="noStrike" baseline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0" algn="l" defTabSz="91373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b="0" i="0" u="none" strike="noStrike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Packing,Gasket</a:t>
                      </a:r>
                    </a:p>
                  </a:txBody>
                  <a:tcPr marL="7199" marR="7199" marT="7206" marB="720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548" rtl="0" eaLnBrk="1" fontAlgn="ctr" latinLnBrk="0" hangingPunct="1"/>
                      <a:r>
                        <a:rPr lang="en-US" altLang="ko-KR" sz="750" b="0" i="0" u="none" strike="noStrike" kern="1200" baseline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TBD</a:t>
                      </a:r>
                      <a:endParaRPr lang="en-US" altLang="ko-KR" sz="750" b="0" i="0" u="none" strike="noStrike" kern="1200" baseline="0" dirty="0" smtClean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4" marR="9524" marT="95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b="0" kern="120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Silcone</a:t>
                      </a:r>
                      <a:r>
                        <a:rPr lang="en-US" altLang="ko-KR" sz="750" b="0" kern="120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Rubber</a:t>
                      </a:r>
                      <a:endParaRPr lang="ko-KR" altLang="en-US" sz="750" b="0" kern="120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91428" marR="91428" marT="45759" marB="457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2" name="그룹 1"/>
          <p:cNvGrpSpPr/>
          <p:nvPr/>
        </p:nvGrpSpPr>
        <p:grpSpPr>
          <a:xfrm>
            <a:off x="4695694" y="1985149"/>
            <a:ext cx="3630213" cy="2529217"/>
            <a:chOff x="4707163" y="1403839"/>
            <a:chExt cx="4654202" cy="3215214"/>
          </a:xfrm>
        </p:grpSpPr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4707163" y="1403839"/>
              <a:ext cx="689612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50" charset="-127"/>
                </a:defRPr>
              </a:lvl1pPr>
              <a:lvl2pPr marL="742950" indent="-285750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50" charset="-127"/>
                </a:defRPr>
              </a:lvl2pPr>
              <a:lvl3pPr marL="1143000" indent="-228600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50" charset="-127"/>
                </a:defRPr>
              </a:lvl3pPr>
              <a:lvl4pPr marL="1600200" indent="-228600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50" charset="-127"/>
                </a:defRPr>
              </a:lvl4pPr>
              <a:lvl5pPr marL="2057400" indent="-228600" latinLnBrk="1"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anose="020B0604020202020204" pitchFamily="34" charset="0"/>
                  <a:ea typeface="돋움" panose="020B0600000101010101" pitchFamily="50" charset="-127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b="0" dirty="0" smtClean="0">
                  <a:solidFill>
                    <a:prstClr val="black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&lt; Design&gt; </a:t>
              </a:r>
              <a:endParaRPr lang="en-US" altLang="ko-KR" sz="1000" b="0" dirty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999" y="1664410"/>
              <a:ext cx="4320000" cy="2727679"/>
            </a:xfrm>
            <a:prstGeom prst="rect">
              <a:avLst/>
            </a:prstGeom>
          </p:spPr>
        </p:pic>
        <p:sp>
          <p:nvSpPr>
            <p:cNvPr id="20" name="타원 19"/>
            <p:cNvSpPr/>
            <p:nvPr/>
          </p:nvSpPr>
          <p:spPr>
            <a:xfrm>
              <a:off x="5912148" y="1488173"/>
              <a:ext cx="173037" cy="173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dirty="0" smtClean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2</a:t>
              </a:r>
              <a:endParaRPr lang="ko-KR" altLang="en-US" sz="100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29788" y="1453005"/>
              <a:ext cx="64312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 smtClean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Supporter</a:t>
              </a:r>
              <a:endParaRPr lang="ko-KR" altLang="en-US" sz="1000" b="0"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2" name="타원 21"/>
            <p:cNvSpPr/>
            <p:nvPr/>
          </p:nvSpPr>
          <p:spPr>
            <a:xfrm>
              <a:off x="5085618" y="3450260"/>
              <a:ext cx="173037" cy="17303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dirty="0" smtClean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3</a:t>
              </a:r>
              <a:endParaRPr lang="ko-KR" altLang="en-US" sz="10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203258" y="3415092"/>
              <a:ext cx="74251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smtClean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Frame,Door</a:t>
              </a:r>
              <a:endParaRPr lang="ko-KR" altLang="en-US" sz="1000" b="0"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247139" y="3987889"/>
              <a:ext cx="73609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smtClean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Cover,Front</a:t>
              </a:r>
              <a:endParaRPr lang="ko-KR" altLang="en-US" sz="1000" b="0"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cxnSp>
          <p:nvCxnSpPr>
            <p:cNvPr id="25" name="직선 화살표 연결선 24"/>
            <p:cNvCxnSpPr/>
            <p:nvPr/>
          </p:nvCxnSpPr>
          <p:spPr bwMode="auto">
            <a:xfrm flipV="1">
              <a:off x="6535171" y="3555841"/>
              <a:ext cx="0" cy="432048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26" name="그룹 43"/>
            <p:cNvGrpSpPr>
              <a:grpSpLocks/>
            </p:cNvGrpSpPr>
            <p:nvPr/>
          </p:nvGrpSpPr>
          <p:grpSpPr bwMode="auto">
            <a:xfrm>
              <a:off x="6066291" y="3986180"/>
              <a:ext cx="245580" cy="253916"/>
              <a:chOff x="10066418" y="4097906"/>
              <a:chExt cx="307191" cy="316709"/>
            </a:xfrm>
          </p:grpSpPr>
          <p:sp>
            <p:nvSpPr>
              <p:cNvPr id="28" name="타원 27"/>
              <p:cNvSpPr/>
              <p:nvPr/>
            </p:nvSpPr>
            <p:spPr>
              <a:xfrm>
                <a:off x="10123713" y="4154067"/>
                <a:ext cx="216449" cy="215829"/>
              </a:xfrm>
              <a:prstGeom prst="ellipse">
                <a:avLst/>
              </a:prstGeom>
              <a:solidFill>
                <a:srgbClr val="00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000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10066418" y="4097906"/>
                <a:ext cx="307191" cy="31670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ko-KR" sz="1050" dirty="0" smtClean="0">
                    <a:solidFill>
                      <a:schemeClr val="bg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itchFamily="34" charset="0"/>
                  </a:rPr>
                  <a:t>4</a:t>
                </a:r>
                <a:endParaRPr lang="ko-KR" altLang="en-US" sz="1050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endParaRPr>
              </a:p>
            </p:txBody>
          </p:sp>
        </p:grpSp>
        <p:cxnSp>
          <p:nvCxnSpPr>
            <p:cNvPr id="31" name="직선 화살표 연결선 30"/>
            <p:cNvCxnSpPr>
              <a:stCxn id="33" idx="2"/>
            </p:cNvCxnSpPr>
            <p:nvPr/>
          </p:nvCxnSpPr>
          <p:spPr bwMode="auto">
            <a:xfrm flipH="1">
              <a:off x="5295154" y="1873311"/>
              <a:ext cx="6461" cy="149654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2" name="타원 31"/>
            <p:cNvSpPr/>
            <p:nvPr/>
          </p:nvSpPr>
          <p:spPr>
            <a:xfrm>
              <a:off x="4926532" y="1662258"/>
              <a:ext cx="173037" cy="173037"/>
            </a:xfrm>
            <a:prstGeom prst="ellipse">
              <a:avLst/>
            </a:prstGeom>
            <a:solidFill>
              <a:srgbClr val="008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dirty="0" smtClean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1</a:t>
              </a:r>
              <a:endParaRPr lang="ko-KR" altLang="en-US" sz="100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44172" y="1627090"/>
              <a:ext cx="51488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smtClean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Handle</a:t>
              </a:r>
              <a:endParaRPr lang="ko-KR" altLang="en-US" sz="1000" b="0"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947213" y="1729714"/>
              <a:ext cx="79541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smtClean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Frame,Decor</a:t>
              </a:r>
              <a:endParaRPr lang="en-US" altLang="ko-KR" sz="1000" b="0" dirty="0" smtClean="0"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grpSp>
          <p:nvGrpSpPr>
            <p:cNvPr id="37" name="그룹 43"/>
            <p:cNvGrpSpPr>
              <a:grpSpLocks/>
            </p:cNvGrpSpPr>
            <p:nvPr/>
          </p:nvGrpSpPr>
          <p:grpSpPr bwMode="auto">
            <a:xfrm>
              <a:off x="6766368" y="1738714"/>
              <a:ext cx="304577" cy="293440"/>
              <a:chOff x="10066418" y="4111263"/>
              <a:chExt cx="380989" cy="366007"/>
            </a:xfrm>
          </p:grpSpPr>
          <p:sp>
            <p:nvSpPr>
              <p:cNvPr id="38" name="타원 37"/>
              <p:cNvSpPr/>
              <p:nvPr/>
            </p:nvSpPr>
            <p:spPr>
              <a:xfrm>
                <a:off x="10123713" y="4154067"/>
                <a:ext cx="216449" cy="215829"/>
              </a:xfrm>
              <a:prstGeom prst="ellipse">
                <a:avLst/>
              </a:prstGeom>
              <a:solidFill>
                <a:srgbClr val="00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000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10066418" y="4111263"/>
                <a:ext cx="380989" cy="36600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 smtClean="0">
                    <a:solidFill>
                      <a:schemeClr val="bg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itchFamily="34" charset="0"/>
                  </a:rPr>
                  <a:t>5</a:t>
                </a:r>
                <a:endParaRPr lang="ko-KR" altLang="en-US" sz="900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endParaRPr>
              </a:p>
            </p:txBody>
          </p:sp>
        </p:grpSp>
        <p:sp>
          <p:nvSpPr>
            <p:cNvPr id="40" name="타원 39"/>
            <p:cNvSpPr/>
            <p:nvPr/>
          </p:nvSpPr>
          <p:spPr>
            <a:xfrm>
              <a:off x="8389004" y="4408000"/>
              <a:ext cx="173037" cy="173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smtClean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8</a:t>
              </a:r>
              <a:endParaRPr lang="ko-KR" altLang="en-US" sz="100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506644" y="4372832"/>
              <a:ext cx="85472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smtClean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Window,Glass</a:t>
              </a:r>
              <a:endParaRPr lang="ko-KR" altLang="en-US" sz="1000" b="0"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cxnSp>
          <p:nvCxnSpPr>
            <p:cNvPr id="42" name="직선 화살표 연결선 41"/>
            <p:cNvCxnSpPr>
              <a:stCxn id="21" idx="2"/>
            </p:cNvCxnSpPr>
            <p:nvPr/>
          </p:nvCxnSpPr>
          <p:spPr bwMode="auto">
            <a:xfrm>
              <a:off x="6351351" y="1699226"/>
              <a:ext cx="3188" cy="213176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" name="직선 화살표 연결선 42"/>
            <p:cNvCxnSpPr/>
            <p:nvPr/>
          </p:nvCxnSpPr>
          <p:spPr bwMode="auto">
            <a:xfrm flipV="1">
              <a:off x="5467368" y="3148164"/>
              <a:ext cx="0" cy="247599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44" name="그림 4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35698" y="3119219"/>
              <a:ext cx="129069" cy="143779"/>
            </a:xfrm>
            <a:prstGeom prst="rect">
              <a:avLst/>
            </a:prstGeom>
          </p:spPr>
        </p:pic>
        <p:cxnSp>
          <p:nvCxnSpPr>
            <p:cNvPr id="46" name="직선 화살표 연결선 45"/>
            <p:cNvCxnSpPr/>
            <p:nvPr/>
          </p:nvCxnSpPr>
          <p:spPr bwMode="auto">
            <a:xfrm>
              <a:off x="7189605" y="1939166"/>
              <a:ext cx="3188" cy="213176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7" name="TextBox 46"/>
            <p:cNvSpPr txBox="1"/>
            <p:nvPr/>
          </p:nvSpPr>
          <p:spPr>
            <a:xfrm>
              <a:off x="7967331" y="2612165"/>
              <a:ext cx="9188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smtClean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Packing,Gasket</a:t>
              </a:r>
              <a:endParaRPr lang="en-US" altLang="ko-KR" sz="1000" b="0" dirty="0" smtClean="0"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sp>
          <p:nvSpPr>
            <p:cNvPr id="48" name="타원 47"/>
            <p:cNvSpPr/>
            <p:nvPr/>
          </p:nvSpPr>
          <p:spPr>
            <a:xfrm>
              <a:off x="7786522" y="2635336"/>
              <a:ext cx="173037" cy="173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smtClean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9</a:t>
              </a:r>
              <a:endParaRPr lang="ko-KR" altLang="en-US" sz="100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  <p:cxnSp>
          <p:nvCxnSpPr>
            <p:cNvPr id="50" name="직선 화살표 연결선 49"/>
            <p:cNvCxnSpPr>
              <a:stCxn id="47" idx="2"/>
            </p:cNvCxnSpPr>
            <p:nvPr/>
          </p:nvCxnSpPr>
          <p:spPr bwMode="auto">
            <a:xfrm flipH="1">
              <a:off x="7698093" y="2858386"/>
              <a:ext cx="728659" cy="28942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" name="직선 화살표 연결선 53"/>
            <p:cNvCxnSpPr/>
            <p:nvPr/>
          </p:nvCxnSpPr>
          <p:spPr bwMode="auto">
            <a:xfrm flipV="1">
              <a:off x="8887794" y="4204243"/>
              <a:ext cx="0" cy="168589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8" name="타원 57"/>
            <p:cNvSpPr/>
            <p:nvPr/>
          </p:nvSpPr>
          <p:spPr>
            <a:xfrm>
              <a:off x="7522865" y="4305080"/>
              <a:ext cx="173037" cy="173037"/>
            </a:xfrm>
            <a:prstGeom prst="ellipse">
              <a:avLst/>
            </a:prstGeom>
            <a:solidFill>
              <a:srgbClr val="008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smtClean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7</a:t>
              </a:r>
              <a:endParaRPr lang="ko-KR" altLang="en-US" sz="100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640505" y="4274353"/>
              <a:ext cx="85472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smtClean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Window,Glass</a:t>
              </a:r>
              <a:endParaRPr lang="ko-KR" altLang="en-US" sz="1000" b="0"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cxnSp>
          <p:nvCxnSpPr>
            <p:cNvPr id="61" name="직선 화살표 연결선 60"/>
            <p:cNvCxnSpPr/>
            <p:nvPr/>
          </p:nvCxnSpPr>
          <p:spPr bwMode="auto">
            <a:xfrm flipV="1">
              <a:off x="8021655" y="4153593"/>
              <a:ext cx="0" cy="168589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2" name="타원 61"/>
            <p:cNvSpPr/>
            <p:nvPr/>
          </p:nvSpPr>
          <p:spPr>
            <a:xfrm>
              <a:off x="6963042" y="4111129"/>
              <a:ext cx="173037" cy="17303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smtClean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6</a:t>
              </a:r>
              <a:endParaRPr lang="ko-KR" altLang="en-US" sz="100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080682" y="4075961"/>
              <a:ext cx="85472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smtClean="0"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Window,Glass</a:t>
              </a:r>
              <a:endParaRPr lang="ko-KR" altLang="en-US" sz="1000" b="0">
                <a:latin typeface="Arial Narrow" panose="020B0606020202030204" pitchFamily="34" charset="0"/>
                <a:ea typeface="LG스마트체2.0 Regular" panose="020B0600000101010101" pitchFamily="50" charset="-127"/>
              </a:endParaRPr>
            </a:p>
          </p:txBody>
        </p:sp>
        <p:cxnSp>
          <p:nvCxnSpPr>
            <p:cNvPr id="64" name="직선 화살표 연결선 63"/>
            <p:cNvCxnSpPr/>
            <p:nvPr/>
          </p:nvCxnSpPr>
          <p:spPr bwMode="auto">
            <a:xfrm flipV="1">
              <a:off x="7461832" y="3986180"/>
              <a:ext cx="138400" cy="8978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45" name="직사각형 44"/>
          <p:cNvSpPr/>
          <p:nvPr/>
        </p:nvSpPr>
        <p:spPr>
          <a:xfrm>
            <a:off x="8728094" y="140100"/>
            <a:ext cx="905426" cy="2683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없음</a:t>
            </a:r>
            <a:r>
              <a:rPr lang="en-US" altLang="ko-KR" smtClean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667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3"/>
          <p:cNvSpPr txBox="1">
            <a:spLocks noChangeArrowheads="1"/>
          </p:cNvSpPr>
          <p:nvPr/>
        </p:nvSpPr>
        <p:spPr bwMode="auto">
          <a:xfrm>
            <a:off x="52167" y="140100"/>
            <a:ext cx="3424999" cy="3250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4211" tIns="37108" rIns="74211" bIns="37108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sz="1625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sz="1625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lang="ko-KR" altLang="en-US" sz="1625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 </a:t>
            </a:r>
            <a:r>
              <a:rPr lang="ko-KR" altLang="en-US" sz="1625" dirty="0" err="1" smtClean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변경점</a:t>
            </a:r>
            <a:r>
              <a:rPr lang="en-US" altLang="ko-KR" sz="1625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_Controller Assembly</a:t>
            </a:r>
            <a:endParaRPr lang="ko-KR" altLang="en-US" sz="1625" dirty="0">
              <a:solidFill>
                <a:prstClr val="black">
                  <a:lumMod val="95000"/>
                  <a:lumOff val="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592880"/>
              </p:ext>
            </p:extLst>
          </p:nvPr>
        </p:nvGraphicFramePr>
        <p:xfrm>
          <a:off x="128464" y="606346"/>
          <a:ext cx="9505056" cy="5991006"/>
        </p:xfrm>
        <a:graphic>
          <a:graphicData uri="http://schemas.openxmlformats.org/drawingml/2006/table">
            <a:tbl>
              <a:tblPr/>
              <a:tblGrid>
                <a:gridCol w="553013"/>
                <a:gridCol w="455099"/>
                <a:gridCol w="3672408"/>
                <a:gridCol w="3672408"/>
                <a:gridCol w="1152128"/>
              </a:tblGrid>
              <a:tr h="24980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Module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84407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Base</a:t>
                      </a:r>
                      <a:endParaRPr lang="ko-KR" altLang="en-US" sz="110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New model</a:t>
                      </a:r>
                      <a:endParaRPr lang="ko-KR" altLang="en-US" sz="11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Remark</a:t>
                      </a:r>
                      <a:endParaRPr lang="ko-KR" altLang="en-US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7411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Controller</a:t>
                      </a:r>
                    </a:p>
                    <a:p>
                      <a:pPr algn="ctr" latinLnBrk="1"/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</a:t>
                      </a:r>
                      <a:endParaRPr lang="en-US" altLang="ko-KR" sz="100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Panel,</a:t>
                      </a:r>
                    </a:p>
                    <a:p>
                      <a:pPr algn="ctr" latinLnBrk="1"/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Control</a:t>
                      </a:r>
                      <a:endParaRPr lang="ko-KR" altLang="en-US" sz="10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872431" rtl="0" eaLnBrk="1" latinLnBrk="1" hangingPunct="1"/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Controller assembly : ACM76198201</a:t>
                      </a:r>
                    </a:p>
                    <a:p>
                      <a:endParaRPr lang="ko-KR" altLang="en-US" dirty="0"/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Controller assembly </a:t>
                      </a:r>
                      <a:r>
                        <a:rPr lang="ko-KR" altLang="en-US" sz="1000" b="0" baseline="0" dirty="0" err="1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품번</a:t>
                      </a:r>
                      <a:r>
                        <a:rPr lang="ko-KR" altLang="en-US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추가</a:t>
                      </a:r>
                      <a:endParaRPr lang="en-US" altLang="ko-KR" sz="1000" b="0" baseline="0" dirty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Panel</a:t>
                      </a:r>
                      <a:r>
                        <a:rPr lang="en-US" altLang="ko-KR" sz="1000" b="0" baseline="0" dirty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Control </a:t>
                      </a:r>
                      <a:r>
                        <a:rPr lang="en-US" altLang="ko-KR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개발</a:t>
                      </a:r>
                      <a:endParaRPr lang="en-US" altLang="ko-KR" sz="1000" b="0" baseline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Supporter,PCB : </a:t>
                      </a:r>
                      <a:r>
                        <a:rPr lang="ko-KR" altLang="en-US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개발</a:t>
                      </a:r>
                      <a:r>
                        <a:rPr lang="en-US" altLang="ko-KR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(30</a:t>
                      </a:r>
                      <a:r>
                        <a:rPr lang="ko-KR" altLang="en-US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인치부품 공용화 예정</a:t>
                      </a:r>
                      <a:r>
                        <a:rPr lang="en-US" altLang="ko-KR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 LCD Module : 4.3</a:t>
                      </a:r>
                      <a:r>
                        <a:rPr lang="ko-KR" altLang="en-US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</a:t>
                      </a:r>
                      <a:r>
                        <a:rPr lang="en-US" altLang="ko-KR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6.8” </a:t>
                      </a:r>
                      <a:r>
                        <a:rPr lang="ko-KR" altLang="en-US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</a:t>
                      </a:r>
                      <a:endParaRPr lang="en-US" altLang="ko-KR" sz="1000" b="0" baseline="0" smtClea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 LCD PCB : </a:t>
                      </a:r>
                      <a:r>
                        <a:rPr lang="ko-KR" altLang="en-US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기존 </a:t>
                      </a:r>
                      <a:r>
                        <a:rPr lang="en-US" altLang="ko-KR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Size</a:t>
                      </a:r>
                      <a:r>
                        <a:rPr lang="ko-KR" altLang="en-US" sz="1000" b="0" baseline="0" smtClea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 신규제작</a:t>
                      </a:r>
                      <a:endParaRPr lang="en-US" altLang="ko-KR" sz="1000" b="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rcRect b="2680"/>
          <a:stretch/>
        </p:blipFill>
        <p:spPr>
          <a:xfrm>
            <a:off x="1296324" y="1252888"/>
            <a:ext cx="3150379" cy="2355285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592" y="3933056"/>
            <a:ext cx="3240360" cy="581603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8553400" y="140100"/>
            <a:ext cx="1080120" cy="2683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추가 변경점</a:t>
            </a:r>
            <a:endParaRPr lang="ko-KR" altLang="en-US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9371" y="1916832"/>
            <a:ext cx="3600000" cy="64883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9371" y="3331847"/>
            <a:ext cx="3600000" cy="63467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3307" y="4443395"/>
            <a:ext cx="1152128" cy="454136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4879370" y="3010775"/>
            <a:ext cx="1657805" cy="2683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신규 </a:t>
            </a:r>
            <a:r>
              <a:rPr lang="en-US" altLang="ko-KR" smtClean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Controll,Panel </a:t>
            </a:r>
            <a:endParaRPr lang="ko-KR" altLang="en-US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455235" y="4144550"/>
            <a:ext cx="1513790" cy="2683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신규 </a:t>
            </a:r>
            <a:r>
              <a:rPr lang="en-US" altLang="ko-KR" smtClean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Supporter,PCB</a:t>
            </a:r>
            <a:endParaRPr lang="ko-KR" altLang="en-US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7208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63395" y="697985"/>
            <a:ext cx="1861087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eaLnBrk="0" latinLnBrk="0" hangingPunct="0">
              <a:lnSpc>
                <a:spcPts val="1400"/>
              </a:lnSpc>
            </a:pPr>
            <a:r>
              <a:rPr lang="ko-KR" altLang="en-US" sz="1100" u="sng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유첨</a:t>
            </a:r>
            <a:r>
              <a:rPr lang="en-US" altLang="ko-KR" sz="1100" u="sng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1. </a:t>
            </a:r>
            <a:r>
              <a:rPr lang="ko-KR" altLang="en-US" sz="110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 </a:t>
            </a:r>
            <a:r>
              <a:rPr lang="ko-KR" altLang="en-US" sz="1100" u="sng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변경점</a:t>
            </a:r>
            <a:r>
              <a:rPr lang="ko-KR" altLang="en-US" sz="110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상세 작성 내용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895346"/>
              </p:ext>
            </p:extLst>
          </p:nvPr>
        </p:nvGraphicFramePr>
        <p:xfrm>
          <a:off x="137068" y="886739"/>
          <a:ext cx="9640468" cy="2837520"/>
        </p:xfrm>
        <a:graphic>
          <a:graphicData uri="http://schemas.openxmlformats.org/drawingml/2006/table">
            <a:tbl>
              <a:tblPr/>
              <a:tblGrid>
                <a:gridCol w="748684"/>
                <a:gridCol w="743616"/>
                <a:gridCol w="1635951"/>
                <a:gridCol w="1903705"/>
                <a:gridCol w="2952328"/>
                <a:gridCol w="1656184"/>
              </a:tblGrid>
              <a:tr h="3562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구분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No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Part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변경 내역</a:t>
                      </a:r>
                      <a:endParaRPr lang="en-US" altLang="ko-KR" sz="900" b="1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1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(</a:t>
                      </a:r>
                      <a:r>
                        <a:rPr lang="ko-KR" altLang="en-US" sz="900" b="1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변경 전</a:t>
                      </a:r>
                      <a:r>
                        <a:rPr lang="en-US" altLang="ko-KR" sz="900" b="1" dirty="0" smtClean="0">
                          <a:latin typeface="Arial Narrow" panose="020B0606020202030204" pitchFamily="34" charset="0"/>
                          <a:ea typeface="LG스마트체 Regular" pitchFamily="50" charset="-127"/>
                          <a:sym typeface="Wingdings" pitchFamily="2" charset="2"/>
                        </a:rPr>
                        <a:t> </a:t>
                      </a:r>
                      <a:r>
                        <a:rPr lang="ko-KR" altLang="en-US" sz="900" b="1" smtClean="0">
                          <a:latin typeface="Arial Narrow" panose="020B0606020202030204" pitchFamily="34" charset="0"/>
                          <a:ea typeface="LG스마트체 Regular" pitchFamily="50" charset="-127"/>
                          <a:sym typeface="Wingdings" pitchFamily="2" charset="2"/>
                        </a:rPr>
                        <a:t>→</a:t>
                      </a:r>
                      <a:r>
                        <a:rPr lang="en-US" altLang="ko-KR" sz="900" b="1" dirty="0" smtClean="0">
                          <a:latin typeface="Arial Narrow" panose="020B0606020202030204" pitchFamily="34" charset="0"/>
                          <a:ea typeface="LG스마트체 Regular" pitchFamily="50" charset="-127"/>
                          <a:sym typeface="Wingdings" pitchFamily="2" charset="2"/>
                        </a:rPr>
                        <a:t> </a:t>
                      </a:r>
                      <a:r>
                        <a:rPr lang="ko-KR" altLang="en-US" sz="900" b="1" smtClean="0">
                          <a:latin typeface="Arial Narrow" panose="020B0606020202030204" pitchFamily="34" charset="0"/>
                          <a:ea typeface="LG스마트체 Regular" pitchFamily="50" charset="-127"/>
                          <a:sym typeface="Wingdings" pitchFamily="2" charset="2"/>
                        </a:rPr>
                        <a:t>변경 후</a:t>
                      </a:r>
                      <a:r>
                        <a:rPr lang="en-US" altLang="ko-KR" sz="900" b="1" dirty="0" smtClean="0">
                          <a:latin typeface="Arial Narrow" panose="020B0606020202030204" pitchFamily="34" charset="0"/>
                          <a:ea typeface="LG스마트체 Regular" pitchFamily="50" charset="-127"/>
                          <a:sym typeface="Wingdings" pitchFamily="2" charset="2"/>
                        </a:rPr>
                        <a:t>)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변경 사유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걱정점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기구</a:t>
                      </a:r>
                      <a:endParaRPr lang="en-US" altLang="ko-KR" sz="900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(4M </a:t>
                      </a:r>
                      <a:r>
                        <a:rPr lang="ko-KR" altLang="en-US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변경포함</a:t>
                      </a:r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</a:t>
                      </a:r>
                    </a:p>
                    <a:p>
                      <a:pPr algn="ctr" latinLnBrk="1"/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Conv. Motor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AC motor </a:t>
                      </a:r>
                      <a:r>
                        <a:rPr lang="ko-KR" altLang="en-US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→ </a:t>
                      </a:r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BLDC motor</a:t>
                      </a:r>
                      <a:endParaRPr lang="ko-KR" altLang="en-US" sz="900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균일 가열 성능 및 요리 시간 단축</a:t>
                      </a:r>
                      <a:endParaRPr lang="ko-KR" altLang="en-US" sz="900" b="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900" baseline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요리 성능 및 온도 정밀도</a:t>
                      </a:r>
                      <a:endParaRPr lang="en-US" altLang="ko-KR" sz="900" baseline="0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Conv.</a:t>
                      </a:r>
                      <a:r>
                        <a:rPr lang="en-US" altLang="ko-KR" sz="900" baseline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Fan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용접 </a:t>
                      </a:r>
                      <a:r>
                        <a:rPr lang="ko-KR" altLang="en-US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타입 </a:t>
                      </a:r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Fan </a:t>
                      </a:r>
                      <a:r>
                        <a:rPr lang="ko-KR" altLang="en-US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적용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BLDC </a:t>
                      </a:r>
                      <a:r>
                        <a:rPr lang="ko-KR" altLang="en-US" sz="900" b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모터 적용으로 인한 </a:t>
                      </a:r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Fan </a:t>
                      </a:r>
                      <a:r>
                        <a:rPr lang="ko-KR" altLang="en-US" sz="900" b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형상변경</a:t>
                      </a:r>
                      <a:endParaRPr lang="ko-KR" altLang="en-US" sz="900" b="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Conv.</a:t>
                      </a:r>
                      <a:r>
                        <a:rPr lang="en-US" altLang="ko-KR" sz="900" baseline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Fan</a:t>
                      </a:r>
                      <a:r>
                        <a:rPr lang="ko-KR" altLang="en-US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en-US" altLang="ko-KR" sz="900" baseline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Cover</a:t>
                      </a:r>
                      <a:endParaRPr lang="ko-KR" altLang="en-US" sz="90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Fan cover hole </a:t>
                      </a:r>
                      <a:r>
                        <a:rPr lang="ko-KR" altLang="en-US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위치 및 </a:t>
                      </a:r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size 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243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BLDC </a:t>
                      </a:r>
                      <a:r>
                        <a:rPr lang="ko-KR" altLang="en-US" sz="900" b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모터 적용으로 인한 </a:t>
                      </a:r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Fan Cover</a:t>
                      </a:r>
                      <a:r>
                        <a:rPr lang="ko-KR" altLang="en-US" sz="900" b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형상변경</a:t>
                      </a: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Cover,</a:t>
                      </a:r>
                      <a:r>
                        <a:rPr lang="en-US" altLang="ko-KR" sz="900" baseline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Camera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Camera</a:t>
                      </a:r>
                      <a:r>
                        <a:rPr lang="en-US" altLang="ko-KR" sz="900" baseline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모듈 장착으로 인한 부품 추가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Door </a:t>
                      </a:r>
                      <a:r>
                        <a:rPr lang="ko-KR" altLang="en-US" sz="900" b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카메라 적용</a:t>
                      </a:r>
                      <a:endParaRPr lang="ko-KR" altLang="en-US" sz="900" b="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Camera module</a:t>
                      </a:r>
                      <a:r>
                        <a:rPr lang="en-US" altLang="ko-KR" sz="900" baseline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aseline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온도</a:t>
                      </a:r>
                      <a:endParaRPr lang="en-US" altLang="ko-KR" sz="900" baseline="0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latinLnBrk="1"/>
                      <a:r>
                        <a:rPr lang="en-US" altLang="ko-KR" sz="900" baseline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Harness cover</a:t>
                      </a:r>
                      <a:r>
                        <a:rPr lang="ko-KR" altLang="en-US" sz="900" baseline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와 </a:t>
                      </a:r>
                      <a:r>
                        <a:rPr lang="en-US" altLang="ko-KR" sz="900" baseline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Cavity </a:t>
                      </a:r>
                      <a:r>
                        <a:rPr lang="ko-KR" altLang="en-US" sz="900" baseline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간섭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5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err="1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Tray,Plastic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Cover Harness </a:t>
                      </a:r>
                      <a:r>
                        <a:rPr lang="ko-KR" altLang="en-US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조립 구조 추가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Door </a:t>
                      </a:r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카메라 모듈 연결용 </a:t>
                      </a:r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Harness </a:t>
                      </a:r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고정 구조</a:t>
                      </a:r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(Cover</a:t>
                      </a:r>
                      <a:r>
                        <a:rPr lang="en-US" altLang="ko-KR" sz="900" b="0" baseline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Harness)</a:t>
                      </a:r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추가</a:t>
                      </a:r>
                      <a:endParaRPr lang="ko-KR" altLang="en-US" sz="900" b="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373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Cover, Harness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Harness</a:t>
                      </a:r>
                      <a:r>
                        <a:rPr lang="en-US" altLang="ko-KR" sz="900" baseline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aseline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고정용 </a:t>
                      </a:r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Cover </a:t>
                      </a:r>
                      <a:r>
                        <a:rPr lang="ko-KR" altLang="en-US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추가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7243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Door </a:t>
                      </a:r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카메라 모듈 적용으로 인한 </a:t>
                      </a:r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Harness</a:t>
                      </a:r>
                      <a:r>
                        <a:rPr lang="en-US" altLang="ko-KR" sz="900" b="0" baseline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고정 부품 추가</a:t>
                      </a:r>
                      <a:endParaRPr lang="ko-KR" altLang="en-US" sz="900" b="0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7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Panel,Control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4.3” </a:t>
                      </a:r>
                      <a:r>
                        <a:rPr lang="ko-KR" altLang="en-US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→ </a:t>
                      </a:r>
                      <a:r>
                        <a:rPr lang="en-US" altLang="ko-KR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6.8”LCD</a:t>
                      </a:r>
                      <a:r>
                        <a:rPr lang="en-US" altLang="ko-KR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구조 적용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4.3” </a:t>
                      </a:r>
                      <a:r>
                        <a:rPr lang="ko-KR" altLang="en-US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→ </a:t>
                      </a:r>
                      <a:r>
                        <a:rPr lang="en-US" altLang="ko-KR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6.8”LCD</a:t>
                      </a:r>
                      <a:r>
                        <a:rPr lang="en-US" altLang="ko-KR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변경</a:t>
                      </a:r>
                      <a:endParaRPr lang="ko-KR" altLang="en-US" sz="900" b="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Controller</a:t>
                      </a:r>
                      <a:r>
                        <a:rPr lang="en-US" altLang="ko-KR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개폐</a:t>
                      </a:r>
                      <a:r>
                        <a:rPr lang="en-US" altLang="ko-KR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성능 확인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8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Supporter,PCB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4.3” </a:t>
                      </a:r>
                      <a:r>
                        <a:rPr lang="ko-KR" altLang="en-US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→ </a:t>
                      </a:r>
                      <a:r>
                        <a:rPr lang="en-US" altLang="ko-KR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6.8”LCD</a:t>
                      </a:r>
                      <a:r>
                        <a:rPr lang="en-US" altLang="ko-KR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구조 적용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4.3” </a:t>
                      </a:r>
                      <a:r>
                        <a:rPr lang="ko-KR" altLang="en-US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→ </a:t>
                      </a:r>
                      <a:r>
                        <a:rPr lang="en-US" altLang="ko-KR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6.8”LCD</a:t>
                      </a:r>
                      <a:r>
                        <a:rPr lang="en-US" altLang="ko-KR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변경</a:t>
                      </a:r>
                      <a:endParaRPr lang="ko-KR" altLang="en-US" sz="900" b="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9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LCD Module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4.3” </a:t>
                      </a:r>
                      <a:r>
                        <a:rPr lang="ko-KR" altLang="en-US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→ </a:t>
                      </a:r>
                      <a:r>
                        <a:rPr lang="en-US" altLang="ko-KR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6.8”LCD</a:t>
                      </a:r>
                      <a:r>
                        <a:rPr lang="en-US" altLang="ko-KR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변경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4.3” </a:t>
                      </a:r>
                      <a:r>
                        <a:rPr lang="ko-KR" altLang="en-US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→ </a:t>
                      </a:r>
                      <a:r>
                        <a:rPr lang="en-US" altLang="ko-KR" sz="9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6.8”LCD</a:t>
                      </a:r>
                      <a:r>
                        <a:rPr lang="en-US" altLang="ko-KR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aseline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변경</a:t>
                      </a:r>
                      <a:endParaRPr lang="ko-KR" altLang="en-US" sz="900" b="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12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제어</a:t>
                      </a:r>
                      <a:endParaRPr lang="en-US" altLang="ko-KR" sz="900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LCD S/W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OS </a:t>
                      </a:r>
                      <a:r>
                        <a:rPr lang="ko-KR" altLang="en-US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적용 및 </a:t>
                      </a:r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UI </a:t>
                      </a:r>
                      <a:r>
                        <a:rPr lang="ko-KR" altLang="en-US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추가</a:t>
                      </a:r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/</a:t>
                      </a:r>
                      <a:r>
                        <a:rPr lang="ko-KR" altLang="en-US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변경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신규기능 </a:t>
                      </a:r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(</a:t>
                      </a:r>
                      <a:r>
                        <a:rPr lang="ko-KR" altLang="en-US" sz="900" b="0" dirty="0" err="1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고내</a:t>
                      </a:r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카메라</a:t>
                      </a:r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, </a:t>
                      </a:r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사이드 </a:t>
                      </a:r>
                      <a:r>
                        <a:rPr lang="ko-KR" altLang="en-US" sz="900" b="0" dirty="0" err="1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라이팅</a:t>
                      </a:r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</a:t>
                      </a:r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에 따른 </a:t>
                      </a:r>
                      <a:r>
                        <a:rPr lang="en-US" altLang="ko-KR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UI </a:t>
                      </a:r>
                      <a:r>
                        <a:rPr lang="ko-KR" altLang="en-US" sz="900" b="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추가</a:t>
                      </a:r>
                      <a:endParaRPr lang="ko-KR" altLang="en-US" sz="900" b="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1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1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12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ThinQ App</a:t>
                      </a: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카메라 모니터링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영상인식 기능 추가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카메라 기능 추가로 영상인식 기능 추가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120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900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ThinQ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Up Recipe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ThinQ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Up recipe </a:t>
                      </a:r>
                      <a:r>
                        <a:rPr lang="ko-KR" altLang="en-US" sz="9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기능 추가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업가전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컨텐츠</a:t>
                      </a: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제공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120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900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120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900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3" marR="36003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ctangle 10"/>
          <p:cNvSpPr>
            <a:spLocks noChangeArrowheads="1"/>
          </p:cNvSpPr>
          <p:nvPr/>
        </p:nvSpPr>
        <p:spPr bwMode="auto">
          <a:xfrm flipV="1">
            <a:off x="137068" y="171450"/>
            <a:ext cx="9625675" cy="484188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lIns="95763" tIns="47881" rIns="95763" bIns="47881" anchor="ctr"/>
          <a:lstStyle>
            <a:lvl1pPr defTabSz="960438"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960438"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960438"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960438"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960438"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0" latinLnBrk="0" hangingPunct="0"/>
            <a:endParaRPr lang="ko-KR" altLang="ko-KR" sz="220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Rectangle 1442"/>
          <p:cNvSpPr>
            <a:spLocks noGrp="1" noChangeArrowheads="1"/>
          </p:cNvSpPr>
          <p:nvPr>
            <p:ph type="title"/>
          </p:nvPr>
        </p:nvSpPr>
        <p:spPr bwMode="auto">
          <a:xfrm>
            <a:off x="3386866" y="252755"/>
            <a:ext cx="3132268" cy="323165"/>
          </a:xfrm>
          <a:ln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1" hangingPunct="1">
              <a:defRPr/>
            </a:pPr>
            <a:r>
              <a:rPr lang="ko-KR" altLang="en-US" sz="21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개발 유형 및 등급 확정 심의회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95591" y="3816037"/>
            <a:ext cx="6984776" cy="2195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65052" tIns="32528" rIns="65052" bIns="32528">
            <a:spAutoFit/>
          </a:bodyPr>
          <a:lstStyle/>
          <a:p>
            <a:pPr defTabSz="646862">
              <a:spcBef>
                <a:spcPct val="10000"/>
              </a:spcBef>
              <a:spcAft>
                <a:spcPct val="10000"/>
              </a:spcAft>
            </a:pPr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※ </a:t>
            </a:r>
            <a:r>
              <a:rPr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필요 시 행 추가하여 사용가능 </a:t>
            </a:r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/ </a:t>
            </a:r>
            <a:r>
              <a:rPr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필요 시 </a:t>
            </a:r>
            <a:r>
              <a:rPr lang="ko-KR" altLang="en-US" sz="1000" b="0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유첨</a:t>
            </a:r>
            <a:r>
              <a:rPr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</a:t>
            </a:r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1</a:t>
            </a:r>
            <a:r>
              <a:rPr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번</a:t>
            </a:r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,2</a:t>
            </a:r>
            <a:r>
              <a:rPr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번 테이블 별도 </a:t>
            </a:r>
            <a:r>
              <a:rPr lang="ko-KR" altLang="en-US" sz="1000" b="0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장표</a:t>
            </a:r>
            <a:r>
              <a:rPr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작성 가능</a:t>
            </a:r>
            <a:endParaRPr lang="ko-KR" altLang="en-US" sz="10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3395" y="4005064"/>
            <a:ext cx="1918795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0438">
              <a:spcBef>
                <a:spcPct val="20000"/>
              </a:spcBef>
              <a:defRPr/>
            </a:pPr>
            <a:r>
              <a:rPr lang="ko-KR" altLang="en-US" sz="1100" u="sng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유첨</a:t>
            </a:r>
            <a:r>
              <a:rPr lang="en-US" altLang="ko-KR" sz="1100" u="sng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2. </a:t>
            </a:r>
            <a:r>
              <a:rPr lang="ko-KR" altLang="en-US" sz="1100" u="sng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+mn-cs"/>
              </a:rPr>
              <a:t>개발 예상 우려점 검토 결과</a:t>
            </a:r>
            <a:endParaRPr lang="en-US" altLang="ko-KR" sz="1100" u="sng" dirty="0">
              <a:solidFill>
                <a:srgbClr val="000000"/>
              </a:solidFill>
              <a:latin typeface="LG스마트체 Regular" pitchFamily="50" charset="-127"/>
              <a:ea typeface="LG스마트체 Regular" pitchFamily="50" charset="-127"/>
              <a:cs typeface="Arial" pitchFamily="34" charset="0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3226"/>
              </p:ext>
            </p:extLst>
          </p:nvPr>
        </p:nvGraphicFramePr>
        <p:xfrm>
          <a:off x="137583" y="4263542"/>
          <a:ext cx="9643660" cy="2354015"/>
        </p:xfrm>
        <a:graphic>
          <a:graphicData uri="http://schemas.openxmlformats.org/drawingml/2006/table">
            <a:tbl>
              <a:tblPr/>
              <a:tblGrid>
                <a:gridCol w="1120636"/>
                <a:gridCol w="4320000"/>
                <a:gridCol w="3643055"/>
                <a:gridCol w="559969"/>
              </a:tblGrid>
              <a:tr h="41001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 구분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변경점에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따른 예상 우려 사항 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대응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검증 방안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유첨 </a:t>
                      </a: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기구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구조 부품 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변경점 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전장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/PCB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품 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변경점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부자재 등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  <a:cs typeface="Arial" pitchFamily="34" charset="0"/>
                        </a:rPr>
                        <a:t> 기타 변경점 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9000" marR="39000" marT="0" marB="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8054851" y="6613336"/>
            <a:ext cx="1825749" cy="2349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65052" tIns="32528" rIns="65052" bIns="32528">
            <a:spAutoFit/>
          </a:bodyPr>
          <a:lstStyle/>
          <a:p>
            <a:pPr defTabSz="646862" eaLnBrk="0" latinLnBrk="0" hangingPunct="0">
              <a:spcBef>
                <a:spcPct val="10000"/>
              </a:spcBef>
              <a:spcAft>
                <a:spcPct val="10000"/>
              </a:spcAft>
            </a:pPr>
            <a:r>
              <a:rPr lang="en-US" altLang="ko-KR" sz="11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※ </a:t>
            </a:r>
            <a:r>
              <a:rPr lang="ko-KR" altLang="en-US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상세 검토 결과 있을 시 유첨 </a:t>
            </a:r>
            <a:endParaRPr lang="ko-KR" altLang="en-US" sz="11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7617296" y="679012"/>
            <a:ext cx="2145447" cy="2195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65052" tIns="32528" rIns="65052" bIns="32528">
            <a:spAutoFit/>
          </a:bodyPr>
          <a:lstStyle/>
          <a:p>
            <a:pPr algn="r" defTabSz="646862">
              <a:spcBef>
                <a:spcPct val="10000"/>
              </a:spcBef>
              <a:spcAft>
                <a:spcPct val="10000"/>
              </a:spcAft>
            </a:pPr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※ </a:t>
            </a:r>
            <a:r>
              <a:rPr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필요 시 행 </a:t>
            </a:r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Exploded View </a:t>
            </a:r>
            <a:r>
              <a:rPr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포함가능</a:t>
            </a:r>
            <a:endParaRPr lang="ko-KR" altLang="en-US" sz="10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59028" y="1202999"/>
            <a:ext cx="4491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3333FF"/>
                </a:solidFill>
                <a:latin typeface="Arial Narrow" panose="020B0606020202030204" pitchFamily="34" charset="0"/>
              </a:rPr>
              <a:t>BLDC</a:t>
            </a:r>
            <a:endParaRPr lang="ko-KR" altLang="en-US" sz="900" dirty="0">
              <a:solidFill>
                <a:srgbClr val="3333FF"/>
              </a:solidFill>
              <a:latin typeface="Arial Narrow" panose="020B0606020202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26076" y="1614711"/>
            <a:ext cx="4876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solidFill>
                  <a:srgbClr val="3333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카메라</a:t>
            </a:r>
            <a:endParaRPr lang="ko-KR" altLang="en-US" sz="900" dirty="0">
              <a:solidFill>
                <a:srgbClr val="3333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4745792"/>
              </p:ext>
            </p:extLst>
          </p:nvPr>
        </p:nvGraphicFramePr>
        <p:xfrm>
          <a:off x="2432720" y="2528532"/>
          <a:ext cx="781644" cy="65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1" name="워크시트" showAsIcon="1" r:id="rId3" imgW="914400" imgH="771480" progId="Excel.Sheet.12">
                  <p:embed/>
                </p:oleObj>
              </mc:Choice>
              <mc:Fallback>
                <p:oleObj name="워크시트" showAsIcon="1" r:id="rId3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32720" y="2528532"/>
                        <a:ext cx="781644" cy="659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226076" y="2034570"/>
            <a:ext cx="4876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>
                <a:solidFill>
                  <a:srgbClr val="3333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카메라</a:t>
            </a:r>
            <a:endParaRPr lang="ko-KR" altLang="en-US" sz="900" dirty="0">
              <a:solidFill>
                <a:srgbClr val="3333F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6148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226333"/>
              </p:ext>
            </p:extLst>
          </p:nvPr>
        </p:nvGraphicFramePr>
        <p:xfrm>
          <a:off x="137583" y="931744"/>
          <a:ext cx="9625160" cy="5029595"/>
        </p:xfrm>
        <a:graphic>
          <a:graphicData uri="http://schemas.openxmlformats.org/drawingml/2006/table">
            <a:tbl>
              <a:tblPr/>
              <a:tblGrid>
                <a:gridCol w="1731145"/>
                <a:gridCol w="4032059"/>
                <a:gridCol w="3861956"/>
              </a:tblGrid>
              <a:tr h="3298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적용 개발유형</a:t>
                      </a:r>
                      <a:endParaRPr kumimoji="0" lang="ko-KR" altLang="en-US" sz="1100" b="0" i="0" u="none" strike="noStrike" cap="none" normalizeH="0" baseline="30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개발유형 및 등급심의 </a:t>
                      </a:r>
                      <a:r>
                        <a:rPr kumimoji="0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메인페이지의</a:t>
                      </a: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개발유형 참조</a:t>
                      </a:r>
                      <a:endParaRPr kumimoji="0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97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단계 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조정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(Skip </a:t>
                      </a: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또는 필수 변경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내용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조정 사유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102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CP</a:t>
                      </a: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단계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Activity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N/A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02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DV</a:t>
                      </a: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단계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Activity</a:t>
                      </a:r>
                      <a:endParaRPr kumimoji="0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N/A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02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PV</a:t>
                      </a: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단계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Activity</a:t>
                      </a:r>
                      <a:endParaRPr kumimoji="0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N/A</a:t>
                      </a:r>
                      <a:endParaRPr kumimoji="0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02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Pre MP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단계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Activity </a:t>
                      </a:r>
                      <a:endParaRPr kumimoji="0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N/A</a:t>
                      </a:r>
                      <a:endParaRPr kumimoji="0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0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163841" y="6153210"/>
            <a:ext cx="6761466" cy="4154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※ </a:t>
            </a:r>
            <a:r>
              <a:rPr lang="ko-KR" altLang="en-US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개발 유형</a:t>
            </a:r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/</a:t>
            </a:r>
            <a:r>
              <a:rPr lang="ko-KR" altLang="en-US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등급 결정시  시스템상에 기 </a:t>
            </a:r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Setting </a:t>
            </a:r>
            <a:r>
              <a:rPr lang="ko-KR" altLang="en-US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되어진 </a:t>
            </a:r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</a:t>
            </a:r>
            <a:r>
              <a:rPr lang="ko-KR" altLang="en-US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필수</a:t>
            </a:r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/</a:t>
            </a:r>
            <a:r>
              <a:rPr lang="ko-KR" altLang="en-US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옵션 </a:t>
            </a:r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Activity</a:t>
            </a:r>
            <a:r>
              <a:rPr lang="ko-KR" altLang="en-US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를 기준하여  협의 후 </a:t>
            </a:r>
            <a:r>
              <a:rPr lang="ko-KR" altLang="en-US" sz="9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제외 </a:t>
            </a:r>
            <a:r>
              <a:rPr lang="en-US" altLang="ko-KR" sz="9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(</a:t>
            </a:r>
            <a:r>
              <a:rPr lang="ko-KR" altLang="en-US" sz="9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필수 </a:t>
            </a:r>
            <a:r>
              <a:rPr lang="en-US" altLang="ko-KR" sz="9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itchFamily="2" charset="2"/>
              </a:rPr>
              <a:t></a:t>
            </a:r>
            <a:r>
              <a:rPr lang="ko-KR" altLang="en-US" sz="9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itchFamily="2" charset="2"/>
              </a:rPr>
              <a:t>제외</a:t>
            </a:r>
            <a:r>
              <a:rPr lang="en-US" altLang="ko-KR" sz="9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itchFamily="2" charset="2"/>
              </a:rPr>
              <a:t>),  </a:t>
            </a:r>
            <a:r>
              <a:rPr lang="en-US" altLang="ko-KR" sz="9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</a:t>
            </a:r>
            <a:r>
              <a:rPr lang="ko-KR" altLang="en-US" sz="9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추가</a:t>
            </a:r>
            <a:r>
              <a:rPr lang="en-US" altLang="ko-KR" sz="9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(</a:t>
            </a:r>
            <a:r>
              <a:rPr lang="ko-KR" altLang="en-US" sz="9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옵션</a:t>
            </a:r>
            <a:r>
              <a:rPr lang="en-US" altLang="ko-KR" sz="9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itchFamily="2" charset="2"/>
              </a:rPr>
              <a:t> </a:t>
            </a:r>
            <a:r>
              <a:rPr lang="ko-KR" altLang="en-US" sz="9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sym typeface="Wingdings" pitchFamily="2" charset="2"/>
              </a:rPr>
              <a:t>필수</a:t>
            </a:r>
            <a:r>
              <a:rPr lang="en-US" altLang="ko-KR" sz="9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)</a:t>
            </a:r>
            <a:r>
              <a:rPr lang="ko-KR" altLang="en-US" sz="9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되는 내용을 기록</a:t>
            </a:r>
            <a:endParaRPr lang="en-US" altLang="ko-KR" sz="900" b="0" u="sng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  <a:p>
            <a:r>
              <a:rPr lang="en-US" altLang="ko-KR" sz="900" b="0" dirty="0">
                <a:latin typeface="Arial Narrow" panose="020B0606020202030204" pitchFamily="34" charset="0"/>
                <a:ea typeface="LG스마트체 Regular" pitchFamily="50" charset="-127"/>
              </a:rPr>
              <a:t>      </a:t>
            </a:r>
            <a:r>
              <a:rPr lang="ko-KR" altLang="en-US" sz="900" b="0" dirty="0">
                <a:latin typeface="Arial Narrow" panose="020B0606020202030204" pitchFamily="34" charset="0"/>
                <a:ea typeface="LG스마트체 Regular" pitchFamily="50" charset="-127"/>
              </a:rPr>
              <a:t>   </a:t>
            </a:r>
            <a:r>
              <a:rPr lang="en-US" altLang="ko-KR" sz="900" b="0" dirty="0">
                <a:latin typeface="Arial Narrow" panose="020B0606020202030204" pitchFamily="34" charset="0"/>
                <a:ea typeface="LG스마트체 Regular" pitchFamily="50" charset="-127"/>
              </a:rPr>
              <a:t>(</a:t>
            </a:r>
            <a:r>
              <a:rPr lang="ko-KR" altLang="en-US" sz="900" b="0" dirty="0">
                <a:latin typeface="Arial Narrow" panose="020B0606020202030204" pitchFamily="34" charset="0"/>
                <a:ea typeface="LG스마트체 Regular" pitchFamily="50" charset="-127"/>
              </a:rPr>
              <a:t>필수 </a:t>
            </a:r>
            <a:r>
              <a:rPr lang="en-US" altLang="ko-KR" sz="900" b="0" dirty="0">
                <a:latin typeface="Arial Narrow" panose="020B0606020202030204" pitchFamily="34" charset="0"/>
                <a:ea typeface="LG스마트체 Regular" pitchFamily="50" charset="-127"/>
              </a:rPr>
              <a:t>Event  Skip</a:t>
            </a:r>
            <a:r>
              <a:rPr lang="ko-KR" altLang="en-US" sz="900" b="0" dirty="0">
                <a:latin typeface="Arial Narrow" panose="020B0606020202030204" pitchFamily="34" charset="0"/>
                <a:ea typeface="LG스마트체 Regular" pitchFamily="50" charset="-127"/>
              </a:rPr>
              <a:t>시</a:t>
            </a:r>
            <a:r>
              <a:rPr lang="en-US" altLang="ko-KR" sz="900" b="0" dirty="0">
                <a:latin typeface="Arial Narrow" panose="020B0606020202030204" pitchFamily="34" charset="0"/>
                <a:ea typeface="LG스마트체 Regular" pitchFamily="50" charset="-127"/>
              </a:rPr>
              <a:t>: </a:t>
            </a:r>
            <a:r>
              <a:rPr lang="ko-KR" altLang="en-US" sz="900" b="0" dirty="0" smtClean="0">
                <a:latin typeface="Arial Narrow" panose="020B0606020202030204" pitchFamily="34" charset="0"/>
                <a:ea typeface="LG스마트체 Regular" pitchFamily="50" charset="-127"/>
              </a:rPr>
              <a:t>개발실장</a:t>
            </a:r>
            <a:r>
              <a:rPr lang="en-US" altLang="ko-KR" sz="900" b="0" dirty="0" smtClean="0">
                <a:latin typeface="Arial Narrow" panose="020B0606020202030204" pitchFamily="34" charset="0"/>
                <a:ea typeface="LG스마트체 Regular" pitchFamily="50" charset="-127"/>
              </a:rPr>
              <a:t>, </a:t>
            </a:r>
            <a:r>
              <a:rPr lang="ko-KR" altLang="en-US" sz="900" b="0" dirty="0" smtClean="0">
                <a:latin typeface="Arial Narrow" panose="020B0606020202030204" pitchFamily="34" charset="0"/>
                <a:ea typeface="LG스마트체 Regular" pitchFamily="50" charset="-127"/>
              </a:rPr>
              <a:t>개발품질담당 승인</a:t>
            </a:r>
            <a:r>
              <a:rPr lang="en-US" altLang="ko-KR" sz="900" b="0" dirty="0">
                <a:latin typeface="Arial Narrow" panose="020B0606020202030204" pitchFamily="34" charset="0"/>
                <a:ea typeface="LG스마트체 Regular" pitchFamily="50" charset="-127"/>
              </a:rPr>
              <a:t>,      </a:t>
            </a:r>
            <a:r>
              <a:rPr lang="ko-KR" altLang="en-US" sz="900" b="0" dirty="0">
                <a:latin typeface="Arial Narrow" panose="020B0606020202030204" pitchFamily="34" charset="0"/>
                <a:ea typeface="LG스마트체 Regular" pitchFamily="50" charset="-127"/>
              </a:rPr>
              <a:t>필수 </a:t>
            </a:r>
            <a:r>
              <a:rPr lang="en-US" altLang="ko-KR" sz="900" b="0" dirty="0">
                <a:latin typeface="Arial Narrow" panose="020B0606020202030204" pitchFamily="34" charset="0"/>
                <a:ea typeface="LG스마트체 Regular" pitchFamily="50" charset="-127"/>
              </a:rPr>
              <a:t>Activity Skip</a:t>
            </a:r>
            <a:r>
              <a:rPr lang="ko-KR" altLang="en-US" sz="900" b="0" dirty="0">
                <a:latin typeface="Arial Narrow" panose="020B0606020202030204" pitchFamily="34" charset="0"/>
                <a:ea typeface="LG스마트체 Regular" pitchFamily="50" charset="-127"/>
              </a:rPr>
              <a:t>시 </a:t>
            </a:r>
            <a:r>
              <a:rPr lang="en-US" altLang="ko-KR" sz="900" b="0" dirty="0">
                <a:latin typeface="Arial Narrow" panose="020B0606020202030204" pitchFamily="34" charset="0"/>
                <a:ea typeface="LG스마트체 Regular" pitchFamily="50" charset="-127"/>
              </a:rPr>
              <a:t>: </a:t>
            </a:r>
            <a:r>
              <a:rPr lang="en-US" altLang="ko-KR" sz="900" b="0" dirty="0" smtClean="0">
                <a:latin typeface="Arial Narrow" panose="020B0606020202030204" pitchFamily="34" charset="0"/>
                <a:ea typeface="LG스마트체 Regular" pitchFamily="50" charset="-127"/>
              </a:rPr>
              <a:t>DQA</a:t>
            </a:r>
            <a:r>
              <a:rPr lang="ko-KR" altLang="en-US" sz="900" b="0" dirty="0" smtClean="0">
                <a:latin typeface="Arial Narrow" panose="020B0606020202030204" pitchFamily="34" charset="0"/>
                <a:ea typeface="LG스마트체 Regular" pitchFamily="50" charset="-127"/>
              </a:rPr>
              <a:t>팀장 승인</a:t>
            </a:r>
            <a:r>
              <a:rPr lang="en-US" altLang="ko-KR" sz="900" b="0" dirty="0" smtClean="0">
                <a:latin typeface="Arial Narrow" panose="020B0606020202030204" pitchFamily="34" charset="0"/>
                <a:ea typeface="LG스마트체 Regular" pitchFamily="50" charset="-127"/>
              </a:rPr>
              <a:t>, </a:t>
            </a:r>
            <a:r>
              <a:rPr lang="ko-KR" altLang="en-US" sz="9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제어 </a:t>
            </a:r>
            <a:r>
              <a:rPr lang="en-US" altLang="ko-KR" sz="9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Event Skip </a:t>
            </a:r>
            <a:r>
              <a:rPr lang="ko-KR" altLang="en-US" sz="9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시 </a:t>
            </a:r>
            <a:r>
              <a:rPr lang="en-US" altLang="ko-KR" sz="9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: DQA</a:t>
            </a:r>
            <a:r>
              <a:rPr lang="ko-KR" altLang="en-US" sz="900" b="0" dirty="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팀장 승인</a:t>
            </a:r>
            <a:r>
              <a:rPr lang="en-US" altLang="ko-KR" sz="900" b="0" dirty="0" smtClean="0">
                <a:latin typeface="Arial Narrow" panose="020B0606020202030204" pitchFamily="34" charset="0"/>
                <a:ea typeface="LG스마트체 Regular" pitchFamily="50" charset="-127"/>
              </a:rPr>
              <a:t>)</a:t>
            </a:r>
            <a:endParaRPr lang="en-US" altLang="ko-KR" sz="900" b="0" dirty="0">
              <a:latin typeface="Arial Narrow" panose="020B0606020202030204" pitchFamily="34" charset="0"/>
              <a:ea typeface="LG스마트체 Regular" pitchFamily="50" charset="-127"/>
            </a:endParaRPr>
          </a:p>
          <a:p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※ </a:t>
            </a:r>
            <a:r>
              <a:rPr lang="ko-KR" altLang="en-US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시스템내의  </a:t>
            </a:r>
            <a:r>
              <a:rPr lang="en-US" altLang="ko-KR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WBS List</a:t>
            </a:r>
            <a:r>
              <a:rPr lang="ko-KR" altLang="en-US" sz="9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를 다운 받아서  변동 내용 기록하여 첨부 가능</a:t>
            </a:r>
          </a:p>
        </p:txBody>
      </p:sp>
      <p:sp>
        <p:nvSpPr>
          <p:cNvPr id="11" name="실행 단추: 돌아가기 10">
            <a:hlinkClick r:id="rId2" action="ppaction://hlinksldjump" highlightClick="1"/>
          </p:cNvPr>
          <p:cNvSpPr>
            <a:spLocks noChangeAspect="1"/>
          </p:cNvSpPr>
          <p:nvPr/>
        </p:nvSpPr>
        <p:spPr>
          <a:xfrm>
            <a:off x="9393238" y="6517101"/>
            <a:ext cx="288000" cy="288000"/>
          </a:xfrm>
          <a:prstGeom prst="actionButtonReturn">
            <a:avLst/>
          </a:prstGeom>
          <a:ln w="317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 flipV="1">
            <a:off x="137068" y="171450"/>
            <a:ext cx="9625675" cy="484188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lIns="95763" tIns="47881" rIns="95763" bIns="47881" anchor="ctr"/>
          <a:lstStyle>
            <a:lvl1pPr defTabSz="960438"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960438"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960438"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960438"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960438"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960438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0" latinLnBrk="0" hangingPunct="0"/>
            <a:endParaRPr lang="ko-KR" altLang="ko-KR" sz="220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Rectangle 1442"/>
          <p:cNvSpPr>
            <a:spLocks noGrp="1" noChangeArrowheads="1"/>
          </p:cNvSpPr>
          <p:nvPr>
            <p:ph type="title"/>
          </p:nvPr>
        </p:nvSpPr>
        <p:spPr bwMode="auto">
          <a:xfrm>
            <a:off x="3386866" y="252755"/>
            <a:ext cx="3132268" cy="323165"/>
          </a:xfrm>
          <a:ln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1" hangingPunct="1">
              <a:defRPr/>
            </a:pPr>
            <a:r>
              <a:rPr lang="ko-KR" altLang="en-US" sz="21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개발 유형 및 등급 확정 심의회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395" y="727620"/>
            <a:ext cx="2991203" cy="17953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kumimoji="1" lang="ko-KR" altLang="en-US" sz="1100" b="1" u="sng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유첨</a:t>
            </a:r>
            <a:r>
              <a:rPr kumimoji="1" lang="en-US" altLang="ko-KR" sz="1100" b="1" u="sng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3. </a:t>
            </a:r>
            <a:r>
              <a:rPr kumimoji="1" lang="ko-KR" altLang="en-US" sz="1100" b="1" u="sng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개발유형 확정 및 </a:t>
            </a:r>
            <a:r>
              <a:rPr lang="ko-KR" altLang="en-US" sz="1100" u="sng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단계별 </a:t>
            </a:r>
            <a:r>
              <a:rPr lang="ko-KR" altLang="en-US" sz="1100" u="sng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실행 </a:t>
            </a:r>
            <a:r>
              <a:rPr lang="en-US" altLang="ko-KR" sz="110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Activity </a:t>
            </a:r>
            <a:r>
              <a:rPr lang="ko-KR" altLang="en-US" sz="1100" u="sng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조정 결과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927" y="670213"/>
            <a:ext cx="27975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▶ 필요 시 개발 유형별 </a:t>
            </a:r>
            <a:r>
              <a:rPr lang="en-US" altLang="ko-KR" sz="10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Activity list </a:t>
            </a:r>
            <a:r>
              <a:rPr lang="ko-KR" altLang="en-US" sz="105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양식 사용 가능</a:t>
            </a:r>
            <a:endParaRPr lang="ko-KR" altLang="en-US" sz="105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20" name="실행 단추: 앞으로 또는 다음 19">
            <a:hlinkClick r:id="rId3" action="ppaction://hlinksldjump" highlightClick="1"/>
          </p:cNvPr>
          <p:cNvSpPr/>
          <p:nvPr/>
        </p:nvSpPr>
        <p:spPr>
          <a:xfrm>
            <a:off x="9382095" y="707171"/>
            <a:ext cx="288000" cy="180000"/>
          </a:xfrm>
          <a:prstGeom prst="actionButtonForwardNext">
            <a:avLst/>
          </a:prstGeom>
          <a:ln w="317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35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2570" y="87232"/>
            <a:ext cx="2310450" cy="340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4396" tIns="42198" rIns="84396" bIns="42198">
            <a:spAutoFit/>
          </a:bodyPr>
          <a:lstStyle/>
          <a:p>
            <a:r>
              <a:rPr lang="ko-KR" altLang="en-US" sz="1662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개발</a:t>
            </a:r>
            <a:r>
              <a:rPr lang="en-US" altLang="ko-KR" sz="1662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PJT </a:t>
            </a:r>
            <a:r>
              <a:rPr lang="ko-KR" altLang="en-US" sz="1662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운영 기준 점검표</a:t>
            </a:r>
          </a:p>
        </p:txBody>
      </p:sp>
      <p:pic>
        <p:nvPicPr>
          <p:cNvPr id="13" name="Picture 3" descr="C:\Users\hyun\Desktop\비전로고_두줄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434785" y="6386474"/>
            <a:ext cx="1052315" cy="421758"/>
          </a:xfrm>
          <a:prstGeom prst="rect">
            <a:avLst/>
          </a:prstGeom>
          <a:noFill/>
        </p:spPr>
      </p:pic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541942"/>
              </p:ext>
            </p:extLst>
          </p:nvPr>
        </p:nvGraphicFramePr>
        <p:xfrm>
          <a:off x="1764815" y="951851"/>
          <a:ext cx="7868704" cy="1173480"/>
        </p:xfrm>
        <a:graphic>
          <a:graphicData uri="http://schemas.openxmlformats.org/drawingml/2006/table">
            <a:tbl>
              <a:tblPr/>
              <a:tblGrid>
                <a:gridCol w="980551"/>
                <a:gridCol w="1356082"/>
                <a:gridCol w="2169732"/>
                <a:gridCol w="917963"/>
                <a:gridCol w="2444376"/>
              </a:tblGrid>
              <a:tr h="167640">
                <a:tc gridSpan="3"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ko-KR" sz="1000" b="1" dirty="0" smtClean="0">
                          <a:latin typeface="LG스마트체 Regular" pitchFamily="50" charset="-127"/>
                          <a:ea typeface="LG스마트체 Regular" pitchFamily="50" charset="-127"/>
                        </a:rPr>
                        <a:t>*</a:t>
                      </a:r>
                      <a:r>
                        <a:rPr lang="ko-KR" altLang="en-US" sz="1000" b="1" dirty="0" smtClean="0">
                          <a:latin typeface="LG스마트체 Regular" pitchFamily="50" charset="-127"/>
                          <a:ea typeface="LG스마트체 Regular" pitchFamily="50" charset="-127"/>
                        </a:rPr>
                        <a:t>선정 기 준</a:t>
                      </a:r>
                      <a:endParaRPr lang="ko-KR" altLang="en-US" sz="1000" b="1" dirty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선정 결과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7640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개발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등급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직급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/</a:t>
                      </a:r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년차 기준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경험 기준 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P/Leader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적합 여부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</a:tr>
              <a:tr h="167640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A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급 이상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책임 </a:t>
                      </a:r>
                      <a:r>
                        <a:rPr lang="en-US" altLang="ko-KR" sz="10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5</a:t>
                      </a:r>
                      <a:r>
                        <a:rPr lang="ko-KR" altLang="en-US" sz="10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년차 이상 </a:t>
                      </a:r>
                      <a:endParaRPr lang="en-US" altLang="ko-KR" sz="10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r>
                        <a:rPr lang="en-US" altLang="ko-KR" sz="10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 Ca</a:t>
                      </a:r>
                      <a:r>
                        <a:rPr lang="ko-KR" altLang="en-US" sz="10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급 이상 </a:t>
                      </a:r>
                      <a:r>
                        <a:rPr lang="en-US" altLang="ko-KR" sz="10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PJT</a:t>
                      </a:r>
                      <a:r>
                        <a:rPr lang="ko-KR" altLang="en-US" sz="10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 </a:t>
                      </a:r>
                      <a:r>
                        <a:rPr lang="en-US" altLang="ko-KR" sz="10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Leader </a:t>
                      </a:r>
                      <a:r>
                        <a:rPr lang="ko-KR" altLang="en-US" sz="10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유 경험</a:t>
                      </a:r>
                      <a:endParaRPr lang="en-US" altLang="ko-KR" sz="1000" b="0" dirty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/>
                      <a:endParaRPr lang="en-US" altLang="ko-KR" sz="1000" b="1" dirty="0" smtClean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endParaRPr lang="en-US" altLang="ko-KR" sz="1000" b="1" dirty="0" smtClean="0">
                        <a:solidFill>
                          <a:schemeClr val="tx1"/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67640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B 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tx1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급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책임급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 Ca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급 이상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PJT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Leader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유 경험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장승태 선임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경험 적합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(Ca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급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PJT Leader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유 경험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)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7640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Ca 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급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선임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년차 이상 </a:t>
                      </a:r>
                      <a:endParaRPr lang="en-US" altLang="ko-KR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 PJT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Leader 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유 경험</a:t>
                      </a:r>
                      <a:endParaRPr lang="en-US" altLang="ko-KR" sz="10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endParaRPr lang="en-US" altLang="ko-KR" sz="1000" dirty="0" smtClean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endParaRPr lang="en-US" altLang="ko-KR" sz="1000" dirty="0" smtClean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7640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Cb/Cc/Csw </a:t>
                      </a:r>
                      <a:r>
                        <a:rPr lang="ko-KR" altLang="en-US" sz="1000" b="0" i="0" u="none" strike="noStrike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급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선임급 이상 </a:t>
                      </a:r>
                      <a:endParaRPr lang="en-US" altLang="ko-KR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endParaRPr lang="ko-KR" altLang="en-US" sz="1000" dirty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endParaRPr lang="ko-KR" altLang="en-US" sz="1000" dirty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7640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D </a:t>
                      </a:r>
                      <a:r>
                        <a:rPr lang="ko-KR" altLang="en-US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급</a:t>
                      </a:r>
                      <a:endParaRPr lang="ko-KR" alt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연구원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년차 이상</a:t>
                      </a:r>
                      <a:endParaRPr lang="en-US" altLang="ko-KR" sz="10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endParaRPr lang="ko-KR" altLang="en-US" sz="1000" dirty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endParaRPr lang="ko-KR" altLang="en-US" sz="1000" dirty="0"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24446"/>
              </p:ext>
            </p:extLst>
          </p:nvPr>
        </p:nvGraphicFramePr>
        <p:xfrm>
          <a:off x="1764810" y="2296121"/>
          <a:ext cx="7868710" cy="845820"/>
        </p:xfrm>
        <a:graphic>
          <a:graphicData uri="http://schemas.openxmlformats.org/drawingml/2006/table">
            <a:tbl>
              <a:tblPr/>
              <a:tblGrid>
                <a:gridCol w="765191"/>
                <a:gridCol w="819143"/>
                <a:gridCol w="459869"/>
                <a:gridCol w="747036"/>
                <a:gridCol w="747036"/>
                <a:gridCol w="747036"/>
                <a:gridCol w="747036"/>
                <a:gridCol w="747036"/>
                <a:gridCol w="1002877"/>
                <a:gridCol w="1086450"/>
              </a:tblGrid>
              <a:tr h="177165">
                <a:tc rowSpan="2"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사업부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1" u="none" strike="noStrike" dirty="0" smtClean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1" u="none" strike="noStrike" dirty="0" smtClean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개발</a:t>
                      </a:r>
                      <a:endParaRPr lang="en-US" altLang="ko-KR" sz="1000" b="1" u="none" strike="noStrike" dirty="0" smtClean="0"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  <a:p>
                      <a:pPr algn="ctr" rtl="0" fontAlgn="ctr"/>
                      <a:r>
                        <a:rPr lang="ko-KR" altLang="en-US" sz="1000" b="1" u="none" strike="noStrike" smtClean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등급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gridSpan="7"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 표준 일정</a:t>
                      </a:r>
                      <a:r>
                        <a:rPr lang="en-US" altLang="ko-KR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(</a:t>
                      </a:r>
                      <a:r>
                        <a:rPr lang="ko-KR" altLang="en-US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일</a:t>
                      </a:r>
                      <a:r>
                        <a:rPr lang="en-US" altLang="ko-KR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71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CP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DV 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PV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u="none" strike="noStrike" smtClean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Pre-MP</a:t>
                      </a:r>
                    </a:p>
                    <a:p>
                      <a:pPr algn="ctr" rtl="0" fontAlgn="ctr"/>
                      <a:r>
                        <a:rPr lang="en-US" sz="1000" b="1" u="none" strike="noStrike" smtClean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/ 1st</a:t>
                      </a:r>
                      <a:r>
                        <a:rPr lang="en-US" sz="1000" b="1" u="none" strike="noStrike" baseline="0" smtClean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 MP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P/Mkt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CP~Pre-MP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일정단축율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쿠킹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빌트인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오븐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185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360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en-US" altLang="ko-KR" sz="1000" b="1" i="0" u="none" strike="noStrike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%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17716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PJT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196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.49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827410"/>
              </p:ext>
            </p:extLst>
          </p:nvPr>
        </p:nvGraphicFramePr>
        <p:xfrm>
          <a:off x="1764810" y="3760166"/>
          <a:ext cx="1944216" cy="653347"/>
        </p:xfrm>
        <a:graphic>
          <a:graphicData uri="http://schemas.openxmlformats.org/drawingml/2006/table">
            <a:tbl>
              <a:tblPr/>
              <a:tblGrid>
                <a:gridCol w="437618"/>
                <a:gridCol w="432048"/>
                <a:gridCol w="432048"/>
                <a:gridCol w="642502"/>
              </a:tblGrid>
              <a:tr h="432048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u="none" strike="noStrike" dirty="0" smtClean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개발 </a:t>
                      </a:r>
                      <a:endParaRPr lang="en-US" altLang="ko-KR" sz="1000" b="1" u="none" strike="noStrike" dirty="0" smtClean="0"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u="none" strike="noStrike" dirty="0" smtClean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등급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표준 </a:t>
                      </a:r>
                      <a:endParaRPr lang="en-US" altLang="ko-KR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역량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투입 </a:t>
                      </a:r>
                      <a:endParaRPr lang="en-US" altLang="ko-KR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역량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표준 대비</a:t>
                      </a:r>
                      <a:endParaRPr lang="en-US" altLang="ko-KR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축소율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</a:tr>
              <a:tr h="22129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-3%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949086"/>
              </p:ext>
            </p:extLst>
          </p:nvPr>
        </p:nvGraphicFramePr>
        <p:xfrm>
          <a:off x="1764809" y="5256193"/>
          <a:ext cx="7868709" cy="1163561"/>
        </p:xfrm>
        <a:graphic>
          <a:graphicData uri="http://schemas.openxmlformats.org/drawingml/2006/table">
            <a:tbl>
              <a:tblPr/>
              <a:tblGrid>
                <a:gridCol w="926245"/>
                <a:gridCol w="4506512"/>
                <a:gridCol w="2435952"/>
              </a:tblGrid>
              <a:tr h="249161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항목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baseline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보완 대책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비고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PJT Leader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경험 기준 적합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ko-KR" altLang="en-US" sz="10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이슈 없음</a:t>
                      </a:r>
                      <a:endParaRPr lang="en-US" altLang="ko-KR" sz="1000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개발 일정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표준대비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3%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단축으로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DV 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시 인원 충원하여 인원 보충 예정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BLDC</a:t>
                      </a:r>
                      <a:r>
                        <a:rPr lang="en-US" altLang="ko-KR" sz="1000" b="0" i="0" u="none" strike="noStrike" baseline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성능 및 </a:t>
                      </a:r>
                      <a:r>
                        <a:rPr lang="ko-KR" altLang="en-US" sz="1000" b="0" i="0" u="none" strike="noStrike" baseline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카메라 성능선행 </a:t>
                      </a:r>
                      <a:r>
                        <a:rPr lang="ko-KR" altLang="en-US" sz="1000" b="0" i="0" u="none" strike="noStrike" baseline="0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검토를 통한 개발일정 단축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ko-KR" sz="10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투입 역량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표준 역량 준수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ko-KR" altLang="en-US" sz="10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이슈 없음</a:t>
                      </a:r>
                      <a:endParaRPr lang="en-US" altLang="ko-KR" sz="1000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594475"/>
              </p:ext>
            </p:extLst>
          </p:nvPr>
        </p:nvGraphicFramePr>
        <p:xfrm>
          <a:off x="4880234" y="3472135"/>
          <a:ext cx="3312368" cy="1296145"/>
        </p:xfrm>
        <a:graphic>
          <a:graphicData uri="http://schemas.openxmlformats.org/drawingml/2006/table">
            <a:tbl>
              <a:tblPr/>
              <a:tblGrid>
                <a:gridCol w="1008112"/>
                <a:gridCol w="720080"/>
                <a:gridCol w="864096"/>
                <a:gridCol w="720080"/>
              </a:tblGrid>
              <a:tr h="223213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*</a:t>
                      </a:r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직급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1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*</a:t>
                      </a:r>
                      <a:r>
                        <a:rPr lang="ko-KR" altLang="en-US" sz="1000" b="1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역량 지수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투입인원          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역량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X</a:t>
                      </a:r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인원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</a:tr>
              <a:tr h="178822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책임 </a:t>
                      </a:r>
                      <a:r>
                        <a:rPr lang="en-US" altLang="ko-KR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 (</a:t>
                      </a:r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5</a:t>
                      </a:r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년차 </a:t>
                      </a:r>
                      <a:r>
                        <a:rPr lang="ko-KR" altLang="en-US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↑</a:t>
                      </a:r>
                      <a:r>
                        <a:rPr lang="en-US" altLang="ko-KR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8822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책임 </a:t>
                      </a:r>
                      <a:r>
                        <a:rPr lang="en-US" altLang="ko-KR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(</a:t>
                      </a:r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</a:t>
                      </a:r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년차 </a:t>
                      </a:r>
                      <a:r>
                        <a:rPr lang="ko-KR" altLang="en-US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↓</a:t>
                      </a:r>
                      <a:r>
                        <a:rPr lang="en-US" altLang="ko-KR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8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8822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선임 </a:t>
                      </a:r>
                      <a:r>
                        <a:rPr lang="en-US" altLang="ko-KR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 (</a:t>
                      </a:r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5</a:t>
                      </a:r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년차 </a:t>
                      </a:r>
                      <a:r>
                        <a:rPr lang="ko-KR" altLang="en-US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↑</a:t>
                      </a:r>
                      <a:r>
                        <a:rPr lang="en-US" altLang="ko-KR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78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2(P/Leader)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8822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선임 </a:t>
                      </a:r>
                      <a:r>
                        <a:rPr lang="en-US" altLang="ko-KR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(</a:t>
                      </a:r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</a:t>
                      </a:r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년차 </a:t>
                      </a:r>
                      <a:r>
                        <a:rPr lang="ko-KR" altLang="en-US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↓</a:t>
                      </a:r>
                      <a:r>
                        <a:rPr lang="en-US" altLang="ko-KR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5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8822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연구원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8822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합계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32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" name="이등변 삼각형 18"/>
          <p:cNvSpPr/>
          <p:nvPr/>
        </p:nvSpPr>
        <p:spPr>
          <a:xfrm rot="16200000">
            <a:off x="3723732" y="4037581"/>
            <a:ext cx="1261666" cy="243287"/>
          </a:xfrm>
          <a:prstGeom prst="triangle">
            <a:avLst/>
          </a:prstGeom>
          <a:solidFill>
            <a:srgbClr val="FFFFFF">
              <a:lumMod val="85000"/>
            </a:srgbClr>
          </a:solidFill>
          <a:ln w="25400" cap="flat" cmpd="sng" algn="ctr">
            <a:solidFill>
              <a:srgbClr val="FFFFFF">
                <a:lumMod val="9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95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100" b="0" kern="0" dirty="0">
              <a:solidFill>
                <a:srgbClr val="FFFFFF"/>
              </a:solidFill>
              <a:latin typeface="Arial Narrow" panose="020B0606020202030204" pitchFamily="34" charset="0"/>
              <a:ea typeface="굴림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69317" y="3521308"/>
            <a:ext cx="14061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ctr"/>
            <a:r>
              <a:rPr lang="ko-KR" altLang="en-US" sz="11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쿠킹</a:t>
            </a:r>
            <a:r>
              <a:rPr lang="en-US" altLang="ko-KR" sz="11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/</a:t>
            </a:r>
            <a:r>
              <a:rPr lang="ko-KR" altLang="en-US" sz="11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빌트인 </a:t>
            </a:r>
            <a:r>
              <a:rPr lang="en-US" altLang="ko-KR" sz="1100" b="0" u="sng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</a:t>
            </a:r>
            <a:r>
              <a:rPr lang="ko-KR" altLang="en-US" sz="1100" b="0" u="sng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오븐제품</a:t>
            </a:r>
            <a:endParaRPr lang="ko-KR" altLang="en-US" sz="1100" b="0" u="sng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27419" y="4761482"/>
            <a:ext cx="10246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en-US" altLang="ko-KR" sz="10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* : </a:t>
            </a:r>
            <a:r>
              <a:rPr lang="ko-KR" altLang="en-US" sz="10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본부 공통기준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8209" y="3253346"/>
            <a:ext cx="1489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대상 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: R&amp;D </a:t>
            </a:r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상근 인원 기준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8991" y="3253346"/>
            <a:ext cx="14061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en-US" altLang="ko-KR" sz="10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P/Leader </a:t>
            </a:r>
            <a:r>
              <a:rPr lang="ko-KR" altLang="en-US" sz="10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별도 표기 할 것</a:t>
            </a:r>
            <a:endParaRPr lang="ko-KR" altLang="en-US" sz="1000" b="0" dirty="0">
              <a:solidFill>
                <a:srgbClr val="0066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26" name="실행 단추: 앞으로 또는 다음 25">
            <a:hlinkClick r:id="rId5" action="ppaction://hlinksldjump" highlightClick="1"/>
          </p:cNvPr>
          <p:cNvSpPr/>
          <p:nvPr/>
        </p:nvSpPr>
        <p:spPr>
          <a:xfrm>
            <a:off x="9461701" y="260648"/>
            <a:ext cx="315835" cy="210498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Arial Narrow" panose="020B060602020203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11930" y="260650"/>
            <a:ext cx="1980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en-US" altLang="ko-KR" sz="10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PJT</a:t>
            </a:r>
            <a:r>
              <a:rPr lang="ko-KR" altLang="en-US" sz="10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운영기준 점검양식</a:t>
            </a:r>
            <a:r>
              <a:rPr lang="en-US" altLang="ko-KR" sz="10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(</a:t>
            </a:r>
            <a:r>
              <a:rPr lang="ko-KR" altLang="en-US" sz="10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엑셀</a:t>
            </a:r>
            <a:r>
              <a:rPr lang="en-US" altLang="ko-KR" sz="10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)</a:t>
            </a:r>
            <a:r>
              <a:rPr lang="ko-KR" altLang="en-US" sz="10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사용법</a:t>
            </a:r>
            <a:endParaRPr lang="ko-KR" altLang="en-US" sz="1000" b="0" dirty="0">
              <a:solidFill>
                <a:srgbClr val="0066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29" name="실행 단추: 돌아가기 28">
            <a:hlinkClick r:id="rId6" action="ppaction://hlinksldjump" highlightClick="1"/>
          </p:cNvPr>
          <p:cNvSpPr>
            <a:spLocks noChangeAspect="1"/>
          </p:cNvSpPr>
          <p:nvPr/>
        </p:nvSpPr>
        <p:spPr>
          <a:xfrm>
            <a:off x="9505378" y="6466445"/>
            <a:ext cx="288000" cy="288000"/>
          </a:xfrm>
          <a:prstGeom prst="actionButtonReturn">
            <a:avLst/>
          </a:prstGeom>
          <a:ln w="317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1718545" y="4932660"/>
            <a:ext cx="51956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ctr"/>
            <a:r>
              <a:rPr lang="en-US" altLang="ko-KR" sz="10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※ </a:t>
            </a:r>
            <a:r>
              <a:rPr lang="ko-KR" altLang="en-US" sz="10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병렬개발 진행하는 프로젝트의 경우 표준역량의 </a:t>
            </a:r>
            <a:r>
              <a:rPr lang="en-US" altLang="ko-KR" sz="10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30%</a:t>
            </a:r>
            <a:r>
              <a:rPr lang="ko-KR" altLang="en-US" sz="10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를 감하여 표준 대비 역량 축소율을 확인한다</a:t>
            </a:r>
            <a:r>
              <a:rPr lang="en-US" altLang="ko-KR" sz="10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33" y="568869"/>
            <a:ext cx="6662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P/Leader </a:t>
            </a:r>
            <a:r>
              <a:rPr lang="ko-KR" altLang="en-US" sz="14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는 </a:t>
            </a:r>
            <a:r>
              <a:rPr lang="en-US" altLang="ko-KR" sz="14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PJT </a:t>
            </a:r>
            <a:r>
              <a:rPr lang="ko-KR" altLang="en-US" sz="14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등록 시 개발 역량 확보 여부를 확인하고 등록서에 첨부하여 승인 </a:t>
            </a:r>
            <a:r>
              <a:rPr lang="ko-KR" altLang="en-US" sz="14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진행한다  </a:t>
            </a:r>
            <a:r>
              <a:rPr lang="ko-KR" altLang="en-US" sz="140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</a:t>
            </a:r>
            <a:endParaRPr lang="ko-KR" altLang="en-US" sz="140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00472" y="942325"/>
            <a:ext cx="978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PJT Leader</a:t>
            </a:r>
            <a:endParaRPr lang="ko-KR" altLang="en-US" sz="1400" u="sng" dirty="0">
              <a:solidFill>
                <a:srgbClr val="FF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00472" y="2262216"/>
            <a:ext cx="938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ko-KR" altLang="en-US" sz="140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개발 일정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0472" y="3510235"/>
            <a:ext cx="12522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ko-KR" altLang="en-US" sz="140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개발 투입 역량 </a:t>
            </a:r>
          </a:p>
        </p:txBody>
      </p:sp>
      <p:sp>
        <p:nvSpPr>
          <p:cNvPr id="42" name="타원 41"/>
          <p:cNvSpPr/>
          <p:nvPr/>
        </p:nvSpPr>
        <p:spPr>
          <a:xfrm>
            <a:off x="637927" y="1369761"/>
            <a:ext cx="301187" cy="329767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637927" y="2735003"/>
            <a:ext cx="301187" cy="32976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637927" y="3896076"/>
            <a:ext cx="301187" cy="329767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58" name="오른쪽 화살표 57"/>
          <p:cNvSpPr/>
          <p:nvPr/>
        </p:nvSpPr>
        <p:spPr>
          <a:xfrm>
            <a:off x="383540" y="5258080"/>
            <a:ext cx="978714" cy="504056"/>
          </a:xfrm>
          <a:prstGeom prst="rightArrow">
            <a:avLst>
              <a:gd name="adj1" fmla="val 100000"/>
              <a:gd name="adj2" fmla="val 2207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ko-KR" altLang="en-US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미 준수 </a:t>
            </a:r>
            <a:endParaRPr lang="en-US" altLang="ko-KR" sz="1400" b="1" dirty="0" smtClean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  <a:p>
            <a:pPr algn="ctr" fontAlgn="ctr"/>
            <a:r>
              <a:rPr lang="ko-KR" altLang="en-US" sz="1400" b="1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대책</a:t>
            </a:r>
            <a:endParaRPr lang="ko-KR" altLang="en-US" sz="14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708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2"/>
          <p:cNvSpPr>
            <a:spLocks noChangeArrowheads="1"/>
          </p:cNvSpPr>
          <p:nvPr/>
        </p:nvSpPr>
        <p:spPr bwMode="auto">
          <a:xfrm>
            <a:off x="3944888" y="343047"/>
            <a:ext cx="2574756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latinLnBrk="0"/>
            <a:r>
              <a:rPr lang="ko-KR" altLang="en-US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부표 </a:t>
            </a:r>
            <a:r>
              <a:rPr lang="en-US" altLang="ko-KR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01. </a:t>
            </a:r>
            <a:r>
              <a:rPr lang="ko-KR" altLang="en-US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개발 등급 분류 기준</a:t>
            </a:r>
            <a:r>
              <a:rPr lang="en-US" altLang="ko-KR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(1/4)</a:t>
            </a:r>
            <a:endParaRPr lang="en-US" altLang="ko-KR" sz="12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6" name="Group 59"/>
          <p:cNvGraphicFramePr>
            <a:graphicFrameLocks noGrp="1"/>
          </p:cNvGraphicFramePr>
          <p:nvPr>
            <p:extLst/>
          </p:nvPr>
        </p:nvGraphicFramePr>
        <p:xfrm>
          <a:off x="45307" y="844701"/>
          <a:ext cx="9857419" cy="5671104"/>
        </p:xfrm>
        <a:graphic>
          <a:graphicData uri="http://schemas.openxmlformats.org/drawingml/2006/table">
            <a:tbl>
              <a:tblPr/>
              <a:tblGrid>
                <a:gridCol w="222946"/>
                <a:gridCol w="264979"/>
                <a:gridCol w="972817"/>
                <a:gridCol w="2916000"/>
                <a:gridCol w="2444430"/>
                <a:gridCol w="1617342"/>
                <a:gridCol w="1418905"/>
              </a:tblGrid>
              <a:tr h="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등 급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정의</a:t>
                      </a: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상세</a:t>
                      </a: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제품군별 사례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 gridSpan="2"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  <a:cs typeface="Arial" charset="0"/>
                      </a:endParaRPr>
                    </a:p>
                  </a:txBody>
                  <a:tcPr marL="54000" marR="54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돋움" pitchFamily="50" charset="-127"/>
                        <a:cs typeface="Arial" charset="0"/>
                      </a:endParaRPr>
                    </a:p>
                  </a:txBody>
                  <a:tcPr marL="54000" marR="54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49846" marR="49846" marT="46800" marB="46800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오븐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전자레인지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쿡탑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S</a:t>
                      </a:r>
                      <a:endParaRPr kumimoji="1" lang="ko-KR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신사업</a:t>
                      </a: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LGE</a:t>
                      </a:r>
                      <a:r>
                        <a:rPr kumimoji="0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의 </a:t>
                      </a:r>
                      <a:r>
                        <a:rPr kumimoji="0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NEW Biz </a:t>
                      </a:r>
                      <a:r>
                        <a:rPr kumimoji="0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개념으로 지금까지 당사에서 생산</a:t>
                      </a:r>
                      <a:r>
                        <a:rPr kumimoji="0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</a:t>
                      </a:r>
                      <a:r>
                        <a:rPr kumimoji="0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판매되지 않은 </a:t>
                      </a:r>
                      <a:endParaRPr kumimoji="0" lang="en-US" altLang="ko-KR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 상품군</a:t>
                      </a:r>
                      <a:r>
                        <a:rPr kumimoji="0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신사업</a:t>
                      </a:r>
                      <a:endParaRPr kumimoji="0" lang="ko-KR" altLang="en-US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지금까지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LGE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에서 생산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판매 되지 않은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조리기기 상품군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(Ex.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토스터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블렌더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전기포트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A </a:t>
                      </a:r>
                      <a:endParaRPr kumimoji="1" lang="ko-KR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New Platform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New Platform </a:t>
                      </a:r>
                      <a:r>
                        <a:rPr kumimoji="0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개발</a:t>
                      </a:r>
                      <a:endParaRPr kumimoji="0" lang="en-US" altLang="ko-KR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Cavity </a:t>
                      </a:r>
                      <a:r>
                        <a:rPr lang="ko-KR" altLang="en-US" sz="80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신규 개발</a:t>
                      </a:r>
                      <a:r>
                        <a:rPr lang="en-US" altLang="ko-KR" sz="80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Cavity </a:t>
                      </a:r>
                      <a:r>
                        <a:rPr lang="ko-KR" altLang="en-US" sz="80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신규 개발</a:t>
                      </a:r>
                      <a:r>
                        <a:rPr lang="en-US" altLang="ko-KR" sz="80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Base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신규개발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및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 신기술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신기능 열원 적용</a:t>
                      </a:r>
                      <a:endParaRPr lang="en-US" altLang="ko-KR" sz="800" strike="noStrike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B</a:t>
                      </a:r>
                      <a:endParaRPr kumimoji="1" lang="ko-KR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Major Change</a:t>
                      </a:r>
                    </a:p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신규 성능개발      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   (Platform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공용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- 4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 개발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Base Platform </a:t>
                      </a:r>
                      <a:r>
                        <a:rPr kumimoji="0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내에서 모듈</a:t>
                      </a:r>
                      <a:r>
                        <a:rPr kumimoji="0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(sub system)</a:t>
                      </a:r>
                      <a:r>
                        <a:rPr kumimoji="0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0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Change</a:t>
                      </a:r>
                      <a:r>
                        <a:rPr kumimoji="0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에 </a:t>
                      </a:r>
                      <a:r>
                        <a:rPr kumimoji="0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의한 개발</a:t>
                      </a:r>
                      <a:endParaRPr kumimoji="0" lang="en-US" altLang="ko-KR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 :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Base Platform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공용이고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변경점에 따른 신규 성능 개발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외관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구조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회로 포함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가 대폭 변경된 제품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편리성을 위해 새로운 부가기능 적용 제품</a:t>
                      </a:r>
                      <a:endParaRPr kumimoji="0" lang="en-US" altLang="ko-KR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가스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: 1)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신규 </a:t>
                      </a:r>
                      <a:r>
                        <a:rPr kumimoji="1" lang="ko-KR" altLang="en-US" sz="800" dirty="0" err="1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쿡탑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시스템 개발에 따른 성능 개발</a:t>
                      </a:r>
                    </a:p>
                    <a:p>
                      <a:pPr lv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          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2)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신규 오븐 시스템 개발에 따른 성능 개발</a:t>
                      </a:r>
                    </a:p>
                    <a:p>
                      <a:pPr lv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전기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: 1)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열원 변경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(IH ↔ </a:t>
                      </a:r>
                      <a:r>
                        <a:rPr kumimoji="1" lang="ko-KR" altLang="en-US" sz="800" dirty="0" err="1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라디언트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에 따른 성능 신규 개발</a:t>
                      </a:r>
                    </a:p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          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2)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신규 오븐 시스템 개발에 따른 성능 개발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/>
                      </a:r>
                      <a:b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</a:b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Ex)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오븐구조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/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버너시스템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/ Air Flow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신규개발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/ </a:t>
                      </a:r>
                      <a:b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</a:b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       Top Plate </a:t>
                      </a:r>
                      <a:r>
                        <a:rPr kumimoji="1" lang="ko-KR" altLang="en-US" sz="800" dirty="0" err="1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금형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신규 개발</a:t>
                      </a:r>
                      <a:endParaRPr kumimoji="1" lang="en-US" altLang="ko-KR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Cavity </a:t>
                      </a:r>
                      <a:r>
                        <a:rPr kumimoji="1" lang="ko-KR" altLang="en-US" sz="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임피던스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매칭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신규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개발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신기술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신기능 열원 적용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 (Flex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버너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듀얼버너 등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Base Platform </a:t>
                      </a:r>
                      <a:r>
                        <a:rPr kumimoji="0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내 </a:t>
                      </a:r>
                      <a:r>
                        <a:rPr kumimoji="0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4</a:t>
                      </a:r>
                      <a:r>
                        <a:rPr kumimoji="0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</a:t>
                      </a:r>
                      <a:r>
                        <a:rPr kumimoji="0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(</a:t>
                      </a:r>
                      <a:r>
                        <a:rPr kumimoji="0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신기술</a:t>
                      </a:r>
                      <a:r>
                        <a:rPr kumimoji="0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신기능</a:t>
                      </a:r>
                      <a:r>
                        <a:rPr kumimoji="0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신공법</a:t>
                      </a:r>
                      <a:r>
                        <a:rPr kumimoji="0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신재질</a:t>
                      </a:r>
                      <a:r>
                        <a:rPr kumimoji="0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  <a:r>
                        <a:rPr kumimoji="0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이 적용되는 </a:t>
                      </a:r>
                      <a:endParaRPr kumimoji="0" lang="en-US" altLang="ko-KR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 Module </a:t>
                      </a:r>
                      <a:r>
                        <a:rPr kumimoji="0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개발</a:t>
                      </a:r>
                      <a:r>
                        <a:rPr kumimoji="0" lang="en-US" altLang="ko-KR" sz="800" b="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(4</a:t>
                      </a:r>
                      <a:r>
                        <a:rPr kumimoji="0" lang="ko-KR" altLang="en-US" sz="800" b="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 기준 </a:t>
                      </a:r>
                      <a:r>
                        <a:rPr kumimoji="0" lang="en-US" altLang="ko-KR" sz="800" b="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: </a:t>
                      </a:r>
                      <a:r>
                        <a:rPr kumimoji="0" lang="ko-KR" altLang="en-US" sz="800" b="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자사 제품군</a:t>
                      </a:r>
                      <a:r>
                        <a:rPr kumimoji="0" lang="en-US" altLang="ko-KR" sz="800" b="0" baseline="300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1)</a:t>
                      </a:r>
                      <a:r>
                        <a:rPr kumimoji="0" lang="ko-KR" altLang="en-US" sz="800" b="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기준 최초 적용</a:t>
                      </a:r>
                      <a:r>
                        <a:rPr kumimoji="0" lang="en-US" altLang="ko-KR" sz="800" b="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Ex)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오토 오픈 도어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수비드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Ex)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오토 오픈 도어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 UV LED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Ex) Flex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버너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듀얼버너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,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 자기 센서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rowSpan="10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C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Ca</a:t>
                      </a:r>
                      <a:endParaRPr kumimoji="1" lang="ko-KR" alt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Minor Change</a:t>
                      </a:r>
                    </a:p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성능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Modify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개발      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  (Platform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공용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신규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Finishing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개발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법인산 </a:t>
                      </a:r>
                      <a:r>
                        <a:rPr kumimoji="1" lang="ko-KR" altLang="en-US" sz="800" b="0" i="0" u="none" strike="noStrike" cap="none" normalizeH="0" baseline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한국향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개발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B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등급 이상 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Base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모델이 존재하고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 Minor Change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에 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의한 파생개발</a:t>
                      </a:r>
                      <a:endParaRPr kumimoji="1" lang="en-US" altLang="ko-KR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 :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Base Platform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은 공용이고 성능 검증이 적은 개발 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신뢰성 검증 필요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가스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: 1) </a:t>
                      </a:r>
                      <a:r>
                        <a:rPr kumimoji="1" lang="ko-KR" altLang="en-US" sz="800" dirty="0" err="1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쿡탑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시스템 변경에 따른 성능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Modify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개발</a:t>
                      </a:r>
                    </a:p>
                    <a:p>
                      <a:pPr lv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          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2)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오븐 시스템 변경에 따른 성능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Modify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개발</a:t>
                      </a:r>
                    </a:p>
                    <a:p>
                      <a:pPr lv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전기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: 1)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동일 열원 </a:t>
                      </a:r>
                      <a:r>
                        <a:rPr kumimoji="1" lang="ko-KR" altLang="en-US" sz="800" dirty="0" err="1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스펙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변경에 따른 성능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Modify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개발</a:t>
                      </a:r>
                    </a:p>
                    <a:p>
                      <a:pPr lv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          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2)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오븐 시스템 변경에 따른 성능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Modify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개발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/>
                      </a:r>
                      <a:b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</a:b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Ex)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알고리즘 변경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endParaRPr kumimoji="1" lang="en-US" altLang="ko-KR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Cavity </a:t>
                      </a:r>
                      <a:r>
                        <a:rPr kumimoji="1" lang="ko-KR" altLang="en-US" sz="800" b="0" i="0" u="none" strike="noStrike" cap="none" normalizeH="0" baseline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임피던스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매칭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Modify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개발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외관디자인 변경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도어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컨트롤 </a:t>
                      </a:r>
                      <a:r>
                        <a:rPr kumimoji="1" lang="ko-KR" altLang="en-US" sz="800" b="0" i="0" u="none" strike="noStrike" cap="none" normalizeH="0" baseline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판넬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열원의 스펙 변경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 (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전기히터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가스버너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열량 변경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Air Flow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변경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 (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전면배기 → 후면배기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해외 생산법인에서 타 지역 공급 중이나 한국 시장처럼 고객 요구사항이 다양하고 까다로운 시장에 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신규 </a:t>
                      </a:r>
                      <a:r>
                        <a:rPr kumimoji="1" lang="en-US" altLang="ko-KR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Launching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하는 개발</a:t>
                      </a:r>
                      <a:endParaRPr kumimoji="1" lang="ko-KR" altLang="en-US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Ex)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에보니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-P(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이태리향 → 한국향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Ex)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에보니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-S</a:t>
                      </a:r>
                      <a:b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       (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이태리향 → 한국향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주요 성능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(Air Flow, 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규격 등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에 영향을 미치는 신규 금형개발</a:t>
                      </a: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Top Plate 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재질 변경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(Ex. STS → SPE)</a:t>
                      </a:r>
                    </a:p>
                    <a:p>
                      <a:pPr latinLnBrk="1"/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Vent Grille 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형상 변경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(Ex. Vent Hole 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변경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 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외관부품 중 표면 처리재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모재 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피 처리재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재료 신규 개발</a:t>
                      </a: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신규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Finishing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개발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신공법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/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신재질 적용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 Ex.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내지문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STS, BK STS,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난방향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STS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등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Cb</a:t>
                      </a:r>
                      <a:endParaRPr kumimoji="1" lang="ko-KR" alt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latinLnBrk="1"/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정격 변경</a:t>
                      </a:r>
                    </a:p>
                    <a:p>
                      <a:pPr algn="l" latinLnBrk="1"/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양산부품 수평전개</a:t>
                      </a: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1428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(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신뢰성 검증 無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정격 변경 개발</a:t>
                      </a:r>
                      <a:endParaRPr lang="en-US" altLang="ko-KR" sz="800" b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Ca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급 </a:t>
                      </a:r>
                      <a:r>
                        <a:rPr kumimoji="1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이상 해당 사유가 없는 개발</a:t>
                      </a: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양산중인 핵심 열원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수평 전개 적용 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및 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Field 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검증된 부품의 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조합 개발</a:t>
                      </a:r>
                      <a:endParaRPr kumimoji="1" lang="en-US" altLang="ko-KR" sz="800" b="0" i="0" u="none" strike="sng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- Heater, </a:t>
                      </a:r>
                      <a:r>
                        <a:rPr lang="ko-KR" altLang="en-US" sz="800" b="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버너</a:t>
                      </a:r>
                      <a:r>
                        <a:rPr lang="en-US" altLang="ko-KR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="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인덕션 수평전개</a:t>
                      </a:r>
                      <a:endParaRPr lang="en-US" altLang="ko-KR" sz="800" b="0" strike="noStrike" baseline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  <a:p>
                      <a:pPr marL="0" indent="0" algn="l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   Ex) </a:t>
                      </a:r>
                      <a:r>
                        <a:rPr lang="ko-KR" altLang="en-US" sz="800" b="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가스 성분 변경 변경</a:t>
                      </a:r>
                      <a:r>
                        <a:rPr lang="en-US" altLang="ko-KR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 </a:t>
                      </a:r>
                    </a:p>
                    <a:p>
                      <a:pPr marL="0" indent="0" algn="l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           (LNG </a:t>
                      </a:r>
                      <a:r>
                        <a:rPr lang="ko-KR" altLang="en-US" sz="800" b="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→</a:t>
                      </a:r>
                      <a:r>
                        <a:rPr lang="en-US" altLang="ko-KR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LPG)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MGT, HVT, </a:t>
                      </a:r>
                      <a:r>
                        <a:rPr lang="ko-KR" altLang="en-US" sz="80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인버터 </a:t>
                      </a:r>
                      <a:r>
                        <a:rPr lang="en-US" altLang="ko-KR" sz="8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Heater </a:t>
                      </a:r>
                      <a:r>
                        <a:rPr lang="ko-KR" altLang="en-US" sz="80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수평 전개</a:t>
                      </a:r>
                      <a:endParaRPr lang="en-US" altLang="ko-KR" sz="800" baseline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- Heater, </a:t>
                      </a:r>
                      <a:r>
                        <a:rPr lang="ko-KR" altLang="en-US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버너</a:t>
                      </a:r>
                      <a:r>
                        <a:rPr lang="en-US" altLang="ko-KR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="0" strike="noStrike" baseline="0" dirty="0" err="1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인덕션</a:t>
                      </a:r>
                      <a:r>
                        <a:rPr lang="ko-KR" altLang="en-US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 수평전개</a:t>
                      </a:r>
                      <a:endParaRPr lang="en-US" altLang="ko-KR" sz="800" b="0" strike="noStrike" baseline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  <a:p>
                      <a:pPr latinLnBrk="1"/>
                      <a:r>
                        <a:rPr lang="en-US" altLang="ko-KR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   Ex)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아이리스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인덕션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 + 2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 라디언트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8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8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8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 </a:t>
                      </a:r>
                      <a:r>
                        <a:rPr lang="ko-KR" altLang="en-US" sz="800" baseline="0" dirty="0" err="1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인덕션</a:t>
                      </a:r>
                      <a:r>
                        <a:rPr lang="en-US" altLang="ko-KR" sz="8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+ 1</a:t>
                      </a:r>
                      <a:r>
                        <a:rPr lang="ko-KR" altLang="en-US" sz="8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 라디언트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기존과 동일한 조립구조를 가진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디자인 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부분 변경 </a:t>
                      </a:r>
                      <a:r>
                        <a:rPr kumimoji="1" lang="ko-KR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개발</a:t>
                      </a:r>
                      <a:endParaRPr kumimoji="1" lang="en-US" altLang="ko-KR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Handle, Knob, Grate 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디자인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변경</a:t>
                      </a: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/>
                      </a:r>
                      <a:b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</a:b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전기쿡탑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히터 배치 변경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kumimoji="1" lang="en-US" altLang="ko-KR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Knob, Handle </a:t>
                      </a:r>
                      <a:r>
                        <a:rPr kumimoji="1" lang="ko-KR" alt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등 변경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Glass</a:t>
                      </a:r>
                      <a:r>
                        <a:rPr lang="en-US" altLang="ko-KR" sz="8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</a:t>
                      </a:r>
                      <a:r>
                        <a:rPr lang="en-US" altLang="ko-KR" sz="8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(Ex) 4</a:t>
                      </a:r>
                      <a:r>
                        <a:rPr lang="ko-KR" altLang="en-US" sz="80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면→</a:t>
                      </a:r>
                      <a:r>
                        <a:rPr lang="en-US" altLang="ko-KR" sz="8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800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면 베벨</a:t>
                      </a:r>
                      <a:r>
                        <a:rPr lang="en-US" altLang="ko-KR" sz="800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indent="-88900" eaLnBrk="1" fontAlgn="ctr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- </a:t>
                      </a:r>
                      <a:r>
                        <a:rPr lang="ko-KR" altLang="en-US" sz="800" b="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개발된 </a:t>
                      </a:r>
                      <a:r>
                        <a:rPr lang="en-US" altLang="ko-KR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New Finishing(</a:t>
                      </a:r>
                      <a:r>
                        <a:rPr lang="ko-KR" altLang="en-US" sz="800" b="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기개발된 공법</a:t>
                      </a:r>
                      <a:r>
                        <a:rPr lang="en-US" altLang="ko-KR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)</a:t>
                      </a:r>
                      <a:r>
                        <a:rPr lang="ko-KR" altLang="en-US" sz="800" b="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의 타제품군 대표모델 적용 개발</a:t>
                      </a:r>
                      <a:endParaRPr lang="en-US" altLang="ko-KR" sz="800" b="0" strike="noStrike" baseline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내지문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STS, BK STS, Matt BK STS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등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파급 적용</a:t>
                      </a:r>
                      <a:endParaRPr lang="en-US" altLang="ko-KR" sz="800" b="0" strike="noStrike" baseline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9846" marR="49846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Cc</a:t>
                      </a:r>
                      <a:endParaRPr kumimoji="1" lang="ko-KR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8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환경검증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단순검증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eaLnBrk="1" fontAlgn="ctr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- </a:t>
                      </a:r>
                      <a:r>
                        <a:rPr lang="ko-KR" altLang="en-US" sz="800" b="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품평회 필요없이 단순 검증</a:t>
                      </a:r>
                      <a:r>
                        <a:rPr lang="en-US" altLang="ko-KR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800" b="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시장환경 변경 검증 등이 필요한 개발</a:t>
                      </a:r>
                      <a:endParaRPr lang="en-US" altLang="ko-KR" sz="800" b="0" strike="noStrike" baseline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  <a:p>
                      <a:pPr marL="88900" indent="-88900" eaLnBrk="1" fontAlgn="ctr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 ex) </a:t>
                      </a:r>
                      <a:r>
                        <a:rPr lang="ko-KR" altLang="en-US" sz="800" b="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제품 </a:t>
                      </a:r>
                      <a:r>
                        <a:rPr lang="en-US" altLang="ko-KR" sz="800" b="0" strike="noStrike" baseline="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Spec</a:t>
                      </a:r>
                      <a:r>
                        <a:rPr lang="ko-KR" altLang="en-US" sz="800" b="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변경없이 사용환경이 다른 직역의 국가에 최초 출시</a:t>
                      </a:r>
                      <a:endParaRPr lang="en-US" altLang="ko-KR" sz="800" b="0" strike="noStrike" baseline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ko-KR" sz="800" b="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-</a:t>
                      </a:r>
                      <a:endParaRPr lang="en-US" altLang="ko-KR" sz="800" b="0" strike="noStrike" baseline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Csw</a:t>
                      </a:r>
                      <a:endParaRPr kumimoji="1" lang="ko-KR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8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비성능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SW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변경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eaLnBrk="1" fontAlgn="ctr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800" b="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제품 성능 검증 없고 </a:t>
                      </a:r>
                      <a:r>
                        <a:rPr lang="en-US" altLang="ko-KR" sz="800" b="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S/W</a:t>
                      </a:r>
                      <a:r>
                        <a:rPr lang="ko-KR" altLang="en-US" sz="800" b="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변경에 대한 검증만 필요한 개발</a:t>
                      </a:r>
                      <a:endParaRPr lang="en-US" altLang="ko-KR" sz="800" b="0" strike="noStrike" baseline="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ko-KR" altLang="en-US" sz="800" b="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리모컨표시방식변경 </a:t>
                      </a:r>
                      <a:r>
                        <a:rPr lang="en-US" altLang="ko-KR" sz="800" b="0" strike="noStrike" baseline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  <a:sym typeface="Wingdings" pitchFamily="2" charset="2"/>
                        </a:rPr>
                        <a:t>: ℃ → ℉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T</a:t>
                      </a:r>
                      <a:r>
                        <a:rPr kumimoji="1" lang="ko-KR" alt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등급</a:t>
                      </a: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(T1,T2,T3</a:t>
                      </a: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)</a:t>
                      </a:r>
                      <a:endParaRPr kumimoji="1" lang="ko-KR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생산지</a:t>
                      </a: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0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이전</a:t>
                      </a:r>
                      <a:endParaRPr kumimoji="0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 양산 중 제품을 생산지 이관 하기 위한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PJT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진행 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 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창원→해외법인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해외거래선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해외법인→창원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해외법인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해외거래선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- H&amp;A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본부 해외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Line up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업무표준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(3.0)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부표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 3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생산지 이관 프로세스 운영 기준 참조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  (LG(59)-A-5516)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49846" marR="49846" marT="46800" marB="4680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49846" marR="49846" marT="46800" marB="46800" anchor="ctr" horzOverflow="overflow"/>
                </a:tc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D</a:t>
                      </a:r>
                      <a:endParaRPr kumimoji="1" lang="ko-KR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Cosmetic Change</a:t>
                      </a:r>
                    </a:p>
                    <a:p>
                      <a:pPr lvl="0"/>
                      <a:r>
                        <a:rPr kumimoji="0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- </a:t>
                      </a:r>
                      <a:r>
                        <a:rPr kumimoji="0" lang="ko-KR" altLang="en-US" sz="80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단순 외관 파급</a:t>
                      </a:r>
                      <a:endParaRPr kumimoji="0" lang="en-US" altLang="ko-KR" sz="800" dirty="0" smtClean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lvl="0">
                        <a:defRPr/>
                      </a:pPr>
                      <a:r>
                        <a:rPr kumimoji="0" lang="en-US" altLang="ko-KR" sz="800" dirty="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- </a:t>
                      </a:r>
                      <a:r>
                        <a:rPr kumimoji="0" lang="ko-KR" altLang="en-US" sz="800" smtClean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동일 정격 파급</a:t>
                      </a:r>
                      <a:endParaRPr kumimoji="0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재료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공정 변경 없는 단순 외관 색상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인쇄 변경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동일정격의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타 국가 개발에 따른 인쇄물 개발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Finishing(Color,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패턴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재질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파급 적용</a:t>
                      </a:r>
                    </a:p>
                  </a:txBody>
                  <a:tcPr marL="36000" marR="36000" marT="18000" marB="180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외관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Color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변경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기 개발된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Color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경우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인쇄물 변경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인쇄문구 변경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공용도료 사용   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3297" y="623284"/>
            <a:ext cx="6300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※ </a:t>
            </a:r>
            <a:r>
              <a:rPr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다음의 기구 및 회로 개발 등급 분류 기준은 기본 가이드로써 개발 등급은 개발 등급 심의회 시 협의하여 최종 확정한다</a:t>
            </a:r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.</a:t>
            </a:r>
            <a:r>
              <a:rPr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 </a:t>
            </a:r>
            <a:endParaRPr lang="ko-KR" altLang="en-US" sz="10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91320" y="6677728"/>
            <a:ext cx="4980531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altLang="ko-KR" sz="700" b="0" baseline="30000" dirty="0" smtClean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1)</a:t>
            </a:r>
            <a:r>
              <a:rPr lang="ko-KR" altLang="en-US" sz="800" b="0" smtClean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+mn-cs"/>
              </a:rPr>
              <a:t>자사 </a:t>
            </a:r>
            <a:r>
              <a:rPr lang="ko-KR" altLang="en-US" sz="800" b="0" dirty="0" err="1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+mn-cs"/>
              </a:rPr>
              <a:t>제품군</a:t>
            </a:r>
            <a:r>
              <a:rPr lang="ko-KR" altLang="en-US" sz="800" b="0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+mn-cs"/>
              </a:rPr>
              <a:t> </a:t>
            </a:r>
            <a:r>
              <a:rPr lang="en-US" altLang="ko-KR" sz="800" b="0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+mn-cs"/>
              </a:rPr>
              <a:t>: </a:t>
            </a:r>
            <a:r>
              <a:rPr lang="ko-KR" altLang="en-US" sz="800" b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+mn-cs"/>
              </a:rPr>
              <a:t>동일 사업부라 하더라도  제품군이 다르면  다른 제품군 으로 봄 </a:t>
            </a:r>
            <a:r>
              <a:rPr lang="en-US" altLang="ko-KR" sz="800" b="0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+mn-cs"/>
              </a:rPr>
              <a:t>(ex:</a:t>
            </a:r>
            <a:r>
              <a:rPr lang="ko-KR" altLang="en-US" sz="800" b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+mn-cs"/>
              </a:rPr>
              <a:t>에어컨과 공기청정기는 다른 제품군임</a:t>
            </a:r>
            <a:r>
              <a:rPr lang="en-US" altLang="ko-KR" sz="800" b="0" dirty="0" smtClean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+mn-cs"/>
              </a:rPr>
              <a:t>)</a:t>
            </a:r>
            <a:r>
              <a:rPr lang="en-US" altLang="ko-KR" sz="800" b="0" dirty="0" smtClean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 </a:t>
            </a:r>
            <a:endParaRPr lang="ko-KR" altLang="en-US" sz="800" b="0" dirty="0">
              <a:solidFill>
                <a:srgbClr val="000000"/>
              </a:solidFill>
              <a:latin typeface="Arial Narrow" panose="020B0606020202030204" pitchFamily="34" charset="0"/>
              <a:ea typeface="굴림체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269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2"/>
          <p:cNvSpPr>
            <a:spLocks noChangeArrowheads="1"/>
          </p:cNvSpPr>
          <p:nvPr/>
        </p:nvSpPr>
        <p:spPr bwMode="auto">
          <a:xfrm>
            <a:off x="3944888" y="350074"/>
            <a:ext cx="2574756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latinLnBrk="0"/>
            <a:r>
              <a:rPr lang="ko-KR" altLang="en-US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부표 </a:t>
            </a:r>
            <a:r>
              <a:rPr lang="en-US" altLang="ko-KR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01. </a:t>
            </a:r>
            <a:r>
              <a:rPr lang="ko-KR" altLang="en-US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개발 등급 분류 기준</a:t>
            </a:r>
            <a:r>
              <a:rPr lang="en-US" altLang="ko-KR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(2/4)</a:t>
            </a:r>
            <a:endParaRPr lang="en-US" altLang="ko-KR" sz="12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224091" y="658374"/>
            <a:ext cx="9468056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sz="12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기구</a:t>
            </a:r>
            <a:r>
              <a:rPr lang="en-US" altLang="ko-KR" sz="12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,  </a:t>
            </a:r>
            <a:r>
              <a:rPr lang="ko-KR" altLang="en-US" sz="12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회로 부품 및 구조의 개발 난이도에 따라 기구</a:t>
            </a:r>
            <a:r>
              <a:rPr lang="en-US" altLang="ko-KR" sz="12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회로 개발 등급을 구분하여 관리하며</a:t>
            </a:r>
            <a:r>
              <a:rPr lang="en-US" altLang="ko-KR" sz="12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, NPI </a:t>
            </a:r>
            <a:r>
              <a:rPr lang="en-US" altLang="ko-KR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Process </a:t>
            </a:r>
            <a:r>
              <a:rPr lang="en-US" altLang="ko-KR" sz="12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Activity  </a:t>
            </a:r>
            <a:r>
              <a:rPr lang="ko-KR" altLang="en-US" sz="12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수행은 이 분류에 </a:t>
            </a:r>
            <a:r>
              <a:rPr lang="ko-KR" altLang="en-US" sz="12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준해 정해 진다</a:t>
            </a:r>
          </a:p>
        </p:txBody>
      </p:sp>
      <p:graphicFrame>
        <p:nvGraphicFramePr>
          <p:cNvPr id="5" name="Group 329"/>
          <p:cNvGraphicFramePr>
            <a:graphicFrameLocks noGrp="1"/>
          </p:cNvGraphicFramePr>
          <p:nvPr>
            <p:extLst/>
          </p:nvPr>
        </p:nvGraphicFramePr>
        <p:xfrm>
          <a:off x="284499" y="1077694"/>
          <a:ext cx="9421029" cy="4779165"/>
        </p:xfrm>
        <a:graphic>
          <a:graphicData uri="http://schemas.openxmlformats.org/drawingml/2006/table">
            <a:tbl>
              <a:tblPr/>
              <a:tblGrid>
                <a:gridCol w="199000"/>
                <a:gridCol w="419804"/>
                <a:gridCol w="656200"/>
                <a:gridCol w="4209894"/>
                <a:gridCol w="3936131"/>
              </a:tblGrid>
              <a:tr h="133312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등급</a:t>
                      </a: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정의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회로 개발 등급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24923" marB="2492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133312">
                <a:tc gridSpan="2"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HW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SW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0968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S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등급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신사업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266700" rtl="0" eaLnBrk="1" fontAlgn="base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없음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0" marB="0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266700" rtl="0" eaLnBrk="1" fontAlgn="base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24923" marB="2492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A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등급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New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Platform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- </a:t>
                      </a:r>
                      <a:r>
                        <a:rPr lang="ko-KR" altLang="en-US" sz="900" b="0" i="0" u="none" strike="noStrike" baseline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주요기능의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혁신을 가져오는 신기술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+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신기능이 적용된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New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플랫폼 개발</a:t>
                      </a:r>
                      <a:b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-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지금까지 당사에서 생산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,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판매되지 않은 신사업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, </a:t>
                      </a:r>
                      <a:r>
                        <a:rPr lang="ko-KR" altLang="en-US" sz="900" b="0" i="0" u="none" strike="noStrike" baseline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상품군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: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공항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/ </a:t>
                      </a:r>
                      <a:r>
                        <a:rPr lang="ko-KR" altLang="en-US" sz="900" b="0" i="0" u="none" strike="noStrike" baseline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홈 로봇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, </a:t>
                      </a:r>
                      <a:r>
                        <a:rPr lang="ko-KR" altLang="en-US" sz="900" b="0" i="0" u="none" strike="noStrike" baseline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계통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연계 제어 </a:t>
                      </a:r>
                      <a:r>
                        <a:rPr lang="ko-KR" altLang="en-US" sz="900" b="0" i="0" u="none" strike="noStrike" baseline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최초 개발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, </a:t>
                      </a:r>
                      <a:r>
                        <a:rPr lang="ko-KR" altLang="en-US" sz="900" b="0" i="0" u="none" strike="noStrike" baseline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신규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전원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Source (Solar,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풍력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)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최초 </a:t>
                      </a:r>
                      <a:r>
                        <a:rPr lang="ko-KR" altLang="en-US" sz="900" b="0" i="0" u="none" strike="noStrike" baseline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적용 </a:t>
                      </a:r>
                      <a:endParaRPr lang="en-US" altLang="ko-KR" sz="900" b="0" i="0" u="none" strike="noStrike" baseline="0" dirty="0" smtClean="0">
                        <a:solidFill>
                          <a:srgbClr val="000000"/>
                        </a:solidFill>
                        <a:latin typeface="Arial Narrow" pitchFamily="34" charset="0"/>
                        <a:ea typeface="LG스마트체 Regular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- SW </a:t>
                      </a:r>
                      <a:r>
                        <a:rPr lang="ko-KR" altLang="en-US" sz="900" b="0" i="0" u="none" strike="noStrike" baseline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프로그래밍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Language </a:t>
                      </a:r>
                      <a:r>
                        <a:rPr lang="ko-KR" altLang="en-US" sz="900" b="0" i="0" u="none" strike="noStrike" baseline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변경되는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Initial </a:t>
                      </a:r>
                      <a:r>
                        <a:rPr lang="ko-KR" altLang="en-US" sz="900" b="0" i="0" u="none" strike="noStrike" baseline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개발</a:t>
                      </a:r>
                      <a:endParaRPr lang="en-US" altLang="ko-KR" sz="900" b="0" i="0" u="none" strike="noStrike" baseline="0" dirty="0" smtClean="0">
                        <a:solidFill>
                          <a:schemeClr val="tx1"/>
                        </a:solidFill>
                        <a:latin typeface="Arial Narrow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0" marB="0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24923" marB="2492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0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B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등급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Major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Change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-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현재까지 사용하지 않았던 신규 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회로 </a:t>
                      </a:r>
                      <a:r>
                        <a:rPr lang="ko-KR" altLang="en-US" sz="900" b="0" i="0" u="none" strike="noStrike" baseline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개발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: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신규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IoT,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신규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OS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적용 임베디드 모듈</a:t>
                      </a:r>
                      <a:b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-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성능향상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/ USP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를 위한 신규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Platform 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모듈 </a:t>
                      </a:r>
                      <a:r>
                        <a:rPr lang="ko-KR" altLang="en-US" sz="900" b="0" i="0" u="none" strike="noStrike" baseline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개발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: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Gen2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→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Gen3 </a:t>
                      </a:r>
                      <a:r>
                        <a:rPr lang="ko-KR" altLang="en-US" sz="900" b="0" i="0" u="none" strike="noStrike" baseline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전환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, AC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부하 →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DC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부하</a:t>
                      </a:r>
                      <a:b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-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동일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Platform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내 신규 마이콤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적용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rtl="0" fontAlgn="ctr">
                        <a:buFontTx/>
                        <a:buChar char="-"/>
                      </a:pP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en-US" altLang="ko-KR" sz="900" b="0" i="0" u="none" strike="noStrike" baseline="3000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1)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Feature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단위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신규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SW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개발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/>
                      </a:r>
                      <a:b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. Cycle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최초개발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: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압력제어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,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통합 온도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제어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최초 개발 </a:t>
                      </a:r>
                      <a:b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.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최초 적용된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Inverter, Converter,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제어 기술</a:t>
                      </a:r>
                      <a:b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: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Cap-less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알고리즘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, Interleave PFC , Boost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Cap-less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/>
                      </a:r>
                      <a:b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-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신규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OS, OS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플랫폼 변경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(OS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無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→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OS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有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, OS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변경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)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/>
                      </a:r>
                      <a:b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-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주 성능에 영향을 주는 신규 알고리즘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/UI/UX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변경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latin typeface="Arial Narrow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8000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C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등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급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Ca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 Minor  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  Change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FontTx/>
                        <a:buChar char="-"/>
                      </a:pP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동일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Maker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의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New Series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적용 </a:t>
                      </a:r>
                      <a:b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-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동일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Platform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내 기 적용되지 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않은 </a:t>
                      </a:r>
                      <a:r>
                        <a:rPr lang="ko-KR" altLang="en-US" sz="900" b="0" i="0" u="none" strike="noStrike" baseline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신규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기능 추가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/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변경</a:t>
                      </a:r>
                      <a:b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.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IPM / SMPS IC Maker </a:t>
                      </a:r>
                      <a:r>
                        <a:rPr lang="ko-KR" altLang="en-US" sz="900" b="0" i="0" u="none" strike="noStrike" baseline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변경</a:t>
                      </a:r>
                      <a:endParaRPr lang="en-US" altLang="ko-KR" sz="900" b="0" i="0" u="none" strike="noStrike" baseline="0" dirty="0" smtClean="0">
                        <a:solidFill>
                          <a:schemeClr val="tx1"/>
                        </a:solidFill>
                        <a:latin typeface="Arial Narrow" pitchFamily="34" charset="0"/>
                        <a:ea typeface="LG스마트체 Regular" pitchFamily="50" charset="-127"/>
                      </a:endParaRPr>
                    </a:p>
                    <a:p>
                      <a:pPr algn="l" rtl="0" fontAlgn="ctr"/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-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기 성능 검증된 마이컴 수평 전개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(Base Model)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latin typeface="Arial Narrow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- </a:t>
                      </a:r>
                      <a:r>
                        <a:rPr lang="en-US" altLang="ko-KR" sz="900" b="0" i="0" u="none" strike="noStrike" baseline="3000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1)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Feature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단위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SW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변경</a:t>
                      </a:r>
                      <a:b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-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제품 주 성능에 영향을 주는 알고리즘 변경 </a:t>
                      </a:r>
                      <a:b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.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Comp / Motor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변경에 의한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알고리즘 변경</a:t>
                      </a:r>
                      <a:endParaRPr lang="en-US" altLang="ko-KR" sz="900" b="0" i="0" u="none" strike="noStrike" baseline="0" dirty="0" smtClean="0">
                        <a:solidFill>
                          <a:schemeClr val="tx1"/>
                        </a:solidFill>
                        <a:latin typeface="Arial Narrow" pitchFamily="34" charset="0"/>
                        <a:ea typeface="LG스마트체 Regular" pitchFamily="50" charset="-127"/>
                      </a:endParaRPr>
                    </a:p>
                    <a:p>
                      <a:pPr algn="l" rtl="0" fontAlgn="ctr"/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- Web/App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. :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신규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Menu/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기능 추가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(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제품 기능 변경 </a:t>
                      </a:r>
                      <a:r>
                        <a:rPr lang="ko-KR" altLang="en-US" sz="900" b="0" i="0" u="none" strike="noStrike" baseline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없음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)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Cb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정격 변경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양산부품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수평전개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rtl="0" fontAlgn="ctr">
                        <a:buFontTx/>
                        <a:buChar char="-"/>
                      </a:pP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Artwork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변경 없이 기능 축소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/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확장</a:t>
                      </a:r>
                      <a:b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.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R, C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시정수 변경</a:t>
                      </a:r>
                      <a:b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.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Option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기능 추가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/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삭제</a:t>
                      </a:r>
                      <a:endParaRPr lang="en-US" altLang="ko-KR" sz="900" b="0" i="0" u="none" strike="noStrike" baseline="0" dirty="0" smtClean="0">
                        <a:solidFill>
                          <a:schemeClr val="tx1"/>
                        </a:solidFill>
                        <a:latin typeface="Arial Narrow" pitchFamily="34" charset="0"/>
                        <a:ea typeface="LG스마트체 Regular" pitchFamily="50" charset="-127"/>
                      </a:endParaRPr>
                    </a:p>
                    <a:p>
                      <a:pPr algn="l" rtl="0" fontAlgn="ctr">
                        <a:buFontTx/>
                        <a:buChar char="-"/>
                      </a:pP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회로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/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부품 변경 없이 작업성 개선을 위한 </a:t>
                      </a:r>
                      <a:endParaRPr lang="en-US" altLang="ko-KR" sz="900" b="0" i="0" u="none" strike="noStrike" baseline="0" dirty="0" smtClean="0">
                        <a:solidFill>
                          <a:schemeClr val="tx1"/>
                        </a:solidFill>
                        <a:latin typeface="Arial Narrow" pitchFamily="34" charset="0"/>
                        <a:ea typeface="LG스마트체 Regular" pitchFamily="50" charset="-127"/>
                      </a:endParaRPr>
                    </a:p>
                    <a:p>
                      <a:pPr algn="l" rtl="0" fontAlgn="ctr">
                        <a:buFontTx/>
                        <a:buNone/>
                      </a:pP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  Artwork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수정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(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부품 간격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,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납땜 부위 조정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- Cb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, Cc, </a:t>
                      </a:r>
                      <a:r>
                        <a:rPr lang="en-US" altLang="ko-KR" sz="900" b="0" i="0" u="none" strike="noStrike" baseline="0" dirty="0" err="1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Csw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등급 구분은 기구개발등급에 따름</a:t>
                      </a:r>
                      <a:endParaRPr lang="en-US" altLang="ko-KR" sz="900" b="0" i="0" u="none" strike="noStrike" baseline="0" dirty="0" smtClean="0">
                        <a:solidFill>
                          <a:schemeClr val="tx1"/>
                        </a:solidFill>
                        <a:latin typeface="Arial Narrow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rtl="0" fontAlgn="ctr">
                        <a:buFontTx/>
                        <a:buChar char="-"/>
                      </a:pPr>
                      <a:r>
                        <a:rPr lang="en-US" altLang="ko-KR" sz="900" b="0" i="0" u="none" strike="noStrike" baseline="3000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2)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Function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단위 이하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SW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변경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(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기존 알고리즘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Modify)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/>
                      </a:r>
                      <a:b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.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기 검증된 제어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S/W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의 수평전개로 인한 작업추가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(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기 검증품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) </a:t>
                      </a:r>
                      <a:b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.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성능에 영향 없는 단순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SW Data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변경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(EEPROM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포함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)</a:t>
                      </a:r>
                      <a:b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.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LCD Display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언어 변경 </a:t>
                      </a:r>
                      <a:endParaRPr lang="en-US" altLang="ko-KR" sz="900" b="0" i="0" u="none" strike="noStrike" baseline="0" dirty="0" smtClean="0">
                        <a:solidFill>
                          <a:schemeClr val="tx1"/>
                        </a:solidFill>
                        <a:latin typeface="Arial Narrow" pitchFamily="34" charset="0"/>
                        <a:ea typeface="LG스마트체 Regular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. Comp / Motor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변경에 의한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Tuning Data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변경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/>
                      </a:r>
                      <a:b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-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Web/App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.: OS Upgrade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대응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,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단순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UI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변경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,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다국어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전개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/>
                      </a:r>
                      <a:b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</a:br>
                      <a:r>
                        <a:rPr lang="en-US" altLang="ko-KR" sz="900" b="0" i="0" u="none" strike="noStrike" baseline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- Cb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, Cc, </a:t>
                      </a:r>
                      <a:r>
                        <a:rPr lang="en-US" altLang="ko-KR" sz="900" b="0" i="0" u="none" strike="noStrike" baseline="0" dirty="0" err="1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Csw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등급 구분은 기구개발등급에 따름</a:t>
                      </a:r>
                      <a:endParaRPr lang="en-US" altLang="ko-KR" sz="900" b="0" i="0" u="none" strike="noStrike" baseline="0" dirty="0" smtClean="0">
                        <a:solidFill>
                          <a:schemeClr val="tx1"/>
                        </a:solidFill>
                        <a:latin typeface="Arial Narrow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Cc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환경검증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,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단순검증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Csw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비성능</a:t>
                      </a:r>
                      <a:endParaRPr kumimoji="1" lang="en-US" altLang="ko-KR" sz="9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SW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변경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>
                        <a:buFontTx/>
                        <a:buChar char="-"/>
                      </a:pPr>
                      <a:endParaRPr lang="en-US" altLang="ko-KR" sz="900" b="0" i="0" u="none" strike="noStrike" baseline="0" dirty="0" smtClean="0">
                        <a:solidFill>
                          <a:schemeClr val="tx1"/>
                        </a:solidFill>
                        <a:latin typeface="Arial Narrow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>
                        <a:buFontTx/>
                        <a:buNone/>
                      </a:pP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965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T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등급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(T1, T2, T3)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49846" marR="49846" marT="46800" marB="468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생산지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 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이전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49846" marR="49846" marT="46800" marB="4680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-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양산 중 제품을 생산지 이관 하기 위한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PJT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진행 시 </a:t>
                      </a: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  (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창원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  <a:sym typeface="Wingdings" pitchFamily="2" charset="2"/>
                        </a:rPr>
                        <a:t>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  <a:sym typeface="Wingdings" pitchFamily="2" charset="2"/>
                        </a:rPr>
                        <a:t>해외법인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  <a:sym typeface="Wingdings" pitchFamily="2" charset="2"/>
                        </a:rPr>
                        <a:t>/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  <a:sym typeface="Wingdings" pitchFamily="2" charset="2"/>
                        </a:rPr>
                        <a:t>해외거래선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  <a:sym typeface="Wingdings" pitchFamily="2" charset="2"/>
                        </a:rPr>
                        <a:t>해외법인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  <a:sym typeface="Wingdings" pitchFamily="2" charset="2"/>
                        </a:rPr>
                        <a:t>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  <a:sym typeface="Wingdings" pitchFamily="2" charset="2"/>
                        </a:rPr>
                        <a:t>창원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  <a:sym typeface="Wingdings" pitchFamily="2" charset="2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  <a:sym typeface="Wingdings" pitchFamily="2" charset="2"/>
                        </a:rPr>
                        <a:t>해외법인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  <a:sym typeface="Wingdings" pitchFamily="2" charset="2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  <a:sym typeface="Wingdings" pitchFamily="2" charset="2"/>
                        </a:rPr>
                        <a:t>해외 거래선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  <a:sym typeface="Wingdings" pitchFamily="2" charset="2"/>
                        </a:rPr>
                        <a:t>부표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  <a:sym typeface="Wingdings" pitchFamily="2" charset="2"/>
                        </a:rPr>
                        <a:t>22.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  <a:sym typeface="Wingdings" pitchFamily="2" charset="2"/>
                        </a:rPr>
                        <a:t>생산지 이관 프로세스 운영 기준 참조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0" marB="0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LG스마트체 Regular" pitchFamily="50" charset="-127"/>
                        <a:cs typeface="Arial" pitchFamily="34" charset="0"/>
                      </a:endParaRPr>
                    </a:p>
                  </a:txBody>
                  <a:tcPr marL="36000" marR="36000" marT="0" marB="0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D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등급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 Cosmetic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LG스마트체 Regular" pitchFamily="50" charset="-127"/>
                          <a:cs typeface="Arial" pitchFamily="34" charset="0"/>
                        </a:rPr>
                        <a:t>  Change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없음 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(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제어 주관 제품 개발은 제품 기준 따름</a:t>
                      </a:r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Arial Narrow" pitchFamily="34" charset="0"/>
                          <a:ea typeface="LG스마트체 Regular" pitchFamily="50" charset="-127"/>
                        </a:rPr>
                        <a:t>)</a:t>
                      </a:r>
                      <a:endParaRPr lang="ko-KR" altLang="en-US" sz="900" b="0" i="0" u="none" strike="noStrike" baseline="0" dirty="0" smtClean="0">
                        <a:solidFill>
                          <a:srgbClr val="000000"/>
                        </a:solidFill>
                        <a:latin typeface="Arial Narrow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0" marB="0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lnSpc>
                          <a:spcPts val="1200"/>
                        </a:lnSpc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Arial Narrow" pitchFamily="34" charset="0"/>
                        <a:ea typeface="LG스마트체 Regular" pitchFamily="50" charset="-127"/>
                      </a:endParaRPr>
                    </a:p>
                  </a:txBody>
                  <a:tcPr marL="36000" marR="36000" marT="24923" marB="2492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9099" y="822785"/>
            <a:ext cx="601158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※ </a:t>
            </a:r>
            <a:r>
              <a:rPr lang="ko-KR" altLang="en-US" sz="105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제품별 특성에 따른 개발 등급 상세 분류 기준은 사업부 표준에 준해 개발 유형 및 등급 심의회시 결정한다</a:t>
            </a:r>
            <a:endParaRPr lang="ko-KR" altLang="en-US" sz="105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00472" y="5859792"/>
            <a:ext cx="92890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0" baseline="30000" dirty="0" smtClean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1)</a:t>
            </a:r>
            <a:r>
              <a:rPr lang="en-US" altLang="ko-KR" sz="800" b="0" dirty="0" smtClean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Feature :  </a:t>
            </a:r>
            <a:r>
              <a:rPr lang="ko-KR" altLang="en-US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제품에 탑재 여부를 의사결정 할 수 있는 단위가 되는 </a:t>
            </a:r>
            <a:r>
              <a:rPr lang="en-US" altLang="ko-KR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Spec.</a:t>
            </a:r>
            <a:r>
              <a:rPr lang="ko-KR" altLang="en-US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수준의 요구사항 단위 각 </a:t>
            </a:r>
            <a:r>
              <a:rPr lang="en-US" altLang="ko-KR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Feature</a:t>
            </a:r>
            <a:r>
              <a:rPr lang="ko-KR" altLang="en-US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는 </a:t>
            </a:r>
            <a:r>
              <a:rPr lang="en-US" altLang="ko-KR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SW</a:t>
            </a:r>
            <a:r>
              <a:rPr lang="ko-KR" altLang="en-US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개발 단계에서 기능</a:t>
            </a:r>
            <a:r>
              <a:rPr lang="en-US" altLang="ko-KR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(Function)</a:t>
            </a:r>
            <a:r>
              <a:rPr lang="ko-KR" altLang="en-US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으로 세분화하며</a:t>
            </a:r>
            <a:r>
              <a:rPr lang="en-US" altLang="ko-KR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, </a:t>
            </a:r>
            <a:br>
              <a:rPr lang="en-US" altLang="ko-KR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</a:br>
            <a:r>
              <a:rPr lang="en-US" altLang="ko-KR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 </a:t>
            </a:r>
            <a:r>
              <a:rPr lang="en-US" altLang="ko-KR" sz="800" b="0" dirty="0" smtClean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                     FBS </a:t>
            </a:r>
            <a:r>
              <a:rPr lang="en-US" altLang="ko-KR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(Function Breakdown Structure)</a:t>
            </a:r>
            <a:r>
              <a:rPr lang="ko-KR" altLang="en-US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의 </a:t>
            </a:r>
            <a:r>
              <a:rPr lang="en-US" altLang="ko-KR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Level 1 </a:t>
            </a:r>
            <a:r>
              <a:rPr lang="ko-KR" altLang="en-US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단계로 정의되고 </a:t>
            </a:r>
            <a:r>
              <a:rPr lang="en-US" altLang="ko-KR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SW</a:t>
            </a:r>
            <a:r>
              <a:rPr lang="ko-KR" altLang="en-US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개발 전 단계 활동의 최상위 기준으로 활용 한다</a:t>
            </a:r>
            <a:r>
              <a:rPr lang="en-US" altLang="ko-KR" sz="800" b="0" dirty="0" smtClean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.</a:t>
            </a:r>
          </a:p>
          <a:p>
            <a:r>
              <a:rPr lang="en-US" altLang="ko-KR" sz="800" b="0" baseline="30000" dirty="0" smtClean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2)</a:t>
            </a:r>
            <a:r>
              <a:rPr lang="en-US" altLang="ko-KR" sz="800" b="0" dirty="0" smtClean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Function </a:t>
            </a:r>
            <a:r>
              <a:rPr lang="en-US" altLang="ko-KR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: Feature</a:t>
            </a:r>
            <a:r>
              <a:rPr lang="ko-KR" altLang="en-US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가 더 이상 세분화 될 수 없는 기능으로 구분된 항목 </a:t>
            </a:r>
            <a:r>
              <a:rPr lang="en-US" altLang="ko-KR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(or </a:t>
            </a:r>
            <a:r>
              <a:rPr lang="ko-KR" altLang="en-US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항목 </a:t>
            </a:r>
            <a:r>
              <a:rPr lang="en-US" altLang="ko-KR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List)</a:t>
            </a:r>
            <a:r>
              <a:rPr lang="ko-KR" altLang="en-US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하나의 </a:t>
            </a:r>
            <a:r>
              <a:rPr lang="en-US" altLang="ko-KR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Function</a:t>
            </a:r>
            <a:r>
              <a:rPr lang="ko-KR" altLang="en-US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이 여러 </a:t>
            </a:r>
            <a:r>
              <a:rPr lang="en-US" altLang="ko-KR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Feature</a:t>
            </a:r>
            <a:r>
              <a:rPr lang="ko-KR" altLang="en-US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위한 항목으로 적용될 수 있으며</a:t>
            </a:r>
            <a:r>
              <a:rPr lang="en-US" altLang="ko-KR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, FBS</a:t>
            </a:r>
            <a:r>
              <a:rPr lang="ko-KR" altLang="en-US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의 </a:t>
            </a:r>
            <a:r>
              <a:rPr lang="en-US" altLang="ko-KR" sz="800" b="0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Level 2,3 </a:t>
            </a:r>
            <a:r>
              <a:rPr lang="ko-KR" altLang="en-US" sz="800" b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단계로 </a:t>
            </a:r>
            <a:r>
              <a:rPr lang="ko-KR" altLang="en-US" sz="800" b="0" smtClean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정의된다</a:t>
            </a:r>
            <a:endParaRPr lang="en-US" altLang="ko-KR" sz="800" b="0" dirty="0" smtClean="0">
              <a:solidFill>
                <a:srgbClr val="008000"/>
              </a:solidFill>
              <a:latin typeface="Arial Narrow" pitchFamily="34" charset="0"/>
              <a:ea typeface="LG스마트체 Regular" pitchFamily="50" charset="-127"/>
              <a:cs typeface="+mn-cs"/>
            </a:endParaRPr>
          </a:p>
          <a:p>
            <a:r>
              <a:rPr lang="en-US" altLang="ko-KR" sz="700" b="0" baseline="30000" dirty="0" smtClean="0">
                <a:solidFill>
                  <a:srgbClr val="0066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3)</a:t>
            </a:r>
            <a:r>
              <a:rPr lang="ko-KR" altLang="en-US" sz="800" b="0" smtClean="0">
                <a:solidFill>
                  <a:srgbClr val="006600"/>
                </a:solidFill>
                <a:latin typeface="LG스마트체 Regular" pitchFamily="50" charset="-127"/>
                <a:ea typeface="LG스마트체 Regular" pitchFamily="50" charset="-127"/>
                <a:cs typeface="+mn-cs"/>
              </a:rPr>
              <a:t>자사 </a:t>
            </a:r>
            <a:r>
              <a:rPr lang="ko-KR" altLang="en-US" sz="800" b="0" dirty="0" err="1">
                <a:solidFill>
                  <a:srgbClr val="006600"/>
                </a:solidFill>
                <a:latin typeface="LG스마트체 Regular" pitchFamily="50" charset="-127"/>
                <a:ea typeface="LG스마트체 Regular" pitchFamily="50" charset="-127"/>
                <a:cs typeface="+mn-cs"/>
              </a:rPr>
              <a:t>제품군</a:t>
            </a:r>
            <a:r>
              <a:rPr lang="ko-KR" altLang="en-US" sz="800" b="0" dirty="0">
                <a:solidFill>
                  <a:srgbClr val="006600"/>
                </a:solidFill>
                <a:latin typeface="LG스마트체 Regular" pitchFamily="50" charset="-127"/>
                <a:ea typeface="LG스마트체 Regular" pitchFamily="50" charset="-127"/>
                <a:cs typeface="+mn-cs"/>
              </a:rPr>
              <a:t> </a:t>
            </a:r>
            <a:r>
              <a:rPr lang="en-US" altLang="ko-KR" sz="800" b="0" dirty="0">
                <a:solidFill>
                  <a:srgbClr val="006600"/>
                </a:solidFill>
                <a:latin typeface="LG스마트체 Regular" pitchFamily="50" charset="-127"/>
                <a:ea typeface="LG스마트체 Regular" pitchFamily="50" charset="-127"/>
                <a:cs typeface="+mn-cs"/>
              </a:rPr>
              <a:t>: </a:t>
            </a:r>
            <a:r>
              <a:rPr lang="ko-KR" altLang="en-US" sz="800" b="0">
                <a:solidFill>
                  <a:srgbClr val="006600"/>
                </a:solidFill>
                <a:latin typeface="LG스마트체 Regular" pitchFamily="50" charset="-127"/>
                <a:ea typeface="LG스마트체 Regular" pitchFamily="50" charset="-127"/>
                <a:cs typeface="+mn-cs"/>
              </a:rPr>
              <a:t>동일 사업부라 하더라도  제품군이 다르면  다른 제품군 으로 봄 </a:t>
            </a:r>
            <a:r>
              <a:rPr lang="en-US" altLang="ko-KR" sz="800" b="0" dirty="0">
                <a:solidFill>
                  <a:srgbClr val="006600"/>
                </a:solidFill>
                <a:latin typeface="LG스마트체 Regular" pitchFamily="50" charset="-127"/>
                <a:ea typeface="LG스마트체 Regular" pitchFamily="50" charset="-127"/>
                <a:cs typeface="+mn-cs"/>
              </a:rPr>
              <a:t>(ex:</a:t>
            </a:r>
            <a:r>
              <a:rPr lang="ko-KR" altLang="en-US" sz="800" b="0">
                <a:solidFill>
                  <a:srgbClr val="006600"/>
                </a:solidFill>
                <a:latin typeface="LG스마트체 Regular" pitchFamily="50" charset="-127"/>
                <a:ea typeface="LG스마트체 Regular" pitchFamily="50" charset="-127"/>
                <a:cs typeface="+mn-cs"/>
              </a:rPr>
              <a:t>에어컨과 공기청정기는 다른 제품군임</a:t>
            </a:r>
            <a:r>
              <a:rPr lang="en-US" altLang="ko-KR" sz="800" b="0" dirty="0" smtClean="0">
                <a:solidFill>
                  <a:srgbClr val="006600"/>
                </a:solidFill>
                <a:latin typeface="LG스마트체 Regular" pitchFamily="50" charset="-127"/>
                <a:ea typeface="LG스마트체 Regular" pitchFamily="50" charset="-127"/>
                <a:cs typeface="+mn-cs"/>
              </a:rPr>
              <a:t>)</a:t>
            </a:r>
            <a:r>
              <a:rPr lang="en-US" altLang="ko-KR" sz="800" b="0" dirty="0" smtClean="0">
                <a:solidFill>
                  <a:srgbClr val="006600"/>
                </a:solidFill>
                <a:latin typeface="Arial Narrow" pitchFamily="34" charset="0"/>
                <a:ea typeface="LG스마트체 Regular" pitchFamily="50" charset="-127"/>
                <a:cs typeface="+mn-cs"/>
              </a:rPr>
              <a:t> </a:t>
            </a:r>
            <a:endParaRPr lang="ko-KR" altLang="en-US" sz="800" b="0" dirty="0">
              <a:solidFill>
                <a:srgbClr val="006600"/>
              </a:solidFill>
              <a:latin typeface="Arial Narrow" panose="020B0606020202030204" pitchFamily="34" charset="0"/>
              <a:ea typeface="굴림체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473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02" name="Group 2"/>
          <p:cNvGraphicFramePr>
            <a:graphicFrameLocks noGrp="1"/>
          </p:cNvGraphicFramePr>
          <p:nvPr>
            <p:extLst/>
          </p:nvPr>
        </p:nvGraphicFramePr>
        <p:xfrm>
          <a:off x="492370" y="620690"/>
          <a:ext cx="8979877" cy="6104345"/>
        </p:xfrm>
        <a:graphic>
          <a:graphicData uri="http://schemas.openxmlformats.org/drawingml/2006/table">
            <a:tbl>
              <a:tblPr/>
              <a:tblGrid>
                <a:gridCol w="8979877"/>
              </a:tblGrid>
              <a:tr h="298294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NPI </a:t>
                      </a: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시스템 내 </a:t>
                      </a: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Activity </a:t>
                      </a:r>
                      <a:r>
                        <a:rPr kumimoji="1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선정 </a:t>
                      </a: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kumimoji="1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심의 </a:t>
                      </a: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확정</a:t>
                      </a: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110975" marR="110975" marT="57707" marB="5770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5806051">
                <a:tc>
                  <a:txBody>
                    <a:bodyPr/>
                    <a:lstStyle/>
                    <a:p>
                      <a:pPr marL="552450" marR="0" lvl="0" indent="-55245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10975" marR="110975" marT="57707" marB="57707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58411" name="Group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9295434"/>
              </p:ext>
            </p:extLst>
          </p:nvPr>
        </p:nvGraphicFramePr>
        <p:xfrm>
          <a:off x="607438" y="974038"/>
          <a:ext cx="8733862" cy="2327910"/>
        </p:xfrm>
        <a:graphic>
          <a:graphicData uri="http://schemas.openxmlformats.org/drawingml/2006/table">
            <a:tbl>
              <a:tblPr/>
              <a:tblGrid>
                <a:gridCol w="2268000"/>
                <a:gridCol w="84099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492018"/>
                <a:gridCol w="2268605"/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CP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개발등급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심의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결과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Activity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주관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S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B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Ca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Cb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Cc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Csw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D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상품화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발의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상품기획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팀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상품기획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영업요구조건서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영업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렌더링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구조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리뷰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렌더링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품평회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상품기획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신기술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선행개발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현황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LGE)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프로젝트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수익성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(CP Event)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상품기획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디자인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구현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3F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3F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선행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FMEA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목업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구조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안전성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리뷰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목업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품평회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디자인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목업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수용성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상품기획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LGE) CP Final DR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상품기획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CP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품평회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상품기획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06" name="Text Box 314"/>
          <p:cNvSpPr txBox="1">
            <a:spLocks noChangeArrowheads="1"/>
          </p:cNvSpPr>
          <p:nvPr/>
        </p:nvSpPr>
        <p:spPr bwMode="auto">
          <a:xfrm>
            <a:off x="6105130" y="692696"/>
            <a:ext cx="215155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16529" indent="-316529" defTabSz="886575"/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실행 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Activity </a:t>
            </a:r>
            <a:r>
              <a:rPr lang="ko-KR" altLang="en-US" sz="9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선정 시 “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</a:t>
            </a:r>
            <a:r>
              <a:rPr lang="ko-KR" altLang="en-US" sz="9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X” </a:t>
            </a:r>
            <a:r>
              <a:rPr lang="ko-KR" altLang="en-US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 </a:t>
            </a:r>
            <a:r>
              <a:rPr lang="ko-KR" altLang="en-US" sz="9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표기 할 것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 flipV="1">
            <a:off x="492369" y="80832"/>
            <a:ext cx="8964000" cy="484188"/>
          </a:xfrm>
          <a:prstGeom prst="rect">
            <a:avLst/>
          </a:prstGeom>
          <a:noFill/>
          <a:ln w="19050">
            <a:solidFill>
              <a:srgbClr val="000080"/>
            </a:solidFill>
            <a:miter lim="800000"/>
            <a:headEnd/>
            <a:tailEnd/>
          </a:ln>
        </p:spPr>
        <p:txBody>
          <a:bodyPr rot="10800000" wrap="none" lIns="95728" tIns="47863" rIns="95728" bIns="47863" anchor="ctr"/>
          <a:lstStyle/>
          <a:p>
            <a:pPr algn="ctr" defTabSz="960087"/>
            <a:endParaRPr lang="ko-KR" altLang="ko-KR" sz="2200" dirty="0">
              <a:solidFill>
                <a:srgbClr val="000000"/>
              </a:solidFill>
              <a:latin typeface="LG스마트체 Regular" pitchFamily="50" charset="-127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0" name="Rectangle 662"/>
          <p:cNvSpPr>
            <a:spLocks noChangeArrowheads="1"/>
          </p:cNvSpPr>
          <p:nvPr/>
        </p:nvSpPr>
        <p:spPr bwMode="auto">
          <a:xfrm>
            <a:off x="8954882" y="322132"/>
            <a:ext cx="498475" cy="23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892" tIns="45892" rIns="45892" bIns="45892" anchor="ctr"/>
          <a:lstStyle/>
          <a:p>
            <a:pPr algn="ctr" defTabSz="960087">
              <a:spcBef>
                <a:spcPct val="20000"/>
              </a:spcBef>
            </a:pPr>
            <a:endParaRPr lang="ko-KR" altLang="ko-KR" sz="900" dirty="0">
              <a:solidFill>
                <a:srgbClr val="000000"/>
              </a:solidFill>
              <a:latin typeface="LG스마트체 Regular" pitchFamily="50" charset="-127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1" name="Rectangle 661"/>
          <p:cNvSpPr>
            <a:spLocks noChangeArrowheads="1"/>
          </p:cNvSpPr>
          <p:nvPr/>
        </p:nvSpPr>
        <p:spPr bwMode="auto">
          <a:xfrm>
            <a:off x="8966317" y="322132"/>
            <a:ext cx="498475" cy="23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892" tIns="45892" rIns="45892" bIns="45892" anchor="ctr"/>
          <a:lstStyle/>
          <a:p>
            <a:pPr algn="ctr" defTabSz="960087">
              <a:spcBef>
                <a:spcPct val="20000"/>
              </a:spcBef>
            </a:pPr>
            <a:r>
              <a:rPr lang="en-US" altLang="ko-KR" sz="900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●</a:t>
            </a:r>
          </a:p>
        </p:txBody>
      </p:sp>
      <p:sp>
        <p:nvSpPr>
          <p:cNvPr id="22" name="Rectangle 659"/>
          <p:cNvSpPr>
            <a:spLocks noChangeArrowheads="1"/>
          </p:cNvSpPr>
          <p:nvPr/>
        </p:nvSpPr>
        <p:spPr bwMode="auto">
          <a:xfrm>
            <a:off x="8954881" y="82420"/>
            <a:ext cx="498475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892" tIns="45892" rIns="45892" bIns="45892" anchor="ctr"/>
          <a:lstStyle/>
          <a:p>
            <a:pPr algn="ctr" defTabSz="960087">
              <a:spcBef>
                <a:spcPct val="20000"/>
              </a:spcBef>
            </a:pPr>
            <a:r>
              <a:rPr lang="ko-KR" altLang="en-US" sz="900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회의록</a:t>
            </a:r>
          </a:p>
        </p:txBody>
      </p:sp>
      <p:sp>
        <p:nvSpPr>
          <p:cNvPr id="23" name="Rectangle 658"/>
          <p:cNvSpPr>
            <a:spLocks noChangeArrowheads="1"/>
          </p:cNvSpPr>
          <p:nvPr/>
        </p:nvSpPr>
        <p:spPr bwMode="auto">
          <a:xfrm>
            <a:off x="8456407" y="82420"/>
            <a:ext cx="498475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892" tIns="45892" rIns="45892" bIns="45892" anchor="ctr"/>
          <a:lstStyle/>
          <a:p>
            <a:pPr algn="ctr" defTabSz="960087">
              <a:spcBef>
                <a:spcPct val="20000"/>
              </a:spcBef>
            </a:pPr>
            <a:r>
              <a:rPr lang="ko-KR" altLang="en-US" sz="900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의뢰서</a:t>
            </a:r>
          </a:p>
        </p:txBody>
      </p:sp>
      <p:sp>
        <p:nvSpPr>
          <p:cNvPr id="24" name="Line 667"/>
          <p:cNvSpPr>
            <a:spLocks noChangeShapeType="1"/>
          </p:cNvSpPr>
          <p:nvPr/>
        </p:nvSpPr>
        <p:spPr bwMode="auto">
          <a:xfrm>
            <a:off x="8456399" y="82420"/>
            <a:ext cx="0" cy="476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35988" tIns="35988" rIns="35988" bIns="35988" anchor="ctr"/>
          <a:lstStyle/>
          <a:p>
            <a:endParaRPr lang="ko-KR" altLang="en-US" sz="1900" dirty="0">
              <a:solidFill>
                <a:srgbClr val="000000"/>
              </a:solidFill>
              <a:latin typeface="LG스마트체 Regular" pitchFamily="50" charset="-127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5" name="Line 668"/>
          <p:cNvSpPr>
            <a:spLocks noChangeShapeType="1"/>
          </p:cNvSpPr>
          <p:nvPr/>
        </p:nvSpPr>
        <p:spPr bwMode="auto">
          <a:xfrm>
            <a:off x="8954874" y="82420"/>
            <a:ext cx="0" cy="476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35988" tIns="35988" rIns="35988" bIns="35988" anchor="ctr"/>
          <a:lstStyle/>
          <a:p>
            <a:endParaRPr lang="ko-KR" altLang="en-US" sz="1900" dirty="0">
              <a:solidFill>
                <a:srgbClr val="000000"/>
              </a:solidFill>
              <a:latin typeface="LG스마트체 Regular" pitchFamily="50" charset="-127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6" name="Line 691"/>
          <p:cNvSpPr>
            <a:spLocks noChangeShapeType="1"/>
          </p:cNvSpPr>
          <p:nvPr/>
        </p:nvSpPr>
        <p:spPr bwMode="auto">
          <a:xfrm>
            <a:off x="8456403" y="322132"/>
            <a:ext cx="996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35988" tIns="35988" rIns="35988" bIns="35988" anchor="ctr"/>
          <a:lstStyle/>
          <a:p>
            <a:endParaRPr lang="ko-KR" altLang="en-US" sz="1900" dirty="0">
              <a:solidFill>
                <a:srgbClr val="000000"/>
              </a:solidFill>
              <a:latin typeface="LG스마트체 Regular" pitchFamily="50" charset="-127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7" name="Text Box 723"/>
          <p:cNvSpPr txBox="1">
            <a:spLocks noChangeArrowheads="1"/>
          </p:cNvSpPr>
          <p:nvPr/>
        </p:nvSpPr>
        <p:spPr bwMode="auto">
          <a:xfrm>
            <a:off x="8369091" y="25270"/>
            <a:ext cx="260652" cy="26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5728" tIns="47863" rIns="95728" bIns="47863">
            <a:spAutoFit/>
          </a:bodyPr>
          <a:lstStyle/>
          <a:p>
            <a:pPr defTabSz="960087"/>
            <a:r>
              <a:rPr lang="en-US" altLang="ko-KR" sz="1100" dirty="0">
                <a:solidFill>
                  <a:srgbClr val="FF0000"/>
                </a:solidFill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*</a:t>
            </a:r>
          </a:p>
        </p:txBody>
      </p:sp>
      <p:sp>
        <p:nvSpPr>
          <p:cNvPr id="28" name="Rectangle 1442"/>
          <p:cNvSpPr>
            <a:spLocks noGrp="1" noChangeArrowheads="1"/>
          </p:cNvSpPr>
          <p:nvPr>
            <p:ph type="title"/>
          </p:nvPr>
        </p:nvSpPr>
        <p:spPr bwMode="auto">
          <a:xfrm>
            <a:off x="2371446" y="107820"/>
            <a:ext cx="5163108" cy="431800"/>
          </a:xfrm>
          <a:ln>
            <a:miter lim="800000"/>
            <a:headEnd/>
            <a:tailEnd/>
          </a:ln>
        </p:spPr>
        <p:txBody>
          <a:bodyPr vert="horz" wrap="square" lIns="91407" tIns="45704" rIns="91407" bIns="45704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ko-KR" altLang="en-US" sz="2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LG스마트체 Regular" pitchFamily="50" charset="-127"/>
                <a:ea typeface="LG스마트체 Regular" pitchFamily="50" charset="-127"/>
                <a:cs typeface="Arial" pitchFamily="34" charset="0"/>
              </a:rPr>
              <a:t>개발 유형 및 등급 확정 심의회</a:t>
            </a:r>
          </a:p>
        </p:txBody>
      </p:sp>
      <p:sp>
        <p:nvSpPr>
          <p:cNvPr id="33" name="Text Box 314"/>
          <p:cNvSpPr txBox="1">
            <a:spLocks noChangeArrowheads="1"/>
          </p:cNvSpPr>
          <p:nvPr/>
        </p:nvSpPr>
        <p:spPr bwMode="auto">
          <a:xfrm>
            <a:off x="492369" y="654598"/>
            <a:ext cx="199766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16529" indent="-316529" defTabSz="886575"/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1-1. </a:t>
            </a:r>
            <a:r>
              <a:rPr lang="ko-KR" altLang="en-US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개발유형 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일반제품개발</a:t>
            </a:r>
            <a:r>
              <a:rPr lang="en-US" altLang="ko-KR" sz="100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(NPI3.0)</a:t>
            </a:r>
            <a:endParaRPr lang="en-US" altLang="ko-KR" sz="10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" name="Text Box 314"/>
          <p:cNvSpPr txBox="1">
            <a:spLocks noChangeArrowheads="1"/>
          </p:cNvSpPr>
          <p:nvPr/>
        </p:nvSpPr>
        <p:spPr bwMode="auto">
          <a:xfrm>
            <a:off x="8155251" y="725047"/>
            <a:ext cx="134524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16529" indent="-316529" algn="r" defTabSz="886575"/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R: </a:t>
            </a:r>
            <a:r>
              <a:rPr lang="ko-KR" altLang="en-US" sz="9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필수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Y: </a:t>
            </a:r>
            <a:r>
              <a:rPr lang="ko-KR" altLang="en-US" sz="9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옵션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빈칸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N/A</a:t>
            </a:r>
          </a:p>
        </p:txBody>
      </p:sp>
      <p:sp>
        <p:nvSpPr>
          <p:cNvPr id="32" name="실행 단추: 돌아가기 31">
            <a:hlinkClick r:id="rId2" action="ppaction://hlinksldjump" highlightClick="1"/>
          </p:cNvPr>
          <p:cNvSpPr>
            <a:spLocks noChangeAspect="1"/>
          </p:cNvSpPr>
          <p:nvPr/>
        </p:nvSpPr>
        <p:spPr>
          <a:xfrm>
            <a:off x="8039305" y="159868"/>
            <a:ext cx="288000" cy="288000"/>
          </a:xfrm>
          <a:prstGeom prst="actionButtonReturn">
            <a:avLst/>
          </a:prstGeom>
          <a:ln w="317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5" name="Group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1686305"/>
              </p:ext>
            </p:extLst>
          </p:nvPr>
        </p:nvGraphicFramePr>
        <p:xfrm>
          <a:off x="607438" y="3466678"/>
          <a:ext cx="8733862" cy="2914650"/>
        </p:xfrm>
        <a:graphic>
          <a:graphicData uri="http://schemas.openxmlformats.org/drawingml/2006/table">
            <a:tbl>
              <a:tblPr/>
              <a:tblGrid>
                <a:gridCol w="2268000"/>
                <a:gridCol w="84099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492018"/>
                <a:gridCol w="2268605"/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DV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개발등급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심의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결과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Activity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주관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S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B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Ca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Cb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Cc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Csw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D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경쟁사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현상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분석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CMR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경쟁력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목표설정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개발부품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마스터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모듈러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디자인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검토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가상품질검증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기획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FMEA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FMEA(Ca,Cb,Cc Only)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제어요구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조건서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송부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PL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안전성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리뷰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품질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공정품질개선리뷰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Ca,Cb,Cc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Only)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친환경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친환경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친환경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검토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결과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Ca,Cb,Cc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Only)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친환경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특허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특허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상표권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마케팅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영업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서비스성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및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공용화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디자인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의장시방서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디자인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글로벌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동시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론칭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계획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확정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마케팅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44078" rtl="0" eaLnBrk="1" fontAlgn="ctr" latinLnBrk="1" hangingPunct="1"/>
                      <a:r>
                        <a:rPr 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19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02" name="Group 2"/>
          <p:cNvGraphicFramePr>
            <a:graphicFrameLocks noGrp="1"/>
          </p:cNvGraphicFramePr>
          <p:nvPr>
            <p:extLst/>
          </p:nvPr>
        </p:nvGraphicFramePr>
        <p:xfrm>
          <a:off x="492370" y="144425"/>
          <a:ext cx="8979877" cy="6596945"/>
        </p:xfrm>
        <a:graphic>
          <a:graphicData uri="http://schemas.openxmlformats.org/drawingml/2006/table">
            <a:tbl>
              <a:tblPr/>
              <a:tblGrid>
                <a:gridCol w="8979877"/>
              </a:tblGrid>
              <a:tr h="32236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NPI </a:t>
                      </a: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시스템 내 </a:t>
                      </a: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Activity </a:t>
                      </a: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선정 </a:t>
                      </a: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심의 확정</a:t>
                      </a: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110975" marR="110975" marT="57707" marB="5770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6274580">
                <a:tc>
                  <a:txBody>
                    <a:bodyPr/>
                    <a:lstStyle/>
                    <a:p>
                      <a:pPr marL="552450" marR="0" lvl="0" indent="-55245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10975" marR="110975" marT="57707" marB="57707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06" name="Text Box 314"/>
          <p:cNvSpPr txBox="1">
            <a:spLocks noChangeArrowheads="1"/>
          </p:cNvSpPr>
          <p:nvPr/>
        </p:nvSpPr>
        <p:spPr bwMode="auto">
          <a:xfrm>
            <a:off x="6105129" y="216431"/>
            <a:ext cx="215155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16529" indent="-316529" defTabSz="886575"/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실행 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Activity </a:t>
            </a:r>
            <a:r>
              <a:rPr lang="ko-KR" altLang="en-US" sz="9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선정 시 “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</a:t>
            </a:r>
            <a:r>
              <a:rPr lang="ko-KR" altLang="en-US" sz="9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X” </a:t>
            </a:r>
            <a:r>
              <a:rPr lang="ko-KR" altLang="en-US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 </a:t>
            </a:r>
            <a:r>
              <a:rPr lang="ko-KR" altLang="en-US" sz="9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표기 할 것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33" name="Text Box 314"/>
          <p:cNvSpPr txBox="1">
            <a:spLocks noChangeArrowheads="1"/>
          </p:cNvSpPr>
          <p:nvPr/>
        </p:nvSpPr>
        <p:spPr bwMode="auto">
          <a:xfrm>
            <a:off x="492369" y="178332"/>
            <a:ext cx="199766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16529" indent="-316529" defTabSz="886575"/>
            <a:r>
              <a:rPr lang="en-US" altLang="ko-KR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1-1. </a:t>
            </a:r>
            <a:r>
              <a:rPr lang="ko-KR" altLang="en-US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개발유형 </a:t>
            </a:r>
            <a:r>
              <a:rPr lang="en-US" altLang="ko-KR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일반제품개발</a:t>
            </a:r>
            <a:r>
              <a:rPr lang="en-US" altLang="ko-KR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(NPI3.0)</a:t>
            </a:r>
            <a:endParaRPr lang="en-US" altLang="ko-KR" sz="10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4" name="Group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9110462"/>
              </p:ext>
            </p:extLst>
          </p:nvPr>
        </p:nvGraphicFramePr>
        <p:xfrm>
          <a:off x="607438" y="526100"/>
          <a:ext cx="8733862" cy="5985510"/>
        </p:xfrm>
        <a:graphic>
          <a:graphicData uri="http://schemas.openxmlformats.org/drawingml/2006/table">
            <a:tbl>
              <a:tblPr/>
              <a:tblGrid>
                <a:gridCol w="2268000"/>
                <a:gridCol w="84099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492018"/>
                <a:gridCol w="2268605"/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DV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개발등급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심의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결과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Activity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주관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S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B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Ca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Cb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Cc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Csw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D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구조구성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리뷰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설계기준서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도면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심의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LGE) DV DGMS C/List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승인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재료비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리뷰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부품개발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LGE)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규격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규제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검토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의뢰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계획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(DV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단계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규격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     Virtual Production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용 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3D Data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등록</a:t>
                      </a: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테크니컬</a:t>
                      </a:r>
                      <a:endParaRPr lang="en-US" altLang="ko-KR" sz="900" b="0" i="0" u="none" strike="noStrike" kern="1200" dirty="0" smtClean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커뮤니케이션</a:t>
                      </a:r>
                      <a:endParaRPr lang="ko-KR" altLang="en-US" sz="900" b="0" i="0" u="none" strike="noStrike" kern="1200" dirty="0">
                        <a:solidFill>
                          <a:srgbClr val="FF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제품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Spec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입력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PV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미실시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PJT)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PV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실시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LGE)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규격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규제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검토의뢰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및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승인결과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규격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투자비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심의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BOM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심의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표시광고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사전점검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마케팅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영업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제품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인정시험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기획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부품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인정시험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기획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신뢰성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시험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기획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금형품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제작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금형품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FMEA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업데이트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인쇄물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점검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결과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LGE)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프로젝트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수익성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(DV Event)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PL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안전성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리뷰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결과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고객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Pain Point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개선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품질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개선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리뷰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DV P-Gate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점검결과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시작기술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      App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 의뢰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협력사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양산성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검증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부품개발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SQE Pre-IQ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리뷰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SQE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DV-3F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결과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3F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부품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개발완료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점검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제품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부품개발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마케팅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활동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점검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및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계획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마케팅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영업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친환경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검토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결과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친환경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FRP(Final Review for Production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)-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북미향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유럽향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3rd Party 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고객품질연구소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신제품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고품연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고객품질연구소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신제품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대책결과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고객평가단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품질심사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FUT(Field User Test)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교육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준비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2442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02" name="Group 2"/>
          <p:cNvGraphicFramePr>
            <a:graphicFrameLocks noGrp="1"/>
          </p:cNvGraphicFramePr>
          <p:nvPr>
            <p:extLst/>
          </p:nvPr>
        </p:nvGraphicFramePr>
        <p:xfrm>
          <a:off x="492370" y="144425"/>
          <a:ext cx="8979877" cy="6596945"/>
        </p:xfrm>
        <a:graphic>
          <a:graphicData uri="http://schemas.openxmlformats.org/drawingml/2006/table">
            <a:tbl>
              <a:tblPr/>
              <a:tblGrid>
                <a:gridCol w="8979877"/>
              </a:tblGrid>
              <a:tr h="32236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NPI </a:t>
                      </a: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시스템 내 </a:t>
                      </a: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Activity </a:t>
                      </a: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선정 </a:t>
                      </a: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심의 확정</a:t>
                      </a: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110975" marR="110975" marT="57707" marB="5770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6274580">
                <a:tc>
                  <a:txBody>
                    <a:bodyPr/>
                    <a:lstStyle/>
                    <a:p>
                      <a:pPr marL="552450" marR="0" lvl="0" indent="-55245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10975" marR="110975" marT="57707" marB="57707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06" name="Text Box 314"/>
          <p:cNvSpPr txBox="1">
            <a:spLocks noChangeArrowheads="1"/>
          </p:cNvSpPr>
          <p:nvPr/>
        </p:nvSpPr>
        <p:spPr bwMode="auto">
          <a:xfrm>
            <a:off x="6105129" y="216431"/>
            <a:ext cx="215155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16529" indent="-316529" defTabSz="886575"/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실행 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Activity </a:t>
            </a:r>
            <a:r>
              <a:rPr lang="ko-KR" altLang="en-US" sz="9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선정 시 “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</a:t>
            </a:r>
            <a:r>
              <a:rPr lang="ko-KR" altLang="en-US" sz="9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X” </a:t>
            </a:r>
            <a:r>
              <a:rPr lang="ko-KR" altLang="en-US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 </a:t>
            </a:r>
            <a:r>
              <a:rPr lang="ko-KR" altLang="en-US" sz="9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표기 할 것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33" name="Text Box 314"/>
          <p:cNvSpPr txBox="1">
            <a:spLocks noChangeArrowheads="1"/>
          </p:cNvSpPr>
          <p:nvPr/>
        </p:nvSpPr>
        <p:spPr bwMode="auto">
          <a:xfrm>
            <a:off x="492369" y="178332"/>
            <a:ext cx="199766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16529" indent="-316529" defTabSz="886575"/>
            <a:r>
              <a:rPr lang="en-US" altLang="ko-KR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1-1. </a:t>
            </a:r>
            <a:r>
              <a:rPr lang="ko-KR" altLang="en-US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개발유형 </a:t>
            </a:r>
            <a:r>
              <a:rPr lang="en-US" altLang="ko-KR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일반제품개발</a:t>
            </a:r>
            <a:r>
              <a:rPr lang="en-US" altLang="ko-KR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(NPI3.0)</a:t>
            </a:r>
            <a:endParaRPr lang="en-US" altLang="ko-KR" sz="10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4" name="Group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5982077"/>
              </p:ext>
            </p:extLst>
          </p:nvPr>
        </p:nvGraphicFramePr>
        <p:xfrm>
          <a:off x="607438" y="526100"/>
          <a:ext cx="8733862" cy="1447800"/>
        </p:xfrm>
        <a:graphic>
          <a:graphicData uri="http://schemas.openxmlformats.org/drawingml/2006/table">
            <a:tbl>
              <a:tblPr/>
              <a:tblGrid>
                <a:gridCol w="2268000"/>
                <a:gridCol w="84099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492018"/>
                <a:gridCol w="2268605"/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DV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개발등급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심의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결과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Activity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주관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S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B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Ca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Cb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Cc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Csw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D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설계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리뷰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DV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제작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준비점검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DV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제작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시작기술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가상품질검증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LGE) DV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인정시험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신뢰성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DRBTR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LGE) DV Final DR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DV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품평회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Group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5436890"/>
              </p:ext>
            </p:extLst>
          </p:nvPr>
        </p:nvGraphicFramePr>
        <p:xfrm>
          <a:off x="607438" y="4057054"/>
          <a:ext cx="8733862" cy="567690"/>
        </p:xfrm>
        <a:graphic>
          <a:graphicData uri="http://schemas.openxmlformats.org/drawingml/2006/table">
            <a:tbl>
              <a:tblPr/>
              <a:tblGrid>
                <a:gridCol w="2268000"/>
                <a:gridCol w="84099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492018"/>
                <a:gridCol w="2268605"/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Pre-MP / 1</a:t>
                      </a:r>
                      <a:r>
                        <a:rPr kumimoji="1" lang="en-US" altLang="ko-KR" sz="9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st</a:t>
                      </a: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MP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개발등급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심의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결과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Activity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주관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S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B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Ca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Cb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Cc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Csw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D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규격등록정보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일치성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점검결과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규격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Pre MP / 1st MP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승인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제조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Group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6676321"/>
              </p:ext>
            </p:extLst>
          </p:nvPr>
        </p:nvGraphicFramePr>
        <p:xfrm>
          <a:off x="607438" y="4730849"/>
          <a:ext cx="8733862" cy="714375"/>
        </p:xfrm>
        <a:graphic>
          <a:graphicData uri="http://schemas.openxmlformats.org/drawingml/2006/table">
            <a:tbl>
              <a:tblPr/>
              <a:tblGrid>
                <a:gridCol w="2268000"/>
                <a:gridCol w="84099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492018"/>
                <a:gridCol w="2268605"/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Post NPI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개발등급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심의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결과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Activity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주관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S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B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Ca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Cb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Cc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Csw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D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Pre Marketing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마케팅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영업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M+6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품질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TASK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활동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Task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리더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Post NPI(M+1,2,3)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마케팅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Group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0845392"/>
              </p:ext>
            </p:extLst>
          </p:nvPr>
        </p:nvGraphicFramePr>
        <p:xfrm>
          <a:off x="607438" y="2060848"/>
          <a:ext cx="8733862" cy="1887855"/>
        </p:xfrm>
        <a:graphic>
          <a:graphicData uri="http://schemas.openxmlformats.org/drawingml/2006/table">
            <a:tbl>
              <a:tblPr/>
              <a:tblGrid>
                <a:gridCol w="2268000"/>
                <a:gridCol w="84099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492018"/>
                <a:gridCol w="2268605"/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PV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개발등급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심의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결과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Activity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주관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S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B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Ca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Cb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Cc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Csw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D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PV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제작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시작기술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LGE) PV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인정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표시광고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사전점검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마케팅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LGE)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규격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규제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승인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결과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(PV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규격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LGE)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제품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Spec.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입력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PV-3F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결과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3F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LGE)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프로젝트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수익성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(PV Event)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0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PV P-Gate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점검결과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시작기술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인쇄물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점검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결과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LGE)PV Final DR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시작기술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PV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품평회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시작기술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57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02" name="Group 2"/>
          <p:cNvGraphicFramePr>
            <a:graphicFrameLocks noGrp="1"/>
          </p:cNvGraphicFramePr>
          <p:nvPr>
            <p:extLst/>
          </p:nvPr>
        </p:nvGraphicFramePr>
        <p:xfrm>
          <a:off x="492370" y="144425"/>
          <a:ext cx="8979877" cy="6596945"/>
        </p:xfrm>
        <a:graphic>
          <a:graphicData uri="http://schemas.openxmlformats.org/drawingml/2006/table">
            <a:tbl>
              <a:tblPr/>
              <a:tblGrid>
                <a:gridCol w="8979877"/>
              </a:tblGrid>
              <a:tr h="322365">
                <a:tc>
                  <a:txBody>
                    <a:bodyPr/>
                    <a:lstStyle/>
                    <a:p>
                      <a:pPr marL="0" marR="0" lvl="0" indent="0" algn="ctr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NPI </a:t>
                      </a: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시스템 내 </a:t>
                      </a: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Activity </a:t>
                      </a: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선정 </a:t>
                      </a: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심의 확정</a:t>
                      </a: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110975" marR="110975" marT="57707" marB="57707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6274580">
                <a:tc>
                  <a:txBody>
                    <a:bodyPr/>
                    <a:lstStyle/>
                    <a:p>
                      <a:pPr marL="552450" marR="0" lvl="0" indent="-552450" algn="l" defTabSz="960438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10975" marR="110975" marT="57707" marB="57707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06" name="Text Box 314"/>
          <p:cNvSpPr txBox="1">
            <a:spLocks noChangeArrowheads="1"/>
          </p:cNvSpPr>
          <p:nvPr/>
        </p:nvSpPr>
        <p:spPr bwMode="auto">
          <a:xfrm>
            <a:off x="6105129" y="216431"/>
            <a:ext cx="215155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16529" indent="-316529" defTabSz="886575"/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실행 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Activity </a:t>
            </a:r>
            <a:r>
              <a:rPr lang="ko-KR" altLang="en-US" sz="9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선정 시 “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</a:t>
            </a:r>
            <a:r>
              <a:rPr lang="ko-KR" altLang="en-US" sz="9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X” </a:t>
            </a:r>
            <a:r>
              <a:rPr lang="ko-KR" altLang="en-US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 </a:t>
            </a:r>
            <a:r>
              <a:rPr lang="ko-KR" altLang="en-US" sz="9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표기 할 것</a:t>
            </a:r>
            <a:r>
              <a:rPr lang="en-US" altLang="ko-KR" sz="9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</p:txBody>
      </p:sp>
      <p:sp>
        <p:nvSpPr>
          <p:cNvPr id="33" name="Text Box 314"/>
          <p:cNvSpPr txBox="1">
            <a:spLocks noChangeArrowheads="1"/>
          </p:cNvSpPr>
          <p:nvPr/>
        </p:nvSpPr>
        <p:spPr bwMode="auto">
          <a:xfrm>
            <a:off x="492369" y="178332"/>
            <a:ext cx="232307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16529" indent="-316529" defTabSz="886575"/>
            <a:r>
              <a:rPr lang="en-US" altLang="ko-KR" sz="100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1-2. </a:t>
            </a:r>
            <a:r>
              <a:rPr lang="ko-KR" altLang="en-US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개발유형 </a:t>
            </a:r>
            <a:r>
              <a:rPr lang="en-US" altLang="ko-KR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일반제품개발</a:t>
            </a:r>
            <a:r>
              <a:rPr lang="en-US" altLang="ko-KR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(NPI3.0</a:t>
            </a:r>
            <a:r>
              <a:rPr lang="en-US" altLang="ko-KR" sz="100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)_</a:t>
            </a:r>
            <a:r>
              <a:rPr lang="ko-KR" altLang="en-US" sz="1000" smtClean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제어</a:t>
            </a:r>
            <a:endParaRPr lang="en-US" altLang="ko-KR" sz="10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4" name="Group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5292932"/>
              </p:ext>
            </p:extLst>
          </p:nvPr>
        </p:nvGraphicFramePr>
        <p:xfrm>
          <a:off x="607438" y="2472645"/>
          <a:ext cx="8733862" cy="4196715"/>
        </p:xfrm>
        <a:graphic>
          <a:graphicData uri="http://schemas.openxmlformats.org/drawingml/2006/table">
            <a:tbl>
              <a:tblPr/>
              <a:tblGrid>
                <a:gridCol w="2268000"/>
                <a:gridCol w="84099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492018"/>
                <a:gridCol w="2268605"/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제어 </a:t>
                      </a: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SW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개발등급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심의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결과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Activity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주관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S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B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Ca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Cb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Cc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Csw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D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LGE) RD(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요구사항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정의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단계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상품기획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요구사항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정의단계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상세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활동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수행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상품기획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LGE)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영향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검토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요청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LGE)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개인정보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영향평가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및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침투테스트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대상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검토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요청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요구사항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확정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워크숍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상품기획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LGE) Dev(SW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단계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 PL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개발단계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상세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활동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SW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제어설계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인정시험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총합계획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구현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및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개발자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자가검증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테스트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케이스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심의회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통합시험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오픈소스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라이선스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분석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900" b="0" i="0" u="none" strike="noStrike" smtClean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오픈소스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취약점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분석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포함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LGE)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개인정보영향평가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결과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해당시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LGE)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데이터거버넌스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이행점검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확인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900" b="0" i="0" u="none" strike="noStrike" smtClean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해당시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SW Feature Complete FDR / FC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 PL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LGE) QP(SW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인정시험단계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인정시험단계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상세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활동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수행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 PL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인정시험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단계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FC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 PL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LGE)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개인정보영향평가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이행점검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결과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확인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해당시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SW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승인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Control Final DR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     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오픈소스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배포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사이트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해당시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N/A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Group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8542483"/>
              </p:ext>
            </p:extLst>
          </p:nvPr>
        </p:nvGraphicFramePr>
        <p:xfrm>
          <a:off x="607438" y="538578"/>
          <a:ext cx="8733862" cy="1741170"/>
        </p:xfrm>
        <a:graphic>
          <a:graphicData uri="http://schemas.openxmlformats.org/drawingml/2006/table">
            <a:tbl>
              <a:tblPr/>
              <a:tblGrid>
                <a:gridCol w="2268000"/>
                <a:gridCol w="84099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358031"/>
                <a:gridCol w="492018"/>
                <a:gridCol w="2268605"/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제어 </a:t>
                      </a: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HW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개발등급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심의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결과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Activity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주관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S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A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B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Ca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Cb</a:t>
                      </a: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Cc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Csw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D</a:t>
                      </a:r>
                      <a:endParaRPr kumimoji="1" lang="en-US" altLang="ko-KR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1" marR="3323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HW FMEA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HW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Artwork DR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HW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HW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설계기준서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HW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회로부품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인정시험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기획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회로부품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신뢰성시험기획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HW DR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HW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HW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설계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완료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리뷰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HW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HW FMEA Update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HW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회로부품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신뢰성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DRBTR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SQA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     HW Final DR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HW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72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4"/>
          <p:cNvSpPr>
            <a:spLocks noChangeShapeType="1"/>
          </p:cNvSpPr>
          <p:nvPr/>
        </p:nvSpPr>
        <p:spPr bwMode="auto">
          <a:xfrm>
            <a:off x="0" y="497375"/>
            <a:ext cx="990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662" b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Box 16"/>
          <p:cNvSpPr txBox="1"/>
          <p:nvPr/>
        </p:nvSpPr>
        <p:spPr>
          <a:xfrm>
            <a:off x="0" y="63497"/>
            <a:ext cx="4910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46859">
              <a:spcBef>
                <a:spcPct val="10000"/>
              </a:spcBef>
              <a:spcAft>
                <a:spcPct val="10000"/>
              </a:spcAft>
            </a:pPr>
            <a:r>
              <a:rPr lang="en-US" altLang="ko-KR" sz="2000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</a:rPr>
              <a:t> </a:t>
            </a:r>
            <a:r>
              <a:rPr lang="ko-KR" altLang="en-US" sz="200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</a:rPr>
              <a:t>유첨</a:t>
            </a:r>
            <a:r>
              <a:rPr lang="en-US" altLang="ko-KR" sz="2000" dirty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</a:rPr>
              <a:t>. </a:t>
            </a:r>
            <a:r>
              <a:rPr lang="ko-KR" altLang="en-US" sz="200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</a:rPr>
              <a:t>개발 유형 및 등급 확정 심의회 운영 </a:t>
            </a:r>
            <a:r>
              <a:rPr lang="ko-KR" altLang="en-US" sz="2000" smtClean="0">
                <a:solidFill>
                  <a:srgbClr val="000000"/>
                </a:solidFill>
                <a:latin typeface="LG스마트체 Regular" pitchFamily="50" charset="-127"/>
                <a:ea typeface="LG스마트체 Regular" pitchFamily="50" charset="-127"/>
              </a:rPr>
              <a:t>기준</a:t>
            </a:r>
            <a:endParaRPr lang="ko-KR" altLang="en-US" sz="2000" dirty="0">
              <a:solidFill>
                <a:srgbClr val="000000"/>
              </a:solidFill>
              <a:latin typeface="LG스마트체 Regular" pitchFamily="50" charset="-127"/>
              <a:ea typeface="LG스마트체 Regular" pitchFamily="50" charset="-127"/>
            </a:endParaRPr>
          </a:p>
        </p:txBody>
      </p:sp>
      <p:sp>
        <p:nvSpPr>
          <p:cNvPr id="13" name="Rectangle 15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057456" y="169859"/>
            <a:ext cx="523101" cy="255716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lIns="84396" tIns="42198" rIns="84396" bIns="42198">
            <a:spAutoFit/>
          </a:bodyPr>
          <a:lstStyle/>
          <a:p>
            <a:r>
              <a:rPr lang="en-US" altLang="ko-KR" sz="1108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NPI3.0</a:t>
            </a:r>
            <a:endParaRPr lang="ko-KR" altLang="en-US" sz="1108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22617" y="3974304"/>
            <a:ext cx="4314359" cy="1477328"/>
          </a:xfrm>
          <a:prstGeom prst="rect">
            <a:avLst/>
          </a:prstGeom>
          <a:solidFill>
            <a:srgbClr val="FFFFFF">
              <a:lumMod val="85000"/>
            </a:srgbClr>
          </a:solidFill>
        </p:spPr>
        <p:txBody>
          <a:bodyPr wrap="squar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1)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필수 참석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: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 팀장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(or PJT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리더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), DQA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팀장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시작기술팀장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STC 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2)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필요 참석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: CAE,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선행 모듈러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QE,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제어 개발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신뢰성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부품개발구매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                     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본부개발품질심사원 등 관련부서는 팀장 참석불가 사유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장기 이석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                     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발생시 선임자 또는 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PJT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실무 담당자가 참석한다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                      ※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필수 참석자는 해외 출장 등 장기 부재 상황시 만 위임 품의한다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3)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승인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: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개발등급심의회 결과를 첨부하여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PJT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등록 승인을 진행 시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/>
            </a:r>
            <a:b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</a:b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             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사업부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DQA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팀장이 반드시 포함되어야 한다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.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   ※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상세 결재 기준은 부표 </a:t>
            </a:r>
            <a:r>
              <a:rPr kumimoji="0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9 NPI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관련 결재기준 참조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8" name="Text Box 237"/>
          <p:cNvSpPr txBox="1">
            <a:spLocks noChangeArrowheads="1"/>
          </p:cNvSpPr>
          <p:nvPr/>
        </p:nvSpPr>
        <p:spPr bwMode="gray">
          <a:xfrm>
            <a:off x="314230" y="702579"/>
            <a:ext cx="3052342" cy="309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9696" tIns="46643" rIns="89696" bIns="46643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1300" b="1">
                <a:solidFill>
                  <a:schemeClr val="tx1"/>
                </a:solidFill>
                <a:latin typeface="Tahoma" pitchFamily="34" charset="0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12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9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9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9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9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1400" u="sng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 유형 및 등급 확정 심의회 </a:t>
            </a:r>
            <a:r>
              <a:rPr lang="ko-KR" altLang="en-US" sz="1400" u="sng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운영 기준</a:t>
            </a:r>
            <a:endParaRPr lang="en-US" altLang="ko-KR" sz="1400" u="sng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301195" y="1095637"/>
            <a:ext cx="439010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r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09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179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266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356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5444" algn="l" defTabSz="914179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2533" algn="l" defTabSz="914179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199622" algn="l" defTabSz="914179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6710" algn="l" defTabSz="914179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92075" indent="-92075" eaLnBrk="0" latinLnBrk="0" hangingPunct="0">
              <a:buFont typeface="Wingdings" panose="05000000000000000000" pitchFamily="2" charset="2"/>
              <a:buChar char="§"/>
            </a:pPr>
            <a:r>
              <a:rPr kumimoji="0"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사업부의 모든 개발 모델에 대하여 개발 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PJT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등록 전</a:t>
            </a:r>
            <a:r>
              <a:rPr kumimoji="0" lang="en-US" altLang="ko-KR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개발팀에서 사전에 </a:t>
            </a:r>
            <a:endParaRPr kumimoji="0" lang="en-US" altLang="ko-KR" sz="1000" b="0" dirty="0" smtClean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 eaLnBrk="0" latinLnBrk="0" hangingPunct="0"/>
            <a:r>
              <a:rPr kumimoji="0"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 </a:t>
            </a:r>
            <a:r>
              <a:rPr kumimoji="0"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컨셉과 변경점의 상세 검토를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통해 개발 </a:t>
            </a:r>
            <a:r>
              <a:rPr kumimoji="0"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유형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개발등급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실행 </a:t>
            </a:r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Activity</a:t>
            </a:r>
            <a:r>
              <a:rPr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를 선정하고</a:t>
            </a:r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</a:p>
          <a:p>
            <a:pPr eaLnBrk="0" latinLnBrk="0" hangingPunct="0"/>
            <a:r>
              <a:rPr kumimoji="0"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 </a:t>
            </a:r>
            <a:r>
              <a:rPr kumimoji="0"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진행 시 예상되는 </a:t>
            </a:r>
            <a:r>
              <a:rPr kumimoji="0"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Q,C,D</a:t>
            </a:r>
            <a:r>
              <a:rPr kumimoji="0"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의 우려점을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사전 </a:t>
            </a:r>
            <a:r>
              <a:rPr kumimoji="0"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검토하여 해결</a:t>
            </a:r>
            <a:r>
              <a:rPr kumimoji="0"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kumimoji="0"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대응 방안을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수립한다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.</a:t>
            </a:r>
            <a:endParaRPr lang="en-US" altLang="ko-KR" sz="1000" b="0" dirty="0" smtClean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30" name="Rectangle 36"/>
          <p:cNvSpPr>
            <a:spLocks noChangeArrowheads="1"/>
          </p:cNvSpPr>
          <p:nvPr/>
        </p:nvSpPr>
        <p:spPr bwMode="auto">
          <a:xfrm>
            <a:off x="5075205" y="1095637"/>
            <a:ext cx="411683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87313" indent="-87313" eaLnBrk="0" hangingPunct="0">
              <a:buFont typeface="Wingdings" panose="05000000000000000000" pitchFamily="2" charset="2"/>
              <a:buChar char="§"/>
            </a:pPr>
            <a:r>
              <a:rPr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프로젝트 등록 </a:t>
            </a:r>
            <a:r>
              <a:rPr lang="ko-KR" altLang="en-US" sz="1000" b="0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유첨</a:t>
            </a:r>
            <a:r>
              <a:rPr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가이드</a:t>
            </a:r>
            <a:endParaRPr lang="en-US" altLang="ko-KR" sz="1000" b="0" dirty="0" smtClean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 eaLnBrk="0" hangingPunct="0"/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1) PJT</a:t>
            </a:r>
            <a:r>
              <a:rPr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등록시 개발컨셉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변경점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예상등급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실행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Activity </a:t>
            </a:r>
            <a:r>
              <a:rPr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등이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/>
            </a:r>
            <a:b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  </a:t>
            </a:r>
            <a:r>
              <a:rPr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포함된 자료를 </a:t>
            </a:r>
            <a:r>
              <a:rPr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유첨한다</a:t>
            </a:r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.</a:t>
            </a:r>
            <a:r>
              <a:rPr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개발등급심의회를 </a:t>
            </a:r>
            <a:r>
              <a:rPr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실시한 </a:t>
            </a:r>
            <a:r>
              <a:rPr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경우</a:t>
            </a:r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</a:t>
            </a:r>
            <a:r>
              <a:rPr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회의록도 첨부한다</a:t>
            </a:r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.</a:t>
            </a:r>
            <a:b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2) D</a:t>
            </a:r>
            <a:r>
              <a:rPr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급의 경우 </a:t>
            </a:r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PJT </a:t>
            </a:r>
            <a:r>
              <a:rPr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등록 시 </a:t>
            </a:r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</a:t>
            </a:r>
            <a:r>
              <a:rPr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급 점검체크리스트 점검결과를 포함한다</a:t>
            </a:r>
            <a:r>
              <a:rPr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.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301195" y="1778122"/>
            <a:ext cx="4569644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r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09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179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266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356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5444" algn="l" defTabSz="914179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2533" algn="l" defTabSz="914179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199622" algn="l" defTabSz="914179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6710" algn="l" defTabSz="914179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92075" indent="-92075" eaLnBrk="0" latinLnBrk="0" hangingPunct="0">
              <a:buFont typeface="Wingdings" panose="05000000000000000000" pitchFamily="2" charset="2"/>
              <a:buChar char="§"/>
            </a:pPr>
            <a:r>
              <a:rPr kumimoji="0"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개발팀에서 선정한 </a:t>
            </a:r>
            <a:r>
              <a:rPr kumimoji="0"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개발등급이 </a:t>
            </a:r>
            <a:endParaRPr kumimoji="0" lang="en-US" altLang="ko-KR" sz="10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 eaLnBrk="0" latinLnBrk="0" hangingPunct="0"/>
            <a:r>
              <a:rPr kumimoji="0"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1</a:t>
            </a:r>
            <a:r>
              <a:rPr kumimoji="0"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 B</a:t>
            </a:r>
            <a:r>
              <a:rPr kumimoji="0"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급 이상인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경우</a:t>
            </a:r>
            <a:r>
              <a:rPr kumimoji="0"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개발팀 주관으로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개발등급심의회를 </a:t>
            </a:r>
            <a:r>
              <a:rPr kumimoji="0"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실시하여 </a:t>
            </a:r>
            <a:r>
              <a:rPr kumimoji="0"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등급과 실행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Activity</a:t>
            </a:r>
            <a:r>
              <a:rPr kumimoji="0"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를 </a:t>
            </a:r>
            <a:endParaRPr kumimoji="0" lang="en-US" altLang="ko-KR" sz="1000" b="0" dirty="0" smtClean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 eaLnBrk="0" latinLnBrk="0" hangingPunct="0"/>
            <a:r>
              <a:rPr kumimoji="0"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  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확정하고</a:t>
            </a:r>
            <a:r>
              <a:rPr kumimoji="0"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회의록을 첨부하여 </a:t>
            </a:r>
            <a:r>
              <a:rPr kumimoji="0" lang="en-US" altLang="ko-KR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PJT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등록</a:t>
            </a:r>
            <a:r>
              <a:rPr kumimoji="0" lang="en-US" altLang="ko-KR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(CP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포함된 개발은 상품기획에서 등록</a:t>
            </a:r>
            <a:r>
              <a:rPr kumimoji="0" lang="en-US" altLang="ko-KR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한다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.</a:t>
            </a:r>
          </a:p>
          <a:p>
            <a:pPr eaLnBrk="0" latinLnBrk="0" hangingPunct="0"/>
            <a:endParaRPr kumimoji="0" lang="en-US" altLang="ko-KR" sz="10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 eaLnBrk="0" latinLnBrk="0" hangingPunct="0"/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2</a:t>
            </a:r>
            <a:r>
              <a:rPr kumimoji="0"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 C</a:t>
            </a:r>
            <a:r>
              <a:rPr kumimoji="0"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급인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경우</a:t>
            </a:r>
            <a:r>
              <a:rPr kumimoji="0"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개발팀에서 개발컨셉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변경점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등급</a:t>
            </a:r>
            <a:r>
              <a:rPr kumimoji="0"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kumimoji="0"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실행</a:t>
            </a:r>
            <a:r>
              <a:rPr kumimoji="0"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Activity</a:t>
            </a:r>
            <a:r>
              <a:rPr kumimoji="0"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를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관련 부서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/>
            </a:r>
            <a:b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</a:b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    (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하기 개발등급 심의회 참석자 기준 부서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에 송부하고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관련 부서는 이의가 </a:t>
            </a:r>
            <a:endParaRPr kumimoji="0" lang="en-US" altLang="ko-KR" sz="1000" b="0" dirty="0" smtClean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 eaLnBrk="0" latinLnBrk="0" hangingPunct="0"/>
            <a:r>
              <a:rPr kumimoji="0"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  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있을시 개발등급심의회를 요청한다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.</a:t>
            </a:r>
            <a:r>
              <a:rPr kumimoji="0"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관련 </a:t>
            </a:r>
            <a:r>
              <a:rPr kumimoji="0" lang="ko-KR" altLang="en-US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부서 송부 후 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2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일 이내 이의 요청이 </a:t>
            </a:r>
            <a:r>
              <a:rPr kumimoji="0"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없는 경우</a:t>
            </a:r>
            <a:r>
              <a:rPr kumimoji="0"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endParaRPr kumimoji="0" lang="en-US" altLang="ko-KR" sz="1000" b="0" dirty="0" smtClean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 eaLnBrk="0" latinLnBrk="0" hangingPunct="0"/>
            <a:r>
              <a:rPr kumimoji="0"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  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별도의 </a:t>
            </a:r>
            <a:r>
              <a:rPr kumimoji="0" lang="ko-KR" altLang="en-US" sz="1000" b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개발등급심의회는 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실시하지 않고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PJT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등록한다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.</a:t>
            </a:r>
          </a:p>
          <a:p>
            <a:pPr eaLnBrk="0" latinLnBrk="0" hangingPunct="0"/>
            <a:endParaRPr kumimoji="0" lang="en-US" altLang="ko-KR" sz="1000" b="0" dirty="0" smtClean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 eaLnBrk="0" latinLnBrk="0" hangingPunct="0"/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3) D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급인 경우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D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급 점검 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C/List</a:t>
            </a:r>
            <a:r>
              <a:rPr kumimoji="0" lang="ko-KR" altLang="en-US" sz="1000" b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에 준하여 점검 한 내용 포함하여 프로젝트 등록한다</a:t>
            </a:r>
            <a:r>
              <a:rPr kumimoji="0" lang="en-US" altLang="ko-KR" sz="1000" b="0" dirty="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.</a:t>
            </a:r>
            <a:endParaRPr lang="en-US" altLang="ko-KR" sz="1000" b="0" dirty="0" smtClean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097016" y="1971417"/>
            <a:ext cx="4614944" cy="1169551"/>
          </a:xfrm>
          <a:prstGeom prst="rect">
            <a:avLst/>
          </a:prstGeom>
          <a:solidFill>
            <a:srgbClr val="00CC99">
              <a:lumMod val="20000"/>
              <a:lumOff val="80000"/>
            </a:srgbClr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sng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[D</a:t>
            </a:r>
            <a:r>
              <a:rPr kumimoji="0" lang="ko-KR" altLang="en-US" sz="1000" b="0" i="0" u="sng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급 점검 </a:t>
            </a:r>
            <a:r>
              <a:rPr kumimoji="0" lang="en-US" altLang="ko-KR" sz="1000" b="0" i="0" u="sng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C/list]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sng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하기 모든 질문에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Yes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일때만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급 개발이 가능함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1)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재료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 변경없이 단순 외관 색상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공용 도료 사용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),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인쇄 변경인 개발인가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?(Yes/No) </a:t>
            </a:r>
            <a:b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2)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동일 정격의 타 국가 개발이면서 제품인정시험 조건이 같은가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?(Yes/No)</a:t>
            </a:r>
            <a:b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상기 조항 이외의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급의 경우에는 등급심의회를 실시하여 결정한다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4870839" y="3974304"/>
            <a:ext cx="4584196" cy="2400657"/>
          </a:xfrm>
          <a:prstGeom prst="rect">
            <a:avLst/>
          </a:prstGeom>
          <a:solidFill>
            <a:srgbClr val="FFFFFF">
              <a:lumMod val="85000"/>
            </a:srgbClr>
          </a:solidFill>
        </p:spPr>
        <p:txBody>
          <a:bodyPr wrap="square">
            <a:spAutoFit/>
          </a:bodyPr>
          <a:lstStyle/>
          <a:p>
            <a:pPr marL="87313" marR="0" lvl="0" indent="-87313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Ca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급 이상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: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오프라인 개발등급 심의회 실시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/>
            </a:r>
            <a:b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</a:b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1)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필수 참석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/>
            </a:r>
            <a:b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</a:b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  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R&amp;D/QA FSE,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개발리더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DQA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팀장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시작기술팀장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/>
            </a:r>
            <a:b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창원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개발팀장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DQA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팀장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STC</a:t>
            </a:r>
            <a:b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2)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필요 참석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/>
            </a:r>
            <a:b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: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한국개발 필요 참석 참고하여 필요 관련부서 참석하고 위임 기준은 동일하게 적용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/>
            </a:r>
            <a:b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</a:b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3)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승인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: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상세 결재 기준은 부표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9 NPI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관련 결재기준 참조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 marL="87313" marR="0" lvl="0" indent="-87313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 marL="87313" marR="0" lvl="0" indent="-87313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Cb, Cc, </a:t>
            </a:r>
            <a:r>
              <a:rPr kumimoji="0" lang="en-US" altLang="ko-KR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Csw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급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: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법인 개발팀 판단하여 관련부서에 송부하고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관련부서는 이의가 </a:t>
            </a: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있을시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/>
            </a:r>
            <a:b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</a:b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 등급 심의회를 요청한다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.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관련부서 송부 후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2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일 이내 이의 요청이 없는 경우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별도의 개발등급심의회는 실시하지 않고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, PJT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등록한다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.</a:t>
            </a:r>
            <a:b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</a:b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승인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: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상세 결재 기준은 부표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9 NPI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관련 결재기준 참조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 marL="87313" marR="0" lvl="0" indent="-87313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 marL="87313" marR="0" lvl="0" indent="-87313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급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: D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급 점검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C/list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에 준하여 점검한 내용 포함하여 프로젝트 등록한다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.</a:t>
            </a:r>
            <a:b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</a:b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승인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: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상세 결재 기준은 부표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9 NPI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관련 결재기준 참조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10041" y="3712694"/>
            <a:ext cx="15007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latinLnBrk="0" hangingPunct="0"/>
            <a:r>
              <a:rPr kumimoji="0" lang="en-US" altLang="ko-KR" sz="1100" u="sng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</a:t>
            </a:r>
            <a:r>
              <a:rPr kumimoji="0" lang="ko-KR" altLang="en-US" sz="1100" u="sng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한국개발 </a:t>
            </a:r>
            <a:r>
              <a:rPr kumimoji="0" lang="en-US" altLang="ko-KR" sz="1100" u="sng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0" lang="ko-KR" altLang="en-US" sz="1100" u="sng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해외라인업</a:t>
            </a:r>
            <a:r>
              <a:rPr kumimoji="0" lang="en-US" altLang="ko-KR" sz="1100" u="sng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r>
              <a:rPr kumimoji="0" lang="en-US" altLang="ko-KR" sz="110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endParaRPr kumimoji="0" lang="en-US" altLang="ko-KR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831265" y="3712694"/>
            <a:ext cx="103425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latinLnBrk="0" hangingPunct="0"/>
            <a:r>
              <a:rPr kumimoji="0" lang="en-US" altLang="ko-KR" sz="1100" u="sng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</a:t>
            </a:r>
            <a:r>
              <a:rPr kumimoji="0" lang="ko-KR" altLang="en-US" sz="1100" u="sng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법인독자개발</a:t>
            </a:r>
            <a:r>
              <a:rPr kumimoji="0" lang="en-US" altLang="ko-KR" sz="1100" u="sng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r>
              <a:rPr kumimoji="0" lang="en-US" altLang="ko-KR" sz="1100" smtClean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endParaRPr kumimoji="0" lang="en-US" altLang="ko-KR" sz="110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51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13463"/>
            <a:ext cx="19816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Arial Narrow" panose="020B0606020202030204" pitchFamily="34" charset="0"/>
                <a:ea typeface="LG스마트체 Regular" pitchFamily="50" charset="-127"/>
              </a:rPr>
              <a:t>개발 </a:t>
            </a:r>
            <a:r>
              <a:rPr lang="en-US" altLang="ko-KR" sz="1600" dirty="0">
                <a:latin typeface="Arial Narrow" panose="020B0606020202030204" pitchFamily="34" charset="0"/>
                <a:ea typeface="LG스마트체 Regular" pitchFamily="50" charset="-127"/>
              </a:rPr>
              <a:t>PJT </a:t>
            </a:r>
            <a:r>
              <a:rPr lang="ko-KR" altLang="en-US" sz="1600" dirty="0">
                <a:latin typeface="Arial Narrow" panose="020B0606020202030204" pitchFamily="34" charset="0"/>
                <a:ea typeface="LG스마트체 Regular" pitchFamily="50" charset="-127"/>
              </a:rPr>
              <a:t>운영 기준 안 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870826"/>
              </p:ext>
            </p:extLst>
          </p:nvPr>
        </p:nvGraphicFramePr>
        <p:xfrm>
          <a:off x="2283329" y="1932842"/>
          <a:ext cx="6462092" cy="1367634"/>
        </p:xfrm>
        <a:graphic>
          <a:graphicData uri="http://schemas.openxmlformats.org/drawingml/2006/table">
            <a:tbl>
              <a:tblPr/>
              <a:tblGrid>
                <a:gridCol w="1010492"/>
                <a:gridCol w="1547046"/>
                <a:gridCol w="1648720"/>
                <a:gridCol w="2255834"/>
              </a:tblGrid>
              <a:tr h="22793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등급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직급 기준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R&amp;D </a:t>
                      </a:r>
                      <a:r>
                        <a:rPr lang="ko-KR" altLang="en-US" sz="13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역량 평가 지수</a:t>
                      </a:r>
                      <a:endParaRPr lang="ko-KR" altLang="en-US" sz="13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경험 기준 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9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급 이상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책임 </a:t>
                      </a:r>
                      <a:r>
                        <a:rPr lang="en-US" altLang="ko-KR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5</a:t>
                      </a:r>
                      <a:r>
                        <a:rPr lang="ko-KR" altLang="en-US" sz="13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년차 </a:t>
                      </a:r>
                      <a:r>
                        <a:rPr lang="ko-KR" altLang="en-US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이상 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 Level</a:t>
                      </a:r>
                      <a:endParaRPr lang="en-US" altLang="ko-KR" sz="13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Ca</a:t>
                      </a:r>
                      <a:r>
                        <a:rPr lang="ko-KR" altLang="en-US" sz="13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급 </a:t>
                      </a:r>
                      <a:r>
                        <a:rPr lang="ko-KR" altLang="en-US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이상 </a:t>
                      </a:r>
                      <a:r>
                        <a:rPr lang="en-US" altLang="ko-KR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PJT</a:t>
                      </a:r>
                      <a:r>
                        <a:rPr lang="ko-KR" altLang="en-US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en-US" altLang="ko-KR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Leader </a:t>
                      </a:r>
                      <a:r>
                        <a:rPr lang="ko-KR" altLang="en-US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유 경험</a:t>
                      </a:r>
                      <a:endParaRPr lang="en-US" altLang="ko-KR" sz="1300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279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B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급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책임급 이상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Ca</a:t>
                      </a:r>
                      <a:r>
                        <a:rPr lang="ko-KR" altLang="en-US" sz="13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급 </a:t>
                      </a:r>
                      <a:r>
                        <a:rPr lang="ko-KR" altLang="en-US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이상 </a:t>
                      </a:r>
                      <a:r>
                        <a:rPr lang="en-US" altLang="ko-KR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PJT</a:t>
                      </a:r>
                      <a:r>
                        <a:rPr lang="ko-KR" altLang="en-US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en-US" altLang="ko-KR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Leader </a:t>
                      </a:r>
                      <a:r>
                        <a:rPr lang="ko-KR" altLang="en-US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유 경험</a:t>
                      </a:r>
                      <a:endParaRPr lang="en-US" altLang="ko-KR" sz="1300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279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Ca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급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선임 </a:t>
                      </a:r>
                      <a:r>
                        <a:rPr lang="en-US" altLang="ko-KR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5</a:t>
                      </a:r>
                      <a:r>
                        <a:rPr lang="ko-KR" altLang="en-US" sz="13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년차 </a:t>
                      </a:r>
                      <a:r>
                        <a:rPr lang="ko-KR" altLang="en-US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이상 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PJT</a:t>
                      </a:r>
                      <a:r>
                        <a:rPr lang="ko-KR" altLang="en-US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en-US" altLang="ko-KR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Leader </a:t>
                      </a:r>
                      <a:r>
                        <a:rPr lang="ko-KR" altLang="en-US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유 경험</a:t>
                      </a:r>
                      <a:endParaRPr lang="en-US" altLang="ko-KR" sz="1300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279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Cb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급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선임급 이상 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-</a:t>
                      </a:r>
                      <a:endParaRPr lang="ko-KR" altLang="en-US" sz="13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279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D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급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연구원 </a:t>
                      </a:r>
                      <a:r>
                        <a:rPr lang="en-US" altLang="ko-KR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</a:t>
                      </a:r>
                      <a:r>
                        <a:rPr lang="ko-KR" altLang="en-US" sz="130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년차 </a:t>
                      </a:r>
                      <a:r>
                        <a:rPr lang="ko-KR" altLang="en-US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이상</a:t>
                      </a:r>
                      <a:endParaRPr lang="en-US" altLang="ko-KR" sz="1300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1300" dirty="0" smtClean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dirty="0" smtClean="0"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-</a:t>
                      </a:r>
                      <a:endParaRPr lang="ko-KR" altLang="en-US" sz="1300" dirty="0"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58275" y="3312321"/>
            <a:ext cx="33543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rgbClr val="FF0000"/>
                </a:solidFill>
                <a:latin typeface="Arial Narrow" panose="020B0606020202030204" pitchFamily="34" charset="0"/>
              </a:rPr>
              <a:t>※ </a:t>
            </a:r>
            <a:r>
              <a:rPr lang="ko-KR" altLang="en-US" sz="105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연구원 </a:t>
            </a:r>
            <a:r>
              <a:rPr lang="en-US" altLang="ko-KR" sz="105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2</a:t>
            </a:r>
            <a:r>
              <a:rPr lang="ko-KR" altLang="en-US" sz="105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년차 </a:t>
            </a:r>
            <a:r>
              <a:rPr lang="ko-KR" altLang="en-US" sz="105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이하는 </a:t>
            </a:r>
            <a:r>
              <a:rPr lang="en-US" altLang="ko-KR" sz="105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Project Leader </a:t>
            </a:r>
            <a:r>
              <a:rPr lang="ko-KR" altLang="en-US" sz="105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대상 제외</a:t>
            </a:r>
            <a:endParaRPr lang="ko-KR" altLang="en-US" sz="105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883088"/>
              </p:ext>
            </p:extLst>
          </p:nvPr>
        </p:nvGraphicFramePr>
        <p:xfrm>
          <a:off x="2254076" y="4910129"/>
          <a:ext cx="2808000" cy="1605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4000"/>
                <a:gridCol w="1365000"/>
                <a:gridCol w="819000"/>
              </a:tblGrid>
              <a:tr h="429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부문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직급 </a:t>
                      </a:r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구분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기본역량 값</a:t>
                      </a:r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/>
                      </a:r>
                      <a:b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</a:br>
                      <a:r>
                        <a:rPr lang="en-US" altLang="ko-KR" sz="11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(</a:t>
                      </a:r>
                      <a:r>
                        <a:rPr lang="ko-KR" altLang="en-US" sz="1100" u="none" strike="noStrike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예시</a:t>
                      </a:r>
                      <a:r>
                        <a:rPr lang="en-US" altLang="ko-KR" sz="11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012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R&amp;D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책임 </a:t>
                      </a:r>
                      <a:r>
                        <a:rPr lang="en-US" altLang="ko-KR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2(5</a:t>
                      </a:r>
                      <a:r>
                        <a:rPr lang="ko-KR" altLang="en-US" sz="1300" u="none" strike="noStrike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년차 </a:t>
                      </a:r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이상</a:t>
                      </a:r>
                      <a:r>
                        <a:rPr lang="en-US" altLang="ko-KR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 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270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책임 </a:t>
                      </a:r>
                      <a:r>
                        <a:rPr lang="en-US" altLang="ko-KR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1(4</a:t>
                      </a:r>
                      <a:r>
                        <a:rPr lang="ko-KR" altLang="en-US" sz="1300" u="none" strike="noStrike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년차 </a:t>
                      </a:r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이하</a:t>
                      </a:r>
                      <a:r>
                        <a:rPr lang="en-US" altLang="ko-KR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8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270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선임 </a:t>
                      </a:r>
                      <a:r>
                        <a:rPr lang="en-US" altLang="ko-KR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2(5</a:t>
                      </a:r>
                      <a:r>
                        <a:rPr lang="ko-KR" altLang="en-US" sz="1300" u="none" strike="noStrike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년차 </a:t>
                      </a:r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이상</a:t>
                      </a:r>
                      <a:r>
                        <a:rPr lang="en-US" altLang="ko-KR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선임 </a:t>
                      </a:r>
                      <a:r>
                        <a:rPr lang="en-US" altLang="ko-KR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1(4</a:t>
                      </a:r>
                      <a:r>
                        <a:rPr lang="ko-KR" altLang="en-US" sz="1300" u="none" strike="noStrike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년차 </a:t>
                      </a:r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이하</a:t>
                      </a:r>
                      <a:r>
                        <a:rPr lang="en-US" altLang="ko-KR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 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270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연구원 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123927"/>
              </p:ext>
            </p:extLst>
          </p:nvPr>
        </p:nvGraphicFramePr>
        <p:xfrm>
          <a:off x="5252061" y="4910129"/>
          <a:ext cx="3419660" cy="15890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9000"/>
                <a:gridCol w="442132"/>
                <a:gridCol w="442132"/>
                <a:gridCol w="442132"/>
                <a:gridCol w="442132"/>
                <a:gridCol w="442132"/>
              </a:tblGrid>
              <a:tr h="2270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등급별 표준인원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S</a:t>
                      </a:r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급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</a:t>
                      </a:r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급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B</a:t>
                      </a:r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급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Ca</a:t>
                      </a:r>
                      <a:r>
                        <a:rPr lang="ko-KR" altLang="en-US" sz="1300" u="none" strike="noStrike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급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Cb</a:t>
                      </a:r>
                      <a:r>
                        <a:rPr lang="ko-KR" altLang="en-US" sz="13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급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0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책임 </a:t>
                      </a:r>
                      <a:r>
                        <a:rPr lang="en-US" altLang="ko-KR" sz="13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 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　</a:t>
                      </a:r>
                      <a:endParaRPr lang="ko-KR" altLang="en-US" sz="13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　</a:t>
                      </a:r>
                      <a:endParaRPr lang="ko-KR" alt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　</a:t>
                      </a:r>
                      <a:endParaRPr lang="ko-KR" alt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270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책임 </a:t>
                      </a:r>
                      <a:r>
                        <a:rPr lang="en-US" altLang="ko-KR" sz="13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　</a:t>
                      </a:r>
                      <a:endParaRPr lang="ko-KR" alt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270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선임 </a:t>
                      </a:r>
                      <a:r>
                        <a:rPr lang="en-US" altLang="ko-KR" sz="13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270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선임 </a:t>
                      </a:r>
                      <a:r>
                        <a:rPr lang="en-US" altLang="ko-KR" sz="13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70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연구원 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</a:t>
                      </a:r>
                      <a:endParaRPr lang="en-US" altLang="ko-KR" sz="13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270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인원 합계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13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10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9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</a:t>
                      </a:r>
                      <a:endParaRPr lang="en-US" altLang="ko-KR" sz="13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39000" marR="39000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710708"/>
              </p:ext>
            </p:extLst>
          </p:nvPr>
        </p:nvGraphicFramePr>
        <p:xfrm>
          <a:off x="2261248" y="4286060"/>
          <a:ext cx="4399390" cy="454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0000"/>
                <a:gridCol w="645878"/>
                <a:gridCol w="645878"/>
                <a:gridCol w="645878"/>
                <a:gridCol w="645878"/>
                <a:gridCol w="645878"/>
              </a:tblGrid>
              <a:tr h="2270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등급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S</a:t>
                      </a:r>
                      <a:r>
                        <a:rPr lang="ko-KR" altLang="en-US" sz="1300" b="1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급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</a:t>
                      </a:r>
                      <a:r>
                        <a:rPr lang="ko-KR" altLang="en-US" sz="1300" b="1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급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B</a:t>
                      </a:r>
                      <a:r>
                        <a:rPr lang="ko-KR" altLang="en-US" sz="1300" b="1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급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Ca</a:t>
                      </a:r>
                      <a:r>
                        <a:rPr lang="ko-KR" altLang="en-US" sz="1300" b="1" u="none" strike="noStrike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급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Cb</a:t>
                      </a:r>
                      <a:r>
                        <a:rPr lang="ko-KR" altLang="en-US" sz="1300" b="1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급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0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표준 역량지수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1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57</a:t>
                      </a:r>
                      <a:endParaRPr lang="en-US" altLang="ko-KR" sz="1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1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48</a:t>
                      </a:r>
                      <a:endParaRPr lang="en-US" altLang="ko-KR" sz="1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1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38</a:t>
                      </a:r>
                      <a:endParaRPr lang="en-US" altLang="ko-KR" sz="1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1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25</a:t>
                      </a:r>
                      <a:endParaRPr lang="en-US" altLang="ko-KR" sz="1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1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10</a:t>
                      </a:r>
                      <a:endParaRPr lang="en-US" altLang="ko-KR" sz="1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10319" marR="10319" marT="10319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006979" y="3645940"/>
            <a:ext cx="6978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ko-KR" altLang="en-US" sz="1200" dirty="0">
                <a:latin typeface="Arial Narrow" panose="020B0606020202030204" pitchFamily="34" charset="0"/>
                <a:ea typeface="LG스마트체 Regular" pitchFamily="50" charset="-127"/>
              </a:rPr>
              <a:t> 직급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itchFamily="50" charset="-127"/>
              </a:rPr>
              <a:t>, </a:t>
            </a:r>
            <a:r>
              <a:rPr lang="ko-KR" altLang="en-US" sz="1200" dirty="0" err="1">
                <a:latin typeface="Arial Narrow" panose="020B0606020202030204" pitchFamily="34" charset="0"/>
                <a:ea typeface="LG스마트체 Regular" pitchFamily="50" charset="-127"/>
              </a:rPr>
              <a:t>년차별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itchFamily="50" charset="-127"/>
              </a:rPr>
              <a:t> 기본 역량 값을 부여하고 개발 등급별 필요 인원을 표준화하여</a:t>
            </a:r>
            <a:endParaRPr lang="en-US" altLang="ko-KR" sz="1200" dirty="0">
              <a:latin typeface="Arial Narrow" panose="020B0606020202030204" pitchFamily="34" charset="0"/>
              <a:ea typeface="LG스마트체 Regular" pitchFamily="50" charset="-127"/>
            </a:endParaRPr>
          </a:p>
          <a:p>
            <a:r>
              <a:rPr lang="ko-KR" altLang="en-US" sz="1200" dirty="0">
                <a:latin typeface="Arial Narrow" panose="020B0606020202030204" pitchFamily="34" charset="0"/>
                <a:ea typeface="LG스마트체 Regular" pitchFamily="50" charset="-127"/>
              </a:rPr>
              <a:t>   필요 개발 인원 확보하여 개발이 진행되도록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itchFamily="50" charset="-127"/>
              </a:rPr>
              <a:t>PJT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itchFamily="50" charset="-127"/>
              </a:rPr>
              <a:t>표준 역량 기준 지수 운영하고자 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4102" y="1293485"/>
            <a:ext cx="6733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ko-KR" altLang="en-US" sz="1200" dirty="0">
                <a:latin typeface="Arial Narrow" panose="020B0606020202030204" pitchFamily="34" charset="0"/>
                <a:ea typeface="LG스마트체 Regular" pitchFamily="50" charset="-127"/>
              </a:rPr>
              <a:t> 개발 등급에 부합되는 경험과 역량을 확보한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itchFamily="50" charset="-127"/>
              </a:rPr>
              <a:t>PJT Leader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itchFamily="50" charset="-127"/>
              </a:rPr>
              <a:t>로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itchFamily="50" charset="-127"/>
              </a:rPr>
              <a:t>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itchFamily="50" charset="-127"/>
              </a:rPr>
              <a:t>선정하여 개발의 완성도    </a:t>
            </a:r>
            <a:endParaRPr lang="en-US" altLang="ko-KR" sz="1200" dirty="0">
              <a:latin typeface="Arial Narrow" panose="020B0606020202030204" pitchFamily="34" charset="0"/>
              <a:ea typeface="LG스마트체 Regular" pitchFamily="50" charset="-127"/>
            </a:endParaRPr>
          </a:p>
          <a:p>
            <a:r>
              <a:rPr lang="en-US" altLang="ko-KR" sz="1200" dirty="0">
                <a:latin typeface="Arial Narrow" panose="020B0606020202030204" pitchFamily="34" charset="0"/>
                <a:ea typeface="LG스마트체 Regular" pitchFamily="50" charset="-127"/>
              </a:rPr>
              <a:t>   </a:t>
            </a:r>
            <a:r>
              <a:rPr lang="ko-KR" altLang="en-US" sz="1200">
                <a:latin typeface="Arial Narrow" panose="020B0606020202030204" pitchFamily="34" charset="0"/>
                <a:ea typeface="LG스마트체 Regular" pitchFamily="50" charset="-127"/>
              </a:rPr>
              <a:t>및 충실력이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itchFamily="50" charset="-127"/>
              </a:rPr>
              <a:t>강화되도록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itchFamily="50" charset="-127"/>
              </a:rPr>
              <a:t>PJT Leader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itchFamily="50" charset="-127"/>
              </a:rPr>
              <a:t>선정 기준을 적용하고자 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802" y="1302912"/>
            <a:ext cx="20705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55994">
              <a:spcBef>
                <a:spcPts val="542"/>
              </a:spcBef>
              <a:buFont typeface="Wingdings" pitchFamily="2" charset="2"/>
              <a:buChar char="q"/>
              <a:defRPr/>
            </a:pPr>
            <a:r>
              <a:rPr lang="ko-KR" altLang="en-US" sz="1200" dirty="0">
                <a:latin typeface="Arial Narrow" panose="020B0606020202030204" pitchFamily="34" charset="0"/>
                <a:ea typeface="LG스마트체 Regular" pitchFamily="50" charset="-127"/>
              </a:rPr>
              <a:t>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itchFamily="50" charset="-127"/>
              </a:rPr>
              <a:t>Project Leader 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itchFamily="50" charset="-127"/>
              </a:rPr>
              <a:t>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795" y="3657450"/>
            <a:ext cx="2285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55994">
              <a:spcBef>
                <a:spcPts val="542"/>
              </a:spcBef>
              <a:buFont typeface="Wingdings" pitchFamily="2" charset="2"/>
              <a:buChar char="q"/>
              <a:defRPr/>
            </a:pPr>
            <a:r>
              <a:rPr lang="ko-KR" altLang="en-US" sz="1200" dirty="0">
                <a:latin typeface="Arial Narrow" panose="020B0606020202030204" pitchFamily="34" charset="0"/>
                <a:ea typeface="LG스마트체 Regular" pitchFamily="50" charset="-127"/>
              </a:rPr>
              <a:t> 등급별  표준 역량 기준</a:t>
            </a:r>
            <a:endParaRPr lang="en-US" altLang="ko-KR" sz="120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6163" y="652915"/>
            <a:ext cx="80714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Arial Narrow" panose="020B0606020202030204" pitchFamily="34" charset="0"/>
                <a:ea typeface="LG스마트체 Regular" pitchFamily="50" charset="-127"/>
              </a:rPr>
              <a:t>개발 </a:t>
            </a:r>
            <a:r>
              <a:rPr lang="en-US" altLang="ko-KR" sz="1400" dirty="0">
                <a:latin typeface="Arial Narrow" panose="020B0606020202030204" pitchFamily="34" charset="0"/>
                <a:ea typeface="LG스마트체 Regular" pitchFamily="50" charset="-127"/>
              </a:rPr>
              <a:t>PJT </a:t>
            </a:r>
            <a:r>
              <a:rPr lang="ko-KR" altLang="en-US" sz="1400" dirty="0">
                <a:latin typeface="Arial Narrow" panose="020B0606020202030204" pitchFamily="34" charset="0"/>
                <a:ea typeface="LG스마트체 Regular" pitchFamily="50" charset="-127"/>
              </a:rPr>
              <a:t>를 정립된 기준 하에서 진행하여 정량적 분석을 통해 </a:t>
            </a:r>
            <a:r>
              <a:rPr lang="en-US" altLang="ko-KR" sz="1400" dirty="0">
                <a:latin typeface="Arial Narrow" panose="020B0606020202030204" pitchFamily="34" charset="0"/>
                <a:ea typeface="LG스마트체 Regular" pitchFamily="50" charset="-127"/>
              </a:rPr>
              <a:t>PJT</a:t>
            </a:r>
            <a:r>
              <a:rPr lang="ko-KR" altLang="en-US" sz="1400" dirty="0">
                <a:latin typeface="Arial Narrow" panose="020B0606020202030204" pitchFamily="34" charset="0"/>
                <a:ea typeface="LG스마트체 Regular" pitchFamily="50" charset="-127"/>
              </a:rPr>
              <a:t> 운영의 수준을 향상시킬 </a:t>
            </a:r>
            <a:r>
              <a:rPr lang="ko-KR" altLang="en-US" sz="1400">
                <a:latin typeface="Arial Narrow" panose="020B0606020202030204" pitchFamily="34" charset="0"/>
                <a:ea typeface="LG스마트체 Regular" pitchFamily="50" charset="-127"/>
              </a:rPr>
              <a:t>수 있도록 하기 위하여 </a:t>
            </a:r>
            <a:endParaRPr lang="en-US" altLang="ko-KR" sz="1400" dirty="0">
              <a:latin typeface="Arial Narrow" panose="020B0606020202030204" pitchFamily="34" charset="0"/>
              <a:ea typeface="LG스마트체 Regular" pitchFamily="50" charset="-127"/>
            </a:endParaRPr>
          </a:p>
          <a:p>
            <a:r>
              <a:rPr lang="en-US" altLang="ko-KR" sz="1400" dirty="0">
                <a:latin typeface="Arial Narrow" panose="020B0606020202030204" pitchFamily="34" charset="0"/>
                <a:ea typeface="LG스마트체 Regular" pitchFamily="50" charset="-127"/>
              </a:rPr>
              <a:t>PJT </a:t>
            </a:r>
            <a:r>
              <a:rPr lang="ko-KR" altLang="en-US" sz="1400">
                <a:latin typeface="Arial Narrow" panose="020B0606020202030204" pitchFamily="34" charset="0"/>
                <a:ea typeface="LG스마트체 Regular" pitchFamily="50" charset="-127"/>
              </a:rPr>
              <a:t>운영 기준 </a:t>
            </a:r>
            <a:r>
              <a:rPr lang="ko-KR" altLang="en-US" sz="1400" dirty="0">
                <a:latin typeface="Arial Narrow" panose="020B0606020202030204" pitchFamily="34" charset="0"/>
                <a:ea typeface="LG스마트체 Regular" pitchFamily="50" charset="-127"/>
              </a:rPr>
              <a:t>안을 제안하고자 함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3089" y="6495147"/>
            <a:ext cx="25619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itchFamily="50" charset="-127"/>
              </a:rPr>
              <a:t>※ 17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itchFamily="50" charset="-127"/>
              </a:rPr>
              <a:t>년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itchFamily="50" charset="-127"/>
              </a:rPr>
              <a:t>SWC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itchFamily="50" charset="-127"/>
              </a:rPr>
              <a:t>개발역량 관리 활동 시 수립된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5771" y="3307546"/>
            <a:ext cx="33543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Arial Narrow" panose="020B0606020202030204" pitchFamily="34" charset="0"/>
              </a:rPr>
              <a:t>※ </a:t>
            </a:r>
            <a:r>
              <a:rPr lang="en-US" altLang="ko-KR" sz="1050" dirty="0">
                <a:latin typeface="Arial Narrow" panose="020B0606020202030204" pitchFamily="34" charset="0"/>
                <a:ea typeface="LG스마트체 Regular" pitchFamily="50" charset="-127"/>
              </a:rPr>
              <a:t>R&amp;D </a:t>
            </a:r>
            <a:r>
              <a:rPr lang="ko-KR" altLang="en-US" sz="1050" dirty="0">
                <a:latin typeface="Arial Narrow" panose="020B0606020202030204" pitchFamily="34" charset="0"/>
                <a:ea typeface="LG스마트체 Regular" pitchFamily="50" charset="-127"/>
              </a:rPr>
              <a:t>역량 평가 지수는 평가제 운영 시 적용</a:t>
            </a:r>
            <a:endParaRPr lang="ko-KR" altLang="en-US" sz="1050" dirty="0">
              <a:latin typeface="Arial Narrow" panose="020B0606020202030204" pitchFamily="34" charset="0"/>
            </a:endParaRPr>
          </a:p>
        </p:txBody>
      </p:sp>
      <p:pic>
        <p:nvPicPr>
          <p:cNvPr id="18" name="Picture 3" descr="C:\Users\hyun\Desktop\비전로고_두줄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7229" y="6386474"/>
            <a:ext cx="1052315" cy="421758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1740896" y="4490703"/>
            <a:ext cx="606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0" dirty="0">
                <a:latin typeface="Arial Narrow" panose="020B0606020202030204" pitchFamily="34" charset="0"/>
                <a:ea typeface="LG스마트체 Regular" pitchFamily="50" charset="-127"/>
              </a:rPr>
              <a:t>(</a:t>
            </a:r>
            <a:r>
              <a:rPr lang="ko-KR" altLang="en-US" sz="1200" b="0">
                <a:latin typeface="Arial Narrow" panose="020B0606020202030204" pitchFamily="34" charset="0"/>
                <a:ea typeface="LG스마트체 Regular" pitchFamily="50" charset="-127"/>
              </a:rPr>
              <a:t>예시</a:t>
            </a:r>
            <a:r>
              <a:rPr lang="en-US" altLang="ko-KR" sz="1200" b="0" dirty="0">
                <a:latin typeface="Arial Narrow" panose="020B0606020202030204" pitchFamily="34" charset="0"/>
                <a:ea typeface="LG스마트체 Regular" pitchFamily="50" charset="-127"/>
              </a:rPr>
              <a:t>)</a:t>
            </a:r>
            <a:endParaRPr lang="ko-KR" altLang="en-US" sz="1200" b="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41324" y="4641758"/>
            <a:ext cx="606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0" dirty="0">
                <a:latin typeface="Arial Narrow" panose="020B0606020202030204" pitchFamily="34" charset="0"/>
                <a:ea typeface="LG스마트체 Regular" pitchFamily="50" charset="-127"/>
              </a:rPr>
              <a:t>(</a:t>
            </a:r>
            <a:r>
              <a:rPr lang="ko-KR" altLang="en-US" sz="1200" b="0">
                <a:latin typeface="Arial Narrow" panose="020B0606020202030204" pitchFamily="34" charset="0"/>
                <a:ea typeface="LG스마트체 Regular" pitchFamily="50" charset="-127"/>
              </a:rPr>
              <a:t>예시</a:t>
            </a:r>
            <a:r>
              <a:rPr lang="en-US" altLang="ko-KR" sz="1200" b="0" dirty="0">
                <a:latin typeface="Arial Narrow" panose="020B0606020202030204" pitchFamily="34" charset="0"/>
                <a:ea typeface="LG스마트체 Regular" pitchFamily="50" charset="-127"/>
              </a:rPr>
              <a:t>)</a:t>
            </a:r>
            <a:endParaRPr lang="ko-KR" altLang="en-US" sz="1200" b="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21" name="Line 39"/>
          <p:cNvSpPr>
            <a:spLocks noChangeShapeType="1"/>
          </p:cNvSpPr>
          <p:nvPr/>
        </p:nvSpPr>
        <p:spPr bwMode="auto">
          <a:xfrm>
            <a:off x="0" y="574438"/>
            <a:ext cx="9906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84341" tIns="42173" rIns="84341" bIns="42173"/>
          <a:lstStyle/>
          <a:p>
            <a:pPr>
              <a:defRPr/>
            </a:pPr>
            <a:endParaRPr lang="ko-KR" altLang="en-US" sz="1846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58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1681670" y="1361202"/>
            <a:ext cx="896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Arial Narrow" panose="020B0606020202030204" pitchFamily="34" charset="0"/>
                <a:ea typeface="LG스마트체 Regular" pitchFamily="50" charset="-127"/>
              </a:rPr>
              <a:t>적용 기준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749" y="2100000"/>
            <a:ext cx="1172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PJT Leader </a:t>
            </a:r>
            <a:r>
              <a:rPr lang="ko-KR" altLang="en-US" sz="120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선정</a:t>
            </a:r>
            <a:endParaRPr lang="ko-KR" altLang="en-US" sz="1200" u="sng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0387" y="3780044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ko-KR" altLang="en-US" sz="120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개발 일정 등록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103" y="5305450"/>
            <a:ext cx="10983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ko-KR" altLang="en-US" sz="120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개발 투입 역량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7474" y="2128348"/>
            <a:ext cx="1098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자격 기준 적합 </a:t>
            </a:r>
            <a:endParaRPr lang="ko-KR" altLang="en-US" sz="120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43887" y="2526236"/>
            <a:ext cx="11977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직급 기준만 적합</a:t>
            </a:r>
            <a:endParaRPr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50298" y="2918770"/>
            <a:ext cx="16722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직급 및 경험 기준 부적합</a:t>
            </a:r>
            <a:endParaRPr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37476" y="3798278"/>
            <a:ext cx="1589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표준일정 적합 </a:t>
            </a:r>
            <a:endParaRPr lang="ko-KR" altLang="en-US" sz="120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68734" y="4182934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0 ~ 20% </a:t>
            </a:r>
            <a:r>
              <a:rPr lang="ko-KR" altLang="en-US" sz="12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단축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16696" y="4587410"/>
            <a:ext cx="108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20% </a:t>
            </a:r>
            <a:r>
              <a:rPr lang="ko-KR" altLang="en-US" sz="12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이상 단축 </a:t>
            </a:r>
          </a:p>
        </p:txBody>
      </p:sp>
      <p:sp>
        <p:nvSpPr>
          <p:cNvPr id="32" name="타원 31"/>
          <p:cNvSpPr/>
          <p:nvPr/>
        </p:nvSpPr>
        <p:spPr>
          <a:xfrm>
            <a:off x="1910126" y="2150771"/>
            <a:ext cx="232372" cy="232148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1910126" y="2548659"/>
            <a:ext cx="232372" cy="232148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1910126" y="2941194"/>
            <a:ext cx="232372" cy="232148"/>
          </a:xfrm>
          <a:prstGeom prst="ellipse">
            <a:avLst/>
          </a:prstGeom>
          <a:solidFill>
            <a:srgbClr val="FF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37476" y="5315864"/>
            <a:ext cx="1589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표준 역량 준수</a:t>
            </a:r>
            <a:endParaRPr lang="ko-KR" altLang="en-US" sz="120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89572" y="5732432"/>
            <a:ext cx="992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0 ~ 10% </a:t>
            </a:r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축소 </a:t>
            </a:r>
            <a:endParaRPr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73542" y="6104329"/>
            <a:ext cx="1082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10% </a:t>
            </a:r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이상 축소 </a:t>
            </a:r>
            <a:endParaRPr lang="en-US" altLang="ko-KR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38" name="이등변 삼각형 37"/>
          <p:cNvSpPr/>
          <p:nvPr/>
        </p:nvSpPr>
        <p:spPr>
          <a:xfrm rot="5400000">
            <a:off x="2675074" y="3948275"/>
            <a:ext cx="3432381" cy="267997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97445" y="1355861"/>
            <a:ext cx="958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Arial Narrow" panose="020B0606020202030204" pitchFamily="34" charset="0"/>
                <a:ea typeface="LG스마트체 Regular" pitchFamily="50" charset="-127"/>
              </a:rPr>
              <a:t>운영  </a:t>
            </a:r>
            <a:r>
              <a:rPr lang="en-US" altLang="ko-KR" sz="1400" dirty="0">
                <a:latin typeface="Arial Narrow" panose="020B0606020202030204" pitchFamily="34" charset="0"/>
                <a:ea typeface="LG스마트체 Regular" pitchFamily="50" charset="-127"/>
              </a:rPr>
              <a:t>Flow </a:t>
            </a:r>
            <a:endParaRPr lang="ko-KR" altLang="en-US" sz="140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33267" y="2683546"/>
            <a:ext cx="4347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Arial Narrow" panose="020B0606020202030204" pitchFamily="34" charset="0"/>
                <a:ea typeface="LG스마트체 Regular" pitchFamily="50" charset="-127"/>
              </a:rPr>
              <a:t>R&amp;D</a:t>
            </a:r>
            <a:endParaRPr lang="ko-KR" altLang="en-US" sz="110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387788" y="2139116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Arial Narrow" panose="020B0606020202030204" pitchFamily="34" charset="0"/>
                <a:ea typeface="LG스마트체 Regular" pitchFamily="50" charset="-127"/>
              </a:rPr>
              <a:t>관련부서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2669" y="3340204"/>
            <a:ext cx="4347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Arial Narrow" panose="020B0606020202030204" pitchFamily="34" charset="0"/>
                <a:ea typeface="LG스마트체 Regular" pitchFamily="50" charset="-127"/>
              </a:rPr>
              <a:t>R&amp;D</a:t>
            </a:r>
            <a:endParaRPr lang="ko-KR" altLang="en-US" sz="110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551058" y="5561054"/>
            <a:ext cx="4347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Arial Narrow" panose="020B0606020202030204" pitchFamily="34" charset="0"/>
                <a:ea typeface="LG스마트체 Regular" pitchFamily="50" charset="-127"/>
              </a:rPr>
              <a:t>R&amp;D</a:t>
            </a:r>
            <a:endParaRPr lang="ko-KR" altLang="en-US" sz="110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980900" y="1727966"/>
            <a:ext cx="24533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416496" y="3544215"/>
            <a:ext cx="361066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453186" y="5186224"/>
            <a:ext cx="361066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561157" y="6091569"/>
            <a:ext cx="4347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Arial Narrow" panose="020B0606020202030204" pitchFamily="34" charset="0"/>
                <a:ea typeface="LG스마트체 Regular" pitchFamily="50" charset="-127"/>
              </a:rPr>
              <a:t>R&amp;D</a:t>
            </a:r>
            <a:endParaRPr lang="ko-KR" altLang="en-US" sz="110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408199" y="5013397"/>
            <a:ext cx="6719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Arial Narrow" panose="020B0606020202030204" pitchFamily="34" charset="0"/>
                <a:ea typeface="LG스마트체 Regular" pitchFamily="50" charset="-127"/>
              </a:rPr>
              <a:t>P/Leader</a:t>
            </a:r>
            <a:endParaRPr lang="ko-KR" altLang="en-US" sz="110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40024" y="667536"/>
            <a:ext cx="8910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Arial Narrow" panose="020B0606020202030204" pitchFamily="34" charset="0"/>
                <a:ea typeface="LG스마트체 Regular" pitchFamily="50" charset="-127"/>
              </a:rPr>
              <a:t>PJT Leader </a:t>
            </a:r>
            <a:r>
              <a:rPr lang="ko-KR" altLang="en-US" sz="1400" dirty="0">
                <a:latin typeface="Arial Narrow" panose="020B0606020202030204" pitchFamily="34" charset="0"/>
                <a:ea typeface="LG스마트체 Regular" pitchFamily="50" charset="-127"/>
              </a:rPr>
              <a:t>는 </a:t>
            </a:r>
            <a:r>
              <a:rPr lang="en-US" altLang="ko-KR" sz="1400" dirty="0">
                <a:latin typeface="Arial Narrow" panose="020B0606020202030204" pitchFamily="34" charset="0"/>
                <a:ea typeface="LG스마트체 Regular" pitchFamily="50" charset="-127"/>
              </a:rPr>
              <a:t>PJT </a:t>
            </a:r>
            <a:r>
              <a:rPr lang="ko-KR" altLang="en-US" sz="1400" dirty="0">
                <a:latin typeface="Arial Narrow" panose="020B0606020202030204" pitchFamily="34" charset="0"/>
                <a:ea typeface="LG스마트체 Regular" pitchFamily="50" charset="-127"/>
              </a:rPr>
              <a:t>등록 시 기준  적합 여부를 점검하고</a:t>
            </a:r>
            <a:r>
              <a:rPr lang="en-US" altLang="ko-KR" sz="1400" dirty="0">
                <a:latin typeface="Arial Narrow" panose="020B0606020202030204" pitchFamily="34" charset="0"/>
                <a:ea typeface="LG스마트체 Regular" pitchFamily="50" charset="-127"/>
              </a:rPr>
              <a:t>, </a:t>
            </a:r>
            <a:r>
              <a:rPr lang="ko-KR" altLang="en-US" sz="1400" dirty="0">
                <a:latin typeface="Arial Narrow" panose="020B0606020202030204" pitchFamily="34" charset="0"/>
                <a:ea typeface="LG스마트체 Regular" pitchFamily="50" charset="-127"/>
              </a:rPr>
              <a:t>기준  미 적합 시 보완 대책 안을 </a:t>
            </a:r>
            <a:r>
              <a:rPr lang="ko-KR" altLang="en-US" sz="1400">
                <a:latin typeface="Arial Narrow" panose="020B0606020202030204" pitchFamily="34" charset="0"/>
                <a:ea typeface="LG스마트체 Regular" pitchFamily="50" charset="-127"/>
              </a:rPr>
              <a:t>수립하여 보고</a:t>
            </a:r>
            <a:r>
              <a:rPr lang="en-US" altLang="ko-KR" sz="1400" dirty="0">
                <a:latin typeface="Arial Narrow" panose="020B0606020202030204" pitchFamily="34" charset="0"/>
                <a:ea typeface="LG스마트체 Regular" pitchFamily="50" charset="-127"/>
              </a:rPr>
              <a:t>, </a:t>
            </a:r>
          </a:p>
          <a:p>
            <a:r>
              <a:rPr lang="ko-KR" altLang="en-US" sz="1400">
                <a:latin typeface="Arial Narrow" panose="020B0606020202030204" pitchFamily="34" charset="0"/>
                <a:ea typeface="LG스마트체 Regular" pitchFamily="50" charset="-127"/>
              </a:rPr>
              <a:t>승인 </a:t>
            </a:r>
            <a:r>
              <a:rPr lang="ko-KR" altLang="en-US" sz="1400" dirty="0">
                <a:latin typeface="Arial Narrow" panose="020B0606020202030204" pitchFamily="34" charset="0"/>
                <a:ea typeface="LG스마트체 Regular" pitchFamily="50" charset="-127"/>
              </a:rPr>
              <a:t>후 등록하도록 한다</a:t>
            </a:r>
            <a:r>
              <a:rPr lang="en-US" altLang="ko-KR" sz="1400" dirty="0">
                <a:latin typeface="Arial Narrow" panose="020B0606020202030204" pitchFamily="34" charset="0"/>
                <a:ea typeface="LG스마트체 Regular" pitchFamily="50" charset="-127"/>
              </a:rPr>
              <a:t>.</a:t>
            </a:r>
            <a:r>
              <a:rPr lang="ko-KR" altLang="en-US" sz="1400" dirty="0">
                <a:latin typeface="Arial Narrow" panose="020B0606020202030204" pitchFamily="34" charset="0"/>
                <a:ea typeface="LG스마트체 Regular" pitchFamily="50" charset="-127"/>
              </a:rPr>
              <a:t> </a:t>
            </a:r>
          </a:p>
        </p:txBody>
      </p:sp>
      <p:cxnSp>
        <p:nvCxnSpPr>
          <p:cNvPr id="50" name="직선 화살표 연결선 49"/>
          <p:cNvCxnSpPr>
            <a:stCxn id="52" idx="2"/>
            <a:endCxn id="59" idx="0"/>
          </p:cNvCxnSpPr>
          <p:nvPr/>
        </p:nvCxnSpPr>
        <p:spPr>
          <a:xfrm>
            <a:off x="5602702" y="4888425"/>
            <a:ext cx="7171" cy="120515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>
            <a:stCxn id="54" idx="2"/>
            <a:endCxn id="52" idx="0"/>
          </p:cNvCxnSpPr>
          <p:nvPr/>
        </p:nvCxnSpPr>
        <p:spPr>
          <a:xfrm>
            <a:off x="5584284" y="2387603"/>
            <a:ext cx="18417" cy="151527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 Box 2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4772522" y="3902878"/>
            <a:ext cx="1660356" cy="985548"/>
          </a:xfrm>
          <a:prstGeom prst="diamond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FFFFFF">
                <a:lumMod val="50000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ctr">
              <a:defRPr sz="1100" b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atinLnBrk="0">
              <a:buFont typeface="Wingdings" pitchFamily="2" charset="2"/>
              <a:buNone/>
              <a:defRPr/>
            </a:pPr>
            <a:r>
              <a:rPr lang="ko-KR" altLang="en-US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기준 적합 확인</a:t>
            </a:r>
          </a:p>
        </p:txBody>
      </p:sp>
      <p:sp>
        <p:nvSpPr>
          <p:cNvPr id="53" name="Rectangle 50"/>
          <p:cNvSpPr>
            <a:spLocks noChangeArrowheads="1"/>
          </p:cNvSpPr>
          <p:nvPr/>
        </p:nvSpPr>
        <p:spPr bwMode="auto">
          <a:xfrm>
            <a:off x="4735689" y="2626174"/>
            <a:ext cx="1697191" cy="43611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>
                <a:lumMod val="50000"/>
              </a:srgb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ko-KR" altLang="en-US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 </a:t>
            </a:r>
            <a:r>
              <a:rPr lang="en-US" altLang="ko-KR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PJ</a:t>
            </a:r>
            <a:r>
              <a:rPr lang="ko-KR" altLang="en-US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팀 구성</a:t>
            </a:r>
            <a:endParaRPr lang="en-US" altLang="ko-KR" sz="105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 algn="ctr" latinLnBrk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ko-KR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lang="ko-KR" altLang="en-US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 리더</a:t>
            </a:r>
            <a:r>
              <a:rPr lang="en-US" altLang="ko-KR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인원</a:t>
            </a:r>
            <a:r>
              <a:rPr lang="en-US" altLang="ko-KR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일정 확정</a:t>
            </a:r>
            <a:r>
              <a:rPr lang="en-US" altLang="ko-KR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lang="ko-KR" altLang="en-US" sz="105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54" name="Rectangle 50"/>
          <p:cNvSpPr>
            <a:spLocks noChangeArrowheads="1"/>
          </p:cNvSpPr>
          <p:nvPr/>
        </p:nvSpPr>
        <p:spPr bwMode="auto">
          <a:xfrm>
            <a:off x="4735689" y="2127469"/>
            <a:ext cx="1697191" cy="26013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>
                <a:lumMod val="50000"/>
              </a:srgb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ko-KR" altLang="en-US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개발 등급 심의회</a:t>
            </a:r>
            <a:r>
              <a:rPr lang="en-US" altLang="ko-KR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endParaRPr lang="ko-KR" altLang="en-US" sz="105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55" name="Rectangle 50"/>
          <p:cNvSpPr>
            <a:spLocks noChangeArrowheads="1"/>
          </p:cNvSpPr>
          <p:nvPr/>
        </p:nvSpPr>
        <p:spPr bwMode="auto">
          <a:xfrm>
            <a:off x="4735007" y="3303685"/>
            <a:ext cx="1697191" cy="4146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>
                <a:lumMod val="50000"/>
              </a:srgb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>
              <a:buFont typeface="Wingdings" pitchFamily="2" charset="2"/>
              <a:buNone/>
              <a:defRPr/>
            </a:pPr>
            <a:r>
              <a:rPr lang="en-US" altLang="ko-KR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Leader/</a:t>
            </a:r>
            <a:r>
              <a:rPr lang="ko-KR" altLang="en-US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일정</a:t>
            </a:r>
            <a:r>
              <a:rPr lang="en-US" altLang="ko-KR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역량 </a:t>
            </a:r>
            <a:endParaRPr lang="en-US" altLang="ko-KR" sz="105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  <a:p>
            <a:pPr algn="ctr" latinLnBrk="0">
              <a:buFont typeface="Wingdings" pitchFamily="2" charset="2"/>
              <a:buNone/>
              <a:defRPr/>
            </a:pPr>
            <a:r>
              <a:rPr lang="ko-KR" altLang="en-US" sz="105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기준 점검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17636" y="4091255"/>
            <a:ext cx="2648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latin typeface="Arial Narrow" panose="020B0606020202030204" pitchFamily="34" charset="0"/>
                <a:ea typeface="LG스마트체 Regular" pitchFamily="50" charset="-127"/>
              </a:rPr>
              <a:t>N</a:t>
            </a:r>
            <a:endParaRPr lang="ko-KR" altLang="en-US" sz="105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 flipH="1">
            <a:off x="5567059" y="4832205"/>
            <a:ext cx="3146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Arial Narrow" panose="020B0606020202030204" pitchFamily="34" charset="0"/>
                <a:ea typeface="LG스마트체 Regular" pitchFamily="50" charset="-127"/>
              </a:rPr>
              <a:t>Y</a:t>
            </a:r>
            <a:endParaRPr lang="ko-KR" altLang="en-US" sz="105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58" name="Text Box 2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4810476" y="5561672"/>
            <a:ext cx="1660356" cy="264785"/>
          </a:xfrm>
          <a:prstGeom prst="rect">
            <a:avLst/>
          </a:prstGeom>
          <a:solidFill>
            <a:schemeClr val="bg1"/>
          </a:solidFill>
          <a:ln w="9525">
            <a:solidFill>
              <a:srgbClr val="FFFFFF">
                <a:lumMod val="50000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ctr">
              <a:defRPr sz="1100" b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atinLnBrk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ko-KR" sz="1050" b="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PJT </a:t>
            </a:r>
            <a:r>
              <a:rPr lang="ko-KR" altLang="en-US" sz="1050" b="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등록 </a:t>
            </a:r>
            <a:endParaRPr lang="en-US" altLang="ko-KR" sz="1050" b="0" kern="0" baseline="3000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59" name="Text Box 2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4779693" y="6093579"/>
            <a:ext cx="1660356" cy="264785"/>
          </a:xfrm>
          <a:prstGeom prst="rect">
            <a:avLst/>
          </a:prstGeom>
          <a:solidFill>
            <a:schemeClr val="bg1"/>
          </a:solidFill>
          <a:ln w="9525">
            <a:solidFill>
              <a:srgbClr val="FFFFFF">
                <a:lumMod val="50000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ctr">
              <a:defRPr sz="1100" b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atinLnBrk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ko-KR" sz="1050" b="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PJT </a:t>
            </a:r>
            <a:r>
              <a:rPr lang="ko-KR" altLang="en-US" sz="1050" b="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승인</a:t>
            </a:r>
            <a:r>
              <a:rPr lang="en-US" altLang="ko-KR" sz="1050" b="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(</a:t>
            </a:r>
            <a:r>
              <a:rPr lang="ko-KR" altLang="en-US" sz="1050" b="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연구개발 담당</a:t>
            </a:r>
            <a:r>
              <a:rPr lang="en-US" altLang="ko-KR" sz="1050" b="0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)</a:t>
            </a:r>
            <a:endParaRPr lang="en-US" altLang="ko-KR" sz="1050" b="0" kern="0" baseline="3000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cxnSp>
        <p:nvCxnSpPr>
          <p:cNvPr id="60" name="직선 연결선 59"/>
          <p:cNvCxnSpPr>
            <a:endCxn id="70" idx="1"/>
          </p:cNvCxnSpPr>
          <p:nvPr/>
        </p:nvCxnSpPr>
        <p:spPr>
          <a:xfrm>
            <a:off x="6427293" y="4398098"/>
            <a:ext cx="199872" cy="337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638532" y="5046779"/>
            <a:ext cx="10278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9900"/>
                </a:solidFill>
                <a:latin typeface="Arial Narrow" panose="020B0606020202030204" pitchFamily="34" charset="0"/>
                <a:ea typeface="LG스마트체 Regular" pitchFamily="50" charset="-127"/>
              </a:rPr>
              <a:t>※ Template </a:t>
            </a:r>
            <a:r>
              <a:rPr lang="ko-KR" altLang="en-US" sz="1000" dirty="0">
                <a:solidFill>
                  <a:srgbClr val="0099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작성</a:t>
            </a:r>
          </a:p>
        </p:txBody>
      </p:sp>
      <p:cxnSp>
        <p:nvCxnSpPr>
          <p:cNvPr id="62" name="꺾인 연결선 61"/>
          <p:cNvCxnSpPr>
            <a:stCxn id="71" idx="3"/>
            <a:endCxn id="53" idx="3"/>
          </p:cNvCxnSpPr>
          <p:nvPr/>
        </p:nvCxnSpPr>
        <p:spPr>
          <a:xfrm flipH="1" flipV="1">
            <a:off x="6432880" y="2844234"/>
            <a:ext cx="1724821" cy="2330189"/>
          </a:xfrm>
          <a:prstGeom prst="bentConnector3">
            <a:avLst>
              <a:gd name="adj1" fmla="val -14358"/>
            </a:avLst>
          </a:prstGeom>
          <a:ln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408651" y="4256577"/>
            <a:ext cx="6719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Arial Narrow" panose="020B0606020202030204" pitchFamily="34" charset="0"/>
                <a:ea typeface="LG스마트체 Regular" pitchFamily="50" charset="-127"/>
              </a:rPr>
              <a:t>P/Leader</a:t>
            </a:r>
            <a:endParaRPr lang="ko-KR" altLang="en-US" sz="110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64" name="타원 63"/>
          <p:cNvSpPr/>
          <p:nvPr/>
        </p:nvSpPr>
        <p:spPr>
          <a:xfrm>
            <a:off x="1910126" y="3820702"/>
            <a:ext cx="232372" cy="232148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65" name="타원 64"/>
          <p:cNvSpPr/>
          <p:nvPr/>
        </p:nvSpPr>
        <p:spPr>
          <a:xfrm>
            <a:off x="1910126" y="4205357"/>
            <a:ext cx="232372" cy="232148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1910126" y="4609834"/>
            <a:ext cx="232372" cy="232148"/>
          </a:xfrm>
          <a:prstGeom prst="ellipse">
            <a:avLst/>
          </a:prstGeom>
          <a:solidFill>
            <a:srgbClr val="FF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1910126" y="5338287"/>
            <a:ext cx="232372" cy="232148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68" name="타원 67"/>
          <p:cNvSpPr/>
          <p:nvPr/>
        </p:nvSpPr>
        <p:spPr>
          <a:xfrm>
            <a:off x="1910126" y="5754855"/>
            <a:ext cx="232372" cy="232148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1910126" y="6126753"/>
            <a:ext cx="232372" cy="232148"/>
          </a:xfrm>
          <a:prstGeom prst="ellipse">
            <a:avLst/>
          </a:prstGeom>
          <a:solidFill>
            <a:srgbClr val="FF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70" name="Rectangle 50"/>
          <p:cNvSpPr>
            <a:spLocks noChangeArrowheads="1"/>
          </p:cNvSpPr>
          <p:nvPr/>
        </p:nvSpPr>
        <p:spPr bwMode="auto">
          <a:xfrm>
            <a:off x="6627165" y="4271401"/>
            <a:ext cx="984473" cy="26013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>
                <a:lumMod val="50000"/>
              </a:srgb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50" dirty="0">
                <a:latin typeface="Arial Narrow" panose="020B0606020202030204" pitchFamily="34" charset="0"/>
                <a:ea typeface="LG스마트체 Regular" pitchFamily="50" charset="-127"/>
              </a:rPr>
              <a:t>보완 대책 수립</a:t>
            </a:r>
          </a:p>
        </p:txBody>
      </p:sp>
      <p:sp>
        <p:nvSpPr>
          <p:cNvPr id="71" name="Rectangle 50"/>
          <p:cNvSpPr>
            <a:spLocks noChangeArrowheads="1"/>
          </p:cNvSpPr>
          <p:nvPr/>
        </p:nvSpPr>
        <p:spPr bwMode="auto">
          <a:xfrm>
            <a:off x="7238551" y="5044354"/>
            <a:ext cx="919148" cy="26013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>
                <a:lumMod val="50000"/>
              </a:srgb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50" dirty="0">
                <a:latin typeface="Arial Narrow" panose="020B0606020202030204" pitchFamily="34" charset="0"/>
                <a:ea typeface="LG스마트체 Regular" pitchFamily="50" charset="-127"/>
              </a:rPr>
              <a:t>사업부장 보고</a:t>
            </a:r>
          </a:p>
        </p:txBody>
      </p:sp>
      <p:cxnSp>
        <p:nvCxnSpPr>
          <p:cNvPr id="72" name="꺾인 연결선 71"/>
          <p:cNvCxnSpPr>
            <a:stCxn id="70" idx="2"/>
            <a:endCxn id="58" idx="3"/>
          </p:cNvCxnSpPr>
          <p:nvPr/>
        </p:nvCxnSpPr>
        <p:spPr>
          <a:xfrm rot="5400000">
            <a:off x="6213854" y="4788514"/>
            <a:ext cx="1162527" cy="648570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70" idx="3"/>
            <a:endCxn id="71" idx="0"/>
          </p:cNvCxnSpPr>
          <p:nvPr/>
        </p:nvCxnSpPr>
        <p:spPr>
          <a:xfrm>
            <a:off x="7611638" y="4401469"/>
            <a:ext cx="86488" cy="642886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71" idx="2"/>
            <a:endCxn id="58" idx="3"/>
          </p:cNvCxnSpPr>
          <p:nvPr/>
        </p:nvCxnSpPr>
        <p:spPr>
          <a:xfrm rot="5400000">
            <a:off x="6889693" y="4885629"/>
            <a:ext cx="389574" cy="1227294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838944" y="4665844"/>
            <a:ext cx="2824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latin typeface="Arial Narrow" panose="020B0606020202030204" pitchFamily="34" charset="0"/>
                <a:ea typeface="LG스마트체 Regular" pitchFamily="50" charset="-127"/>
              </a:rPr>
              <a:t>1)</a:t>
            </a:r>
            <a:endParaRPr lang="ko-KR" altLang="en-US" sz="105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631441" y="4577878"/>
            <a:ext cx="2824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latin typeface="Arial Narrow" panose="020B0606020202030204" pitchFamily="34" charset="0"/>
                <a:ea typeface="LG스마트체 Regular" pitchFamily="50" charset="-127"/>
              </a:rPr>
              <a:t>2)</a:t>
            </a:r>
            <a:endParaRPr lang="ko-KR" altLang="en-US" sz="105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 flipH="1">
            <a:off x="7693698" y="5351054"/>
            <a:ext cx="2755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Arial Narrow" panose="020B0606020202030204" pitchFamily="34" charset="0"/>
                <a:ea typeface="LG스마트체 Regular" pitchFamily="50" charset="-127"/>
              </a:rPr>
              <a:t>Y</a:t>
            </a:r>
            <a:endParaRPr lang="ko-KR" altLang="en-US" sz="105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034564" y="4683024"/>
            <a:ext cx="2648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latin typeface="Arial Narrow" panose="020B0606020202030204" pitchFamily="34" charset="0"/>
                <a:ea typeface="LG스마트체 Regular" pitchFamily="50" charset="-127"/>
              </a:rPr>
              <a:t>N</a:t>
            </a:r>
            <a:endParaRPr lang="ko-KR" altLang="en-US" sz="105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775802" y="4555003"/>
            <a:ext cx="2343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Arial Narrow" panose="020B0606020202030204" pitchFamily="34" charset="0"/>
              </a:rPr>
              <a:t>*</a:t>
            </a:r>
            <a:endParaRPr lang="ko-KR" altLang="en-US" sz="1200" dirty="0">
              <a:latin typeface="Arial Narrow" panose="020B0606020202030204" pitchFamily="34" charset="0"/>
            </a:endParaRPr>
          </a:p>
        </p:txBody>
      </p:sp>
      <p:grpSp>
        <p:nvGrpSpPr>
          <p:cNvPr id="80" name="그룹 79"/>
          <p:cNvGrpSpPr/>
          <p:nvPr/>
        </p:nvGrpSpPr>
        <p:grpSpPr>
          <a:xfrm>
            <a:off x="6393492" y="6385558"/>
            <a:ext cx="1993944" cy="327593"/>
            <a:chOff x="6300192" y="6185852"/>
            <a:chExt cx="1840563" cy="302393"/>
          </a:xfrm>
        </p:grpSpPr>
        <p:sp>
          <p:nvSpPr>
            <p:cNvPr id="81" name="TextBox 80"/>
            <p:cNvSpPr txBox="1"/>
            <p:nvPr/>
          </p:nvSpPr>
          <p:spPr>
            <a:xfrm>
              <a:off x="6395899" y="6253862"/>
              <a:ext cx="1744856" cy="234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Arial Narrow" panose="020B0606020202030204" pitchFamily="34" charset="0"/>
                  <a:ea typeface="LG스마트체 Regular" pitchFamily="50" charset="-127"/>
                </a:rPr>
                <a:t>1) Red : </a:t>
              </a:r>
              <a:r>
                <a:rPr lang="ko-KR" altLang="en-US" sz="1050" dirty="0">
                  <a:latin typeface="Arial Narrow" panose="020B0606020202030204" pitchFamily="34" charset="0"/>
                  <a:ea typeface="LG스마트체 Regular" pitchFamily="50" charset="-127"/>
                </a:rPr>
                <a:t>없음</a:t>
              </a:r>
              <a:r>
                <a:rPr lang="en-US" altLang="ko-KR" sz="1050" dirty="0">
                  <a:latin typeface="Arial Narrow" panose="020B0606020202030204" pitchFamily="34" charset="0"/>
                  <a:ea typeface="LG스마트체 Regular" pitchFamily="50" charset="-127"/>
                </a:rPr>
                <a:t>.  2) Red : 1</a:t>
              </a:r>
              <a:r>
                <a:rPr lang="ko-KR" altLang="en-US" sz="1050" dirty="0">
                  <a:latin typeface="Arial Narrow" panose="020B0606020202030204" pitchFamily="34" charset="0"/>
                  <a:ea typeface="LG스마트체 Regular" pitchFamily="50" charset="-127"/>
                </a:rPr>
                <a:t>개 이상  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6300192" y="6185852"/>
              <a:ext cx="216332" cy="2556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Arial Narrow" panose="020B0606020202030204" pitchFamily="34" charset="0"/>
                </a:rPr>
                <a:t>*</a:t>
              </a:r>
              <a:endParaRPr lang="ko-KR" altLang="en-US" sz="1200" dirty="0">
                <a:latin typeface="Arial Narrow" panose="020B0606020202030204" pitchFamily="34" charset="0"/>
              </a:endParaRPr>
            </a:p>
          </p:txBody>
        </p:sp>
      </p:grpSp>
      <p:cxnSp>
        <p:nvCxnSpPr>
          <p:cNvPr id="83" name="직선 연결선 82"/>
          <p:cNvCxnSpPr/>
          <p:nvPr/>
        </p:nvCxnSpPr>
        <p:spPr>
          <a:xfrm>
            <a:off x="5648667" y="1723544"/>
            <a:ext cx="24533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실행 단추: 앞으로 또는 다음 83">
            <a:hlinkClick r:id="rId2" action="ppaction://hlinksldjump" highlightClick="1"/>
          </p:cNvPr>
          <p:cNvSpPr/>
          <p:nvPr/>
        </p:nvSpPr>
        <p:spPr>
          <a:xfrm>
            <a:off x="6111873" y="5281359"/>
            <a:ext cx="315835" cy="210498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Arial Narrow" panose="020B0606020202030204" pitchFamily="34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0" y="113463"/>
            <a:ext cx="2010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Arial Narrow" panose="020B0606020202030204" pitchFamily="34" charset="0"/>
                <a:ea typeface="LG스마트체 Regular" pitchFamily="50" charset="-127"/>
              </a:rPr>
              <a:t>적용 기준 및 운영 </a:t>
            </a:r>
            <a:r>
              <a:rPr lang="en-US" altLang="ko-KR" sz="1600" dirty="0">
                <a:latin typeface="Arial Narrow" panose="020B0606020202030204" pitchFamily="34" charset="0"/>
                <a:ea typeface="LG스마트체 Regular" pitchFamily="50" charset="-127"/>
              </a:rPr>
              <a:t>Flow</a:t>
            </a:r>
            <a:endParaRPr lang="ko-KR" altLang="en-US" sz="1600" dirty="0"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87" name="Line 39"/>
          <p:cNvSpPr>
            <a:spLocks noChangeShapeType="1"/>
          </p:cNvSpPr>
          <p:nvPr/>
        </p:nvSpPr>
        <p:spPr bwMode="auto">
          <a:xfrm>
            <a:off x="0" y="574438"/>
            <a:ext cx="9906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84341" tIns="42173" rIns="84341" bIns="42173"/>
          <a:lstStyle/>
          <a:p>
            <a:pPr>
              <a:defRPr/>
            </a:pPr>
            <a:endParaRPr lang="ko-KR" altLang="en-US" sz="1846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88" name="Picture 3" descr="C:\Users\hyun\Desktop\비전로고_두줄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97229" y="6386474"/>
            <a:ext cx="1052315" cy="4217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24235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13463"/>
            <a:ext cx="33970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PJT </a:t>
            </a:r>
            <a:r>
              <a:rPr lang="ko-KR" altLang="en-US" sz="16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운영 기준 검검양식 </a:t>
            </a:r>
            <a:r>
              <a:rPr lang="en-US" altLang="ko-KR" sz="16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(</a:t>
            </a:r>
            <a:r>
              <a:rPr lang="ko-KR" altLang="en-US" sz="16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엑셀</a:t>
            </a:r>
            <a:r>
              <a:rPr lang="en-US" altLang="ko-KR" sz="16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)_</a:t>
            </a:r>
            <a:r>
              <a:rPr lang="ko-KR" altLang="en-US" sz="16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개발일정</a:t>
            </a:r>
            <a:endParaRPr lang="ko-KR" altLang="en-US" sz="160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7622" y="5134707"/>
            <a:ext cx="938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ko-KR" altLang="en-US" sz="140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개발 일정  </a:t>
            </a:r>
          </a:p>
        </p:txBody>
      </p: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766863"/>
              </p:ext>
            </p:extLst>
          </p:nvPr>
        </p:nvGraphicFramePr>
        <p:xfrm>
          <a:off x="1764810" y="5168612"/>
          <a:ext cx="7608814" cy="708660"/>
        </p:xfrm>
        <a:graphic>
          <a:graphicData uri="http://schemas.openxmlformats.org/drawingml/2006/table">
            <a:tbl>
              <a:tblPr/>
              <a:tblGrid>
                <a:gridCol w="739918"/>
                <a:gridCol w="792088"/>
                <a:gridCol w="444680"/>
                <a:gridCol w="585685"/>
                <a:gridCol w="601741"/>
                <a:gridCol w="646502"/>
                <a:gridCol w="646502"/>
                <a:gridCol w="646502"/>
                <a:gridCol w="484877"/>
                <a:gridCol w="969753"/>
                <a:gridCol w="1050566"/>
              </a:tblGrid>
              <a:tr h="177165">
                <a:tc rowSpan="2"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사업부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제품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1" u="none" strike="noStrike" dirty="0" smtClean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개발</a:t>
                      </a:r>
                      <a:endParaRPr lang="en-US" altLang="ko-KR" sz="1000" b="1" u="none" strike="noStrike" dirty="0" smtClean="0"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  <a:p>
                      <a:pPr algn="ctr" rtl="0" fontAlgn="ctr"/>
                      <a:r>
                        <a:rPr lang="ko-KR" altLang="en-US" sz="1000" b="1" u="none" strike="noStrike" smtClean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등급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gridSpan="8"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 표준 일정</a:t>
                      </a:r>
                      <a:r>
                        <a:rPr lang="en-US" altLang="ko-KR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(</a:t>
                      </a:r>
                      <a:r>
                        <a:rPr lang="ko-KR" altLang="en-US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일</a:t>
                      </a:r>
                      <a:r>
                        <a:rPr lang="en-US" altLang="ko-KR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71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CP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PP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DV 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PV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Pre-MP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P/Mkt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u="none" strike="noStrike" dirty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CP~Pre-MP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일정단축율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</a:tr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쿠킹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빌트인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오븐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-45%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00"/>
                    </a:solidFill>
                  </a:tcPr>
                </a:tc>
              </a:tr>
              <a:tr h="17716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PJT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51" name="타원 50"/>
          <p:cNvSpPr/>
          <p:nvPr/>
        </p:nvSpPr>
        <p:spPr>
          <a:xfrm>
            <a:off x="978651" y="5552535"/>
            <a:ext cx="214497" cy="21429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00" b="0" kern="0" dirty="0">
              <a:solidFill>
                <a:sysClr val="window" lastClr="FFFFFF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19" y="869127"/>
            <a:ext cx="5819123" cy="309923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64648" y="1894830"/>
            <a:ext cx="5747562" cy="288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꺾인 연결선 6"/>
          <p:cNvCxnSpPr/>
          <p:nvPr/>
        </p:nvCxnSpPr>
        <p:spPr>
          <a:xfrm rot="16200000" flipH="1">
            <a:off x="5241288" y="3213232"/>
            <a:ext cx="3348000" cy="1260000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712642" y="3984406"/>
            <a:ext cx="31951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* </a:t>
            </a:r>
            <a:r>
              <a:rPr lang="ko-KR" altLang="en-US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개발기간 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: </a:t>
            </a:r>
            <a:r>
              <a:rPr lang="ko-KR" altLang="en-US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첫 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Event </a:t>
            </a:r>
            <a:r>
              <a:rPr lang="ko-KR" altLang="en-US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시작일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~ Pre-MP </a:t>
            </a:r>
            <a:r>
              <a:rPr lang="ko-KR" altLang="en-US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양산승인 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Base End</a:t>
            </a:r>
            <a:r>
              <a:rPr lang="ko-KR" altLang="en-US" sz="100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일 </a:t>
            </a:r>
            <a:endParaRPr lang="ko-KR" altLang="en-US" sz="1000" dirty="0">
              <a:solidFill>
                <a:srgbClr val="FF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80341" y="834727"/>
            <a:ext cx="3746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1. </a:t>
            </a:r>
            <a:r>
              <a:rPr lang="ko-KR" altLang="en-US" sz="12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해당 등급의  시작일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, Event</a:t>
            </a:r>
            <a:r>
              <a:rPr lang="ko-KR" altLang="en-US" sz="12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별 등록일을 작성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/>
            </a:r>
            <a:b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</a:b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2. </a:t>
            </a:r>
            <a:r>
              <a:rPr lang="ko-KR" altLang="en-US" sz="12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해당 등급의 일정 시뮬레이션 부분을 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PPT </a:t>
            </a:r>
            <a:r>
              <a:rPr lang="ko-KR" altLang="en-US" sz="12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양식에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Ctrl+C,V</a:t>
            </a:r>
            <a:endParaRPr lang="ko-KR" altLang="en-US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78698" y="2919251"/>
            <a:ext cx="8290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1.</a:t>
            </a:r>
            <a:r>
              <a:rPr lang="ko-KR" altLang="en-US" sz="12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일정입력</a:t>
            </a:r>
            <a:endParaRPr lang="ko-KR" altLang="en-US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733070" y="883970"/>
            <a:ext cx="184858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노란색 박스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: </a:t>
            </a:r>
            <a:r>
              <a:rPr lang="ko-KR" altLang="en-US" sz="12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직접 </a:t>
            </a:r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입력 항목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1781898" y="5515680"/>
            <a:ext cx="7596000" cy="3615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444341" y="1346538"/>
            <a:ext cx="2550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표준</a:t>
            </a:r>
            <a:r>
              <a:rPr lang="en-US" altLang="ko-KR" sz="12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</a:t>
            </a:r>
            <a:r>
              <a:rPr lang="ko-KR" altLang="en-US" sz="120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개발기간 준수 여부 체트 항목 추가</a:t>
            </a:r>
            <a:endParaRPr lang="ko-KR" altLang="en-US" sz="1200" dirty="0">
              <a:solidFill>
                <a:srgbClr val="FF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44339" y="1632117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Y</a:t>
            </a:r>
            <a:endParaRPr lang="ko-KR" altLang="en-US" sz="1200" dirty="0">
              <a:solidFill>
                <a:srgbClr val="FF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4340" y="1929707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N</a:t>
            </a:r>
            <a:endParaRPr lang="ko-KR" altLang="en-US" sz="1200" dirty="0">
              <a:solidFill>
                <a:srgbClr val="FF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3835" y="1553468"/>
            <a:ext cx="2842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시스템에 등록하는 개발기간이 </a:t>
            </a:r>
            <a:endParaRPr lang="en-US" altLang="ko-KR" sz="1200" b="0" dirty="0">
              <a:solidFill>
                <a:srgbClr val="FF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  <a:p>
            <a:r>
              <a:rPr lang="ko-KR" altLang="en-US" sz="1200" b="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표준 개발기간으로 등록되는지 사전 점검함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1640" y="187719"/>
            <a:ext cx="23118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※ </a:t>
            </a:r>
            <a:r>
              <a:rPr lang="ko-KR" altLang="en-US" sz="12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상세 작성 방법에 대해 엑셀 참고</a:t>
            </a:r>
            <a:endParaRPr lang="ko-KR" altLang="en-US" sz="1200" b="0" dirty="0">
              <a:solidFill>
                <a:srgbClr val="0066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22" name="Line 39"/>
          <p:cNvSpPr>
            <a:spLocks noChangeShapeType="1"/>
          </p:cNvSpPr>
          <p:nvPr/>
        </p:nvSpPr>
        <p:spPr bwMode="auto">
          <a:xfrm>
            <a:off x="0" y="574438"/>
            <a:ext cx="9906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84341" tIns="42173" rIns="84341" bIns="42173"/>
          <a:lstStyle/>
          <a:p>
            <a:pPr>
              <a:defRPr/>
            </a:pPr>
            <a:endParaRPr lang="ko-KR" altLang="en-US" sz="1846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23" name="Picture 3" descr="C:\Users\hyun\Desktop\비전로고_두줄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97229" y="6386474"/>
            <a:ext cx="1052315" cy="4217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7797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17" y="1063755"/>
            <a:ext cx="3314700" cy="193357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950" y="940512"/>
            <a:ext cx="3371850" cy="1571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13463"/>
            <a:ext cx="37561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PJT </a:t>
            </a:r>
            <a:r>
              <a:rPr lang="ko-KR" altLang="en-US" sz="16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운영 기준 검검양식 </a:t>
            </a:r>
            <a:r>
              <a:rPr lang="en-US" altLang="ko-KR" sz="16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(</a:t>
            </a:r>
            <a:r>
              <a:rPr lang="ko-KR" altLang="en-US" sz="16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엑셀</a:t>
            </a:r>
            <a:r>
              <a:rPr lang="en-US" altLang="ko-KR" sz="16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)_</a:t>
            </a:r>
            <a:r>
              <a:rPr lang="ko-KR" altLang="en-US" sz="16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개발투입역량</a:t>
            </a:r>
            <a:endParaRPr lang="ko-KR" altLang="en-US" sz="160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0527" y="4467384"/>
            <a:ext cx="12522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ko-KR" altLang="en-US" sz="140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개발 투입 역량 </a:t>
            </a:r>
          </a:p>
        </p:txBody>
      </p:sp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56427"/>
              </p:ext>
            </p:extLst>
          </p:nvPr>
        </p:nvGraphicFramePr>
        <p:xfrm>
          <a:off x="2143930" y="4717316"/>
          <a:ext cx="1944216" cy="653347"/>
        </p:xfrm>
        <a:graphic>
          <a:graphicData uri="http://schemas.openxmlformats.org/drawingml/2006/table">
            <a:tbl>
              <a:tblPr/>
              <a:tblGrid>
                <a:gridCol w="437618"/>
                <a:gridCol w="432048"/>
                <a:gridCol w="432048"/>
                <a:gridCol w="642502"/>
              </a:tblGrid>
              <a:tr h="432048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u="none" strike="noStrike" dirty="0" smtClean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개발 </a:t>
                      </a:r>
                      <a:endParaRPr lang="en-US" altLang="ko-KR" sz="1000" b="1" u="none" strike="noStrike" dirty="0" smtClean="0"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u="none" strike="noStrike" dirty="0" smtClean="0"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등급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표준 </a:t>
                      </a:r>
                      <a:endParaRPr lang="en-US" altLang="ko-KR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역량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투입 </a:t>
                      </a:r>
                      <a:endParaRPr lang="en-US" altLang="ko-KR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역량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표준 대비</a:t>
                      </a:r>
                      <a:endParaRPr lang="en-US" altLang="ko-KR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G스마트체 Regular" pitchFamily="50" charset="-127"/>
                          <a:ea typeface="LG스마트체 Regular" pitchFamily="50" charset="-127"/>
                        </a:rPr>
                        <a:t>축소율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itchFamily="50" charset="-127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</a:tr>
              <a:tr h="22129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331733"/>
              </p:ext>
            </p:extLst>
          </p:nvPr>
        </p:nvGraphicFramePr>
        <p:xfrm>
          <a:off x="4880234" y="4429285"/>
          <a:ext cx="3312368" cy="1296145"/>
        </p:xfrm>
        <a:graphic>
          <a:graphicData uri="http://schemas.openxmlformats.org/drawingml/2006/table">
            <a:tbl>
              <a:tblPr/>
              <a:tblGrid>
                <a:gridCol w="1008112"/>
                <a:gridCol w="720080"/>
                <a:gridCol w="864096"/>
                <a:gridCol w="720080"/>
              </a:tblGrid>
              <a:tr h="223213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*</a:t>
                      </a:r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직급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1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*</a:t>
                      </a:r>
                      <a:r>
                        <a:rPr lang="ko-KR" altLang="en-US" sz="1000" b="1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역량 지수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투입인원          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역량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X</a:t>
                      </a:r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인원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</a:tr>
              <a:tr h="178822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책임 </a:t>
                      </a:r>
                      <a:r>
                        <a:rPr lang="en-US" altLang="ko-KR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 (</a:t>
                      </a:r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5</a:t>
                      </a:r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년차 </a:t>
                      </a:r>
                      <a:r>
                        <a:rPr lang="ko-KR" altLang="en-US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↑</a:t>
                      </a:r>
                      <a:r>
                        <a:rPr lang="en-US" altLang="ko-KR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1(P/Leader)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8822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책임 </a:t>
                      </a:r>
                      <a:r>
                        <a:rPr lang="en-US" altLang="ko-KR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(</a:t>
                      </a:r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</a:t>
                      </a:r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년차 </a:t>
                      </a:r>
                      <a:r>
                        <a:rPr lang="ko-KR" altLang="en-US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↓</a:t>
                      </a:r>
                      <a:r>
                        <a:rPr lang="en-US" altLang="ko-KR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8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8822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선임 </a:t>
                      </a:r>
                      <a:r>
                        <a:rPr lang="en-US" altLang="ko-KR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 (</a:t>
                      </a:r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5</a:t>
                      </a:r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년차 </a:t>
                      </a:r>
                      <a:r>
                        <a:rPr lang="ko-KR" altLang="en-US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↑</a:t>
                      </a:r>
                      <a:r>
                        <a:rPr lang="en-US" altLang="ko-KR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18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8822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선임 </a:t>
                      </a:r>
                      <a:r>
                        <a:rPr lang="en-US" altLang="ko-KR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(</a:t>
                      </a:r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</a:t>
                      </a:r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년차 </a:t>
                      </a:r>
                      <a:r>
                        <a:rPr lang="ko-KR" altLang="en-US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↓</a:t>
                      </a:r>
                      <a:r>
                        <a:rPr lang="en-US" altLang="ko-KR" sz="1000" u="none" strike="noStrike" dirty="0" smtClean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5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8822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연구원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u="none" strike="noStrike" dirty="0"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8822"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합계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1pPr>
                      <a:lvl2pPr marL="436215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2pPr>
                      <a:lvl3pPr marL="87243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3pPr>
                      <a:lvl4pPr marL="1308643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4pPr>
                      <a:lvl5pPr marL="1744861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5pPr>
                      <a:lvl6pPr marL="218107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6pPr>
                      <a:lvl7pPr marL="2617290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7pPr>
                      <a:lvl8pPr marL="3053504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8pPr>
                      <a:lvl9pPr marL="3489719" algn="l" defTabSz="872431" rtl="0" eaLnBrk="1" latinLnBrk="1" hangingPunct="1">
                        <a:defRPr sz="1700" kern="1200">
                          <a:solidFill>
                            <a:schemeClr val="dk1"/>
                          </a:solidFill>
                          <a:latin typeface="Times New Roman"/>
                          <a:ea typeface="굴림"/>
                          <a:cs typeface=""/>
                        </a:defRPr>
                      </a:lvl9pPr>
                    </a:lstStyle>
                    <a:p>
                      <a:pPr algn="ctr" rtl="0" fontAlgn="ctr"/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46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" name="이등변 삼각형 47"/>
          <p:cNvSpPr/>
          <p:nvPr/>
        </p:nvSpPr>
        <p:spPr>
          <a:xfrm rot="16200000">
            <a:off x="3887125" y="4994731"/>
            <a:ext cx="1261666" cy="243287"/>
          </a:xfrm>
          <a:prstGeom prst="triangle">
            <a:avLst/>
          </a:prstGeom>
          <a:solidFill>
            <a:srgbClr val="FFFFFF">
              <a:lumMod val="85000"/>
            </a:srgbClr>
          </a:solidFill>
          <a:ln w="25400" cap="flat" cmpd="sng" algn="ctr">
            <a:solidFill>
              <a:srgbClr val="FFFFFF">
                <a:lumMod val="9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95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100" b="0" kern="0" dirty="0">
              <a:solidFill>
                <a:srgbClr val="FFFFFF"/>
              </a:solidFill>
              <a:latin typeface="Arial Narrow" panose="020B0606020202030204" pitchFamily="34" charset="0"/>
              <a:ea typeface="굴림"/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990394" y="4963011"/>
            <a:ext cx="214497" cy="214290"/>
          </a:xfrm>
          <a:prstGeom prst="ellipse">
            <a:avLst/>
          </a:prstGeom>
          <a:solidFill>
            <a:srgbClr val="FFFF00"/>
          </a:solidFill>
          <a:ln w="25400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sz="1400" b="0" kern="0" dirty="0">
              <a:solidFill>
                <a:sysClr val="window" lastClr="FFFFFF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908646" y="4478457"/>
            <a:ext cx="12522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ctr"/>
            <a:r>
              <a:rPr lang="ko-KR" altLang="en-US" sz="11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쿠킹</a:t>
            </a:r>
            <a:r>
              <a:rPr lang="en-US" altLang="ko-KR" sz="11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/</a:t>
            </a:r>
            <a:r>
              <a:rPr lang="ko-KR" altLang="en-US" sz="1100" b="0" u="sng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빌트인 </a:t>
            </a:r>
            <a:r>
              <a:rPr lang="en-US" altLang="ko-KR" sz="11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00</a:t>
            </a:r>
            <a:r>
              <a:rPr lang="ko-KR" altLang="en-US" sz="1100" b="0" u="sng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제품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27419" y="5718633"/>
            <a:ext cx="10246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en-US" altLang="ko-KR" sz="10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* : </a:t>
            </a:r>
            <a:r>
              <a:rPr lang="ko-KR" altLang="en-US" sz="10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본부 공통기준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88209" y="4210497"/>
            <a:ext cx="1489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대상 </a:t>
            </a:r>
            <a:r>
              <a:rPr lang="en-US" altLang="ko-KR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: R&amp;D </a:t>
            </a:r>
            <a:r>
              <a:rPr lang="ko-KR" altLang="en-US" sz="1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상근 인원 기준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88991" y="4210497"/>
            <a:ext cx="14061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ctr"/>
            <a:r>
              <a:rPr lang="en-US" altLang="ko-KR" sz="10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P/Leader </a:t>
            </a:r>
            <a:r>
              <a:rPr lang="ko-KR" altLang="en-US" sz="10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별도 표기 할 것</a:t>
            </a:r>
            <a:endParaRPr lang="ko-KR" altLang="en-US" sz="1000" b="0" dirty="0">
              <a:solidFill>
                <a:srgbClr val="0066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80342" y="546695"/>
            <a:ext cx="3440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1. </a:t>
            </a:r>
            <a:r>
              <a:rPr lang="ko-KR" altLang="en-US" sz="12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해당 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PJT</a:t>
            </a:r>
            <a:r>
              <a:rPr lang="ko-KR" altLang="en-US" sz="12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의  직급별 투입인원 작성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/>
            </a:r>
            <a:b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</a:b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2. </a:t>
            </a:r>
            <a:r>
              <a:rPr lang="ko-KR" altLang="en-US" sz="12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해당 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PJT</a:t>
            </a:r>
            <a:r>
              <a:rPr lang="ko-KR" altLang="en-US" sz="12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의 붉은색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</a:t>
            </a:r>
            <a:r>
              <a:rPr lang="ko-KR" altLang="en-US" sz="12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박스 부분을 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PPT </a:t>
            </a:r>
            <a:r>
              <a:rPr lang="ko-KR" altLang="en-US" sz="12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양식에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Ctrl+C,V</a:t>
            </a:r>
            <a:endParaRPr lang="ko-KR" altLang="en-US" sz="1200" dirty="0">
              <a:solidFill>
                <a:srgbClr val="000000"/>
              </a:solidFill>
              <a:latin typeface="Arial Narrow" panose="020B0606020202030204" pitchFamily="34" charset="0"/>
              <a:ea typeface="LG스마트체 Regular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2433" y="735608"/>
            <a:ext cx="184858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노란색 박스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: </a:t>
            </a:r>
            <a:r>
              <a:rPr lang="ko-KR" altLang="en-US" sz="120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직접 </a:t>
            </a:r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itchFamily="50" charset="-127"/>
              </a:rPr>
              <a:t>입력 항목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6603793" y="1461444"/>
            <a:ext cx="1512000" cy="988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꺾인 연결선 25"/>
          <p:cNvCxnSpPr/>
          <p:nvPr/>
        </p:nvCxnSpPr>
        <p:spPr>
          <a:xfrm rot="16200000" flipH="1">
            <a:off x="6105280" y="3252130"/>
            <a:ext cx="2160000" cy="576000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6627663" y="4644530"/>
            <a:ext cx="1548000" cy="108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891549" y="1470969"/>
            <a:ext cx="3236082" cy="1578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122706" y="5152962"/>
            <a:ext cx="1944000" cy="2202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꺾인 연결선 31"/>
          <p:cNvCxnSpPr/>
          <p:nvPr/>
        </p:nvCxnSpPr>
        <p:spPr>
          <a:xfrm rot="16200000" flipH="1">
            <a:off x="910646" y="3051192"/>
            <a:ext cx="3528000" cy="684000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9167" y="6474242"/>
            <a:ext cx="51956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ctr"/>
            <a:r>
              <a:rPr lang="en-US" altLang="ko-KR" sz="10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※ </a:t>
            </a:r>
            <a:r>
              <a:rPr lang="ko-KR" altLang="en-US" sz="10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병렬개발 진행하는 프로젝트의 경우 표준역량의 </a:t>
            </a:r>
            <a:r>
              <a:rPr lang="en-US" altLang="ko-KR" sz="10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30%</a:t>
            </a:r>
            <a:r>
              <a:rPr lang="ko-KR" altLang="en-US" sz="1000" b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를 감하여 표준 대비 역량 축소율을 확인한다</a:t>
            </a:r>
            <a:r>
              <a:rPr lang="en-US" altLang="ko-KR" sz="1000" b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itchFamily="50" charset="-127"/>
              </a:rPr>
              <a:t>.</a:t>
            </a:r>
          </a:p>
        </p:txBody>
      </p:sp>
      <p:sp>
        <p:nvSpPr>
          <p:cNvPr id="30" name="Line 39"/>
          <p:cNvSpPr>
            <a:spLocks noChangeShapeType="1"/>
          </p:cNvSpPr>
          <p:nvPr/>
        </p:nvSpPr>
        <p:spPr bwMode="auto">
          <a:xfrm>
            <a:off x="0" y="574438"/>
            <a:ext cx="9906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84341" tIns="42173" rIns="84341" bIns="42173"/>
          <a:lstStyle/>
          <a:p>
            <a:pPr>
              <a:defRPr/>
            </a:pPr>
            <a:endParaRPr lang="ko-KR" altLang="en-US" sz="1846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33" name="Picture 3" descr="C:\Users\hyun\Desktop\비전로고_두줄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797229" y="6386474"/>
            <a:ext cx="1052315" cy="4217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78657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3EkzrtF606GVFvaSHuuR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3EkzrtF606GVFvaSHuuRg"/>
</p:tagLst>
</file>

<file path=ppt/theme/theme1.xml><?xml version="1.0" encoding="utf-8"?>
<a:theme xmlns:a="http://schemas.openxmlformats.org/drawingml/2006/main" name="1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표준 글꼴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표준 글꼴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7_디자인 사용자 지정">
  <a:themeElements>
    <a:clrScheme name="17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7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rtlCol="0" anchor="ctr">
        <a:spAutoFit/>
      </a:bodyPr>
      <a:lstStyle>
        <a:defPPr algn="r">
          <a:defRPr sz="800" i="0" smtClean="0">
            <a:solidFill>
              <a:schemeClr val="tx1"/>
            </a:solidFill>
            <a:latin typeface="돋움" pitchFamily="50" charset="-127"/>
            <a:ea typeface="돋움" pitchFamily="50" charset="-127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A5002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17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9_기본 디자인">
  <a:themeElements>
    <a:clrScheme name="3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0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표준 글꼴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2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just" defTabSz="914400" rtl="0" eaLnBrk="1" fontAlgn="base" latinLnBrk="1" hangingPunct="1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100" b="0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굴림체" pitchFamily="49" charset="-127"/>
            <a:ea typeface="굴림체" pitchFamily="49" charset="-127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118917</TotalTime>
  <Words>6354</Words>
  <Application>Microsoft Office PowerPoint</Application>
  <PresentationFormat>A4 용지(210x297mm)</PresentationFormat>
  <Paragraphs>2993</Paragraphs>
  <Slides>21</Slides>
  <Notes>9</Notes>
  <HiddenSlides>4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9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41" baseType="lpstr">
      <vt:lpstr>LG스마트체 Regular</vt:lpstr>
      <vt:lpstr>LG스마트체2.0 Regular</vt:lpstr>
      <vt:lpstr>굴림</vt:lpstr>
      <vt:lpstr>굴림체</vt:lpstr>
      <vt:lpstr>돋움</vt:lpstr>
      <vt:lpstr>맑은 고딕</vt:lpstr>
      <vt:lpstr>Arial</vt:lpstr>
      <vt:lpstr>Arial Narrow</vt:lpstr>
      <vt:lpstr>Times New Roman</vt:lpstr>
      <vt:lpstr>Wingdings</vt:lpstr>
      <vt:lpstr>1_기본 디자인</vt:lpstr>
      <vt:lpstr>기본 디자인</vt:lpstr>
      <vt:lpstr>1_Office 테마</vt:lpstr>
      <vt:lpstr>5_기본 디자인</vt:lpstr>
      <vt:lpstr>37_디자인 사용자 지정</vt:lpstr>
      <vt:lpstr>9_기본 디자인</vt:lpstr>
      <vt:lpstr>10_기본 디자인</vt:lpstr>
      <vt:lpstr>디자인 사용자 지정</vt:lpstr>
      <vt:lpstr>2_기본 디자인</vt:lpstr>
      <vt:lpstr>워크시트</vt:lpstr>
      <vt:lpstr>PowerPoint 프레젠테이션</vt:lpstr>
      <vt:lpstr>개발 유형 및 등급 확정 심의회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개발 유형 및 등급 확정 심의회</vt:lpstr>
      <vt:lpstr>개발 유형 및 등급 확정 심의회</vt:lpstr>
      <vt:lpstr>PowerPoint 프레젠테이션</vt:lpstr>
      <vt:lpstr>PowerPoint 프레젠테이션</vt:lpstr>
      <vt:lpstr>PowerPoint 프레젠테이션</vt:lpstr>
      <vt:lpstr>개발 유형 및 등급 확정 심의회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NDSystem</dc:creator>
  <cp:lastModifiedBy>장승태/선임연구원/유럽빌트인쿠킹패키지개발TDR(seungtae.jang@lge.com)</cp:lastModifiedBy>
  <cp:revision>2778</cp:revision>
  <cp:lastPrinted>2020-11-02T23:03:22Z</cp:lastPrinted>
  <dcterms:created xsi:type="dcterms:W3CDTF">2011-03-07T09:09:03Z</dcterms:created>
  <dcterms:modified xsi:type="dcterms:W3CDTF">2025-05-15T05:32:38Z</dcterms:modified>
</cp:coreProperties>
</file>