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6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7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9" r:id="rId1"/>
    <p:sldMasterId id="2147483758" r:id="rId2"/>
    <p:sldMasterId id="2147483788" r:id="rId3"/>
    <p:sldMasterId id="2147483790" r:id="rId4"/>
    <p:sldMasterId id="2147483822" r:id="rId5"/>
    <p:sldMasterId id="2147483837" r:id="rId6"/>
    <p:sldMasterId id="2147483849" r:id="rId7"/>
    <p:sldMasterId id="2147484148" r:id="rId8"/>
  </p:sldMasterIdLst>
  <p:notesMasterIdLst>
    <p:notesMasterId r:id="rId25"/>
  </p:notesMasterIdLst>
  <p:handoutMasterIdLst>
    <p:handoutMasterId r:id="rId26"/>
  </p:handoutMasterIdLst>
  <p:sldIdLst>
    <p:sldId id="938" r:id="rId9"/>
    <p:sldId id="2147476759" r:id="rId10"/>
    <p:sldId id="2147476758" r:id="rId11"/>
    <p:sldId id="2147476754" r:id="rId12"/>
    <p:sldId id="2147476760" r:id="rId13"/>
    <p:sldId id="2147476761" r:id="rId14"/>
    <p:sldId id="927" r:id="rId15"/>
    <p:sldId id="928" r:id="rId16"/>
    <p:sldId id="929" r:id="rId17"/>
    <p:sldId id="930" r:id="rId18"/>
    <p:sldId id="934" r:id="rId19"/>
    <p:sldId id="931" r:id="rId20"/>
    <p:sldId id="936" r:id="rId21"/>
    <p:sldId id="932" r:id="rId22"/>
    <p:sldId id="933" r:id="rId23"/>
    <p:sldId id="919" r:id="rId24"/>
  </p:sldIdLst>
  <p:sldSz cx="9906000" cy="6858000" type="A4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1pPr>
    <a:lvl2pPr marL="436215"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2pPr>
    <a:lvl3pPr marL="872431"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3pPr>
    <a:lvl4pPr marL="1308643"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4pPr>
    <a:lvl5pPr marL="1744861"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5pPr>
    <a:lvl6pPr marL="2181074" algn="l" defTabSz="872431" rtl="0" eaLnBrk="1" latinLnBrk="1" hangingPunct="1"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6pPr>
    <a:lvl7pPr marL="2617290" algn="l" defTabSz="872431" rtl="0" eaLnBrk="1" latinLnBrk="1" hangingPunct="1"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7pPr>
    <a:lvl8pPr marL="3053504" algn="l" defTabSz="872431" rtl="0" eaLnBrk="1" latinLnBrk="1" hangingPunct="1"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8pPr>
    <a:lvl9pPr marL="3489719" algn="l" defTabSz="872431" rtl="0" eaLnBrk="1" latinLnBrk="1" hangingPunct="1"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orient="horz" pos="2341" userDrawn="1">
          <p15:clr>
            <a:srgbClr val="A4A3A4"/>
          </p15:clr>
        </p15:guide>
        <p15:guide id="3" orient="horz" pos="1117" userDrawn="1">
          <p15:clr>
            <a:srgbClr val="A4A3A4"/>
          </p15:clr>
        </p15:guide>
        <p15:guide id="4" pos="483" userDrawn="1">
          <p15:clr>
            <a:srgbClr val="A4A3A4"/>
          </p15:clr>
        </p15:guide>
        <p15:guide id="5" pos="5877" userDrawn="1">
          <p15:clr>
            <a:srgbClr val="A4A3A4"/>
          </p15:clr>
        </p15:guide>
        <p15:guide id="6" pos="2702" userDrawn="1">
          <p15:clr>
            <a:srgbClr val="A4A3A4"/>
          </p15:clr>
        </p15:guide>
        <p15:guide id="7" pos="791" userDrawn="1">
          <p15:clr>
            <a:srgbClr val="A4A3A4"/>
          </p15:clr>
        </p15:guide>
        <p15:guide id="8" pos="1090" userDrawn="1">
          <p15:clr>
            <a:srgbClr val="A4A3A4"/>
          </p15:clr>
        </p15:guide>
        <p15:guide id="9" pos="2810" userDrawn="1">
          <p15:clr>
            <a:srgbClr val="A4A3A4"/>
          </p15:clr>
        </p15:guide>
        <p15:guide id="10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0000"/>
    <a:srgbClr val="3333FF"/>
    <a:srgbClr val="006600"/>
    <a:srgbClr val="00FF00"/>
    <a:srgbClr val="CC66FF"/>
    <a:srgbClr val="FFFFFF"/>
    <a:srgbClr val="FFFF99"/>
    <a:srgbClr val="00CC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86384" autoAdjust="0"/>
  </p:normalViewPr>
  <p:slideViewPr>
    <p:cSldViewPr>
      <p:cViewPr varScale="1">
        <p:scale>
          <a:sx n="114" d="100"/>
          <a:sy n="114" d="100"/>
        </p:scale>
        <p:origin x="84" y="84"/>
      </p:cViewPr>
      <p:guideLst>
        <p:guide orient="horz" pos="709"/>
        <p:guide orient="horz" pos="2341"/>
        <p:guide orient="horz" pos="1117"/>
        <p:guide pos="483"/>
        <p:guide pos="5877"/>
        <p:guide pos="2702"/>
        <p:guide pos="791"/>
        <p:guide pos="1090"/>
        <p:guide pos="2810"/>
        <p:guide pos="3120"/>
      </p:guideLst>
    </p:cSldViewPr>
  </p:slideViewPr>
  <p:outlineViewPr>
    <p:cViewPr>
      <p:scale>
        <a:sx n="33" d="100"/>
        <a:sy n="33" d="100"/>
      </p:scale>
      <p:origin x="36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4032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dPt>
            <c:idx val="0"/>
            <c:bubble3D val="0"/>
            <c:spPr>
              <a:solidFill>
                <a:srgbClr val="3333FF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F14E-4C3D-ADAA-BBDFF13AE9C6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F14E-4C3D-ADAA-BBDFF13AE9C6}"/>
              </c:ext>
            </c:extLst>
          </c:dPt>
          <c:cat>
            <c:strRef>
              <c:f>Sheet1!$A$2:$A$3</c:f>
              <c:strCache>
                <c:ptCount val="1"/>
                <c:pt idx="0">
                  <c:v>compact oven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19.3</c:v>
                </c:pt>
                <c:pt idx="1">
                  <c:v>80.7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F14E-4C3D-ADAA-BBDFF13AE9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Preheat time</c:v>
                </c:pt>
                <c:pt idx="1">
                  <c:v>Service</c:v>
                </c:pt>
                <c:pt idx="2">
                  <c:v>Less noise</c:v>
                </c:pt>
                <c:pt idx="3">
                  <c:v>Interior capacity</c:v>
                </c:pt>
                <c:pt idx="4">
                  <c:v>Cooking time</c:v>
                </c:pt>
                <c:pt idx="5">
                  <c:v>Durability</c:v>
                </c:pt>
                <c:pt idx="6">
                  <c:v>Cooking performance</c:v>
                </c:pt>
                <c:pt idx="7">
                  <c:v>Energy efficiency</c:v>
                </c:pt>
                <c:pt idx="8">
                  <c:v>Easy to clean</c:v>
                </c:pt>
                <c:pt idx="9">
                  <c:v>Easy to use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83</c:v>
                </c:pt>
                <c:pt idx="1">
                  <c:v>84.9</c:v>
                </c:pt>
                <c:pt idx="2">
                  <c:v>84.9</c:v>
                </c:pt>
                <c:pt idx="3">
                  <c:v>90.6</c:v>
                </c:pt>
                <c:pt idx="4">
                  <c:v>92.5</c:v>
                </c:pt>
                <c:pt idx="5">
                  <c:v>94.3</c:v>
                </c:pt>
                <c:pt idx="6">
                  <c:v>94.3</c:v>
                </c:pt>
                <c:pt idx="7">
                  <c:v>94.3</c:v>
                </c:pt>
                <c:pt idx="8">
                  <c:v>94.3</c:v>
                </c:pt>
                <c:pt idx="9">
                  <c:v>96.2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360-42F2-97F1-68C6B71EA0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44677032"/>
        <c:axId val="544674680"/>
      </c:barChart>
      <c:catAx>
        <c:axId val="544677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44674680"/>
        <c:crosses val="autoZero"/>
        <c:auto val="1"/>
        <c:lblAlgn val="ctr"/>
        <c:lblOffset val="100"/>
        <c:noMultiLvlLbl val="0"/>
      </c:catAx>
      <c:valAx>
        <c:axId val="544674680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nextTo"/>
        <c:crossAx val="544677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compact oven 보유자</c:v>
                </c:pt>
              </c:strCache>
            </c:strRef>
          </c:cat>
          <c:val>
            <c:numRef>
              <c:f>Sheet1!$B$2</c:f>
              <c:numCache>
                <c:formatCode>0.0%</c:formatCode>
                <c:ptCount val="1"/>
                <c:pt idx="0">
                  <c:v>0.47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95F-4E98-A8F5-74267D0DD5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,od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 w="9525" cmpd="sng"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compact oven 보유자</c:v>
                </c:pt>
              </c:strCache>
            </c:strRef>
          </c:cat>
          <c:val>
            <c:numRef>
              <c:f>Sheet1!$C$2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95F-4E98-A8F5-74267D0DD5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compact oven 보유자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95F-4E98-A8F5-74267D0DD5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544684872"/>
        <c:axId val="544672720"/>
      </c:barChart>
      <c:catAx>
        <c:axId val="544684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44672720"/>
        <c:crosses val="autoZero"/>
        <c:auto val="1"/>
        <c:lblAlgn val="ctr"/>
        <c:lblOffset val="100"/>
        <c:noMultiLvlLbl val="0"/>
      </c:catAx>
      <c:valAx>
        <c:axId val="544672720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544684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pkg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compact oven 보유자</c:v>
                </c:pt>
              </c:strCache>
            </c:strRef>
          </c:cat>
          <c:val>
            <c:numRef>
              <c:f>Sheet1!$B$2</c:f>
              <c:numCache>
                <c:formatCode>0.0%</c:formatCode>
                <c:ptCount val="1"/>
                <c:pt idx="0">
                  <c:v>0.71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B3D-4984-A9E4-6F92F1CB84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pkg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 w="9525" cmpd="sng"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compact oven 보유자</c:v>
                </c:pt>
              </c:strCache>
            </c:strRef>
          </c:cat>
          <c:val>
            <c:numRef>
              <c:f>Sheet1!$C$2</c:f>
              <c:numCache>
                <c:formatCode>0.0%</c:formatCode>
                <c:ptCount val="1"/>
                <c:pt idx="0">
                  <c:v>0.28999999999999998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B3D-4984-A9E4-6F92F1CB8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544673112"/>
        <c:axId val="544684480"/>
      </c:barChart>
      <c:catAx>
        <c:axId val="544673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44684480"/>
        <c:crosses val="autoZero"/>
        <c:auto val="1"/>
        <c:lblAlgn val="ctr"/>
        <c:lblOffset val="100"/>
        <c:noMultiLvlLbl val="0"/>
      </c:catAx>
      <c:valAx>
        <c:axId val="544684480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544673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compact oven 보유자</c:v>
                </c:pt>
              </c:strCache>
            </c:strRef>
          </c:cat>
          <c:val>
            <c:numRef>
              <c:f>Sheet1!$B$2</c:f>
              <c:numCache>
                <c:formatCode>0.0%</c:formatCode>
                <c:ptCount val="1"/>
                <c:pt idx="0">
                  <c:v>0.47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99C-4474-AD39-23F832C866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,od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 w="9525" cmpd="sng"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compact oven 보유자</c:v>
                </c:pt>
              </c:strCache>
            </c:strRef>
          </c:cat>
          <c:val>
            <c:numRef>
              <c:f>Sheet1!$C$2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99C-4474-AD39-23F832C866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compact oven 보유자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799C-4474-AD39-23F832C86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544679776"/>
        <c:axId val="544673504"/>
      </c:barChart>
      <c:catAx>
        <c:axId val="5446797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44673504"/>
        <c:crosses val="autoZero"/>
        <c:auto val="1"/>
        <c:lblAlgn val="ctr"/>
        <c:lblOffset val="100"/>
        <c:noMultiLvlLbl val="0"/>
      </c:catAx>
      <c:valAx>
        <c:axId val="544673504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544679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언급 수 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numCache>
            </c:numRef>
          </c:cat>
          <c:val>
            <c:numRef>
              <c:f>Sheet1!$B$2:$B$11</c:f>
              <c:numCache>
                <c:formatCode>0</c:formatCode>
                <c:ptCount val="10"/>
                <c:pt idx="0">
                  <c:v>19</c:v>
                </c:pt>
                <c:pt idx="1">
                  <c:v>37</c:v>
                </c:pt>
                <c:pt idx="2">
                  <c:v>23</c:v>
                </c:pt>
                <c:pt idx="3">
                  <c:v>14</c:v>
                </c:pt>
                <c:pt idx="4">
                  <c:v>10</c:v>
                </c:pt>
                <c:pt idx="5">
                  <c:v>26</c:v>
                </c:pt>
                <c:pt idx="6">
                  <c:v>1</c:v>
                </c:pt>
                <c:pt idx="7">
                  <c:v>4</c:v>
                </c:pt>
                <c:pt idx="8">
                  <c:v>8</c:v>
                </c:pt>
                <c:pt idx="9">
                  <c:v>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BDF-45CB-90B1-6AAF0EEADD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단독설치</c:v>
                </c:pt>
              </c:strCache>
            </c:strRef>
          </c:tx>
          <c:spPr>
            <a:solidFill>
              <a:srgbClr val="95B3D7"/>
            </a:solidFill>
            <a:ln w="9525"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21</c:v>
                </c:pt>
                <c:pt idx="2">
                  <c:v>7</c:v>
                </c:pt>
                <c:pt idx="3">
                  <c:v>16</c:v>
                </c:pt>
                <c:pt idx="4">
                  <c:v>13</c:v>
                </c:pt>
                <c:pt idx="5">
                  <c:v>3</c:v>
                </c:pt>
                <c:pt idx="6">
                  <c:v>15</c:v>
                </c:pt>
                <c:pt idx="7">
                  <c:v>15</c:v>
                </c:pt>
                <c:pt idx="8">
                  <c:v>26</c:v>
                </c:pt>
                <c:pt idx="9">
                  <c:v>29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BDF-45CB-90B1-6AAF0EEAD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544681736"/>
        <c:axId val="544677816"/>
      </c:barChart>
      <c:catAx>
        <c:axId val="544681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44677816"/>
        <c:crosses val="autoZero"/>
        <c:auto val="1"/>
        <c:lblAlgn val="ctr"/>
        <c:lblOffset val="100"/>
        <c:noMultiLvlLbl val="0"/>
      </c:catAx>
      <c:valAx>
        <c:axId val="544677816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544681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Preheat time</c:v>
                </c:pt>
                <c:pt idx="1">
                  <c:v>Service</c:v>
                </c:pt>
                <c:pt idx="2">
                  <c:v>Less noise</c:v>
                </c:pt>
                <c:pt idx="3">
                  <c:v>Interior capacity</c:v>
                </c:pt>
                <c:pt idx="4">
                  <c:v>Cooking time</c:v>
                </c:pt>
                <c:pt idx="5">
                  <c:v>Durability</c:v>
                </c:pt>
                <c:pt idx="6">
                  <c:v>Cooking performance</c:v>
                </c:pt>
                <c:pt idx="7">
                  <c:v>Energy efficiency</c:v>
                </c:pt>
                <c:pt idx="8">
                  <c:v>Easy to clean</c:v>
                </c:pt>
                <c:pt idx="9">
                  <c:v>Easy to use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83</c:v>
                </c:pt>
                <c:pt idx="1">
                  <c:v>84.9</c:v>
                </c:pt>
                <c:pt idx="2">
                  <c:v>84.9</c:v>
                </c:pt>
                <c:pt idx="3">
                  <c:v>90.6</c:v>
                </c:pt>
                <c:pt idx="4">
                  <c:v>92.5</c:v>
                </c:pt>
                <c:pt idx="5">
                  <c:v>94.3</c:v>
                </c:pt>
                <c:pt idx="6">
                  <c:v>94.3</c:v>
                </c:pt>
                <c:pt idx="7">
                  <c:v>94.3</c:v>
                </c:pt>
                <c:pt idx="8">
                  <c:v>94.3</c:v>
                </c:pt>
                <c:pt idx="9">
                  <c:v>96.2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DC7-4A20-A236-251D3BE5D1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44678208"/>
        <c:axId val="544682128"/>
      </c:barChart>
      <c:catAx>
        <c:axId val="5446782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44682128"/>
        <c:crosses val="autoZero"/>
        <c:auto val="1"/>
        <c:lblAlgn val="ctr"/>
        <c:lblOffset val="100"/>
        <c:noMultiLvlLbl val="0"/>
      </c:catAx>
      <c:valAx>
        <c:axId val="544682128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nextTo"/>
        <c:crossAx val="544678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Preheat time</c:v>
                </c:pt>
                <c:pt idx="1">
                  <c:v>Service</c:v>
                </c:pt>
                <c:pt idx="2">
                  <c:v>Less noise</c:v>
                </c:pt>
                <c:pt idx="3">
                  <c:v>Interior capacity</c:v>
                </c:pt>
                <c:pt idx="4">
                  <c:v>Cooking time</c:v>
                </c:pt>
                <c:pt idx="5">
                  <c:v>Durability</c:v>
                </c:pt>
                <c:pt idx="6">
                  <c:v>Cooking performance</c:v>
                </c:pt>
                <c:pt idx="7">
                  <c:v>Energy efficiency</c:v>
                </c:pt>
                <c:pt idx="8">
                  <c:v>Easy to clean</c:v>
                </c:pt>
                <c:pt idx="9">
                  <c:v>Easy to use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83</c:v>
                </c:pt>
                <c:pt idx="1">
                  <c:v>84.9</c:v>
                </c:pt>
                <c:pt idx="2">
                  <c:v>84.9</c:v>
                </c:pt>
                <c:pt idx="3">
                  <c:v>90.6</c:v>
                </c:pt>
                <c:pt idx="4">
                  <c:v>92.5</c:v>
                </c:pt>
                <c:pt idx="5">
                  <c:v>94.3</c:v>
                </c:pt>
                <c:pt idx="6">
                  <c:v>94.3</c:v>
                </c:pt>
                <c:pt idx="7">
                  <c:v>94.3</c:v>
                </c:pt>
                <c:pt idx="8">
                  <c:v>94.3</c:v>
                </c:pt>
                <c:pt idx="9">
                  <c:v>96.2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4EE-4AB1-915B-28821E3040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2711080"/>
        <c:axId val="582699712"/>
      </c:barChart>
      <c:catAx>
        <c:axId val="5827110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82699712"/>
        <c:crosses val="autoZero"/>
        <c:auto val="1"/>
        <c:lblAlgn val="ctr"/>
        <c:lblOffset val="100"/>
        <c:noMultiLvlLbl val="0"/>
      </c:catAx>
      <c:valAx>
        <c:axId val="582699712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nextTo"/>
        <c:crossAx val="582711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C3384-588B-4981-8D7B-59559094B3D8}" type="datetimeFigureOut">
              <a:rPr lang="ko-KR" altLang="en-US" smtClean="0"/>
              <a:pPr/>
              <a:t>2025-04-08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E5EDC-71CF-4B18-A9F2-6FD8A6481F8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6959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686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fld id="{AD60512F-43DA-4FEC-9FA7-52BAE0DD74FC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111740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36215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872431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08643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744861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181074" algn="l" defTabSz="87243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617290" algn="l" defTabSz="87243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053504" algn="l" defTabSz="87243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89719" algn="l" defTabSz="87243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21A216-8B5D-4A7F-ABBD-BCAFDFCA5BB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207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고객을 더 세분화하여 고객의 니즈를 </a:t>
            </a:r>
            <a:r>
              <a:rPr lang="ko-KR" altLang="en-US" dirty="0" err="1"/>
              <a:t>분석해야함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왜 </a:t>
            </a:r>
            <a:r>
              <a:rPr lang="ko-KR" altLang="en-US" dirty="0" err="1"/>
              <a:t>풀빌트인</a:t>
            </a:r>
            <a:r>
              <a:rPr lang="en-US" altLang="ko-KR" dirty="0"/>
              <a:t>? </a:t>
            </a:r>
            <a:r>
              <a:rPr lang="ko-KR" altLang="en-US" dirty="0"/>
              <a:t>왜 </a:t>
            </a:r>
            <a:r>
              <a:rPr lang="ko-KR" altLang="en-US" dirty="0" err="1"/>
              <a:t>컴팩트</a:t>
            </a:r>
            <a:r>
              <a:rPr lang="ko-KR" altLang="en-US" dirty="0"/>
              <a:t> 제외 패키지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각각 </a:t>
            </a:r>
            <a:r>
              <a:rPr lang="en-US" altLang="ko-KR" dirty="0"/>
              <a:t>CEJ</a:t>
            </a:r>
            <a:r>
              <a:rPr lang="ko-KR" altLang="en-US" dirty="0"/>
              <a:t>가 어떻게 </a:t>
            </a:r>
            <a:r>
              <a:rPr lang="ko-KR" altLang="en-US" dirty="0" err="1"/>
              <a:t>다른지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어떤 요리를 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UX</a:t>
            </a:r>
            <a:r>
              <a:rPr lang="ko-KR" altLang="en-US" dirty="0"/>
              <a:t>시나리오 </a:t>
            </a:r>
            <a:r>
              <a:rPr lang="en-US" altLang="ko-KR" dirty="0"/>
              <a:t>(,USP</a:t>
            </a:r>
            <a:r>
              <a:rPr lang="ko-KR" altLang="en-US" dirty="0"/>
              <a:t>평가 </a:t>
            </a:r>
            <a:r>
              <a:rPr lang="en-US" altLang="ko-KR" dirty="0"/>
              <a:t>(</a:t>
            </a:r>
            <a:r>
              <a:rPr lang="ko-KR" altLang="en-US" dirty="0"/>
              <a:t>고객경험 </a:t>
            </a:r>
            <a:r>
              <a:rPr lang="ko-KR" altLang="en-US" dirty="0" err="1"/>
              <a:t>워딩을</a:t>
            </a:r>
            <a:r>
              <a:rPr lang="ko-KR" altLang="en-US" dirty="0"/>
              <a:t> </a:t>
            </a:r>
            <a:r>
              <a:rPr lang="ko-KR" altLang="en-US" dirty="0" err="1"/>
              <a:t>가진고</a:t>
            </a:r>
            <a:r>
              <a:rPr lang="ko-KR" altLang="en-US" dirty="0"/>
              <a:t> 평가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A839B4-D28F-48C4-8B97-D47ECA83AC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721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고객을 더 세분화하여 고객의 니즈를 </a:t>
            </a:r>
            <a:r>
              <a:rPr lang="ko-KR" altLang="en-US" dirty="0" err="1"/>
              <a:t>분석해야함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왜 </a:t>
            </a:r>
            <a:r>
              <a:rPr lang="ko-KR" altLang="en-US" dirty="0" err="1"/>
              <a:t>풀빌트인</a:t>
            </a:r>
            <a:r>
              <a:rPr lang="en-US" altLang="ko-KR" dirty="0"/>
              <a:t>? </a:t>
            </a:r>
            <a:r>
              <a:rPr lang="ko-KR" altLang="en-US" dirty="0"/>
              <a:t>왜 </a:t>
            </a:r>
            <a:r>
              <a:rPr lang="ko-KR" altLang="en-US" dirty="0" err="1"/>
              <a:t>컴팩트</a:t>
            </a:r>
            <a:r>
              <a:rPr lang="ko-KR" altLang="en-US" dirty="0"/>
              <a:t> 제외 패키지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각각 </a:t>
            </a:r>
            <a:r>
              <a:rPr lang="en-US" altLang="ko-KR" dirty="0"/>
              <a:t>CEJ</a:t>
            </a:r>
            <a:r>
              <a:rPr lang="ko-KR" altLang="en-US" dirty="0"/>
              <a:t>가 어떻게 </a:t>
            </a:r>
            <a:r>
              <a:rPr lang="ko-KR" altLang="en-US" dirty="0" err="1"/>
              <a:t>다른지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어떤 요리를 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UX</a:t>
            </a:r>
            <a:r>
              <a:rPr lang="ko-KR" altLang="en-US" dirty="0"/>
              <a:t>시나리오 </a:t>
            </a:r>
            <a:r>
              <a:rPr lang="en-US" altLang="ko-KR" dirty="0"/>
              <a:t>(,USP</a:t>
            </a:r>
            <a:r>
              <a:rPr lang="ko-KR" altLang="en-US" dirty="0"/>
              <a:t>평가 </a:t>
            </a:r>
            <a:r>
              <a:rPr lang="en-US" altLang="ko-KR" dirty="0"/>
              <a:t>(</a:t>
            </a:r>
            <a:r>
              <a:rPr lang="ko-KR" altLang="en-US" dirty="0"/>
              <a:t>고객경험 </a:t>
            </a:r>
            <a:r>
              <a:rPr lang="ko-KR" altLang="en-US" dirty="0" err="1"/>
              <a:t>워딩을</a:t>
            </a:r>
            <a:r>
              <a:rPr lang="ko-KR" altLang="en-US" dirty="0"/>
              <a:t> </a:t>
            </a:r>
            <a:r>
              <a:rPr lang="ko-KR" altLang="en-US" dirty="0" err="1"/>
              <a:t>가진고</a:t>
            </a:r>
            <a:r>
              <a:rPr lang="ko-KR" altLang="en-US" dirty="0"/>
              <a:t> 평가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A839B4-D28F-48C4-8B97-D47ECA83AC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7872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21A216-8B5D-4A7F-ABBD-BCAFDFCA5BB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528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394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704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216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006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847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840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817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1864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633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4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5301" y="6245224"/>
            <a:ext cx="2312988" cy="477838"/>
          </a:xfrm>
          <a:prstGeom prst="rect">
            <a:avLst/>
          </a:prstGeom>
          <a:ln/>
        </p:spPr>
        <p:txBody>
          <a:bodyPr lIns="87242" tIns="43621" rIns="87242" bIns="43621"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1" y="6245224"/>
            <a:ext cx="3136900" cy="477838"/>
          </a:xfrm>
          <a:prstGeom prst="rect">
            <a:avLst/>
          </a:prstGeom>
          <a:ln/>
        </p:spPr>
        <p:txBody>
          <a:bodyPr lIns="87242" tIns="43621" rIns="87242" bIns="43621"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7717" y="6245224"/>
            <a:ext cx="2312987" cy="477838"/>
          </a:xfrm>
          <a:prstGeom prst="rect">
            <a:avLst/>
          </a:prstGeom>
          <a:ln/>
        </p:spPr>
        <p:txBody>
          <a:bodyPr lIns="87242" tIns="43621" rIns="87242" bIns="43621"/>
          <a:lstStyle>
            <a:lvl1pPr>
              <a:defRPr/>
            </a:lvl1pPr>
          </a:lstStyle>
          <a:p>
            <a:pPr>
              <a:defRPr/>
            </a:pPr>
            <a:fld id="{F6FA7202-355A-4F7A-921C-8D880F39668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056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65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28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1"/>
          <p:cNvSpPr>
            <a:spLocks noChangeShapeType="1"/>
          </p:cNvSpPr>
          <p:nvPr userDrawn="1"/>
        </p:nvSpPr>
        <p:spPr bwMode="auto">
          <a:xfrm>
            <a:off x="0" y="64531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sz="1662" b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sz="1662" b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" name="Text Box 168"/>
          <p:cNvSpPr txBox="1">
            <a:spLocks noChangeArrowheads="1"/>
          </p:cNvSpPr>
          <p:nvPr userDrawn="1"/>
        </p:nvSpPr>
        <p:spPr bwMode="auto">
          <a:xfrm>
            <a:off x="4089400" y="153994"/>
            <a:ext cx="1606530" cy="262829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8" b="0">
                <a:solidFill>
                  <a:srgbClr val="C0C0C0"/>
                </a:solidFill>
                <a:ea typeface="맑은 고딕" pitchFamily="50" charset="-127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728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9981" y="274637"/>
            <a:ext cx="6659668" cy="1143000"/>
          </a:xfrm>
          <a:prstGeom prst="rect">
            <a:avLst/>
          </a:prstGeom>
        </p:spPr>
        <p:txBody>
          <a:bodyPr lIns="80250" tIns="40126" rIns="80250" bIns="40126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9981" y="1600205"/>
            <a:ext cx="6659668" cy="4525963"/>
          </a:xfrm>
          <a:prstGeom prst="rect">
            <a:avLst/>
          </a:prstGeom>
        </p:spPr>
        <p:txBody>
          <a:bodyPr lIns="80250" tIns="40126" rIns="80250" bIns="40126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9936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155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7609" y="2717286"/>
            <a:ext cx="10739543" cy="1874965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5216" y="4956712"/>
            <a:ext cx="8844329" cy="2235380"/>
          </a:xfrm>
          <a:prstGeom prst="rect">
            <a:avLst/>
          </a:prstGeom>
        </p:spPr>
        <p:txBody>
          <a:bodyPr lIns="122182" tIns="61091" rIns="122182" bIns="61091"/>
          <a:lstStyle>
            <a:lvl1pPr marL="0" indent="0" algn="ctr">
              <a:buNone/>
              <a:defRPr/>
            </a:lvl1pPr>
            <a:lvl2pPr marL="563929" indent="0" algn="ctr">
              <a:buNone/>
              <a:defRPr/>
            </a:lvl2pPr>
            <a:lvl3pPr marL="1127857" indent="0" algn="ctr">
              <a:buNone/>
              <a:defRPr/>
            </a:lvl3pPr>
            <a:lvl4pPr marL="1691786" indent="0" algn="ctr">
              <a:buNone/>
              <a:defRPr/>
            </a:lvl4pPr>
            <a:lvl5pPr marL="2255714" indent="0" algn="ctr">
              <a:buNone/>
              <a:defRPr/>
            </a:lvl5pPr>
            <a:lvl6pPr marL="2819642" indent="0" algn="ctr">
              <a:buNone/>
              <a:defRPr/>
            </a:lvl6pPr>
            <a:lvl7pPr marL="3383570" indent="0" algn="ctr">
              <a:buNone/>
              <a:defRPr/>
            </a:lvl7pPr>
            <a:lvl8pPr marL="3947498" indent="0" algn="ctr">
              <a:buNone/>
              <a:defRPr/>
            </a:lvl8pPr>
            <a:lvl9pPr marL="4511427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02131754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1740" y="2041004"/>
            <a:ext cx="11371281" cy="5772707"/>
          </a:xfrm>
          <a:prstGeom prst="rect">
            <a:avLst/>
          </a:prstGeom>
        </p:spPr>
        <p:txBody>
          <a:bodyPr lIns="122182" tIns="61091" rIns="122182" bIns="61091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99486339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8061" y="5620851"/>
            <a:ext cx="10739543" cy="1737279"/>
          </a:xfrm>
          <a:prstGeom prst="rect">
            <a:avLst/>
          </a:prstGeom>
        </p:spPr>
        <p:txBody>
          <a:bodyPr lIns="122182" tIns="61091" rIns="122182" bIns="61091" anchor="t"/>
          <a:lstStyle>
            <a:lvl1pPr algn="l">
              <a:defRPr sz="4892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8061" y="3707411"/>
            <a:ext cx="10739543" cy="1913436"/>
          </a:xfrm>
          <a:prstGeom prst="rect">
            <a:avLst/>
          </a:prstGeom>
        </p:spPr>
        <p:txBody>
          <a:bodyPr lIns="122182" tIns="61091" rIns="122182" bIns="61091" anchor="b"/>
          <a:lstStyle>
            <a:lvl1pPr marL="0" indent="0">
              <a:buNone/>
              <a:defRPr sz="2492"/>
            </a:lvl1pPr>
            <a:lvl2pPr marL="563929" indent="0">
              <a:buNone/>
              <a:defRPr sz="2215"/>
            </a:lvl2pPr>
            <a:lvl3pPr marL="1127857" indent="0">
              <a:buNone/>
              <a:defRPr sz="1939"/>
            </a:lvl3pPr>
            <a:lvl4pPr marL="1691786" indent="0">
              <a:buNone/>
              <a:defRPr sz="1754"/>
            </a:lvl4pPr>
            <a:lvl5pPr marL="2255714" indent="0">
              <a:buNone/>
              <a:defRPr sz="1754"/>
            </a:lvl5pPr>
            <a:lvl6pPr marL="2819642" indent="0">
              <a:buNone/>
              <a:defRPr sz="1754"/>
            </a:lvl6pPr>
            <a:lvl7pPr marL="3383570" indent="0">
              <a:buNone/>
              <a:defRPr sz="1754"/>
            </a:lvl7pPr>
            <a:lvl8pPr marL="3947498" indent="0">
              <a:buNone/>
              <a:defRPr sz="1754"/>
            </a:lvl8pPr>
            <a:lvl9pPr marL="4511427" indent="0">
              <a:buNone/>
              <a:defRPr sz="1754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58577951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1740" y="2041004"/>
            <a:ext cx="5580351" cy="5772707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3415"/>
            </a:lvl1pPr>
            <a:lvl2pPr>
              <a:defRPr sz="2954"/>
            </a:lvl2pPr>
            <a:lvl3pPr>
              <a:defRPr sz="2492"/>
            </a:lvl3pPr>
            <a:lvl4pPr>
              <a:defRPr sz="2215"/>
            </a:lvl4pPr>
            <a:lvl5pPr>
              <a:defRPr sz="2215"/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22670" y="2041004"/>
            <a:ext cx="5580351" cy="5772707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3415"/>
            </a:lvl1pPr>
            <a:lvl2pPr>
              <a:defRPr sz="2954"/>
            </a:lvl2pPr>
            <a:lvl3pPr>
              <a:defRPr sz="2492"/>
            </a:lvl3pPr>
            <a:lvl4pPr>
              <a:defRPr sz="2215"/>
            </a:lvl4pPr>
            <a:lvl5pPr>
              <a:defRPr sz="2215"/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2152002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1738" y="1957983"/>
            <a:ext cx="5582545" cy="815994"/>
          </a:xfrm>
          <a:prstGeom prst="rect">
            <a:avLst/>
          </a:prstGeom>
        </p:spPr>
        <p:txBody>
          <a:bodyPr lIns="122182" tIns="61091" rIns="122182" bIns="61091" anchor="b"/>
          <a:lstStyle>
            <a:lvl1pPr marL="0" indent="0">
              <a:buNone/>
              <a:defRPr sz="2954" b="1"/>
            </a:lvl1pPr>
            <a:lvl2pPr marL="563929" indent="0">
              <a:buNone/>
              <a:defRPr sz="2492" b="1"/>
            </a:lvl2pPr>
            <a:lvl3pPr marL="1127857" indent="0">
              <a:buNone/>
              <a:defRPr sz="2215" b="1"/>
            </a:lvl3pPr>
            <a:lvl4pPr marL="1691786" indent="0">
              <a:buNone/>
              <a:defRPr sz="1939" b="1"/>
            </a:lvl4pPr>
            <a:lvl5pPr marL="2255714" indent="0">
              <a:buNone/>
              <a:defRPr sz="1939" b="1"/>
            </a:lvl5pPr>
            <a:lvl6pPr marL="2819642" indent="0">
              <a:buNone/>
              <a:defRPr sz="1939" b="1"/>
            </a:lvl6pPr>
            <a:lvl7pPr marL="3383570" indent="0">
              <a:buNone/>
              <a:defRPr sz="1939" b="1"/>
            </a:lvl7pPr>
            <a:lvl8pPr marL="3947498" indent="0">
              <a:buNone/>
              <a:defRPr sz="1939" b="1"/>
            </a:lvl8pPr>
            <a:lvl9pPr marL="4511427" indent="0">
              <a:buNone/>
              <a:defRPr sz="1939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1738" y="2773981"/>
            <a:ext cx="5582545" cy="5039729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2954"/>
            </a:lvl1pPr>
            <a:lvl2pPr>
              <a:defRPr sz="2492"/>
            </a:lvl2pPr>
            <a:lvl3pPr>
              <a:defRPr sz="2215"/>
            </a:lvl3pPr>
            <a:lvl4pPr>
              <a:defRPr sz="1939"/>
            </a:lvl4pPr>
            <a:lvl5pPr>
              <a:defRPr sz="1939"/>
            </a:lvl5pPr>
            <a:lvl6pPr>
              <a:defRPr sz="1939"/>
            </a:lvl6pPr>
            <a:lvl7pPr>
              <a:defRPr sz="1939"/>
            </a:lvl7pPr>
            <a:lvl8pPr>
              <a:defRPr sz="1939"/>
            </a:lvl8pPr>
            <a:lvl9pPr>
              <a:defRPr sz="193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18283" y="1957983"/>
            <a:ext cx="5584738" cy="815994"/>
          </a:xfrm>
          <a:prstGeom prst="rect">
            <a:avLst/>
          </a:prstGeom>
        </p:spPr>
        <p:txBody>
          <a:bodyPr lIns="122182" tIns="61091" rIns="122182" bIns="61091" anchor="b"/>
          <a:lstStyle>
            <a:lvl1pPr marL="0" indent="0">
              <a:buNone/>
              <a:defRPr sz="2954" b="1"/>
            </a:lvl1pPr>
            <a:lvl2pPr marL="563929" indent="0">
              <a:buNone/>
              <a:defRPr sz="2492" b="1"/>
            </a:lvl2pPr>
            <a:lvl3pPr marL="1127857" indent="0">
              <a:buNone/>
              <a:defRPr sz="2215" b="1"/>
            </a:lvl3pPr>
            <a:lvl4pPr marL="1691786" indent="0">
              <a:buNone/>
              <a:defRPr sz="1939" b="1"/>
            </a:lvl4pPr>
            <a:lvl5pPr marL="2255714" indent="0">
              <a:buNone/>
              <a:defRPr sz="1939" b="1"/>
            </a:lvl5pPr>
            <a:lvl6pPr marL="2819642" indent="0">
              <a:buNone/>
              <a:defRPr sz="1939" b="1"/>
            </a:lvl6pPr>
            <a:lvl7pPr marL="3383570" indent="0">
              <a:buNone/>
              <a:defRPr sz="1939" b="1"/>
            </a:lvl7pPr>
            <a:lvl8pPr marL="3947498" indent="0">
              <a:buNone/>
              <a:defRPr sz="1939" b="1"/>
            </a:lvl8pPr>
            <a:lvl9pPr marL="4511427" indent="0">
              <a:buNone/>
              <a:defRPr sz="1939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18283" y="2773981"/>
            <a:ext cx="5584738" cy="5039729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2954"/>
            </a:lvl1pPr>
            <a:lvl2pPr>
              <a:defRPr sz="2492"/>
            </a:lvl2pPr>
            <a:lvl3pPr>
              <a:defRPr sz="2215"/>
            </a:lvl3pPr>
            <a:lvl4pPr>
              <a:defRPr sz="1939"/>
            </a:lvl4pPr>
            <a:lvl5pPr>
              <a:defRPr sz="1939"/>
            </a:lvl5pPr>
            <a:lvl6pPr>
              <a:defRPr sz="1939"/>
            </a:lvl6pPr>
            <a:lvl7pPr>
              <a:defRPr sz="1939"/>
            </a:lvl7pPr>
            <a:lvl8pPr>
              <a:defRPr sz="1939"/>
            </a:lvl8pPr>
            <a:lvl9pPr>
              <a:defRPr sz="193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39876309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0357793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733927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38" y="348266"/>
            <a:ext cx="4156748" cy="1482154"/>
          </a:xfrm>
          <a:prstGeom prst="rect">
            <a:avLst/>
          </a:prstGeom>
        </p:spPr>
        <p:txBody>
          <a:bodyPr lIns="122182" tIns="61091" rIns="122182" bIns="61091" anchor="b"/>
          <a:lstStyle>
            <a:lvl1pPr algn="l">
              <a:defRPr sz="2492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39839" y="348266"/>
            <a:ext cx="7063180" cy="7465440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3969"/>
            </a:lvl1pPr>
            <a:lvl2pPr>
              <a:defRPr sz="3415"/>
            </a:lvl2pPr>
            <a:lvl3pPr>
              <a:defRPr sz="2954"/>
            </a:lvl3pPr>
            <a:lvl4pPr>
              <a:defRPr sz="2492"/>
            </a:lvl4pPr>
            <a:lvl5pPr>
              <a:defRPr sz="2492"/>
            </a:lvl5pPr>
            <a:lvl6pPr>
              <a:defRPr sz="2492"/>
            </a:lvl6pPr>
            <a:lvl7pPr>
              <a:defRPr sz="2492"/>
            </a:lvl7pPr>
            <a:lvl8pPr>
              <a:defRPr sz="2492"/>
            </a:lvl8pPr>
            <a:lvl9pPr>
              <a:defRPr sz="249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1738" y="1830420"/>
            <a:ext cx="4156748" cy="5983286"/>
          </a:xfrm>
          <a:prstGeom prst="rect">
            <a:avLst/>
          </a:prstGeom>
        </p:spPr>
        <p:txBody>
          <a:bodyPr lIns="122182" tIns="61091" rIns="122182" bIns="61091"/>
          <a:lstStyle>
            <a:lvl1pPr marL="0" indent="0">
              <a:buNone/>
              <a:defRPr sz="1754"/>
            </a:lvl1pPr>
            <a:lvl2pPr marL="563929" indent="0">
              <a:buNone/>
              <a:defRPr sz="1477"/>
            </a:lvl2pPr>
            <a:lvl3pPr marL="1127857" indent="0">
              <a:buNone/>
              <a:defRPr sz="1200"/>
            </a:lvl3pPr>
            <a:lvl4pPr marL="1691786" indent="0">
              <a:buNone/>
              <a:defRPr sz="1108"/>
            </a:lvl4pPr>
            <a:lvl5pPr marL="2255714" indent="0">
              <a:buNone/>
              <a:defRPr sz="1108"/>
            </a:lvl5pPr>
            <a:lvl6pPr marL="2819642" indent="0">
              <a:buNone/>
              <a:defRPr sz="1108"/>
            </a:lvl6pPr>
            <a:lvl7pPr marL="3383570" indent="0">
              <a:buNone/>
              <a:defRPr sz="1108"/>
            </a:lvl7pPr>
            <a:lvl8pPr marL="3947498" indent="0">
              <a:buNone/>
              <a:defRPr sz="1108"/>
            </a:lvl8pPr>
            <a:lvl9pPr marL="4511427" indent="0">
              <a:buNone/>
              <a:defRPr sz="1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12658198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6501" y="6122997"/>
            <a:ext cx="7580854" cy="722854"/>
          </a:xfrm>
          <a:prstGeom prst="rect">
            <a:avLst/>
          </a:prstGeom>
        </p:spPr>
        <p:txBody>
          <a:bodyPr lIns="122182" tIns="61091" rIns="122182" bIns="61091" anchor="b"/>
          <a:lstStyle>
            <a:lvl1pPr algn="l">
              <a:defRPr sz="2492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76501" y="781577"/>
            <a:ext cx="7580854" cy="5248283"/>
          </a:xfrm>
          <a:prstGeom prst="rect">
            <a:avLst/>
          </a:prstGeom>
        </p:spPr>
        <p:txBody>
          <a:bodyPr lIns="122182" tIns="61091" rIns="122182" bIns="61091"/>
          <a:lstStyle>
            <a:lvl1pPr marL="0" indent="0">
              <a:buNone/>
              <a:defRPr sz="3969"/>
            </a:lvl1pPr>
            <a:lvl2pPr marL="563929" indent="0">
              <a:buNone/>
              <a:defRPr sz="3415"/>
            </a:lvl2pPr>
            <a:lvl3pPr marL="1127857" indent="0">
              <a:buNone/>
              <a:defRPr sz="2954"/>
            </a:lvl3pPr>
            <a:lvl4pPr marL="1691786" indent="0">
              <a:buNone/>
              <a:defRPr sz="2492"/>
            </a:lvl4pPr>
            <a:lvl5pPr marL="2255714" indent="0">
              <a:buNone/>
              <a:defRPr sz="2492"/>
            </a:lvl5pPr>
            <a:lvl6pPr marL="2819642" indent="0">
              <a:buNone/>
              <a:defRPr sz="2492"/>
            </a:lvl6pPr>
            <a:lvl7pPr marL="3383570" indent="0">
              <a:buNone/>
              <a:defRPr sz="2492"/>
            </a:lvl7pPr>
            <a:lvl8pPr marL="3947498" indent="0">
              <a:buNone/>
              <a:defRPr sz="2492"/>
            </a:lvl8pPr>
            <a:lvl9pPr marL="4511427" indent="0">
              <a:buNone/>
              <a:defRPr sz="2492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76501" y="6845855"/>
            <a:ext cx="7580854" cy="1026573"/>
          </a:xfrm>
          <a:prstGeom prst="rect">
            <a:avLst/>
          </a:prstGeom>
        </p:spPr>
        <p:txBody>
          <a:bodyPr lIns="122182" tIns="61091" rIns="122182" bIns="61091"/>
          <a:lstStyle>
            <a:lvl1pPr marL="0" indent="0">
              <a:buNone/>
              <a:defRPr sz="1754"/>
            </a:lvl1pPr>
            <a:lvl2pPr marL="563929" indent="0">
              <a:buNone/>
              <a:defRPr sz="1477"/>
            </a:lvl2pPr>
            <a:lvl3pPr marL="1127857" indent="0">
              <a:buNone/>
              <a:defRPr sz="1200"/>
            </a:lvl3pPr>
            <a:lvl4pPr marL="1691786" indent="0">
              <a:buNone/>
              <a:defRPr sz="1108"/>
            </a:lvl4pPr>
            <a:lvl5pPr marL="2255714" indent="0">
              <a:buNone/>
              <a:defRPr sz="1108"/>
            </a:lvl5pPr>
            <a:lvl6pPr marL="2819642" indent="0">
              <a:buNone/>
              <a:defRPr sz="1108"/>
            </a:lvl6pPr>
            <a:lvl7pPr marL="3383570" indent="0">
              <a:buNone/>
              <a:defRPr sz="1108"/>
            </a:lvl7pPr>
            <a:lvl8pPr marL="3947498" indent="0">
              <a:buNone/>
              <a:defRPr sz="1108"/>
            </a:lvl8pPr>
            <a:lvl9pPr marL="4511427" indent="0">
              <a:buNone/>
              <a:defRPr sz="1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9848712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1740" y="2041004"/>
            <a:ext cx="11371281" cy="5772707"/>
          </a:xfrm>
          <a:prstGeom prst="rect">
            <a:avLst/>
          </a:prstGeom>
        </p:spPr>
        <p:txBody>
          <a:bodyPr vert="eaVert" lIns="122182" tIns="61091" rIns="122182" bIns="61091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39153116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60198" y="350296"/>
            <a:ext cx="2842821" cy="7463415"/>
          </a:xfrm>
          <a:prstGeom prst="rect">
            <a:avLst/>
          </a:prstGeom>
        </p:spPr>
        <p:txBody>
          <a:bodyPr vert="eaVert" lIns="122182" tIns="61091" rIns="122182" bIns="61091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1738" y="350296"/>
            <a:ext cx="8317881" cy="7463415"/>
          </a:xfrm>
          <a:prstGeom prst="rect">
            <a:avLst/>
          </a:prstGeom>
        </p:spPr>
        <p:txBody>
          <a:bodyPr vert="eaVert" lIns="122182" tIns="61091" rIns="122182" bIns="61091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47505031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31740" y="350296"/>
            <a:ext cx="11371281" cy="7463415"/>
          </a:xfrm>
          <a:prstGeom prst="rect">
            <a:avLst/>
          </a:prstGeom>
        </p:spPr>
        <p:txBody>
          <a:bodyPr lIns="122182" tIns="61091" rIns="122182" bIns="61091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11141002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440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917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6004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5300" y="6245225"/>
            <a:ext cx="2313120" cy="477838"/>
          </a:xfrm>
          <a:prstGeom prst="rect">
            <a:avLst/>
          </a:prstGeom>
        </p:spPr>
        <p:txBody>
          <a:bodyPr lIns="87242" tIns="43621" rIns="87242" bIns="43621"/>
          <a:lstStyle>
            <a:lvl1pPr eaLnBrk="1" latin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5225"/>
            <a:ext cx="3136900" cy="477838"/>
          </a:xfrm>
          <a:prstGeom prst="rect">
            <a:avLst/>
          </a:prstGeom>
        </p:spPr>
        <p:txBody>
          <a:bodyPr lIns="87242" tIns="43621" rIns="87242" bIns="43621"/>
          <a:lstStyle>
            <a:lvl1pPr eaLnBrk="1" latin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7604" y="6245225"/>
            <a:ext cx="2313119" cy="477838"/>
          </a:xfrm>
          <a:prstGeom prst="rect">
            <a:avLst/>
          </a:prstGeom>
        </p:spPr>
        <p:txBody>
          <a:bodyPr vert="horz" wrap="square" lIns="87242" tIns="43621" rIns="87242" bIns="43621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D355C6B-2410-4428-93C3-4C89B07A2395}" type="slidenum">
              <a:rPr lang="en-US" altLang="ko-KR">
                <a:solidFill>
                  <a:srgbClr val="000000"/>
                </a:solidFill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1216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056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3410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2714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1492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2"/>
          <p:cNvCxnSpPr>
            <a:cxnSpLocks noChangeShapeType="1"/>
          </p:cNvCxnSpPr>
          <p:nvPr userDrawn="1"/>
        </p:nvCxnSpPr>
        <p:spPr bwMode="auto">
          <a:xfrm>
            <a:off x="0" y="582613"/>
            <a:ext cx="9906000" cy="0"/>
          </a:xfrm>
          <a:prstGeom prst="line">
            <a:avLst/>
          </a:prstGeom>
          <a:noFill/>
          <a:ln w="9525" algn="ctr">
            <a:solidFill>
              <a:srgbClr val="808080"/>
            </a:solidFill>
            <a:round/>
            <a:headEnd/>
            <a:tailEnd/>
          </a:ln>
        </p:spPr>
      </p:cxnSp>
      <p:sp>
        <p:nvSpPr>
          <p:cNvPr id="3" name="직사각형 2"/>
          <p:cNvSpPr/>
          <p:nvPr userDrawn="1"/>
        </p:nvSpPr>
        <p:spPr>
          <a:xfrm>
            <a:off x="4346700" y="154823"/>
            <a:ext cx="1208963" cy="276987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  <p:txBody>
          <a:bodyPr wrap="none" lIns="91429" tIns="45714" rIns="91429" bIns="45714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kern="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LGE Confidential</a:t>
            </a:r>
            <a:endParaRPr kumimoji="0" lang="ko-KR" altLang="en-US" sz="1200" kern="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pic>
        <p:nvPicPr>
          <p:cNvPr id="4" name="Picture 3" descr="C:\Users\hyun\Desktop\비전로고_두줄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09963" y="6386473"/>
            <a:ext cx="971368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68531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 lIns="91405" tIns="45703" rIns="91405" bIns="45703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440112" y="6526215"/>
            <a:ext cx="2311400" cy="2873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293FC-C5D6-4CEB-9858-E5CF7FEFFD3F}" type="slidenum">
              <a:rPr lang="en-US" altLang="ko-KR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69457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4323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38142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6163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9499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82112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22151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28212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01622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14104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5831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43967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67111F7-ED34-4F3A-9313-56AE6B804547}" type="datetimeFigureOut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2025-04-08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A73AB624-D324-4A6C-B27A-261454D0C00D}" type="slidenum">
              <a:rPr lang="ko-KR" altLang="en-US" sz="1100" b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pPr/>
              <a:t>‹#›</a:t>
            </a:fld>
            <a:endParaRPr lang="ko-KR" altLang="en-US" sz="1100" b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83055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280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810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5305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7273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9716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956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 userDrawn="1"/>
        </p:nvSpPr>
        <p:spPr bwMode="gray">
          <a:xfrm>
            <a:off x="4442044" y="6660776"/>
            <a:ext cx="1366089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65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65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INTERNAL USE ONLY</a:t>
            </a:r>
            <a:r>
              <a:rPr lang="ko-KR" altLang="en-US" sz="65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65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200027" y="188916"/>
            <a:ext cx="9505950" cy="6480175"/>
            <a:chOff x="200025" y="188913"/>
            <a:chExt cx="9505950" cy="6480175"/>
          </a:xfrm>
        </p:grpSpPr>
        <p:grpSp>
          <p:nvGrpSpPr>
            <p:cNvPr id="5" name="그룹 4"/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7" name="직사각형 6"/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/>
                <a:endParaRPr lang="ko-KR" altLang="en-US" sz="975">
                  <a:solidFill>
                    <a:prstClr val="white"/>
                  </a:solidFill>
                </a:endParaRPr>
              </a:p>
            </p:txBody>
          </p:sp>
          <p:pic>
            <p:nvPicPr>
              <p:cNvPr id="8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2" descr="C:\ECM\TEMP\부서함\Brand담당\CI 매뉴얼★\★로고파일-자회사名\14년ver\(주)LG\LG_가로조합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9363" y="5137700"/>
              <a:ext cx="657577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281656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5148" y="103933"/>
            <a:ext cx="8543925" cy="360040"/>
          </a:xfrm>
          <a:prstGeom prst="rect">
            <a:avLst/>
          </a:prstGeom>
        </p:spPr>
        <p:txBody>
          <a:bodyPr/>
          <a:lstStyle>
            <a:lvl1pPr algn="l">
              <a:defRPr kumimoji="1" lang="ko-KR" altLang="en-US" sz="1463" b="1" kern="1200" dirty="0" smtClean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5" name="Picture 3" descr="C:\Users\hyun\Desktop\비전로고_두줄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89948" y="6309320"/>
            <a:ext cx="789237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743449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5148" y="103933"/>
            <a:ext cx="8543925" cy="360040"/>
          </a:xfrm>
          <a:prstGeom prst="rect">
            <a:avLst/>
          </a:prstGeom>
        </p:spPr>
        <p:txBody>
          <a:bodyPr/>
          <a:lstStyle>
            <a:lvl1pPr algn="l">
              <a:defRPr kumimoji="1" lang="ko-KR" altLang="en-US" sz="1463" b="1" kern="1200" dirty="0" smtClean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45148" y="6165305"/>
            <a:ext cx="4573826" cy="254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56" dirty="0"/>
          </a:p>
        </p:txBody>
      </p:sp>
    </p:spTree>
    <p:extLst>
      <p:ext uri="{BB962C8B-B14F-4D97-AF65-F5344CB8AC3E}">
        <p14:creationId xmlns:p14="http://schemas.microsoft.com/office/powerpoint/2010/main" val="2860921919"/>
      </p:ext>
    </p:extLst>
  </p:cSld>
  <p:clrMapOvr>
    <a:masterClrMapping/>
  </p:clrMapOvr>
  <p:hf sldNum="0"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17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966751382,&quot;Placement&quot;:&quot;Header&quot;,&quot;Top&quot;:0.0,&quot;Left&quot;:323.954651,&quot;SlideWidth&quot;:780,&quot;SlideHeight&quot;:540}">
            <a:extLst>
              <a:ext uri="{FF2B5EF4-FFF2-40B4-BE49-F238E27FC236}">
                <a16:creationId xmlns="" xmlns:a16="http://schemas.microsoft.com/office/drawing/2014/main" id="{0D07658B-5BB9-C9BC-FA3B-97A25355BB0A}"/>
              </a:ext>
            </a:extLst>
          </p:cNvPr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846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36213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872426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08635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744851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27160" indent="-32716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100">
          <a:solidFill>
            <a:schemeClr val="tx1"/>
          </a:solidFill>
          <a:latin typeface="+mn-lt"/>
          <a:ea typeface="+mn-ea"/>
          <a:cs typeface="+mn-cs"/>
        </a:defRPr>
      </a:lvl1pPr>
      <a:lvl2pPr marL="708844" indent="-27111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700">
          <a:solidFill>
            <a:schemeClr val="tx1"/>
          </a:solidFill>
          <a:latin typeface="+mn-lt"/>
          <a:ea typeface="+mn-ea"/>
        </a:defRPr>
      </a:lvl2pPr>
      <a:lvl3pPr marL="1090531" indent="-21810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00">
          <a:solidFill>
            <a:schemeClr val="tx1"/>
          </a:solidFill>
          <a:latin typeface="+mn-lt"/>
          <a:ea typeface="+mn-ea"/>
        </a:defRPr>
      </a:lvl3pPr>
      <a:lvl4pPr marL="1525230" indent="-215076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00">
          <a:solidFill>
            <a:schemeClr val="tx1"/>
          </a:solidFill>
          <a:latin typeface="+mn-lt"/>
          <a:ea typeface="+mn-ea"/>
        </a:defRPr>
      </a:lvl4pPr>
      <a:lvl5pPr marL="1962956" indent="-21810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5pPr>
      <a:lvl6pPr marL="2399166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6pPr>
      <a:lvl7pPr marL="2835382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7pPr>
      <a:lvl8pPr marL="3271594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8pPr>
      <a:lvl9pPr marL="3707807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213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426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8635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4851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061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7275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3486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89699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966751382,&quot;Placement&quot;:&quot;Header&quot;,&quot;Top&quot;:0.0,&quot;Left&quot;:323.954651,&quot;SlideWidth&quot;:780,&quot;SlideHeight&quot;:540}">
            <a:extLst>
              <a:ext uri="{FF2B5EF4-FFF2-40B4-BE49-F238E27FC236}">
                <a16:creationId xmlns="" xmlns:a16="http://schemas.microsoft.com/office/drawing/2014/main" id="{0B1FA525-C35A-BE20-E765-F4DB2F61563E}"/>
              </a:ext>
            </a:extLst>
          </p:cNvPr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35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2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22039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844078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266117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688155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16529" indent="-316529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5813" indent="-2637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097" indent="-21102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215">
          <a:solidFill>
            <a:schemeClr val="tx1"/>
          </a:solidFill>
          <a:latin typeface="+mn-lt"/>
          <a:ea typeface="+mn-ea"/>
        </a:defRPr>
      </a:lvl3pPr>
      <a:lvl4pPr marL="1477136" indent="-21102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75" indent="-21102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5pPr>
      <a:lvl6pPr marL="2321213" indent="-211020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6pPr>
      <a:lvl7pPr marL="2743253" indent="-211020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7pPr>
      <a:lvl8pPr marL="3165291" indent="-211020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8pPr>
      <a:lvl9pPr marL="3587330" indent="-211020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39"/>
          <p:cNvSpPr>
            <a:spLocks noChangeShapeType="1"/>
          </p:cNvSpPr>
          <p:nvPr userDrawn="1"/>
        </p:nvSpPr>
        <p:spPr bwMode="auto">
          <a:xfrm>
            <a:off x="0" y="490930"/>
            <a:ext cx="990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84374" tIns="42187" rIns="84374" bIns="42187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923" b="0" kern="0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4254351" y="125417"/>
            <a:ext cx="1606530" cy="2628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8" b="0" dirty="0">
                <a:solidFill>
                  <a:srgbClr val="FFFFFF">
                    <a:lumMod val="75000"/>
                  </a:srgbClr>
                </a:solidFill>
              </a:rPr>
              <a:t>LGE Internal Use Only</a:t>
            </a:r>
            <a:endParaRPr lang="ko-KR" altLang="en-US" sz="1108" b="0" dirty="0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2" name="MSIPCMContentMarking" descr="{&quot;HashCode&quot;:966751382,&quot;Placement&quot;:&quot;Header&quot;,&quot;Top&quot;:0.0,&quot;Left&quot;:323.954651,&quot;SlideWidth&quot;:780,&quot;SlideHeight&quot;:540}">
            <a:extLst>
              <a:ext uri="{FF2B5EF4-FFF2-40B4-BE49-F238E27FC236}">
                <a16:creationId xmlns="" xmlns:a16="http://schemas.microsoft.com/office/drawing/2014/main" id="{A5B2E6DD-FB09-E4DA-17D8-D0C0E0644872}"/>
              </a:ext>
            </a:extLst>
          </p:cNvPr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61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</p:sldLayoutIdLst>
  <p:hf sldNum="0" hdr="0" ftr="0" dt="0"/>
  <p:txStyles>
    <p:titleStyle>
      <a:lvl1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923" b="1">
          <a:solidFill>
            <a:schemeClr val="tx1"/>
          </a:solidFill>
          <a:latin typeface="+mj-lt"/>
          <a:ea typeface="+mj-ea"/>
          <a:cs typeface="+mj-cs"/>
        </a:defRPr>
      </a:lvl1pPr>
      <a:lvl2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844078" indent="-422039" algn="l" rtl="0" fontAlgn="base" latinLnBrk="1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66117" indent="-422039" algn="l" rtl="0" fontAlgn="base" latinLnBrk="1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688155" indent="-422039" algn="l" rtl="0" fontAlgn="base" latinLnBrk="1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10195" indent="-422039" algn="l" rtl="0" fontAlgn="base" latinLnBrk="1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16529" indent="-316529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77" b="1">
          <a:solidFill>
            <a:schemeClr val="tx1"/>
          </a:solidFill>
          <a:latin typeface="+mn-lt"/>
          <a:ea typeface="+mn-ea"/>
          <a:cs typeface="+mn-cs"/>
        </a:defRPr>
      </a:lvl1pPr>
      <a:lvl2pPr marL="703398" indent="-28135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77" b="1">
          <a:solidFill>
            <a:schemeClr val="tx1"/>
          </a:solidFill>
          <a:latin typeface="+mn-lt"/>
          <a:ea typeface="+mn-ea"/>
        </a:defRPr>
      </a:lvl2pPr>
      <a:lvl3pPr marL="1090267" indent="-24619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292" b="1">
          <a:solidFill>
            <a:schemeClr val="tx1"/>
          </a:solidFill>
          <a:latin typeface="+mn-lt"/>
          <a:ea typeface="+mn-ea"/>
        </a:defRPr>
      </a:lvl3pPr>
      <a:lvl4pPr marL="1477136" indent="-21102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108" b="1">
          <a:solidFill>
            <a:schemeClr val="tx1"/>
          </a:solidFill>
          <a:latin typeface="+mn-lt"/>
          <a:ea typeface="+mn-ea"/>
        </a:defRPr>
      </a:lvl4pPr>
      <a:lvl5pPr marL="1899175" indent="-21102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5pPr>
      <a:lvl6pPr marL="2321213" indent="-211020" algn="l" rtl="0" fontAlgn="base" latinLnBrk="1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6pPr>
      <a:lvl7pPr marL="2743253" indent="-211020" algn="l" rtl="0" fontAlgn="base" latinLnBrk="1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7pPr>
      <a:lvl8pPr marL="3165291" indent="-211020" algn="l" rtl="0" fontAlgn="base" latinLnBrk="1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8pPr>
      <a:lvl9pPr marL="3587330" indent="-211020" algn="l" rtl="0" fontAlgn="base" latinLnBrk="1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4" name="Text Box 14"/>
          <p:cNvSpPr txBox="1">
            <a:spLocks noChangeArrowheads="1"/>
          </p:cNvSpPr>
          <p:nvPr userDrawn="1"/>
        </p:nvSpPr>
        <p:spPr bwMode="auto">
          <a:xfrm>
            <a:off x="5280239" y="149227"/>
            <a:ext cx="1233060" cy="212999"/>
          </a:xfrm>
          <a:prstGeom prst="rect">
            <a:avLst/>
          </a:prstGeom>
          <a:noFill/>
          <a:ln w="9525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lIns="84311" tIns="42160" rIns="84311" bIns="42160">
            <a:spAutoFit/>
          </a:bodyPr>
          <a:lstStyle/>
          <a:p>
            <a:pPr algn="ctr" defTabSz="843935">
              <a:defRPr/>
            </a:pPr>
            <a:r>
              <a:rPr lang="en-US" altLang="ko-KR" sz="831" b="0" dirty="0">
                <a:solidFill>
                  <a:srgbClr val="B2B2B2"/>
                </a:solidFill>
                <a:latin typeface="Arial" pitchFamily="34" charset="0"/>
                <a:cs typeface="Arial" pitchFamily="34" charset="0"/>
              </a:rPr>
              <a:t>LGE Internal Use Only</a:t>
            </a:r>
          </a:p>
        </p:txBody>
      </p:sp>
      <p:sp>
        <p:nvSpPr>
          <p:cNvPr id="2" name="MSIPCMContentMarking" descr="{&quot;HashCode&quot;:966751382,&quot;Placement&quot;:&quot;Header&quot;,&quot;Top&quot;:0.0,&quot;Left&quot;:323.954651,&quot;SlideWidth&quot;:780,&quot;SlideHeight&quot;:540}">
            <a:extLst>
              <a:ext uri="{FF2B5EF4-FFF2-40B4-BE49-F238E27FC236}">
                <a16:creationId xmlns="" xmlns:a16="http://schemas.microsoft.com/office/drawing/2014/main" id="{141AEF97-3112-84BF-0705-D5348E8A0DC7}"/>
              </a:ext>
            </a:extLst>
          </p:cNvPr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87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  <p:transition spd="slow"/>
  <p:txStyles>
    <p:titleStyle>
      <a:lvl1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+mj-lt"/>
          <a:ea typeface="+mj-ea"/>
          <a:cs typeface="+mj-cs"/>
        </a:defRPr>
      </a:lvl1pPr>
      <a:lvl2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563929" algn="ctr" rtl="0" fontAlgn="base" latinLnBrk="1">
        <a:spcBef>
          <a:spcPct val="0"/>
        </a:spcBef>
        <a:spcAft>
          <a:spcPct val="0"/>
        </a:spcAft>
        <a:defRPr kumimoji="1" sz="5262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1127857" algn="ctr" rtl="0" fontAlgn="base" latinLnBrk="1">
        <a:spcBef>
          <a:spcPct val="0"/>
        </a:spcBef>
        <a:spcAft>
          <a:spcPct val="0"/>
        </a:spcAft>
        <a:defRPr kumimoji="1" sz="5262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691786" algn="ctr" rtl="0" fontAlgn="base" latinLnBrk="1">
        <a:spcBef>
          <a:spcPct val="0"/>
        </a:spcBef>
        <a:spcAft>
          <a:spcPct val="0"/>
        </a:spcAft>
        <a:defRPr kumimoji="1" sz="5262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2255714" algn="ctr" rtl="0" fontAlgn="base" latinLnBrk="1">
        <a:spcBef>
          <a:spcPct val="0"/>
        </a:spcBef>
        <a:spcAft>
          <a:spcPct val="0"/>
        </a:spcAft>
        <a:defRPr kumimoji="1" sz="5262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16529" indent="-316529" algn="l" defTabSz="8426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4348" indent="-262310" algn="l" defTabSz="8426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2166" indent="-208089" algn="l" defTabSz="842613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475671" indent="-211020" algn="l" defTabSz="8426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75" indent="-211020" algn="l" defTabSz="8426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5pPr>
      <a:lvl6pPr marL="3101606" indent="-281965" algn="l" rtl="0" fontAlgn="base" latinLnBrk="1">
        <a:spcBef>
          <a:spcPct val="20000"/>
        </a:spcBef>
        <a:spcAft>
          <a:spcPct val="0"/>
        </a:spcAft>
        <a:buChar char="»"/>
        <a:defRPr kumimoji="1" sz="2492">
          <a:solidFill>
            <a:schemeClr val="tx1"/>
          </a:solidFill>
          <a:latin typeface="+mn-lt"/>
          <a:ea typeface="+mn-ea"/>
        </a:defRPr>
      </a:lvl6pPr>
      <a:lvl7pPr marL="3665534" indent="-281965" algn="l" rtl="0" fontAlgn="base" latinLnBrk="1">
        <a:spcBef>
          <a:spcPct val="20000"/>
        </a:spcBef>
        <a:spcAft>
          <a:spcPct val="0"/>
        </a:spcAft>
        <a:buChar char="»"/>
        <a:defRPr kumimoji="1" sz="2492">
          <a:solidFill>
            <a:schemeClr val="tx1"/>
          </a:solidFill>
          <a:latin typeface="+mn-lt"/>
          <a:ea typeface="+mn-ea"/>
        </a:defRPr>
      </a:lvl7pPr>
      <a:lvl8pPr marL="4229462" indent="-281965" algn="l" rtl="0" fontAlgn="base" latinLnBrk="1">
        <a:spcBef>
          <a:spcPct val="20000"/>
        </a:spcBef>
        <a:spcAft>
          <a:spcPct val="0"/>
        </a:spcAft>
        <a:buChar char="»"/>
        <a:defRPr kumimoji="1" sz="2492">
          <a:solidFill>
            <a:schemeClr val="tx1"/>
          </a:solidFill>
          <a:latin typeface="+mn-lt"/>
          <a:ea typeface="+mn-ea"/>
        </a:defRPr>
      </a:lvl8pPr>
      <a:lvl9pPr marL="4793391" indent="-281965" algn="l" rtl="0" fontAlgn="base" latinLnBrk="1">
        <a:spcBef>
          <a:spcPct val="20000"/>
        </a:spcBef>
        <a:spcAft>
          <a:spcPct val="0"/>
        </a:spcAft>
        <a:buChar char="»"/>
        <a:defRPr kumimoji="1" sz="2492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3929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7857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91786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5714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9642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83570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47498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11427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966751382,&quot;Placement&quot;:&quot;Header&quot;,&quot;Top&quot;:0.0,&quot;Left&quot;:323.954651,&quot;SlideWidth&quot;:780,&quot;SlideHeight&quot;:540}">
            <a:extLst>
              <a:ext uri="{FF2B5EF4-FFF2-40B4-BE49-F238E27FC236}">
                <a16:creationId xmlns="" xmlns:a16="http://schemas.microsoft.com/office/drawing/2014/main" id="{BE54C458-51B5-9710-1C0A-BA56B5AD14AC}"/>
              </a:ext>
            </a:extLst>
          </p:cNvPr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30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47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5pPr>
      <a:lvl6pPr marL="436215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872431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08643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744861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27025" indent="-3270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100">
          <a:solidFill>
            <a:schemeClr val="tx1"/>
          </a:solidFill>
          <a:latin typeface="+mn-lt"/>
          <a:ea typeface="+mn-ea"/>
          <a:cs typeface="+mn-cs"/>
        </a:defRPr>
      </a:lvl1pPr>
      <a:lvl2pPr marL="708025" indent="-2698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700">
          <a:solidFill>
            <a:schemeClr val="tx1"/>
          </a:solidFill>
          <a:latin typeface="+mn-lt"/>
          <a:ea typeface="+mn-ea"/>
        </a:defRPr>
      </a:lvl2pPr>
      <a:lvl3pPr marL="1089025" indent="-2174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00">
          <a:solidFill>
            <a:schemeClr val="tx1"/>
          </a:solidFill>
          <a:latin typeface="+mn-lt"/>
          <a:ea typeface="+mn-ea"/>
        </a:defRPr>
      </a:lvl3pPr>
      <a:lvl4pPr marL="1524000" indent="-2143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00">
          <a:solidFill>
            <a:schemeClr val="tx1"/>
          </a:solidFill>
          <a:latin typeface="+mn-lt"/>
          <a:ea typeface="+mn-ea"/>
        </a:defRPr>
      </a:lvl4pPr>
      <a:lvl5pPr marL="1962150" indent="-217488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5pPr>
      <a:lvl6pPr marL="2399180" indent="-218106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6pPr>
      <a:lvl7pPr marL="2835398" indent="-218106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7pPr>
      <a:lvl8pPr marL="3271613" indent="-218106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8pPr>
      <a:lvl9pPr marL="3707828" indent="-218106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215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431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8643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4861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074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7290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3504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89719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46700" y="116723"/>
            <a:ext cx="1208963" cy="276987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  <p:txBody>
          <a:bodyPr wrap="none" lIns="91429" tIns="45714" rIns="91429" bIns="45714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kern="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LGE Confidential</a:t>
            </a:r>
            <a:endParaRPr kumimoji="0" lang="ko-KR" altLang="en-US" sz="1200" kern="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pic>
        <p:nvPicPr>
          <p:cNvPr id="4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809963" y="6386473"/>
            <a:ext cx="971368" cy="421758"/>
          </a:xfrm>
          <a:prstGeom prst="rect">
            <a:avLst/>
          </a:prstGeom>
          <a:noFill/>
        </p:spPr>
      </p:pic>
      <p:sp>
        <p:nvSpPr>
          <p:cNvPr id="3" name="MSIPCMContentMarking" descr="{&quot;HashCode&quot;:966751382,&quot;Placement&quot;:&quot;Header&quot;,&quot;Top&quot;:0.0,&quot;Left&quot;:323.954651,&quot;SlideWidth&quot;:780,&quot;SlideHeight&quot;:540}">
            <a:extLst>
              <a:ext uri="{FF2B5EF4-FFF2-40B4-BE49-F238E27FC236}">
                <a16:creationId xmlns="" xmlns:a16="http://schemas.microsoft.com/office/drawing/2014/main" id="{2E230E91-316C-5AA7-AE1D-9F4766643E18}"/>
              </a:ext>
            </a:extLst>
          </p:cNvPr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08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1" r:id="rId3"/>
    <p:sldLayoutId id="2147483843" r:id="rId4"/>
    <p:sldLayoutId id="2147483845" r:id="rId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"/>
          <p:cNvSpPr>
            <a:spLocks noChangeArrowheads="1"/>
          </p:cNvSpPr>
          <p:nvPr userDrawn="1"/>
        </p:nvSpPr>
        <p:spPr bwMode="auto">
          <a:xfrm>
            <a:off x="53266" y="116633"/>
            <a:ext cx="9783193" cy="646880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>
              <a:lnSpc>
                <a:spcPct val="110000"/>
              </a:lnSpc>
              <a:defRPr/>
            </a:pPr>
            <a:endParaRPr lang="ko-KR" altLang="en-US" sz="1100" b="0" dirty="0">
              <a:solidFill>
                <a:srgbClr val="FF0000"/>
              </a:solidFill>
              <a:latin typeface="굴림체" pitchFamily="49" charset="-127"/>
              <a:ea typeface="굴림체" pitchFamily="49" charset="-127"/>
            </a:endParaRPr>
          </a:p>
        </p:txBody>
      </p:sp>
      <p:grpSp>
        <p:nvGrpSpPr>
          <p:cNvPr id="8" name="Group 22"/>
          <p:cNvGrpSpPr>
            <a:grpSpLocks/>
          </p:cNvGrpSpPr>
          <p:nvPr userDrawn="1"/>
        </p:nvGrpSpPr>
        <p:grpSpPr bwMode="auto">
          <a:xfrm>
            <a:off x="3329517" y="108487"/>
            <a:ext cx="3855731" cy="506656"/>
            <a:chOff x="1476" y="211"/>
            <a:chExt cx="1802" cy="460"/>
          </a:xfrm>
        </p:grpSpPr>
        <p:sp>
          <p:nvSpPr>
            <p:cNvPr id="9" name="Line 23"/>
            <p:cNvSpPr>
              <a:spLocks noChangeShapeType="1"/>
            </p:cNvSpPr>
            <p:nvPr/>
          </p:nvSpPr>
          <p:spPr bwMode="auto">
            <a:xfrm>
              <a:off x="3278" y="211"/>
              <a:ext cx="0" cy="4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just">
                <a:lnSpc>
                  <a:spcPct val="110000"/>
                </a:lnSpc>
                <a:defRPr/>
              </a:pPr>
              <a:endParaRPr lang="ko-KR" altLang="en-US" sz="1100" b="0" dirty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10" name="Line 24"/>
            <p:cNvSpPr>
              <a:spLocks noChangeShapeType="1"/>
            </p:cNvSpPr>
            <p:nvPr/>
          </p:nvSpPr>
          <p:spPr bwMode="auto">
            <a:xfrm>
              <a:off x="1476" y="211"/>
              <a:ext cx="0" cy="4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just">
                <a:lnSpc>
                  <a:spcPct val="110000"/>
                </a:lnSpc>
                <a:defRPr/>
              </a:pPr>
              <a:endParaRPr lang="ko-KR" altLang="en-US" sz="1100" b="0" dirty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11" name="Line 25"/>
            <p:cNvSpPr>
              <a:spLocks noChangeShapeType="1"/>
            </p:cNvSpPr>
            <p:nvPr/>
          </p:nvSpPr>
          <p:spPr bwMode="auto">
            <a:xfrm>
              <a:off x="1476" y="443"/>
              <a:ext cx="18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just">
                <a:lnSpc>
                  <a:spcPct val="110000"/>
                </a:lnSpc>
                <a:defRPr/>
              </a:pPr>
              <a:endParaRPr lang="ko-KR" altLang="en-US" sz="1100" b="0" dirty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endParaRPr>
            </a:p>
          </p:txBody>
        </p:sp>
      </p:grpSp>
      <p:sp>
        <p:nvSpPr>
          <p:cNvPr id="13" name="Rectangle 27"/>
          <p:cNvSpPr>
            <a:spLocks noChangeArrowheads="1"/>
          </p:cNvSpPr>
          <p:nvPr userDrawn="1"/>
        </p:nvSpPr>
        <p:spPr bwMode="auto">
          <a:xfrm>
            <a:off x="8864954" y="6596429"/>
            <a:ext cx="1050219" cy="286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312" tIns="42862" rIns="87312" bIns="42862">
            <a:spAutoFit/>
          </a:bodyPr>
          <a:lstStyle/>
          <a:p>
            <a:pPr defTabSz="684213" latinLnBrk="0">
              <a:spcBef>
                <a:spcPct val="50000"/>
              </a:spcBef>
              <a:defRPr/>
            </a:pPr>
            <a:r>
              <a:rPr lang="en-US" altLang="ko-KR" b="0" dirty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LG</a:t>
            </a:r>
            <a:r>
              <a:rPr lang="ko-KR" altLang="en-US" b="0" dirty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전자</a:t>
            </a:r>
          </a:p>
        </p:txBody>
      </p:sp>
      <p:sp>
        <p:nvSpPr>
          <p:cNvPr id="14" name="Rectangle 28"/>
          <p:cNvSpPr>
            <a:spLocks noChangeArrowheads="1"/>
          </p:cNvSpPr>
          <p:nvPr userDrawn="1"/>
        </p:nvSpPr>
        <p:spPr bwMode="auto">
          <a:xfrm>
            <a:off x="132998" y="120576"/>
            <a:ext cx="3163818" cy="515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2000" tIns="36000" rIns="72000" bIns="36000">
            <a:spAutoFit/>
          </a:bodyPr>
          <a:lstStyle/>
          <a:p>
            <a:pPr defTabSz="762000" latinLnBrk="0">
              <a:lnSpc>
                <a:spcPct val="120000"/>
              </a:lnSpc>
              <a:defRPr/>
            </a:pPr>
            <a:r>
              <a:rPr lang="en-US" altLang="ko-KR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LG</a:t>
            </a:r>
            <a:r>
              <a:rPr lang="ko-KR" altLang="en-US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전자 키친솔루션 빌트인</a:t>
            </a:r>
            <a:r>
              <a:rPr lang="en-US" altLang="ko-KR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/</a:t>
            </a:r>
            <a:r>
              <a:rPr lang="ko-KR" altLang="en-US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쿠킹 사업담당</a:t>
            </a:r>
            <a:r>
              <a:rPr lang="en-US" altLang="ko-KR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  </a:t>
            </a:r>
          </a:p>
          <a:p>
            <a:pPr defTabSz="762000" latinLnBrk="0">
              <a:lnSpc>
                <a:spcPct val="120000"/>
              </a:lnSpc>
              <a:defRPr/>
            </a:pPr>
            <a:r>
              <a:rPr lang="en-US" altLang="ko-KR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LG(66)-A-5002-02, </a:t>
            </a:r>
            <a:r>
              <a:rPr lang="ko-KR" altLang="en-US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제정일 </a:t>
            </a:r>
            <a:r>
              <a:rPr lang="en-US" altLang="ko-KR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: 2025. 2. 10.</a:t>
            </a:r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7197947" y="126072"/>
            <a:ext cx="2757749" cy="515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>
            <a:spAutoFit/>
          </a:bodyPr>
          <a:lstStyle/>
          <a:p>
            <a:pPr defTabSz="762000" latinLnBrk="0">
              <a:lnSpc>
                <a:spcPct val="120000"/>
              </a:lnSpc>
              <a:defRPr/>
            </a:pPr>
            <a:r>
              <a:rPr lang="ko-KR" altLang="en-US" sz="1200" b="0" dirty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페 이 지 </a:t>
            </a:r>
            <a:r>
              <a:rPr lang="en-US" altLang="ko-KR" sz="1200" b="0" dirty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:  </a:t>
            </a:r>
            <a:fld id="{82432C0D-9BD7-4A5F-A24D-707C0724152C}" type="slidenum">
              <a:rPr lang="en-US" altLang="ko-KR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pPr defTabSz="762000" latinLnBrk="0">
                <a:lnSpc>
                  <a:spcPct val="120000"/>
                </a:lnSpc>
                <a:defRPr/>
              </a:pPr>
              <a:t>‹#›</a:t>
            </a:fld>
            <a:r>
              <a:rPr lang="en-US" altLang="ko-KR" sz="1200" b="0" dirty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 </a:t>
            </a:r>
            <a:r>
              <a:rPr lang="en-US" altLang="ko-KR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/ 185</a:t>
            </a:r>
            <a:endParaRPr lang="en-US" altLang="ko-KR" sz="1200" b="0" dirty="0">
              <a:solidFill>
                <a:prstClr val="black"/>
              </a:solidFill>
              <a:latin typeface="LG스마트체 Regular" pitchFamily="50" charset="-127"/>
              <a:ea typeface="LG스마트체 Regular" pitchFamily="50" charset="-127"/>
            </a:endParaRPr>
          </a:p>
          <a:p>
            <a:pPr defTabSz="762000" latinLnBrk="0">
              <a:lnSpc>
                <a:spcPct val="120000"/>
              </a:lnSpc>
              <a:defRPr/>
            </a:pPr>
            <a:r>
              <a:rPr lang="ko-KR" altLang="en-US" sz="1200" b="0" dirty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개정번호 </a:t>
            </a:r>
            <a:r>
              <a:rPr lang="en-US" altLang="ko-KR" sz="1200" b="0" dirty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: 0 , </a:t>
            </a:r>
            <a:r>
              <a:rPr lang="ko-KR" altLang="en-US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개정일</a:t>
            </a:r>
            <a:r>
              <a:rPr lang="en-US" altLang="ko-KR" sz="1200" b="0" dirty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:</a:t>
            </a:r>
          </a:p>
        </p:txBody>
      </p:sp>
      <p:sp>
        <p:nvSpPr>
          <p:cNvPr id="16" name="Rectangle 30"/>
          <p:cNvSpPr>
            <a:spLocks noChangeArrowheads="1"/>
          </p:cNvSpPr>
          <p:nvPr userDrawn="1"/>
        </p:nvSpPr>
        <p:spPr bwMode="auto">
          <a:xfrm>
            <a:off x="3912482" y="107754"/>
            <a:ext cx="2617237" cy="2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>
            <a:spAutoFit/>
          </a:bodyPr>
          <a:lstStyle/>
          <a:p>
            <a:pPr algn="ctr" defTabSz="762000" latinLnBrk="0">
              <a:defRPr/>
            </a:pPr>
            <a:r>
              <a:rPr lang="ko-KR" altLang="en-US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빌트인</a:t>
            </a:r>
            <a:r>
              <a:rPr lang="en-US" altLang="ko-KR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/</a:t>
            </a:r>
            <a:r>
              <a:rPr lang="ko-KR" altLang="en-US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쿠킹 제품 개발 업무 기준 </a:t>
            </a:r>
            <a:r>
              <a:rPr lang="en-US" altLang="ko-KR" sz="1200" b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(NXI) </a:t>
            </a:r>
            <a:endParaRPr lang="en-US" altLang="ko-KR" sz="1200" b="0" dirty="0">
              <a:solidFill>
                <a:prstClr val="black"/>
              </a:solidFill>
              <a:latin typeface="LG스마트체 Regular" pitchFamily="50" charset="-127"/>
              <a:ea typeface="LG스마트체 Regular" pitchFamily="50" charset="-127"/>
            </a:endParaRPr>
          </a:p>
        </p:txBody>
      </p:sp>
      <p:sp>
        <p:nvSpPr>
          <p:cNvPr id="17" name="Text Box 123"/>
          <p:cNvSpPr txBox="1">
            <a:spLocks noChangeArrowheads="1"/>
          </p:cNvSpPr>
          <p:nvPr userDrawn="1"/>
        </p:nvSpPr>
        <p:spPr bwMode="auto">
          <a:xfrm>
            <a:off x="4000324" y="6623295"/>
            <a:ext cx="1305413" cy="19024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36000" tIns="18000" rIns="36000" bIns="18000">
            <a:spAutoFit/>
          </a:bodyPr>
          <a:lstStyle/>
          <a:p>
            <a:pPr>
              <a:defRPr/>
            </a:pPr>
            <a:r>
              <a:rPr lang="en-US" altLang="ko-KR" sz="1000" b="0" dirty="0">
                <a:solidFill>
                  <a:prstClr val="white">
                    <a:lumMod val="50000"/>
                  </a:prstClr>
                </a:solidFill>
                <a:latin typeface="LG스마트체 Regular" pitchFamily="50" charset="-127"/>
                <a:ea typeface="LG스마트체 Regular" pitchFamily="50" charset="-127"/>
              </a:rPr>
              <a:t>LGE Internal Use Only</a:t>
            </a:r>
          </a:p>
        </p:txBody>
      </p:sp>
      <p:cxnSp>
        <p:nvCxnSpPr>
          <p:cNvPr id="18" name="직선 연결선 17"/>
          <p:cNvCxnSpPr/>
          <p:nvPr userDrawn="1"/>
        </p:nvCxnSpPr>
        <p:spPr bwMode="auto">
          <a:xfrm>
            <a:off x="62146" y="620688"/>
            <a:ext cx="9774315" cy="74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MSIPCMContentMarking" descr="{&quot;HashCode&quot;:966751382,&quot;Placement&quot;:&quot;Header&quot;,&quot;Top&quot;:0.0,&quot;Left&quot;:323.954651,&quot;SlideWidth&quot;:780,&quot;SlideHeight&quot;:540}">
            <a:extLst>
              <a:ext uri="{FF2B5EF4-FFF2-40B4-BE49-F238E27FC236}">
                <a16:creationId xmlns="" xmlns:a16="http://schemas.microsoft.com/office/drawing/2014/main" id="{B721DDD0-D60B-A00F-3750-C22DDC2F72B1}"/>
              </a:ext>
            </a:extLst>
          </p:cNvPr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71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78" r:id="rId13"/>
    <p:sldLayoutId id="2147483885" r:id="rId14"/>
    <p:sldLayoutId id="2147483886" r:id="rId15"/>
    <p:sldLayoutId id="2147483887" r:id="rId16"/>
    <p:sldLayoutId id="2147483902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Line 14"/>
          <p:cNvSpPr>
            <a:spLocks noChangeShapeType="1"/>
          </p:cNvSpPr>
          <p:nvPr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ko-KR" altLang="en-US" sz="1625" b="1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3" name="MSIPCMContentMarking" descr="{&quot;HashCode&quot;:966751382,&quot;Placement&quot;:&quot;Header&quot;,&quot;Top&quot;:0.0,&quot;Left&quot;:323.954651,&quot;SlideWidth&quot;:780,&quot;SlideHeight&quot;:540}">
            <a:extLst>
              <a:ext uri="{FF2B5EF4-FFF2-40B4-BE49-F238E27FC236}">
                <a16:creationId xmlns="" xmlns:a16="http://schemas.microsoft.com/office/drawing/2014/main" id="{813EDEA7-36D2-ACB1-F0D7-D931520AC830}"/>
              </a:ext>
            </a:extLst>
          </p:cNvPr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07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  <p:sldLayoutId id="2147484151" r:id="rId3"/>
    <p:sldLayoutId id="2147484155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575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575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575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575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575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371475" algn="ctr" rtl="0" fontAlgn="base" latinLnBrk="1">
        <a:spcBef>
          <a:spcPct val="0"/>
        </a:spcBef>
        <a:spcAft>
          <a:spcPct val="0"/>
        </a:spcAft>
        <a:defRPr kumimoji="1" sz="3575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742950" algn="ctr" rtl="0" fontAlgn="base" latinLnBrk="1">
        <a:spcBef>
          <a:spcPct val="0"/>
        </a:spcBef>
        <a:spcAft>
          <a:spcPct val="0"/>
        </a:spcAft>
        <a:defRPr kumimoji="1" sz="3575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114425" algn="ctr" rtl="0" fontAlgn="base" latinLnBrk="1">
        <a:spcBef>
          <a:spcPct val="0"/>
        </a:spcBef>
        <a:spcAft>
          <a:spcPct val="0"/>
        </a:spcAft>
        <a:defRPr kumimoji="1" sz="3575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485900" algn="ctr" rtl="0" fontAlgn="base" latinLnBrk="1">
        <a:spcBef>
          <a:spcPct val="0"/>
        </a:spcBef>
        <a:spcAft>
          <a:spcPct val="0"/>
        </a:spcAft>
        <a:defRPr kumimoji="1" sz="3575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278606" indent="-278606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  <a:cs typeface="+mn-cs"/>
        </a:defRPr>
      </a:lvl1pPr>
      <a:lvl2pPr marL="603647" indent="-230882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275">
          <a:solidFill>
            <a:schemeClr val="tx1"/>
          </a:solidFill>
          <a:latin typeface="+mn-lt"/>
          <a:ea typeface="+mn-ea"/>
        </a:defRPr>
      </a:lvl2pPr>
      <a:lvl3pPr marL="928688" indent="-18573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50">
          <a:solidFill>
            <a:schemeClr val="tx1"/>
          </a:solidFill>
          <a:latin typeface="+mn-lt"/>
          <a:ea typeface="+mn-ea"/>
        </a:defRPr>
      </a:lvl3pPr>
      <a:lvl4pPr marL="1298873" indent="-18315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25">
          <a:solidFill>
            <a:schemeClr val="tx1"/>
          </a:solidFill>
          <a:latin typeface="+mn-lt"/>
          <a:ea typeface="+mn-ea"/>
        </a:defRPr>
      </a:lvl4pPr>
      <a:lvl5pPr marL="1671638" indent="-185738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25">
          <a:solidFill>
            <a:schemeClr val="tx1"/>
          </a:solidFill>
          <a:latin typeface="+mn-lt"/>
          <a:ea typeface="+mn-ea"/>
        </a:defRPr>
      </a:lvl5pPr>
      <a:lvl6pPr marL="2043113" indent="-185738" algn="l" rtl="0" fontAlgn="base" latinLnBrk="1">
        <a:spcBef>
          <a:spcPct val="20000"/>
        </a:spcBef>
        <a:spcAft>
          <a:spcPct val="0"/>
        </a:spcAft>
        <a:buChar char="»"/>
        <a:defRPr kumimoji="1" sz="1625">
          <a:solidFill>
            <a:schemeClr val="tx1"/>
          </a:solidFill>
          <a:latin typeface="+mn-lt"/>
          <a:ea typeface="+mn-ea"/>
        </a:defRPr>
      </a:lvl6pPr>
      <a:lvl7pPr marL="2414588" indent="-185738" algn="l" rtl="0" fontAlgn="base" latinLnBrk="1">
        <a:spcBef>
          <a:spcPct val="20000"/>
        </a:spcBef>
        <a:spcAft>
          <a:spcPct val="0"/>
        </a:spcAft>
        <a:buChar char="»"/>
        <a:defRPr kumimoji="1" sz="1625">
          <a:solidFill>
            <a:schemeClr val="tx1"/>
          </a:solidFill>
          <a:latin typeface="+mn-lt"/>
          <a:ea typeface="+mn-ea"/>
        </a:defRPr>
      </a:lvl7pPr>
      <a:lvl8pPr marL="2786063" indent="-185738" algn="l" rtl="0" fontAlgn="base" latinLnBrk="1">
        <a:spcBef>
          <a:spcPct val="20000"/>
        </a:spcBef>
        <a:spcAft>
          <a:spcPct val="0"/>
        </a:spcAft>
        <a:buChar char="»"/>
        <a:defRPr kumimoji="1" sz="1625">
          <a:solidFill>
            <a:schemeClr val="tx1"/>
          </a:solidFill>
          <a:latin typeface="+mn-lt"/>
          <a:ea typeface="+mn-ea"/>
        </a:defRPr>
      </a:lvl8pPr>
      <a:lvl9pPr marL="3157538" indent="-185738" algn="l" rtl="0" fontAlgn="base" latinLnBrk="1">
        <a:spcBef>
          <a:spcPct val="20000"/>
        </a:spcBef>
        <a:spcAft>
          <a:spcPct val="0"/>
        </a:spcAft>
        <a:buChar char="»"/>
        <a:defRPr kumimoji="1" sz="162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Relationship Id="rId6" Type="http://schemas.openxmlformats.org/officeDocument/2006/relationships/chart" Target="../charts/chart4.xml"/><Relationship Id="rId11" Type="http://schemas.openxmlformats.org/officeDocument/2006/relationships/chart" Target="../charts/chart6.xml"/><Relationship Id="rId5" Type="http://schemas.openxmlformats.org/officeDocument/2006/relationships/chart" Target="../charts/chart3.xml"/><Relationship Id="rId10" Type="http://schemas.openxmlformats.org/officeDocument/2006/relationships/image" Target="../media/image6.png"/><Relationship Id="rId4" Type="http://schemas.openxmlformats.org/officeDocument/2006/relationships/chart" Target="../charts/chart2.xml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hyperlink" Target="https://www.kuechen-forum.de/" TargetMode="Externa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Relationship Id="rId4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13.png"/><Relationship Id="rId7" Type="http://schemas.openxmlformats.org/officeDocument/2006/relationships/slide" Target="slide13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slide" Target="slide12.xml"/><Relationship Id="rId11" Type="http://schemas.openxmlformats.org/officeDocument/2006/relationships/image" Target="../media/image15.png"/><Relationship Id="rId5" Type="http://schemas.openxmlformats.org/officeDocument/2006/relationships/slide" Target="slide11.xml"/><Relationship Id="rId10" Type="http://schemas.openxmlformats.org/officeDocument/2006/relationships/image" Target="../media/image14.png"/><Relationship Id="rId4" Type="http://schemas.openxmlformats.org/officeDocument/2006/relationships/slide" Target="slide8.xml"/><Relationship Id="rId9" Type="http://schemas.openxmlformats.org/officeDocument/2006/relationships/slide" Target="slide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11" Type="http://schemas.openxmlformats.org/officeDocument/2006/relationships/slide" Target="slide7.xml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slide" Target="slide7.xml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11" Type="http://schemas.openxmlformats.org/officeDocument/2006/relationships/slide" Target="slide7.xml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4.png"/><Relationship Id="rId21" Type="http://schemas.openxmlformats.org/officeDocument/2006/relationships/slide" Target="slide7.xml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9" Type="http://schemas.openxmlformats.org/officeDocument/2006/relationships/slide" Target="slid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6" Type="http://schemas.openxmlformats.org/officeDocument/2006/relationships/slide" Target="slide13.xml"/><Relationship Id="rId5" Type="http://schemas.openxmlformats.org/officeDocument/2006/relationships/slide" Target="slide12.xml"/><Relationship Id="rId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Box 2"/>
          <p:cNvSpPr txBox="1">
            <a:spLocks noChangeArrowheads="1"/>
          </p:cNvSpPr>
          <p:nvPr/>
        </p:nvSpPr>
        <p:spPr bwMode="auto">
          <a:xfrm>
            <a:off x="3366572" y="368804"/>
            <a:ext cx="1639801" cy="2503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65052" tIns="32528" rIns="65052" bIns="32528">
            <a:spAutoFit/>
          </a:bodyPr>
          <a:lstStyle/>
          <a:p>
            <a:pPr defTabSz="646862">
              <a:spcBef>
                <a:spcPct val="10000"/>
              </a:spcBef>
              <a:spcAft>
                <a:spcPct val="10000"/>
              </a:spcAft>
            </a:pPr>
            <a:r>
              <a:rPr lang="ko-KR" altLang="en-US" sz="1200" b="0" dirty="0" err="1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가등급</a:t>
            </a:r>
            <a:r>
              <a:rPr lang="ko-KR" altLang="en-US" sz="1200" b="0" dirty="0">
                <a:solidFill>
                  <a:prstClr val="black"/>
                </a:solidFill>
                <a:latin typeface="LG스마트체 Regular" pitchFamily="50" charset="-127"/>
                <a:ea typeface="LG스마트체 Regular" pitchFamily="50" charset="-127"/>
              </a:rPr>
              <a:t> 결정 논의 결과서</a:t>
            </a:r>
          </a:p>
        </p:txBody>
      </p:sp>
      <p:graphicFrame>
        <p:nvGraphicFramePr>
          <p:cNvPr id="21" name="Group 1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610126"/>
              </p:ext>
            </p:extLst>
          </p:nvPr>
        </p:nvGraphicFramePr>
        <p:xfrm>
          <a:off x="255419" y="999221"/>
          <a:ext cx="2290280" cy="2426880"/>
        </p:xfrm>
        <a:graphic>
          <a:graphicData uri="http://schemas.openxmlformats.org/drawingml/2006/table">
            <a:tbl>
              <a:tblPr/>
              <a:tblGrid>
                <a:gridCol w="8362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540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논의 일정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2025.04.08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작성자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장승태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생산지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창원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부서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24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인치오븐패키지개발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제품군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컴팩트오븐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PJT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명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TBD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출시 국가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유럽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Base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모델</a:t>
                      </a:r>
                      <a:endParaRPr kumimoji="1" lang="ko-KR" altLang="en-US" sz="1000" b="1" i="0" u="none" strike="sng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WSED7667M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WSED7613S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정격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220~240V / 50Hz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용량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47L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2" name="Group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543668"/>
              </p:ext>
            </p:extLst>
          </p:nvPr>
        </p:nvGraphicFramePr>
        <p:xfrm>
          <a:off x="250047" y="3501008"/>
          <a:ext cx="2292096" cy="2664296"/>
        </p:xfrm>
        <a:graphic>
          <a:graphicData uri="http://schemas.openxmlformats.org/drawingml/2006/table">
            <a:tbl>
              <a:tblPr/>
              <a:tblGrid>
                <a:gridCol w="229209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57456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개 발 목 적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2325" marR="132325" marT="61073" marB="61073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74510"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유럽 </a:t>
                      </a:r>
                      <a:r>
                        <a:rPr lang="ko-KR" altLang="en-US" sz="11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키친 채널 필수 구색 확보</a:t>
                      </a:r>
                      <a:endParaRPr lang="en-US" altLang="ko-KR" sz="110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글로벌 </a:t>
                      </a:r>
                      <a:r>
                        <a:rPr lang="ko-KR" altLang="en-US" sz="11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빌트인 </a:t>
                      </a:r>
                      <a:r>
                        <a:rPr lang="ko-KR" altLang="en-US" sz="1100" dirty="0" err="1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컴팩트오븐</a:t>
                      </a:r>
                      <a:r>
                        <a:rPr lang="ko-KR" altLang="en-US" sz="11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라인업 </a:t>
                      </a:r>
                      <a:r>
                        <a:rPr lang="ko-KR" altLang="en-US" sz="1100" dirty="0" smtClean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1100" dirty="0" smtClean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100" smtClean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2325" marR="132325" marT="61073" marB="61073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788717" y="774280"/>
            <a:ext cx="501740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1</a:t>
            </a:r>
            <a:r>
              <a:rPr lang="en-US" altLang="ko-KR" sz="105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. </a:t>
            </a:r>
            <a:r>
              <a:rPr lang="ko-KR" altLang="en-US" sz="105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참석자</a:t>
            </a:r>
            <a:endParaRPr lang="en-US" altLang="ko-KR" sz="105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561785"/>
              </p:ext>
            </p:extLst>
          </p:nvPr>
        </p:nvGraphicFramePr>
        <p:xfrm>
          <a:off x="2807238" y="1796612"/>
          <a:ext cx="6861601" cy="1024800"/>
        </p:xfrm>
        <a:graphic>
          <a:graphicData uri="http://schemas.openxmlformats.org/drawingml/2006/table">
            <a:tbl>
              <a:tblPr/>
              <a:tblGrid>
                <a:gridCol w="5708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65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629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09004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가등급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적용프로세스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프리미엄 제품 여부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결정 사유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A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NXI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○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신규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Platform (Cavity)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개발 및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MWO/Inverter Probake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기능추가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NXI 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법인독자 개발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×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해외라인업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-Case1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×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해외라인업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-Case2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×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Group 1490"/>
          <p:cNvGraphicFramePr>
            <a:graphicFrameLocks noGrp="1"/>
          </p:cNvGraphicFramePr>
          <p:nvPr/>
        </p:nvGraphicFramePr>
        <p:xfrm>
          <a:off x="2807238" y="943469"/>
          <a:ext cx="4031998" cy="525446"/>
        </p:xfrm>
        <a:graphic>
          <a:graphicData uri="http://schemas.openxmlformats.org/drawingml/2006/table">
            <a:tbl>
              <a:tblPr/>
              <a:tblGrid>
                <a:gridCol w="3902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04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104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1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104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8127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참석자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PM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제품개발 리더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DQA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상품기획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4171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성명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여태홍 책임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장승태 선임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여태홍 책임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장승태 선임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이재혁 팀장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신성훈 책임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김현직 선임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788717" y="1617077"/>
            <a:ext cx="657231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2</a:t>
            </a:r>
            <a:r>
              <a:rPr lang="en-US" altLang="ko-KR" sz="105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. </a:t>
            </a:r>
            <a:r>
              <a:rPr lang="ko-KR" altLang="en-US" sz="105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논의 </a:t>
            </a:r>
            <a:r>
              <a:rPr lang="ko-KR" altLang="en-US" sz="105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결과</a:t>
            </a:r>
            <a:endParaRPr lang="en-US" altLang="ko-KR" sz="105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29" name="Group 14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907168"/>
              </p:ext>
            </p:extLst>
          </p:nvPr>
        </p:nvGraphicFramePr>
        <p:xfrm>
          <a:off x="2792760" y="4520504"/>
          <a:ext cx="6292422" cy="1620000"/>
        </p:xfrm>
        <a:graphic>
          <a:graphicData uri="http://schemas.openxmlformats.org/drawingml/2006/table">
            <a:tbl>
              <a:tblPr/>
              <a:tblGrid>
                <a:gridCol w="88942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942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9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2673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2673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2673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673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2673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180000">
                <a:tc gridSpan="8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개발일정 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0000">
                <a:tc gridSpan="2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Event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Pre-CP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CP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DV1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DV2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PV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Pre-MP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0000">
                <a:tc gridSpan="2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PJT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일정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5/23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6/26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12/19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26’1/7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26’1/28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Pre-CP ~ Pre-MP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등록 기간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334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일 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표준 기간 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440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일</a:t>
                      </a: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CP ~ Pre-MP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등록 기간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표준 기간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표준 대비 단축일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표준일정기간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–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등록기간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)</a:t>
                      </a: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0000">
                <a:tc gridSpan="2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규격 취득 소요 기간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90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일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91240" y="764704"/>
            <a:ext cx="807913" cy="1705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1100" u="sng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개발 </a:t>
            </a:r>
            <a:r>
              <a:rPr lang="en-US" altLang="ko-KR" sz="1100" u="sng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PJT </a:t>
            </a:r>
            <a:r>
              <a:rPr lang="ko-KR" altLang="en-US" sz="1100" u="sng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개요</a:t>
            </a:r>
            <a:r>
              <a:rPr lang="en-US" altLang="ko-KR" sz="1100" u="sng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:</a:t>
            </a:r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285077"/>
              </p:ext>
            </p:extLst>
          </p:nvPr>
        </p:nvGraphicFramePr>
        <p:xfrm>
          <a:off x="2792760" y="3502284"/>
          <a:ext cx="4226512" cy="720000"/>
        </p:xfrm>
        <a:graphic>
          <a:graphicData uri="http://schemas.openxmlformats.org/drawingml/2006/table">
            <a:tbl>
              <a:tblPr/>
              <a:tblGrid>
                <a:gridCol w="288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3610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738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N0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자료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C-D-P </a:t>
                      </a:r>
                      <a:r>
                        <a:rPr kumimoji="1" lang="ko-KR" alt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정의서</a:t>
                      </a: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(Pitch Deck)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2</a:t>
                      </a:r>
                      <a:endParaRPr kumimoji="1" lang="en-US" altLang="ko-KR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G1 Gate </a:t>
                      </a:r>
                      <a:r>
                        <a:rPr kumimoji="1" lang="ko-KR" alt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결과서</a:t>
                      </a:r>
                      <a:endParaRPr kumimoji="1" lang="en-US" altLang="ko-KR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  <a:r>
                        <a:rPr kumimoji="1" lang="en-US" altLang="ko-KR" sz="10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2</a:t>
                      </a:r>
                      <a:endParaRPr kumimoji="1" lang="en-US" altLang="ko-KR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3</a:t>
                      </a:r>
                      <a:endParaRPr kumimoji="1" lang="en-US" altLang="ko-KR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개발 변경점 </a:t>
                      </a:r>
                      <a:endParaRPr kumimoji="1" lang="en-US" altLang="ko-KR" sz="10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7238" y="3318496"/>
            <a:ext cx="968214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3. </a:t>
            </a:r>
            <a:r>
              <a:rPr lang="ko-KR" altLang="en-US" sz="105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필수 작성 자료 </a:t>
            </a:r>
            <a:endParaRPr lang="en-US" altLang="ko-KR" sz="105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07238" y="4340968"/>
            <a:ext cx="657231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4</a:t>
            </a:r>
            <a:r>
              <a:rPr lang="en-US" altLang="ko-KR" sz="105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. </a:t>
            </a:r>
            <a:r>
              <a:rPr lang="ko-KR" altLang="en-US" sz="105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개발 일정</a:t>
            </a:r>
            <a:endParaRPr lang="en-US" altLang="ko-KR" sz="105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2792759" y="2806421"/>
          <a:ext cx="6912769" cy="436800"/>
        </p:xfrm>
        <a:graphic>
          <a:graphicData uri="http://schemas.openxmlformats.org/drawingml/2006/table">
            <a:tbl>
              <a:tblPr/>
              <a:tblGrid>
                <a:gridCol w="108012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68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Pre-CP Activity 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  <a:cs typeface="Arial" pitchFamily="34" charset="0"/>
                        </a:rPr>
                        <a:t>조정 내용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="" xmlns:a16="http://schemas.microsoft.com/office/drawing/2014/main" id="{E1104DC2-3722-697F-9853-455006215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683504"/>
              </p:ext>
            </p:extLst>
          </p:nvPr>
        </p:nvGraphicFramePr>
        <p:xfrm>
          <a:off x="10065568" y="4725144"/>
          <a:ext cx="4843270" cy="1885950"/>
        </p:xfrm>
        <a:graphic>
          <a:graphicData uri="http://schemas.openxmlformats.org/drawingml/2006/table">
            <a:tbl>
              <a:tblPr/>
              <a:tblGrid>
                <a:gridCol w="5897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528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208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524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358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73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3971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3975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1277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70557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209550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Event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Pre-CP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DV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DV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Pre</a:t>
                      </a:r>
                    </a:p>
                    <a:p>
                      <a:pPr algn="ctr" rtl="0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CP~Pre-MP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DV~Pre-MP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(CP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(CP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미진행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(Pre MKT)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병렬진행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(CP Skip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시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165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45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370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35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575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435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115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45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185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260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15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Ca,Ca_SW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sng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sng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150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200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200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Cb,Cc,Csw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88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차트 254">
            <a:extLst>
              <a:ext uri="{FF2B5EF4-FFF2-40B4-BE49-F238E27FC236}">
                <a16:creationId xmlns="" xmlns:a16="http://schemas.microsoft.com/office/drawing/2014/main" id="{73DF184C-CDA3-14E1-2E49-2ADE883F6EF6}"/>
              </a:ext>
            </a:extLst>
          </p:cNvPr>
          <p:cNvGraphicFramePr/>
          <p:nvPr/>
        </p:nvGraphicFramePr>
        <p:xfrm>
          <a:off x="-307264" y="1604232"/>
          <a:ext cx="1955007" cy="1303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0" name="TextBox 259">
            <a:extLst>
              <a:ext uri="{FF2B5EF4-FFF2-40B4-BE49-F238E27FC236}">
                <a16:creationId xmlns="" xmlns:a16="http://schemas.microsoft.com/office/drawing/2014/main" id="{E67922B1-2D26-A4DF-7CE0-05FDB33FAA0E}"/>
              </a:ext>
            </a:extLst>
          </p:cNvPr>
          <p:cNvSpPr txBox="1"/>
          <p:nvPr/>
        </p:nvSpPr>
        <p:spPr>
          <a:xfrm>
            <a:off x="592658" y="1439576"/>
            <a:ext cx="1034084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컴팩트오븐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보유자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1.3%</a:t>
            </a:r>
          </a:p>
        </p:txBody>
      </p:sp>
      <p:sp>
        <p:nvSpPr>
          <p:cNvPr id="249" name="직사각형 248">
            <a:extLst>
              <a:ext uri="{FF2B5EF4-FFF2-40B4-BE49-F238E27FC236}">
                <a16:creationId xmlns="" xmlns:a16="http://schemas.microsoft.com/office/drawing/2014/main" id="{A7DAFD30-994E-B314-3B3B-88EBCF084925}"/>
              </a:ext>
            </a:extLst>
          </p:cNvPr>
          <p:cNvSpPr/>
          <p:nvPr/>
        </p:nvSpPr>
        <p:spPr>
          <a:xfrm>
            <a:off x="1626131" y="4712449"/>
            <a:ext cx="2632500" cy="145376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</a:pPr>
            <a:endParaRPr kumimoji="0" lang="ko-KR" altLang="en-US" sz="853" b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" name="Text Box 41">
            <a:extLst>
              <a:ext uri="{FF2B5EF4-FFF2-40B4-BE49-F238E27FC236}">
                <a16:creationId xmlns="" xmlns:a16="http://schemas.microsoft.com/office/drawing/2014/main" id="{40B4C8DD-75B3-783F-7874-845A6A25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198" y="805172"/>
            <a:ext cx="1714445" cy="22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defTabSz="742950" eaLnBrk="1" hangingPunct="1">
              <a:buNone/>
              <a:defRPr/>
            </a:pPr>
            <a:r>
              <a:rPr kumimoji="0" lang="en-US" altLang="ko-KR" sz="1463" dirty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1) Who’s Our Customer</a:t>
            </a:r>
          </a:p>
        </p:txBody>
      </p:sp>
      <p:sp>
        <p:nvSpPr>
          <p:cNvPr id="138" name="Text Box 41">
            <a:extLst>
              <a:ext uri="{FF2B5EF4-FFF2-40B4-BE49-F238E27FC236}">
                <a16:creationId xmlns="" xmlns:a16="http://schemas.microsoft.com/office/drawing/2014/main" id="{C215B6E3-2C1D-9C34-39F0-F47CB3BB2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86" y="776022"/>
            <a:ext cx="785471" cy="22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 eaLnBrk="1" hangingPunct="1">
              <a:buNone/>
              <a:defRPr/>
            </a:pPr>
            <a:r>
              <a:rPr kumimoji="0" lang="en-US" altLang="ko-KR" sz="1463" dirty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Pitch Deck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37C9EEF9-100B-5AA6-91F2-A29AC4CF5D77}"/>
              </a:ext>
            </a:extLst>
          </p:cNvPr>
          <p:cNvCxnSpPr>
            <a:cxnSpLocks/>
          </p:cNvCxnSpPr>
          <p:nvPr/>
        </p:nvCxnSpPr>
        <p:spPr>
          <a:xfrm>
            <a:off x="1558615" y="1721925"/>
            <a:ext cx="52999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B733BAA3-D62F-5B27-EC7F-0D2CC55C5901}"/>
              </a:ext>
            </a:extLst>
          </p:cNvPr>
          <p:cNvSpPr/>
          <p:nvPr/>
        </p:nvSpPr>
        <p:spPr>
          <a:xfrm>
            <a:off x="1626131" y="2033004"/>
            <a:ext cx="2632500" cy="12931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</a:pPr>
            <a:endParaRPr kumimoji="0" lang="ko-KR" altLang="en-US" sz="853" b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437628CD-5201-427E-2E56-9A7E6C7C6CD5}"/>
              </a:ext>
            </a:extLst>
          </p:cNvPr>
          <p:cNvCxnSpPr>
            <a:cxnSpLocks/>
          </p:cNvCxnSpPr>
          <p:nvPr/>
        </p:nvCxnSpPr>
        <p:spPr>
          <a:xfrm flipV="1">
            <a:off x="1068270" y="1721926"/>
            <a:ext cx="468109" cy="19267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F6B4F9B5-4C22-69F3-7798-F39ACB7F349D}"/>
              </a:ext>
            </a:extLst>
          </p:cNvPr>
          <p:cNvSpPr/>
          <p:nvPr/>
        </p:nvSpPr>
        <p:spPr>
          <a:xfrm>
            <a:off x="154781" y="1152907"/>
            <a:ext cx="4103850" cy="16678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42413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138" dirty="0" err="1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컴팩트오븐</a:t>
            </a:r>
            <a:r>
              <a:rPr kumimoji="0" lang="ko-KR" altLang="en-US" sz="1138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보유자 </a:t>
            </a:r>
            <a:r>
              <a:rPr kumimoji="0" lang="en-US" altLang="ko-KR" sz="1138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profile</a:t>
            </a:r>
            <a:endParaRPr kumimoji="0" lang="ko-KR" altLang="en-US" sz="1138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6C01D1B-2351-919C-2A24-50065731F359}"/>
              </a:ext>
            </a:extLst>
          </p:cNvPr>
          <p:cNvSpPr txBox="1"/>
          <p:nvPr/>
        </p:nvSpPr>
        <p:spPr>
          <a:xfrm>
            <a:off x="1764219" y="2040054"/>
            <a:ext cx="238526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[Demographic] </a:t>
            </a:r>
            <a:endParaRPr kumimoji="0" lang="ko-KR" altLang="en-US" sz="894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0D652ABD-B56D-20F4-0CE8-4298FE2B2453}"/>
              </a:ext>
            </a:extLst>
          </p:cNvPr>
          <p:cNvSpPr/>
          <p:nvPr/>
        </p:nvSpPr>
        <p:spPr>
          <a:xfrm>
            <a:off x="1626131" y="3354384"/>
            <a:ext cx="2632500" cy="128024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</a:pPr>
            <a:endParaRPr kumimoji="0" lang="ko-KR" altLang="en-US" sz="853" b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ED6BDD0-A9D4-9DFD-AFB7-1F263C027FDD}"/>
              </a:ext>
            </a:extLst>
          </p:cNvPr>
          <p:cNvSpPr txBox="1"/>
          <p:nvPr/>
        </p:nvSpPr>
        <p:spPr>
          <a:xfrm>
            <a:off x="1764219" y="3362513"/>
            <a:ext cx="238526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894" u="sng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Puchase</a:t>
            </a: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Behavior] </a:t>
            </a:r>
            <a:endParaRPr kumimoji="0" lang="ko-KR" altLang="en-US" sz="894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8BA9C099-6C9E-DAD1-0EDF-7948C145AFA6}"/>
              </a:ext>
            </a:extLst>
          </p:cNvPr>
          <p:cNvSpPr/>
          <p:nvPr/>
        </p:nvSpPr>
        <p:spPr>
          <a:xfrm>
            <a:off x="4375032" y="2033003"/>
            <a:ext cx="2632500" cy="413321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</a:pPr>
            <a:endParaRPr kumimoji="0" lang="ko-KR" altLang="en-US" sz="853" b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2E59E02-76E5-4332-85DA-4411CB978848}"/>
              </a:ext>
            </a:extLst>
          </p:cNvPr>
          <p:cNvSpPr txBox="1"/>
          <p:nvPr/>
        </p:nvSpPr>
        <p:spPr>
          <a:xfrm>
            <a:off x="4504427" y="2040059"/>
            <a:ext cx="238526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[Usage Behavior] </a:t>
            </a:r>
            <a:endParaRPr kumimoji="0" lang="ko-KR" altLang="en-US" sz="894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859858C-1AB5-9CDA-61B1-EB2FDCBF724B}"/>
              </a:ext>
            </a:extLst>
          </p:cNvPr>
          <p:cNvSpPr txBox="1"/>
          <p:nvPr/>
        </p:nvSpPr>
        <p:spPr>
          <a:xfrm>
            <a:off x="3976" y="2845425"/>
            <a:ext cx="2017763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Source: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2020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닐슨 빌트인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STP 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조사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n=4000</a:t>
            </a:r>
            <a:endParaRPr kumimoji="0" lang="ko-KR" altLang="en-US" sz="650" b="0" dirty="0">
              <a:solidFill>
                <a:prstClr val="black">
                  <a:lumMod val="50000"/>
                  <a:lumOff val="50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5574946-D4D7-1B85-7701-0661C97AE2D5}"/>
              </a:ext>
            </a:extLst>
          </p:cNvPr>
          <p:cNvSpPr txBox="1"/>
          <p:nvPr/>
        </p:nvSpPr>
        <p:spPr>
          <a:xfrm>
            <a:off x="4504427" y="3872555"/>
            <a:ext cx="238526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[Oven</a:t>
            </a:r>
            <a:r>
              <a:rPr kumimoji="0" lang="ko-KR" altLang="en-US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CVF] </a:t>
            </a:r>
            <a:endParaRPr kumimoji="0" lang="ko-KR" altLang="en-US" sz="894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="" xmlns:a16="http://schemas.microsoft.com/office/drawing/2014/main" id="{2AFCA885-D458-502E-B3D4-1C7025AD355A}"/>
              </a:ext>
            </a:extLst>
          </p:cNvPr>
          <p:cNvGraphicFramePr>
            <a:graphicFrameLocks noGrp="1"/>
          </p:cNvGraphicFramePr>
          <p:nvPr/>
        </p:nvGraphicFramePr>
        <p:xfrm>
          <a:off x="4325975" y="4474998"/>
          <a:ext cx="830356" cy="1362770"/>
        </p:xfrm>
        <a:graphic>
          <a:graphicData uri="http://schemas.openxmlformats.org/drawingml/2006/table">
            <a:tbl>
              <a:tblPr/>
              <a:tblGrid>
                <a:gridCol w="8303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Easy access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Easy to clean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72812270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Energy efficiency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81533975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Cooking performance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08340326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Durability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04974619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Cooking time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62283938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Interior capacity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94265039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Less noise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96307005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Service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21326824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Preheat time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92711007"/>
                  </a:ext>
                </a:extLst>
              </a:tr>
            </a:tbl>
          </a:graphicData>
        </a:graphic>
      </p:graphicFrame>
      <p:graphicFrame>
        <p:nvGraphicFramePr>
          <p:cNvPr id="15" name="Table 4">
            <a:extLst>
              <a:ext uri="{FF2B5EF4-FFF2-40B4-BE49-F238E27FC236}">
                <a16:creationId xmlns="" xmlns:a16="http://schemas.microsoft.com/office/drawing/2014/main" id="{C4B9A250-181B-F152-6422-913828D86B2A}"/>
              </a:ext>
            </a:extLst>
          </p:cNvPr>
          <p:cNvGraphicFramePr>
            <a:graphicFrameLocks noGrp="1"/>
          </p:cNvGraphicFramePr>
          <p:nvPr/>
        </p:nvGraphicFramePr>
        <p:xfrm>
          <a:off x="6606591" y="4462402"/>
          <a:ext cx="245458" cy="13563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458">
                  <a:extLst>
                    <a:ext uri="{9D8B030D-6E8A-4147-A177-3AD203B41FA5}">
                      <a16:colId xmlns="" xmlns:a16="http://schemas.microsoft.com/office/drawing/2014/main" val="3813409967"/>
                    </a:ext>
                  </a:extLst>
                </a:gridCol>
              </a:tblGrid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69796025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53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91037139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40082299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65116140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23133254"/>
                  </a:ext>
                </a:extLst>
              </a:tr>
              <a:tr h="13626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71265315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23352457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9485110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2279858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41536667"/>
                  </a:ext>
                </a:extLst>
              </a:tr>
            </a:tbl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="" xmlns:a16="http://schemas.microsoft.com/office/drawing/2014/main" id="{E4B9BCE2-01A3-B194-DD50-E1D1EE81FCB2}"/>
              </a:ext>
            </a:extLst>
          </p:cNvPr>
          <p:cNvGraphicFramePr/>
          <p:nvPr/>
        </p:nvGraphicFramePr>
        <p:xfrm>
          <a:off x="5049226" y="4357242"/>
          <a:ext cx="1287987" cy="1598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="" xmlns:a16="http://schemas.microsoft.com/office/drawing/2014/main" id="{D602C457-BAD4-A371-4906-FD77DF8FC2AD}"/>
              </a:ext>
            </a:extLst>
          </p:cNvPr>
          <p:cNvSpPr/>
          <p:nvPr/>
        </p:nvSpPr>
        <p:spPr>
          <a:xfrm>
            <a:off x="5867155" y="4387181"/>
            <a:ext cx="63375" cy="682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28" rtlCol="0" anchor="ctr"/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kumimoji="0" lang="en-US" altLang="ko-KR" sz="650" b="0" baseline="30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st+</a:t>
            </a:r>
            <a:r>
              <a:rPr kumimoji="0" lang="en-US" altLang="ko-KR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kumimoji="0" lang="en-US" altLang="ko-KR" sz="650" b="0" baseline="30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nd+</a:t>
            </a:r>
            <a:r>
              <a:rPr kumimoji="0" lang="en-US" altLang="ko-KR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0" lang="en-US" altLang="ko-KR" sz="650" b="0" baseline="30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rd</a:t>
            </a:r>
            <a:endParaRPr kumimoji="0" lang="ko-KR" altLang="en-US" sz="650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Arrow: Down 49">
            <a:extLst>
              <a:ext uri="{FF2B5EF4-FFF2-40B4-BE49-F238E27FC236}">
                <a16:creationId xmlns="" xmlns:a16="http://schemas.microsoft.com/office/drawing/2014/main" id="{EC580C98-7198-CCC4-F0DA-70715B0213B2}"/>
              </a:ext>
            </a:extLst>
          </p:cNvPr>
          <p:cNvSpPr/>
          <p:nvPr/>
        </p:nvSpPr>
        <p:spPr>
          <a:xfrm>
            <a:off x="6643207" y="4259014"/>
            <a:ext cx="294509" cy="196454"/>
          </a:xfrm>
          <a:prstGeom prst="downArrow">
            <a:avLst>
              <a:gd name="adj1" fmla="val 100000"/>
              <a:gd name="adj2" fmla="val 29203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678" b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Rectangle 50">
            <a:extLst>
              <a:ext uri="{FF2B5EF4-FFF2-40B4-BE49-F238E27FC236}">
                <a16:creationId xmlns="" xmlns:a16="http://schemas.microsoft.com/office/drawing/2014/main" id="{0F5011DB-9BF1-C609-D081-84D29DA1401C}"/>
              </a:ext>
            </a:extLst>
          </p:cNvPr>
          <p:cNvSpPr/>
          <p:nvPr/>
        </p:nvSpPr>
        <p:spPr>
          <a:xfrm>
            <a:off x="6611798" y="4256252"/>
            <a:ext cx="348172" cy="1923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Top1</a:t>
            </a:r>
            <a:endParaRPr kumimoji="0" lang="ko-KR" altLang="en-US" sz="65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="" xmlns:a16="http://schemas.microsoft.com/office/drawing/2014/main" id="{358A5ADC-A638-8AC9-DF13-0D22586B26BD}"/>
              </a:ext>
            </a:extLst>
          </p:cNvPr>
          <p:cNvSpPr/>
          <p:nvPr/>
        </p:nvSpPr>
        <p:spPr>
          <a:xfrm>
            <a:off x="1707639" y="3595262"/>
            <a:ext cx="915075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패키지 구매 비율 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(%)</a:t>
            </a:r>
            <a:endParaRPr kumimoji="0" lang="ko-KR" altLang="en-US" sz="813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="" xmlns:a16="http://schemas.microsoft.com/office/drawing/2014/main" id="{D65E3BB5-14FA-93E9-19E9-A95E4304800F}"/>
              </a:ext>
            </a:extLst>
          </p:cNvPr>
          <p:cNvSpPr/>
          <p:nvPr/>
        </p:nvSpPr>
        <p:spPr>
          <a:xfrm>
            <a:off x="4390114" y="1152907"/>
            <a:ext cx="5386066" cy="16678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42413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138" dirty="0" err="1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컴팩트오븐</a:t>
            </a:r>
            <a:r>
              <a:rPr kumimoji="0" lang="ko-KR" altLang="en-US" sz="1138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고객 니즈 분석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A83AFAD3-EABE-C364-5515-E69945CAE07B}"/>
              </a:ext>
            </a:extLst>
          </p:cNvPr>
          <p:cNvSpPr/>
          <p:nvPr/>
        </p:nvSpPr>
        <p:spPr>
          <a:xfrm>
            <a:off x="1692978" y="4125633"/>
            <a:ext cx="822102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오븐 구매 가격 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(%)</a:t>
            </a:r>
            <a:endParaRPr kumimoji="0" lang="ko-KR" altLang="en-US" sz="813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="" xmlns:a16="http://schemas.microsoft.com/office/drawing/2014/main" id="{5DE3C37A-0D32-AF11-C51E-4C17D166E3F8}"/>
              </a:ext>
            </a:extLst>
          </p:cNvPr>
          <p:cNvGraphicFramePr>
            <a:graphicFrameLocks noGrp="1"/>
          </p:cNvGraphicFramePr>
          <p:nvPr/>
        </p:nvGraphicFramePr>
        <p:xfrm>
          <a:off x="1863775" y="4309738"/>
          <a:ext cx="830356" cy="272554"/>
        </p:xfrm>
        <a:graphic>
          <a:graphicData uri="http://schemas.openxmlformats.org/drawingml/2006/table">
            <a:tbl>
              <a:tblPr/>
              <a:tblGrid>
                <a:gridCol w="8303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kumimoji="0" lang="ko-KR" alt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전체 응답자</a:t>
                      </a:r>
                      <a:endParaRPr kumimoji="0" lang="en-US" sz="800" u="none" kern="1200" dirty="0">
                        <a:solidFill>
                          <a:prstClr val="black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kumimoji="0" lang="ko-KR" altLang="en-US" sz="800" u="none" kern="1200" dirty="0" err="1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컴팩트오븐</a:t>
                      </a:r>
                      <a:r>
                        <a:rPr kumimoji="0" lang="ko-KR" alt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보유자</a:t>
                      </a:r>
                      <a:endParaRPr kumimoji="0" lang="en-US" sz="800" u="none" kern="1200" dirty="0">
                        <a:solidFill>
                          <a:prstClr val="black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72812270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="" xmlns:a16="http://schemas.microsoft.com/office/drawing/2014/main" id="{D26BBE61-E789-736E-D76D-C10C5847A8AD}"/>
              </a:ext>
            </a:extLst>
          </p:cNvPr>
          <p:cNvGraphicFramePr>
            <a:graphicFrameLocks noGrp="1"/>
          </p:cNvGraphicFramePr>
          <p:nvPr/>
        </p:nvGraphicFramePr>
        <p:xfrm>
          <a:off x="2726012" y="4307161"/>
          <a:ext cx="830356" cy="272554"/>
        </p:xfrm>
        <a:graphic>
          <a:graphicData uri="http://schemas.openxmlformats.org/drawingml/2006/table">
            <a:tbl>
              <a:tblPr/>
              <a:tblGrid>
                <a:gridCol w="8303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36277">
                <a:tc>
                  <a:txBody>
                    <a:bodyPr/>
                    <a:lstStyle/>
                    <a:p>
                      <a:pPr algn="l" fontAlgn="t"/>
                      <a:r>
                        <a:rPr kumimoji="0" 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: € 512.2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l" fontAlgn="t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: € 944.0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7281227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7E9B9B57-9738-5578-F6B0-0E80B31A97BC}"/>
              </a:ext>
            </a:extLst>
          </p:cNvPr>
          <p:cNvSpPr txBox="1"/>
          <p:nvPr/>
        </p:nvSpPr>
        <p:spPr>
          <a:xfrm>
            <a:off x="2289881" y="4123909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STD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오븐 기준</a:t>
            </a:r>
            <a:endParaRPr kumimoji="0" lang="en-US" altLang="ko-KR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6F98A988-E9D6-26E0-CD7F-C8FAD102EA16}"/>
              </a:ext>
            </a:extLst>
          </p:cNvPr>
          <p:cNvSpPr txBox="1"/>
          <p:nvPr/>
        </p:nvSpPr>
        <p:spPr>
          <a:xfrm>
            <a:off x="2810262" y="4304283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+ 431.8</a:t>
            </a:r>
          </a:p>
        </p:txBody>
      </p:sp>
      <p:sp>
        <p:nvSpPr>
          <p:cNvPr id="27" name="원호 26">
            <a:extLst>
              <a:ext uri="{FF2B5EF4-FFF2-40B4-BE49-F238E27FC236}">
                <a16:creationId xmlns="" xmlns:a16="http://schemas.microsoft.com/office/drawing/2014/main" id="{406151D8-C074-6793-9C82-3D1E29434E42}"/>
              </a:ext>
            </a:extLst>
          </p:cNvPr>
          <p:cNvSpPr/>
          <p:nvPr/>
        </p:nvSpPr>
        <p:spPr bwMode="auto">
          <a:xfrm rot="3600000">
            <a:off x="2894631" y="4141894"/>
            <a:ext cx="257297" cy="496224"/>
          </a:xfrm>
          <a:prstGeom prst="arc">
            <a:avLst/>
          </a:prstGeom>
          <a:noFill/>
          <a:ln w="317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sm"/>
          </a:ln>
          <a:effectLst/>
        </p:spPr>
        <p:txBody>
          <a:bodyPr vert="horz" wrap="square" lIns="74289" tIns="37143" rIns="74289" bIns="37143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742950">
              <a:lnSpc>
                <a:spcPct val="130000"/>
              </a:lnSpc>
              <a:buFontTx/>
              <a:buChar char="•"/>
            </a:pPr>
            <a:endParaRPr lang="ko-KR" altLang="en-US" sz="975">
              <a:solidFill>
                <a:prstClr val="black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="" xmlns:a16="http://schemas.microsoft.com/office/drawing/2014/main" id="{8CBA7160-3E0C-CEA7-14F1-561735E0F56A}"/>
              </a:ext>
            </a:extLst>
          </p:cNvPr>
          <p:cNvSpPr/>
          <p:nvPr/>
        </p:nvSpPr>
        <p:spPr>
          <a:xfrm>
            <a:off x="1706085" y="2246859"/>
            <a:ext cx="1403991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u="sng" dirty="0" err="1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컴팩트오븐</a:t>
            </a: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 보유자 소득 비중 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(%)</a:t>
            </a:r>
            <a:endParaRPr kumimoji="0" lang="ko-KR" altLang="en-US" sz="813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29" name="차트 28">
            <a:extLst>
              <a:ext uri="{FF2B5EF4-FFF2-40B4-BE49-F238E27FC236}">
                <a16:creationId xmlns="" xmlns:a16="http://schemas.microsoft.com/office/drawing/2014/main" id="{B92290B6-9F5C-95B0-BFC2-F163DC62123A}"/>
              </a:ext>
            </a:extLst>
          </p:cNvPr>
          <p:cNvGraphicFramePr/>
          <p:nvPr/>
        </p:nvGraphicFramePr>
        <p:xfrm>
          <a:off x="2278154" y="2223025"/>
          <a:ext cx="2486841" cy="605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="" xmlns:a16="http://schemas.microsoft.com/office/drawing/2014/main" id="{6C1A6B70-729A-2A12-AF8C-D97C2F5381CD}"/>
              </a:ext>
            </a:extLst>
          </p:cNvPr>
          <p:cNvSpPr/>
          <p:nvPr/>
        </p:nvSpPr>
        <p:spPr>
          <a:xfrm>
            <a:off x="4413892" y="4114557"/>
            <a:ext cx="1706958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u="sng" dirty="0" err="1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컴팩트오븐</a:t>
            </a: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 보유자 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CVF</a:t>
            </a: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(Top3%), 10순위</a:t>
            </a:r>
            <a:endParaRPr kumimoji="0" lang="ko-KR" altLang="en-US" sz="813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="" xmlns:a16="http://schemas.microsoft.com/office/drawing/2014/main" id="{73B20C72-BE7A-8285-21A6-74FCD434399D}"/>
              </a:ext>
            </a:extLst>
          </p:cNvPr>
          <p:cNvSpPr/>
          <p:nvPr/>
        </p:nvSpPr>
        <p:spPr>
          <a:xfrm>
            <a:off x="2545055" y="2438273"/>
            <a:ext cx="430969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High 47%</a:t>
            </a:r>
            <a:endParaRPr kumimoji="0" lang="ko-KR" altLang="en-US" sz="813" b="0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="" xmlns:a16="http://schemas.microsoft.com/office/drawing/2014/main" id="{1483F291-6268-7EF1-0AE4-48B2AA4EDB73}"/>
              </a:ext>
            </a:extLst>
          </p:cNvPr>
          <p:cNvSpPr/>
          <p:nvPr/>
        </p:nvSpPr>
        <p:spPr>
          <a:xfrm>
            <a:off x="3184215" y="2438273"/>
            <a:ext cx="392496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Mid 40%</a:t>
            </a:r>
            <a:endParaRPr kumimoji="0" lang="ko-KR" altLang="en-US" sz="813" b="0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77BD86B5-A934-0A94-41A1-F09DB2E7AAED}"/>
              </a:ext>
            </a:extLst>
          </p:cNvPr>
          <p:cNvSpPr txBox="1"/>
          <p:nvPr/>
        </p:nvSpPr>
        <p:spPr>
          <a:xfrm>
            <a:off x="2339273" y="2542036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32%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F4A337D9-9B5F-FB4A-F916-C73DE5E897D1}"/>
              </a:ext>
            </a:extLst>
          </p:cNvPr>
          <p:cNvSpPr txBox="1"/>
          <p:nvPr/>
        </p:nvSpPr>
        <p:spPr>
          <a:xfrm>
            <a:off x="2945238" y="2542036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48%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="" xmlns:a16="http://schemas.microsoft.com/office/drawing/2014/main" id="{206C3981-68D8-A3D1-E07C-7CB0753651A5}"/>
              </a:ext>
            </a:extLst>
          </p:cNvPr>
          <p:cNvGraphicFramePr>
            <a:graphicFrameLocks noGrp="1"/>
          </p:cNvGraphicFramePr>
          <p:nvPr/>
        </p:nvGraphicFramePr>
        <p:xfrm>
          <a:off x="1529610" y="2445660"/>
          <a:ext cx="830356" cy="272554"/>
        </p:xfrm>
        <a:graphic>
          <a:graphicData uri="http://schemas.openxmlformats.org/drawingml/2006/table">
            <a:tbl>
              <a:tblPr/>
              <a:tblGrid>
                <a:gridCol w="8303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kumimoji="0" lang="ko-KR" alt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보유자</a:t>
                      </a:r>
                      <a:endParaRPr kumimoji="0" lang="en-US" sz="800" u="none" kern="1200" dirty="0">
                        <a:solidFill>
                          <a:prstClr val="black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defTabSz="913739" rtl="0" eaLnBrk="0" fontAlgn="base" latinLnBrk="1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kumimoji="1" lang="ko-KR" alt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미보유자</a:t>
                      </a:r>
                      <a:endParaRPr kumimoji="1" lang="en-US" sz="700" kern="1200" dirty="0">
                        <a:solidFill>
                          <a:srgbClr val="008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72812270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1B7AEAB9-DB5C-53C2-583C-657299B903B1}"/>
              </a:ext>
            </a:extLst>
          </p:cNvPr>
          <p:cNvSpPr txBox="1"/>
          <p:nvPr/>
        </p:nvSpPr>
        <p:spPr>
          <a:xfrm>
            <a:off x="3179805" y="3920882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49%</a:t>
            </a:r>
          </a:p>
        </p:txBody>
      </p:sp>
      <p:graphicFrame>
        <p:nvGraphicFramePr>
          <p:cNvPr id="37" name="차트 36">
            <a:extLst>
              <a:ext uri="{FF2B5EF4-FFF2-40B4-BE49-F238E27FC236}">
                <a16:creationId xmlns="" xmlns:a16="http://schemas.microsoft.com/office/drawing/2014/main" id="{F9FF603B-1282-850E-4002-8D3B9661D071}"/>
              </a:ext>
            </a:extLst>
          </p:cNvPr>
          <p:cNvGraphicFramePr/>
          <p:nvPr/>
        </p:nvGraphicFramePr>
        <p:xfrm>
          <a:off x="2312947" y="3569111"/>
          <a:ext cx="2486841" cy="605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="" xmlns:a16="http://schemas.microsoft.com/office/drawing/2014/main" id="{40CD40CD-F5C0-8961-B951-A68F5A1DFFC2}"/>
              </a:ext>
            </a:extLst>
          </p:cNvPr>
          <p:cNvSpPr/>
          <p:nvPr/>
        </p:nvSpPr>
        <p:spPr>
          <a:xfrm>
            <a:off x="2536303" y="3781388"/>
            <a:ext cx="743554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패키지 구매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71%</a:t>
            </a:r>
            <a:endParaRPr kumimoji="0" lang="ko-KR" altLang="en-US" sz="813" b="0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="" xmlns:a16="http://schemas.microsoft.com/office/drawing/2014/main" id="{75ADD659-1A35-3FFD-07CB-CB1CA37ACFD4}"/>
              </a:ext>
            </a:extLst>
          </p:cNvPr>
          <p:cNvSpPr/>
          <p:nvPr/>
        </p:nvSpPr>
        <p:spPr>
          <a:xfrm>
            <a:off x="3472483" y="3781388"/>
            <a:ext cx="440587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단독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29%</a:t>
            </a:r>
            <a:endParaRPr kumimoji="0" lang="ko-KR" altLang="en-US" sz="813" b="0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6748A469-95AE-3BFD-582B-4153B9FC6D7C}"/>
              </a:ext>
            </a:extLst>
          </p:cNvPr>
          <p:cNvSpPr txBox="1"/>
          <p:nvPr/>
        </p:nvSpPr>
        <p:spPr>
          <a:xfrm>
            <a:off x="2378235" y="3920882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51%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="" xmlns:a16="http://schemas.microsoft.com/office/drawing/2014/main" id="{7A2203C9-1BF7-612E-5483-9C135533B483}"/>
              </a:ext>
            </a:extLst>
          </p:cNvPr>
          <p:cNvGraphicFramePr>
            <a:graphicFrameLocks noGrp="1"/>
          </p:cNvGraphicFramePr>
          <p:nvPr/>
        </p:nvGraphicFramePr>
        <p:xfrm>
          <a:off x="1568572" y="3818096"/>
          <a:ext cx="830356" cy="272554"/>
        </p:xfrm>
        <a:graphic>
          <a:graphicData uri="http://schemas.openxmlformats.org/drawingml/2006/table">
            <a:tbl>
              <a:tblPr/>
              <a:tblGrid>
                <a:gridCol w="8303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kumimoji="0" lang="ko-KR" alt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보유자</a:t>
                      </a:r>
                      <a:endParaRPr kumimoji="0" lang="en-US" sz="800" u="none" kern="1200" dirty="0">
                        <a:solidFill>
                          <a:prstClr val="black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defTabSz="913739" rtl="0" eaLnBrk="0" fontAlgn="base" latinLnBrk="1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kumimoji="1" lang="ko-KR" alt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미보유자</a:t>
                      </a:r>
                      <a:endParaRPr kumimoji="1" lang="en-US" sz="700" kern="1200" dirty="0">
                        <a:solidFill>
                          <a:srgbClr val="008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72812270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="" xmlns:a16="http://schemas.microsoft.com/office/drawing/2014/main" id="{D07DC15F-3A22-842E-06A0-CD1D2B3E7BE1}"/>
              </a:ext>
            </a:extLst>
          </p:cNvPr>
          <p:cNvSpPr/>
          <p:nvPr/>
        </p:nvSpPr>
        <p:spPr>
          <a:xfrm>
            <a:off x="4429080" y="2255047"/>
            <a:ext cx="1386358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주간 오븐 사용 횟수 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(times/week)</a:t>
            </a:r>
            <a:endParaRPr kumimoji="0" lang="ko-KR" altLang="en-US" sz="813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="" xmlns:a16="http://schemas.microsoft.com/office/drawing/2014/main" id="{6D008C32-47C1-C45C-0B27-6FE247B66B73}"/>
              </a:ext>
            </a:extLst>
          </p:cNvPr>
          <p:cNvSpPr/>
          <p:nvPr/>
        </p:nvSpPr>
        <p:spPr bwMode="auto">
          <a:xfrm>
            <a:off x="5104171" y="2520632"/>
            <a:ext cx="271687" cy="271687"/>
          </a:xfrm>
          <a:prstGeom prst="ellipse">
            <a:avLst/>
          </a:prstGeom>
          <a:solidFill>
            <a:srgbClr val="A6A6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/>
            <a:endParaRPr lang="ko-KR" altLang="en-US" sz="975" dirty="0">
              <a:solidFill>
                <a:prstClr val="black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="" xmlns:a16="http://schemas.microsoft.com/office/drawing/2014/main" id="{F75B3E04-B2AD-EC66-A10A-0F738AEAAA42}"/>
              </a:ext>
            </a:extLst>
          </p:cNvPr>
          <p:cNvSpPr/>
          <p:nvPr/>
        </p:nvSpPr>
        <p:spPr bwMode="auto">
          <a:xfrm>
            <a:off x="5823272" y="2461601"/>
            <a:ext cx="416046" cy="416046"/>
          </a:xfrm>
          <a:prstGeom prst="ellipse">
            <a:avLst/>
          </a:prstGeom>
          <a:solidFill>
            <a:srgbClr val="95B3D7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975" dirty="0">
              <a:solidFill>
                <a:prstClr val="black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="" xmlns:a16="http://schemas.microsoft.com/office/drawing/2014/main" id="{22CA5AFD-FCD1-465D-CBDF-AF88806531BA}"/>
              </a:ext>
            </a:extLst>
          </p:cNvPr>
          <p:cNvSpPr/>
          <p:nvPr/>
        </p:nvSpPr>
        <p:spPr>
          <a:xfrm>
            <a:off x="5029134" y="2590253"/>
            <a:ext cx="452637" cy="1924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오븐보유자 </a:t>
            </a:r>
            <a:endParaRPr kumimoji="0" lang="en-US" altLang="ko-KR" sz="731" b="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5.8</a:t>
            </a:r>
            <a:r>
              <a:rPr kumimoji="0" lang="ko-KR" altLang="en-US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번</a:t>
            </a:r>
            <a:endParaRPr kumimoji="0" lang="ko-KR" altLang="en-US" sz="813" b="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="" xmlns:a16="http://schemas.microsoft.com/office/drawing/2014/main" id="{98DAE2B5-C711-4225-A86F-3794ADF29735}"/>
              </a:ext>
            </a:extLst>
          </p:cNvPr>
          <p:cNvSpPr/>
          <p:nvPr/>
        </p:nvSpPr>
        <p:spPr>
          <a:xfrm>
            <a:off x="5722289" y="2536722"/>
            <a:ext cx="599579" cy="3127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오븐</a:t>
            </a:r>
            <a:r>
              <a:rPr kumimoji="0" lang="en-US" altLang="ko-KR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+</a:t>
            </a:r>
            <a:r>
              <a:rPr kumimoji="0" lang="ko-KR" altLang="en-US" sz="813" b="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컴팩트오븐</a:t>
            </a:r>
            <a:r>
              <a:rPr kumimoji="0" lang="ko-KR" altLang="en-US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보유자 </a:t>
            </a:r>
            <a:endParaRPr kumimoji="0" lang="en-US" altLang="ko-KR" sz="813" b="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94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9.8</a:t>
            </a:r>
            <a:r>
              <a:rPr kumimoji="0" lang="ko-KR" altLang="en-US" sz="894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번</a:t>
            </a:r>
            <a:endParaRPr kumimoji="0" lang="ko-KR" altLang="en-US" sz="894" b="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="" xmlns:a16="http://schemas.microsoft.com/office/drawing/2014/main" id="{99678345-A413-54C6-BCD8-C3F1260AD750}"/>
              </a:ext>
            </a:extLst>
          </p:cNvPr>
          <p:cNvSpPr/>
          <p:nvPr/>
        </p:nvSpPr>
        <p:spPr>
          <a:xfrm>
            <a:off x="1706085" y="2787353"/>
            <a:ext cx="1403991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u="sng" dirty="0" err="1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컴팩트오븐</a:t>
            </a: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 보유자 세대 비중 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(%)</a:t>
            </a:r>
            <a:endParaRPr kumimoji="0" lang="ko-KR" altLang="en-US" sz="813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48" name="차트 47">
            <a:extLst>
              <a:ext uri="{FF2B5EF4-FFF2-40B4-BE49-F238E27FC236}">
                <a16:creationId xmlns="" xmlns:a16="http://schemas.microsoft.com/office/drawing/2014/main" id="{75D4B41E-CA01-4563-206B-87CCA984A6C0}"/>
              </a:ext>
            </a:extLst>
          </p:cNvPr>
          <p:cNvGraphicFramePr/>
          <p:nvPr/>
        </p:nvGraphicFramePr>
        <p:xfrm>
          <a:off x="2278154" y="2763519"/>
          <a:ext cx="2486841" cy="605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9" name="직사각형 48">
            <a:extLst>
              <a:ext uri="{FF2B5EF4-FFF2-40B4-BE49-F238E27FC236}">
                <a16:creationId xmlns="" xmlns:a16="http://schemas.microsoft.com/office/drawing/2014/main" id="{B9CDC286-9F04-D0F6-DCEE-50098C62B844}"/>
              </a:ext>
            </a:extLst>
          </p:cNvPr>
          <p:cNvSpPr/>
          <p:nvPr/>
        </p:nvSpPr>
        <p:spPr>
          <a:xfrm>
            <a:off x="2447273" y="2978767"/>
            <a:ext cx="626534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dirty="0" err="1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밀레니얼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48%</a:t>
            </a:r>
            <a:endParaRPr kumimoji="0" lang="ko-KR" altLang="en-US" sz="813" b="0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FF467F79-A639-D44B-26F5-DF16603344DA}"/>
              </a:ext>
            </a:extLst>
          </p:cNvPr>
          <p:cNvSpPr/>
          <p:nvPr/>
        </p:nvSpPr>
        <p:spPr>
          <a:xfrm>
            <a:off x="3131315" y="2978767"/>
            <a:ext cx="498294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X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세대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39%</a:t>
            </a:r>
            <a:endParaRPr kumimoji="0" lang="ko-KR" altLang="en-US" sz="813" b="0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EE338B39-AEE8-52C7-29BA-5509C7E5C476}"/>
              </a:ext>
            </a:extLst>
          </p:cNvPr>
          <p:cNvSpPr txBox="1"/>
          <p:nvPr/>
        </p:nvSpPr>
        <p:spPr>
          <a:xfrm>
            <a:off x="2339273" y="3104693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33%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6AAAA272-88B0-39EA-B7EE-BBDD48B03B79}"/>
              </a:ext>
            </a:extLst>
          </p:cNvPr>
          <p:cNvSpPr txBox="1"/>
          <p:nvPr/>
        </p:nvSpPr>
        <p:spPr>
          <a:xfrm>
            <a:off x="2945238" y="3099036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41%</a:t>
            </a:r>
          </a:p>
        </p:txBody>
      </p:sp>
      <p:graphicFrame>
        <p:nvGraphicFramePr>
          <p:cNvPr id="53" name="표 52">
            <a:extLst>
              <a:ext uri="{FF2B5EF4-FFF2-40B4-BE49-F238E27FC236}">
                <a16:creationId xmlns="" xmlns:a16="http://schemas.microsoft.com/office/drawing/2014/main" id="{79089F98-F0D9-39B7-DC31-99C7833FC19C}"/>
              </a:ext>
            </a:extLst>
          </p:cNvPr>
          <p:cNvGraphicFramePr>
            <a:graphicFrameLocks noGrp="1"/>
          </p:cNvGraphicFramePr>
          <p:nvPr/>
        </p:nvGraphicFramePr>
        <p:xfrm>
          <a:off x="1529610" y="2986155"/>
          <a:ext cx="830356" cy="272554"/>
        </p:xfrm>
        <a:graphic>
          <a:graphicData uri="http://schemas.openxmlformats.org/drawingml/2006/table">
            <a:tbl>
              <a:tblPr/>
              <a:tblGrid>
                <a:gridCol w="8303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kumimoji="0" lang="ko-KR" alt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보유자</a:t>
                      </a:r>
                      <a:endParaRPr kumimoji="0" lang="en-US" sz="800" u="none" kern="1200" dirty="0">
                        <a:solidFill>
                          <a:prstClr val="black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defTabSz="913739" rtl="0" eaLnBrk="0" fontAlgn="base" latinLnBrk="1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kumimoji="1" lang="ko-KR" alt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미보유자</a:t>
                      </a:r>
                      <a:endParaRPr kumimoji="1" lang="en-US" sz="700" kern="1200" dirty="0">
                        <a:solidFill>
                          <a:srgbClr val="008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72812270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="" xmlns:a16="http://schemas.microsoft.com/office/drawing/2014/main" id="{6BF6E8EA-D3A9-62BF-C44B-C3D5412C87FA}"/>
              </a:ext>
            </a:extLst>
          </p:cNvPr>
          <p:cNvSpPr/>
          <p:nvPr/>
        </p:nvSpPr>
        <p:spPr>
          <a:xfrm>
            <a:off x="3670542" y="2978767"/>
            <a:ext cx="269065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그 외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0DD5ED2A-D4A6-43E3-1420-A48919D78BA0}"/>
              </a:ext>
            </a:extLst>
          </p:cNvPr>
          <p:cNvSpPr/>
          <p:nvPr/>
        </p:nvSpPr>
        <p:spPr>
          <a:xfrm>
            <a:off x="4409845" y="2932745"/>
            <a:ext cx="1424830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월간 오븐 청소 횟수 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(times/month)</a:t>
            </a:r>
            <a:endParaRPr kumimoji="0" lang="ko-KR" altLang="en-US" sz="813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="" xmlns:a16="http://schemas.microsoft.com/office/drawing/2014/main" id="{C53A073B-D723-2F4F-B423-90B7A4EC474A}"/>
              </a:ext>
            </a:extLst>
          </p:cNvPr>
          <p:cNvSpPr/>
          <p:nvPr/>
        </p:nvSpPr>
        <p:spPr bwMode="auto">
          <a:xfrm>
            <a:off x="5040469" y="3132838"/>
            <a:ext cx="412114" cy="412114"/>
          </a:xfrm>
          <a:prstGeom prst="ellipse">
            <a:avLst/>
          </a:prstGeom>
          <a:solidFill>
            <a:srgbClr val="A6A6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/>
            <a:endParaRPr lang="ko-KR" altLang="en-US" sz="975" dirty="0">
              <a:solidFill>
                <a:prstClr val="black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="" xmlns:a16="http://schemas.microsoft.com/office/drawing/2014/main" id="{E1D9A318-45C6-86C7-8F5B-4486D4ABF31A}"/>
              </a:ext>
            </a:extLst>
          </p:cNvPr>
          <p:cNvSpPr/>
          <p:nvPr/>
        </p:nvSpPr>
        <p:spPr bwMode="auto">
          <a:xfrm>
            <a:off x="5823272" y="3139299"/>
            <a:ext cx="416046" cy="416046"/>
          </a:xfrm>
          <a:prstGeom prst="ellipse">
            <a:avLst/>
          </a:prstGeom>
          <a:solidFill>
            <a:srgbClr val="95B3D7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975" dirty="0">
              <a:solidFill>
                <a:prstClr val="black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="" xmlns:a16="http://schemas.microsoft.com/office/drawing/2014/main" id="{D0DFC760-B9EC-C9AF-67E1-84E317E67663}"/>
              </a:ext>
            </a:extLst>
          </p:cNvPr>
          <p:cNvSpPr/>
          <p:nvPr/>
        </p:nvSpPr>
        <p:spPr>
          <a:xfrm>
            <a:off x="5029134" y="3267951"/>
            <a:ext cx="452637" cy="1924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오븐보유자 </a:t>
            </a:r>
            <a:endParaRPr kumimoji="0" lang="en-US" altLang="ko-KR" sz="731" b="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4.4</a:t>
            </a:r>
            <a:r>
              <a:rPr kumimoji="0" lang="ko-KR" altLang="en-US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번</a:t>
            </a:r>
            <a:endParaRPr kumimoji="0" lang="ko-KR" altLang="en-US" sz="813" b="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="" xmlns:a16="http://schemas.microsoft.com/office/drawing/2014/main" id="{348971CA-7C7A-AF00-B44A-218278DF5056}"/>
              </a:ext>
            </a:extLst>
          </p:cNvPr>
          <p:cNvSpPr/>
          <p:nvPr/>
        </p:nvSpPr>
        <p:spPr>
          <a:xfrm>
            <a:off x="5722289" y="3214420"/>
            <a:ext cx="599579" cy="3127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오븐</a:t>
            </a:r>
            <a:r>
              <a:rPr kumimoji="0" lang="en-US" altLang="ko-KR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+</a:t>
            </a:r>
            <a:r>
              <a:rPr kumimoji="0" lang="ko-KR" altLang="en-US" sz="813" b="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컴팩트오븐</a:t>
            </a:r>
            <a:r>
              <a:rPr kumimoji="0" lang="ko-KR" altLang="en-US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보유자 </a:t>
            </a:r>
            <a:endParaRPr kumimoji="0" lang="en-US" altLang="ko-KR" sz="813" b="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94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4.3</a:t>
            </a:r>
            <a:r>
              <a:rPr kumimoji="0" lang="ko-KR" altLang="en-US" sz="894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번</a:t>
            </a:r>
            <a:endParaRPr kumimoji="0" lang="ko-KR" altLang="en-US" sz="894" b="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="" xmlns:a16="http://schemas.microsoft.com/office/drawing/2014/main" id="{51EF3ED2-7AB5-BE23-B4D2-E67C08625C6A}"/>
              </a:ext>
            </a:extLst>
          </p:cNvPr>
          <p:cNvSpPr/>
          <p:nvPr/>
        </p:nvSpPr>
        <p:spPr>
          <a:xfrm>
            <a:off x="1626131" y="1380733"/>
            <a:ext cx="2632500" cy="605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컴팩트오븐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보유자는 주로 </a:t>
            </a:r>
            <a:r>
              <a:rPr kumimoji="0" lang="ko-KR" altLang="en-US" sz="81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고소득자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 오븐 구매 시</a:t>
            </a:r>
            <a:endParaRPr kumimoji="0" lang="en-US" altLang="ko-KR" sz="81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예산이 더 큰 편이며 가전을 </a:t>
            </a:r>
            <a:r>
              <a:rPr kumimoji="0" lang="ko-KR" altLang="en-US" sz="813" dirty="0">
                <a:solidFill>
                  <a:prstClr val="black"/>
                </a:solidFill>
                <a:highlight>
                  <a:srgbClr val="C0C0C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패키지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 구매하는 경향이 큰 편</a:t>
            </a:r>
            <a:endParaRPr kumimoji="0" lang="en-US" altLang="ko-KR" sz="81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81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다만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설치 관련하여 </a:t>
            </a:r>
            <a:r>
              <a:rPr kumimoji="0" lang="ko-KR" altLang="en-US" sz="813" dirty="0">
                <a:solidFill>
                  <a:prstClr val="black"/>
                </a:solidFill>
                <a:highlight>
                  <a:srgbClr val="C0C0C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단독 설치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대한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VOC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 증가하는 추세 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="" xmlns:a16="http://schemas.microsoft.com/office/drawing/2014/main" id="{684398C7-4678-16D1-F350-830C9E1FE994}"/>
              </a:ext>
            </a:extLst>
          </p:cNvPr>
          <p:cNvSpPr/>
          <p:nvPr/>
        </p:nvSpPr>
        <p:spPr>
          <a:xfrm>
            <a:off x="4375032" y="1380733"/>
            <a:ext cx="2632500" cy="605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컴팩트오븐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보유자는 </a:t>
            </a:r>
            <a:r>
              <a:rPr kumimoji="0" lang="ko-KR" altLang="en-US" sz="81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오븐 보유자 대비 조리 횟수 더 많으나 </a:t>
            </a:r>
            <a:endParaRPr kumimoji="0" lang="en-US" altLang="ko-KR" sz="813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청소 횟수는 비슷한 편 </a:t>
            </a:r>
            <a:endParaRPr kumimoji="0" lang="en-US" altLang="ko-KR" sz="813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오븐 개수가 많아 청소에 피로도를 더 느낄 수도 있으며 </a:t>
            </a:r>
            <a:endParaRPr kumimoji="0" lang="en-US" altLang="ko-KR" sz="81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1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easy to clean</a:t>
            </a:r>
            <a:r>
              <a:rPr kumimoji="0" lang="ko-KR" altLang="en-US" sz="81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을 오븐 보유자 대비 중요한 요소로 생각함</a:t>
            </a:r>
            <a:endParaRPr kumimoji="0" lang="en-US" altLang="ko-KR" sz="813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62" name="Table 4">
            <a:extLst>
              <a:ext uri="{FF2B5EF4-FFF2-40B4-BE49-F238E27FC236}">
                <a16:creationId xmlns="" xmlns:a16="http://schemas.microsoft.com/office/drawing/2014/main" id="{90622800-E33C-F1D9-6C02-BB2740758E41}"/>
              </a:ext>
            </a:extLst>
          </p:cNvPr>
          <p:cNvGraphicFramePr>
            <a:graphicFrameLocks noGrp="1"/>
          </p:cNvGraphicFramePr>
          <p:nvPr/>
        </p:nvGraphicFramePr>
        <p:xfrm>
          <a:off x="6329988" y="4467521"/>
          <a:ext cx="150616" cy="13563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616">
                  <a:extLst>
                    <a:ext uri="{9D8B030D-6E8A-4147-A177-3AD203B41FA5}">
                      <a16:colId xmlns="" xmlns:a16="http://schemas.microsoft.com/office/drawing/2014/main" val="3813409967"/>
                    </a:ext>
                  </a:extLst>
                </a:gridCol>
              </a:tblGrid>
              <a:tr h="13556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13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69796025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19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91037139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40082299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65116140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23133254"/>
                  </a:ext>
                </a:extLst>
              </a:tr>
              <a:tr h="136260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14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71265315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23352457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9485110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2279858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kumimoji="1" lang="en-US" altLang="ko-KR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41536667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BD869BCF-035D-B70C-20A4-40C685B02C96}"/>
              </a:ext>
            </a:extLst>
          </p:cNvPr>
          <p:cNvSpPr txBox="1"/>
          <p:nvPr/>
        </p:nvSpPr>
        <p:spPr>
          <a:xfrm>
            <a:off x="5893648" y="4207199"/>
            <a:ext cx="1036382" cy="31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미보유자 </a:t>
            </a:r>
            <a:endParaRPr kumimoji="0" lang="en-US" altLang="ko-KR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GAP*</a:t>
            </a:r>
            <a:r>
              <a:rPr kumimoji="0" lang="en-US" altLang="ko-KR" sz="731" b="0" baseline="3000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en-US" altLang="ko-KR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="" xmlns:a16="http://schemas.microsoft.com/office/drawing/2014/main" id="{574655C2-C5A8-6CCC-EC2B-4513A4271D3B}"/>
              </a:ext>
            </a:extLst>
          </p:cNvPr>
          <p:cNvSpPr/>
          <p:nvPr/>
        </p:nvSpPr>
        <p:spPr>
          <a:xfrm>
            <a:off x="5583722" y="5851208"/>
            <a:ext cx="1200409" cy="159099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650" b="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*</a:t>
            </a:r>
            <a:r>
              <a:rPr kumimoji="0" lang="ko-KR" altLang="en-US" sz="650" b="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미보유자 오븐 </a:t>
            </a:r>
            <a:r>
              <a:rPr kumimoji="0" lang="en-US" altLang="ko-KR" sz="650" b="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CVF top3% - </a:t>
            </a:r>
            <a:r>
              <a:rPr kumimoji="0" lang="ko-KR" altLang="en-US" sz="650" b="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보유자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="" xmlns:a16="http://schemas.microsoft.com/office/drawing/2014/main" id="{7C951619-4742-A01A-1772-392EC7C9D6F3}"/>
              </a:ext>
            </a:extLst>
          </p:cNvPr>
          <p:cNvSpPr txBox="1"/>
          <p:nvPr/>
        </p:nvSpPr>
        <p:spPr>
          <a:xfrm>
            <a:off x="4449348" y="4522273"/>
            <a:ext cx="264075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63" b="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</a:t>
            </a:r>
            <a:endParaRPr kumimoji="0" lang="ko-KR" altLang="en-US" sz="1463" b="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="" xmlns:a16="http://schemas.microsoft.com/office/drawing/2014/main" id="{4DCB72E4-989F-D5EB-8AEB-E61145D7CCB7}"/>
              </a:ext>
            </a:extLst>
          </p:cNvPr>
          <p:cNvSpPr/>
          <p:nvPr/>
        </p:nvSpPr>
        <p:spPr>
          <a:xfrm>
            <a:off x="5534765" y="3280175"/>
            <a:ext cx="129603" cy="234184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38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=</a:t>
            </a:r>
            <a:endParaRPr kumimoji="0" lang="ko-KR" altLang="en-US" sz="1138" b="0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="" xmlns:a16="http://schemas.microsoft.com/office/drawing/2014/main" id="{003F598D-4A12-BE8F-E430-FF107AB58246}"/>
              </a:ext>
            </a:extLst>
          </p:cNvPr>
          <p:cNvSpPr/>
          <p:nvPr/>
        </p:nvSpPr>
        <p:spPr>
          <a:xfrm>
            <a:off x="5534765" y="2570003"/>
            <a:ext cx="129603" cy="234184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38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&lt;</a:t>
            </a:r>
            <a:endParaRPr kumimoji="0" lang="ko-KR" altLang="en-US" sz="1138" b="0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="" xmlns:a16="http://schemas.microsoft.com/office/drawing/2014/main" id="{773C5852-9B56-CCDB-C8CF-F143AED33589}"/>
              </a:ext>
            </a:extLst>
          </p:cNvPr>
          <p:cNvSpPr/>
          <p:nvPr/>
        </p:nvSpPr>
        <p:spPr>
          <a:xfrm>
            <a:off x="7142701" y="1380733"/>
            <a:ext cx="2632500" cy="605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디자인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사용성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쾌속 조리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다양한 기능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조용함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사이즈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만족하며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 </a:t>
            </a:r>
          </a:p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부정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VOC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는 디스플레이부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UI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관련 내용</a:t>
            </a:r>
            <a:endParaRPr kumimoji="0" lang="en-US" altLang="ko-KR" sz="81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="" xmlns:a16="http://schemas.microsoft.com/office/drawing/2014/main" id="{2D67F39A-9517-30F0-6D0F-A7E4C9C2C8A6}"/>
              </a:ext>
            </a:extLst>
          </p:cNvPr>
          <p:cNvSpPr/>
          <p:nvPr/>
        </p:nvSpPr>
        <p:spPr>
          <a:xfrm>
            <a:off x="3689679" y="2438273"/>
            <a:ext cx="216167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Low</a:t>
            </a:r>
            <a:endParaRPr kumimoji="0" lang="ko-KR" altLang="en-US" sz="813" b="0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="" xmlns:a16="http://schemas.microsoft.com/office/drawing/2014/main" id="{90C7D316-4AF5-DE1B-DCB2-D4D748B0D4A1}"/>
              </a:ext>
            </a:extLst>
          </p:cNvPr>
          <p:cNvSpPr/>
          <p:nvPr/>
        </p:nvSpPr>
        <p:spPr>
          <a:xfrm>
            <a:off x="7142701" y="2033003"/>
            <a:ext cx="2632500" cy="413321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</a:pPr>
            <a:endParaRPr kumimoji="0" lang="ko-KR" altLang="en-US" sz="853" b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pic>
        <p:nvPicPr>
          <p:cNvPr id="135" name="Picture 2">
            <a:extLst>
              <a:ext uri="{FF2B5EF4-FFF2-40B4-BE49-F238E27FC236}">
                <a16:creationId xmlns="" xmlns:a16="http://schemas.microsoft.com/office/drawing/2014/main" id="{BAAD0E3F-4BDB-39F3-D38B-60F2A4801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828" y="4919357"/>
            <a:ext cx="1036563" cy="103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TextBox 135">
            <a:extLst>
              <a:ext uri="{FF2B5EF4-FFF2-40B4-BE49-F238E27FC236}">
                <a16:creationId xmlns="" xmlns:a16="http://schemas.microsoft.com/office/drawing/2014/main" id="{18DF5CDA-81F3-FDF4-BAE1-AD9B9AD1186A}"/>
              </a:ext>
            </a:extLst>
          </p:cNvPr>
          <p:cNvSpPr txBox="1"/>
          <p:nvPr/>
        </p:nvSpPr>
        <p:spPr>
          <a:xfrm>
            <a:off x="7244032" y="2032688"/>
            <a:ext cx="238526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제품</a:t>
            </a: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리뷰</a:t>
            </a: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</a:t>
            </a:r>
            <a:endParaRPr kumimoji="0" lang="ko-KR" altLang="en-US" sz="894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37" name="Table 4">
            <a:extLst>
              <a:ext uri="{FF2B5EF4-FFF2-40B4-BE49-F238E27FC236}">
                <a16:creationId xmlns="" xmlns:a16="http://schemas.microsoft.com/office/drawing/2014/main" id="{40A7AF76-7A1A-1C26-84E1-8A44D9FBEE07}"/>
              </a:ext>
            </a:extLst>
          </p:cNvPr>
          <p:cNvGraphicFramePr>
            <a:graphicFrameLocks noGrp="1"/>
          </p:cNvGraphicFramePr>
          <p:nvPr/>
        </p:nvGraphicFramePr>
        <p:xfrm>
          <a:off x="7268383" y="2481576"/>
          <a:ext cx="2385260" cy="9489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769">
                  <a:extLst>
                    <a:ext uri="{9D8B030D-6E8A-4147-A177-3AD203B41FA5}">
                      <a16:colId xmlns="" xmlns:a16="http://schemas.microsoft.com/office/drawing/2014/main" val="3813409967"/>
                    </a:ext>
                  </a:extLst>
                </a:gridCol>
                <a:gridCol w="1174404">
                  <a:extLst>
                    <a:ext uri="{9D8B030D-6E8A-4147-A177-3AD203B41FA5}">
                      <a16:colId xmlns="" xmlns:a16="http://schemas.microsoft.com/office/drawing/2014/main" val="849803174"/>
                    </a:ext>
                  </a:extLst>
                </a:gridCol>
                <a:gridCol w="795087">
                  <a:extLst>
                    <a:ext uri="{9D8B030D-6E8A-4147-A177-3AD203B41FA5}">
                      <a16:colId xmlns="" xmlns:a16="http://schemas.microsoft.com/office/drawing/2014/main" val="2818018612"/>
                    </a:ext>
                  </a:extLst>
                </a:gridCol>
              </a:tblGrid>
              <a:tr h="135561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ko-KR" alt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순위</a:t>
                      </a:r>
                      <a:endParaRPr kumimoji="0" lang="en-US" altLang="ko-KR" sz="800" u="none" kern="1200" dirty="0">
                        <a:solidFill>
                          <a:prstClr val="black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7739" marR="7739" marT="7739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Keyword</a:t>
                      </a:r>
                    </a:p>
                  </a:txBody>
                  <a:tcPr marL="7739" marR="7739" marT="7739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ko-KR" altLang="en-US" sz="800" u="none" kern="1200" dirty="0" err="1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언급량</a:t>
                      </a:r>
                      <a:r>
                        <a:rPr kumimoji="0" lang="ko-KR" alt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(#)</a:t>
                      </a:r>
                    </a:p>
                  </a:txBody>
                  <a:tcPr marL="7739" marR="7739" marT="7739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42724613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1</a:t>
                      </a:r>
                    </a:p>
                  </a:txBody>
                  <a:tcPr marL="7739" marR="7739" marT="773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Good design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11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69796025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2</a:t>
                      </a:r>
                    </a:p>
                  </a:txBody>
                  <a:tcPr marL="7739" marR="7739" marT="773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Easy to use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8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91037139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3</a:t>
                      </a:r>
                    </a:p>
                  </a:txBody>
                  <a:tcPr marL="7739" marR="7739" marT="773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Fast cooking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6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40082299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4</a:t>
                      </a:r>
                    </a:p>
                  </a:txBody>
                  <a:tcPr marL="7739" marR="7739" marT="773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Various functions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65116140"/>
                  </a:ext>
                </a:extLst>
              </a:tr>
              <a:tr h="135561">
                <a:tc rowSpan="2"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</a:p>
                  </a:txBody>
                  <a:tcPr marL="7739" marR="7739" marT="773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Big enough capacity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4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23133254"/>
                  </a:ext>
                </a:extLst>
              </a:tr>
              <a:tr h="135561">
                <a:tc vMerge="1">
                  <a:txBody>
                    <a:bodyPr/>
                    <a:lstStyle/>
                    <a:p>
                      <a:pPr algn="r" fontAlgn="b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Quiet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4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5007458"/>
                  </a:ext>
                </a:extLst>
              </a:tr>
            </a:tbl>
          </a:graphicData>
        </a:graphic>
      </p:graphicFrame>
      <p:sp>
        <p:nvSpPr>
          <p:cNvPr id="139" name="TextBox 138">
            <a:extLst>
              <a:ext uri="{FF2B5EF4-FFF2-40B4-BE49-F238E27FC236}">
                <a16:creationId xmlns="" xmlns:a16="http://schemas.microsoft.com/office/drawing/2014/main" id="{27D4B6BC-7C5D-8DF9-F7DC-F5759250E36A}"/>
              </a:ext>
            </a:extLst>
          </p:cNvPr>
          <p:cNvSpPr txBox="1"/>
          <p:nvPr/>
        </p:nvSpPr>
        <p:spPr>
          <a:xfrm>
            <a:off x="7673802" y="2259575"/>
            <a:ext cx="1812584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Source:</a:t>
            </a:r>
            <a:r>
              <a:rPr kumimoji="0" lang="ko-KR" altLang="en-US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Amazon, El Cortes, </a:t>
            </a:r>
            <a:r>
              <a:rPr kumimoji="0" lang="en-US" altLang="ko-KR" sz="650" b="0" i="1" dirty="0" err="1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MediaMarkt</a:t>
            </a:r>
            <a:r>
              <a:rPr kumimoji="0" lang="en-US" altLang="ko-KR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review (n=85)</a:t>
            </a:r>
            <a:endParaRPr kumimoji="0" lang="ko-KR" altLang="en-US" sz="650" b="0" i="1" dirty="0">
              <a:solidFill>
                <a:prstClr val="white">
                  <a:lumMod val="50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="" xmlns:a16="http://schemas.microsoft.com/office/drawing/2014/main" id="{57909166-403B-DBC0-3997-971332A07C54}"/>
              </a:ext>
            </a:extLst>
          </p:cNvPr>
          <p:cNvSpPr/>
          <p:nvPr/>
        </p:nvSpPr>
        <p:spPr>
          <a:xfrm>
            <a:off x="7220091" y="2255047"/>
            <a:ext cx="455014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긍정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 VOC</a:t>
            </a:r>
            <a:endParaRPr kumimoji="0" lang="ko-KR" altLang="en-US" sz="813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="" xmlns:a16="http://schemas.microsoft.com/office/drawing/2014/main" id="{10E6CF68-4B2B-EC12-446A-AB389F23CF58}"/>
              </a:ext>
            </a:extLst>
          </p:cNvPr>
          <p:cNvSpPr txBox="1"/>
          <p:nvPr/>
        </p:nvSpPr>
        <p:spPr>
          <a:xfrm>
            <a:off x="7673802" y="3535379"/>
            <a:ext cx="1812584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Source:</a:t>
            </a:r>
            <a:r>
              <a:rPr kumimoji="0" lang="ko-KR" altLang="en-US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Amazon, El Cortes, </a:t>
            </a:r>
            <a:r>
              <a:rPr kumimoji="0" lang="en-US" altLang="ko-KR" sz="650" b="0" i="1" dirty="0" err="1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MediaMarkt</a:t>
            </a:r>
            <a:r>
              <a:rPr kumimoji="0" lang="en-US" altLang="ko-KR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review (n=12)</a:t>
            </a:r>
            <a:endParaRPr kumimoji="0" lang="ko-KR" altLang="en-US" sz="650" b="0" i="1" dirty="0">
              <a:solidFill>
                <a:prstClr val="white">
                  <a:lumMod val="50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="" xmlns:a16="http://schemas.microsoft.com/office/drawing/2014/main" id="{83CCB67B-77AD-9FB2-0A6E-7BDF0C54BDC8}"/>
              </a:ext>
            </a:extLst>
          </p:cNvPr>
          <p:cNvSpPr/>
          <p:nvPr/>
        </p:nvSpPr>
        <p:spPr>
          <a:xfrm>
            <a:off x="7220094" y="3530851"/>
            <a:ext cx="455014" cy="184170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부정</a:t>
            </a:r>
            <a:r>
              <a:rPr kumimoji="0" lang="en-US" altLang="ko-KR" sz="813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 VOC</a:t>
            </a:r>
            <a:endParaRPr kumimoji="0" lang="ko-KR" altLang="en-US" sz="813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143" name="Table 4">
            <a:extLst>
              <a:ext uri="{FF2B5EF4-FFF2-40B4-BE49-F238E27FC236}">
                <a16:creationId xmlns="" xmlns:a16="http://schemas.microsoft.com/office/drawing/2014/main" id="{2149F115-2C97-4648-7C9D-2B66E4803309}"/>
              </a:ext>
            </a:extLst>
          </p:cNvPr>
          <p:cNvGraphicFramePr>
            <a:graphicFrameLocks noGrp="1"/>
          </p:cNvGraphicFramePr>
          <p:nvPr/>
        </p:nvGraphicFramePr>
        <p:xfrm>
          <a:off x="7263911" y="3724910"/>
          <a:ext cx="2365381" cy="909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2305">
                  <a:extLst>
                    <a:ext uri="{9D8B030D-6E8A-4147-A177-3AD203B41FA5}">
                      <a16:colId xmlns="" xmlns:a16="http://schemas.microsoft.com/office/drawing/2014/main" val="3813409967"/>
                    </a:ext>
                  </a:extLst>
                </a:gridCol>
                <a:gridCol w="1164616">
                  <a:extLst>
                    <a:ext uri="{9D8B030D-6E8A-4147-A177-3AD203B41FA5}">
                      <a16:colId xmlns="" xmlns:a16="http://schemas.microsoft.com/office/drawing/2014/main" val="849803174"/>
                    </a:ext>
                  </a:extLst>
                </a:gridCol>
                <a:gridCol w="788460">
                  <a:extLst>
                    <a:ext uri="{9D8B030D-6E8A-4147-A177-3AD203B41FA5}">
                      <a16:colId xmlns="" xmlns:a16="http://schemas.microsoft.com/office/drawing/2014/main" val="2818018612"/>
                    </a:ext>
                  </a:extLst>
                </a:gridCol>
              </a:tblGrid>
              <a:tr h="135561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ko-KR" alt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순위</a:t>
                      </a:r>
                      <a:endParaRPr kumimoji="0" lang="en-US" altLang="ko-KR" sz="800" u="none" kern="1200" dirty="0">
                        <a:solidFill>
                          <a:prstClr val="black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7739" marR="7739" marT="7739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Keyword</a:t>
                      </a:r>
                    </a:p>
                  </a:txBody>
                  <a:tcPr marL="7739" marR="7739" marT="7739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ko-KR" altLang="en-US" sz="800" u="none" kern="1200" dirty="0" err="1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언급량</a:t>
                      </a:r>
                      <a:r>
                        <a:rPr kumimoji="0" lang="ko-KR" altLang="en-US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(#)</a:t>
                      </a:r>
                    </a:p>
                  </a:txBody>
                  <a:tcPr marL="7739" marR="7739" marT="7739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42724613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1</a:t>
                      </a:r>
                    </a:p>
                  </a:txBody>
                  <a:tcPr marL="7739" marR="7739" marT="773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Display / UI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6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69796025"/>
                  </a:ext>
                </a:extLst>
              </a:tr>
              <a:tr h="503039">
                <a:tc gridSpan="3">
                  <a:txBody>
                    <a:bodyPr/>
                    <a:lstStyle/>
                    <a:p>
                      <a:pPr algn="l" fontAlgn="b"/>
                      <a:r>
                        <a:rPr kumimoji="0" lang="en-US" altLang="ko-KR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“Display should be brighter”</a:t>
                      </a:r>
                    </a:p>
                    <a:p>
                      <a:pPr algn="l" fontAlgn="b"/>
                      <a:r>
                        <a:rPr kumimoji="0" lang="en-US" altLang="ko-KR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“Display failed and I can’t see numbers”</a:t>
                      </a:r>
                    </a:p>
                    <a:p>
                      <a:pPr algn="l" fontAlgn="b"/>
                      <a:r>
                        <a:rPr kumimoji="0" lang="en-US" altLang="ko-KR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“It’s</a:t>
                      </a:r>
                      <a:r>
                        <a:rPr kumimoji="0" lang="ko-KR" altLang="en-US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hard</a:t>
                      </a:r>
                      <a:r>
                        <a:rPr kumimoji="0" lang="ko-KR" altLang="en-US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to</a:t>
                      </a:r>
                      <a:r>
                        <a:rPr kumimoji="0" lang="ko-KR" altLang="en-US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control</a:t>
                      </a:r>
                      <a:r>
                        <a:rPr kumimoji="0" lang="ko-KR" altLang="en-US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cook time”</a:t>
                      </a:r>
                    </a:p>
                    <a:p>
                      <a:pPr algn="l" fontAlgn="b"/>
                      <a:r>
                        <a:rPr kumimoji="0" lang="en-US" altLang="ko-KR" sz="800" i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“Improve visibility of control panel”</a:t>
                      </a:r>
                    </a:p>
                  </a:txBody>
                  <a:tcPr marL="7739" marR="7739" marT="773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kumimoji="0" lang="en-US" altLang="ko-KR" sz="1000" u="none" kern="1200" dirty="0">
                        <a:solidFill>
                          <a:prstClr val="black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kumimoji="0" lang="en-US" altLang="ko-KR" sz="1000" u="none" kern="1200" dirty="0">
                        <a:solidFill>
                          <a:prstClr val="black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84898507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2</a:t>
                      </a:r>
                    </a:p>
                  </a:txBody>
                  <a:tcPr marL="7739" marR="7739" marT="773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Quality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800" u="none" kern="1200" dirty="0">
                          <a:solidFill>
                            <a:prstClr val="black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</a:p>
                  </a:txBody>
                  <a:tcPr marL="7739" marR="7739" marT="7739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40082299"/>
                  </a:ext>
                </a:extLst>
              </a:tr>
            </a:tbl>
          </a:graphicData>
        </a:graphic>
      </p:graphicFrame>
      <p:pic>
        <p:nvPicPr>
          <p:cNvPr id="144" name="Picture 4">
            <a:extLst>
              <a:ext uri="{FF2B5EF4-FFF2-40B4-BE49-F238E27FC236}">
                <a16:creationId xmlns="" xmlns:a16="http://schemas.microsoft.com/office/drawing/2014/main" id="{8C5E0038-0DE0-A9A7-15EE-C23E70ED3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036" y="4924858"/>
            <a:ext cx="1035450" cy="103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TextBox 144">
            <a:extLst>
              <a:ext uri="{FF2B5EF4-FFF2-40B4-BE49-F238E27FC236}">
                <a16:creationId xmlns="" xmlns:a16="http://schemas.microsoft.com/office/drawing/2014/main" id="{9CD255FF-CA18-04B3-102F-9194108D891E}"/>
              </a:ext>
            </a:extLst>
          </p:cNvPr>
          <p:cNvSpPr txBox="1"/>
          <p:nvPr/>
        </p:nvSpPr>
        <p:spPr>
          <a:xfrm>
            <a:off x="292011" y="2188049"/>
            <a:ext cx="796587" cy="317266"/>
          </a:xfrm>
          <a:prstGeom prst="rect">
            <a:avLst/>
          </a:prstGeom>
          <a:solidFill>
            <a:schemeClr val="bg1">
              <a:lumMod val="95000"/>
              <a:alpha val="52000"/>
            </a:schemeClr>
          </a:solidFill>
        </p:spPr>
        <p:txBody>
          <a:bodyPr wrap="square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31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오븐 보유자 </a:t>
            </a:r>
            <a:r>
              <a:rPr kumimoji="0" lang="en-US" altLang="ko-KR" sz="731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(TTL) n=4000</a:t>
            </a:r>
            <a:endParaRPr kumimoji="0" lang="ko-KR" altLang="en-US" sz="731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="" xmlns:a16="http://schemas.microsoft.com/office/drawing/2014/main" id="{22D674B5-6743-C87A-6B45-3910C9DFC1CD}"/>
              </a:ext>
            </a:extLst>
          </p:cNvPr>
          <p:cNvSpPr txBox="1"/>
          <p:nvPr/>
        </p:nvSpPr>
        <p:spPr>
          <a:xfrm>
            <a:off x="4364509" y="5973543"/>
            <a:ext cx="2017763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Source: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2020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닐슨 빌트인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STP 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조사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n=4000</a:t>
            </a:r>
            <a:endParaRPr kumimoji="0" lang="ko-KR" altLang="en-US" sz="650" b="0" dirty="0">
              <a:solidFill>
                <a:prstClr val="black">
                  <a:lumMod val="50000"/>
                  <a:lumOff val="50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="" xmlns:a16="http://schemas.microsoft.com/office/drawing/2014/main" id="{AA7BC5FA-A117-49B3-119D-A37CAD108EB9}"/>
              </a:ext>
            </a:extLst>
          </p:cNvPr>
          <p:cNvSpPr txBox="1"/>
          <p:nvPr/>
        </p:nvSpPr>
        <p:spPr>
          <a:xfrm>
            <a:off x="1764219" y="4767573"/>
            <a:ext cx="238526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[Installation </a:t>
            </a:r>
            <a:r>
              <a:rPr kumimoji="0" lang="ko-KR" altLang="en-US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관련 </a:t>
            </a: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VOC </a:t>
            </a:r>
            <a:r>
              <a:rPr kumimoji="0" lang="ko-KR" altLang="en-US" sz="894" u="sng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언급량</a:t>
            </a: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r>
              <a:rPr kumimoji="0" lang="en-US" altLang="ko-KR" sz="894" u="sng" baseline="30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**</a:t>
            </a:r>
            <a:r>
              <a:rPr kumimoji="0" lang="en-US" altLang="ko-KR" sz="894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894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48" name="차트 147">
            <a:extLst>
              <a:ext uri="{FF2B5EF4-FFF2-40B4-BE49-F238E27FC236}">
                <a16:creationId xmlns="" xmlns:a16="http://schemas.microsoft.com/office/drawing/2014/main" id="{15EB5215-C8B3-5CFE-0E3A-82701E22991B}"/>
              </a:ext>
            </a:extLst>
          </p:cNvPr>
          <p:cNvGraphicFramePr/>
          <p:nvPr/>
        </p:nvGraphicFramePr>
        <p:xfrm>
          <a:off x="1712043" y="5027261"/>
          <a:ext cx="2498629" cy="1084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49" name="표 148">
            <a:extLst>
              <a:ext uri="{FF2B5EF4-FFF2-40B4-BE49-F238E27FC236}">
                <a16:creationId xmlns="" xmlns:a16="http://schemas.microsoft.com/office/drawing/2014/main" id="{77708841-9119-75AE-3978-37529BF8498F}"/>
              </a:ext>
            </a:extLst>
          </p:cNvPr>
          <p:cNvGraphicFramePr>
            <a:graphicFrameLocks noGrp="1"/>
          </p:cNvGraphicFramePr>
          <p:nvPr/>
        </p:nvGraphicFramePr>
        <p:xfrm>
          <a:off x="1796001" y="6029939"/>
          <a:ext cx="2330400" cy="136277"/>
        </p:xfrm>
        <a:graphic>
          <a:graphicData uri="http://schemas.openxmlformats.org/drawingml/2006/table">
            <a:tbl>
              <a:tblPr/>
              <a:tblGrid>
                <a:gridCol w="233040">
                  <a:extLst>
                    <a:ext uri="{9D8B030D-6E8A-4147-A177-3AD203B41FA5}">
                      <a16:colId xmlns="" xmlns:a16="http://schemas.microsoft.com/office/drawing/2014/main" val="1123518121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3007964086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4145868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493673204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766020870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090220645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906929060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959327629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1828625125"/>
                    </a:ext>
                  </a:extLst>
                </a:gridCol>
              </a:tblGrid>
              <a:tr h="136277"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‘15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‘16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‘17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‘18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‘19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‘20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‘21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‘22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‘23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‘24~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0" name="TextBox 149">
            <a:extLst>
              <a:ext uri="{FF2B5EF4-FFF2-40B4-BE49-F238E27FC236}">
                <a16:creationId xmlns="" xmlns:a16="http://schemas.microsoft.com/office/drawing/2014/main" id="{A7C87EDE-4439-EDC3-087A-5E67D4200D5F}"/>
              </a:ext>
            </a:extLst>
          </p:cNvPr>
          <p:cNvSpPr txBox="1"/>
          <p:nvPr/>
        </p:nvSpPr>
        <p:spPr>
          <a:xfrm>
            <a:off x="1488586" y="4984434"/>
            <a:ext cx="839875" cy="31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단독설치 </a:t>
            </a:r>
            <a:endParaRPr kumimoji="0" lang="en-US" altLang="ko-KR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언급 비중</a:t>
            </a:r>
            <a:endParaRPr kumimoji="0" lang="en-US" altLang="ko-KR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51" name="표 150">
            <a:extLst>
              <a:ext uri="{FF2B5EF4-FFF2-40B4-BE49-F238E27FC236}">
                <a16:creationId xmlns="" xmlns:a16="http://schemas.microsoft.com/office/drawing/2014/main" id="{5249244B-FA5A-8E6D-4A89-3804B8B97A54}"/>
              </a:ext>
            </a:extLst>
          </p:cNvPr>
          <p:cNvGraphicFramePr>
            <a:graphicFrameLocks noGrp="1"/>
          </p:cNvGraphicFramePr>
          <p:nvPr/>
        </p:nvGraphicFramePr>
        <p:xfrm>
          <a:off x="1796001" y="5244384"/>
          <a:ext cx="2330400" cy="136277"/>
        </p:xfrm>
        <a:graphic>
          <a:graphicData uri="http://schemas.openxmlformats.org/drawingml/2006/table">
            <a:tbl>
              <a:tblPr/>
              <a:tblGrid>
                <a:gridCol w="233040">
                  <a:extLst>
                    <a:ext uri="{9D8B030D-6E8A-4147-A177-3AD203B41FA5}">
                      <a16:colId xmlns="" xmlns:a16="http://schemas.microsoft.com/office/drawing/2014/main" val="1123518121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3007964086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4145868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493673204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766020870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090220645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906929060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2959327629"/>
                    </a:ext>
                  </a:extLst>
                </a:gridCol>
                <a:gridCol w="233040">
                  <a:extLst>
                    <a:ext uri="{9D8B030D-6E8A-4147-A177-3AD203B41FA5}">
                      <a16:colId xmlns="" xmlns:a16="http://schemas.microsoft.com/office/drawing/2014/main" val="1828625125"/>
                    </a:ext>
                  </a:extLst>
                </a:gridCol>
              </a:tblGrid>
              <a:tr h="136277"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23%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53%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57%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76%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1" lang="en-US" sz="700" kern="120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73%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2" name="직사각형 151">
            <a:extLst>
              <a:ext uri="{FF2B5EF4-FFF2-40B4-BE49-F238E27FC236}">
                <a16:creationId xmlns="" xmlns:a16="http://schemas.microsoft.com/office/drawing/2014/main" id="{73EA54DA-340B-AA0A-F98B-439580B8084E}"/>
              </a:ext>
            </a:extLst>
          </p:cNvPr>
          <p:cNvSpPr/>
          <p:nvPr/>
        </p:nvSpPr>
        <p:spPr>
          <a:xfrm>
            <a:off x="3723555" y="5100332"/>
            <a:ext cx="63375" cy="682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28" rtlCol="0" anchor="ctr"/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 외 언급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="" xmlns:a16="http://schemas.microsoft.com/office/drawing/2014/main" id="{90A7E1C2-FABA-7ED4-32DB-56FFC15C508A}"/>
              </a:ext>
            </a:extLst>
          </p:cNvPr>
          <p:cNvSpPr/>
          <p:nvPr/>
        </p:nvSpPr>
        <p:spPr>
          <a:xfrm>
            <a:off x="3723555" y="4997811"/>
            <a:ext cx="63375" cy="68287"/>
          </a:xfrm>
          <a:prstGeom prst="rect">
            <a:avLst/>
          </a:prstGeom>
          <a:solidFill>
            <a:srgbClr val="95B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28" rtlCol="0" anchor="ctr"/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단독설치 관련 언급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="" xmlns:a16="http://schemas.microsoft.com/office/drawing/2014/main" id="{52AD393D-08BE-9AF8-4905-4ADB1D7BD427}"/>
              </a:ext>
            </a:extLst>
          </p:cNvPr>
          <p:cNvSpPr txBox="1"/>
          <p:nvPr/>
        </p:nvSpPr>
        <p:spPr bwMode="auto">
          <a:xfrm>
            <a:off x="2030207" y="4937366"/>
            <a:ext cx="1818662" cy="317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742950" fontAlgn="b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31" b="0" i="1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“</a:t>
            </a:r>
            <a:r>
              <a:rPr kumimoji="0" lang="ko-KR" altLang="en-US" sz="731" b="0" i="1" dirty="0" err="1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남는아래의</a:t>
            </a:r>
            <a:r>
              <a:rPr kumimoji="0" lang="en-US" altLang="ko-KR" sz="731" b="0" i="1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 15cm</a:t>
            </a:r>
            <a:r>
              <a:rPr kumimoji="0" lang="ko-KR" altLang="en-US" sz="731" b="0" i="1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를 수납공간으로 사용</a:t>
            </a:r>
            <a:r>
              <a:rPr kumimoji="0" lang="en-US" altLang="ko-KR" sz="731" b="0" i="1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”</a:t>
            </a:r>
          </a:p>
          <a:p>
            <a:pPr algn="ctr" defTabSz="742950" fontAlgn="b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31" b="0" i="1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“1</a:t>
            </a:r>
            <a:r>
              <a:rPr kumimoji="0" lang="ko-KR" altLang="en-US" sz="731" b="0" i="1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인 가구에겐 </a:t>
            </a:r>
            <a:r>
              <a:rPr kumimoji="0" lang="ko-KR" altLang="en-US" sz="731" b="0" i="1" dirty="0" err="1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컴팩트오븐만</a:t>
            </a:r>
            <a:r>
              <a:rPr kumimoji="0" lang="ko-KR" altLang="en-US" sz="731" b="0" i="1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 있어도</a:t>
            </a:r>
            <a:r>
              <a:rPr kumimoji="0" lang="en-US" altLang="ko-KR" sz="731" b="0" i="1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  <a:cs typeface="+mn-cs"/>
              </a:rPr>
              <a:t>ok”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="" xmlns:a16="http://schemas.microsoft.com/office/drawing/2014/main" id="{71EBAAA5-41EA-CA8E-9A2A-9A237BF502BF}"/>
              </a:ext>
            </a:extLst>
          </p:cNvPr>
          <p:cNvSpPr txBox="1"/>
          <p:nvPr/>
        </p:nvSpPr>
        <p:spPr>
          <a:xfrm>
            <a:off x="1512032" y="4951483"/>
            <a:ext cx="264075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63" b="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</a:t>
            </a:r>
            <a:endParaRPr kumimoji="0" lang="ko-KR" altLang="en-US" sz="1463" b="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="" xmlns:a16="http://schemas.microsoft.com/office/drawing/2014/main" id="{3DCC51A8-4C7A-08CC-C49A-CF70DDFD57E0}"/>
              </a:ext>
            </a:extLst>
          </p:cNvPr>
          <p:cNvSpPr/>
          <p:nvPr/>
        </p:nvSpPr>
        <p:spPr>
          <a:xfrm>
            <a:off x="7300026" y="4758605"/>
            <a:ext cx="810880" cy="171538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/>
                <a:ea typeface="LG스마트체 Regular"/>
                <a:cs typeface="+mn-cs"/>
              </a:rPr>
              <a:t>긍정</a:t>
            </a:r>
            <a:r>
              <a:rPr kumimoji="0" lang="en-US" altLang="ko-KR" sz="731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731" b="0" dirty="0" err="1">
                <a:solidFill>
                  <a:prstClr val="black">
                    <a:lumMod val="50000"/>
                    <a:lumOff val="50000"/>
                  </a:prstClr>
                </a:solidFill>
                <a:latin typeface="Arial Narrow"/>
                <a:ea typeface="LG스마트체 Regular"/>
                <a:cs typeface="+mn-cs"/>
              </a:rPr>
              <a:t>VOC_wordcloud</a:t>
            </a:r>
            <a:endParaRPr kumimoji="0" lang="ko-KR" altLang="en-US" sz="731" b="0" dirty="0">
              <a:solidFill>
                <a:prstClr val="black">
                  <a:lumMod val="50000"/>
                  <a:lumOff val="50000"/>
                </a:prstClr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="" xmlns:a16="http://schemas.microsoft.com/office/drawing/2014/main" id="{A5ABE825-3CB8-9757-CD69-1725E2A6D81F}"/>
              </a:ext>
            </a:extLst>
          </p:cNvPr>
          <p:cNvSpPr/>
          <p:nvPr/>
        </p:nvSpPr>
        <p:spPr>
          <a:xfrm>
            <a:off x="8540234" y="4758605"/>
            <a:ext cx="810880" cy="171538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/>
                <a:ea typeface="LG스마트체 Regular"/>
                <a:cs typeface="+mn-cs"/>
              </a:rPr>
              <a:t>부정</a:t>
            </a:r>
            <a:r>
              <a:rPr kumimoji="0" lang="en-US" altLang="ko-KR" sz="731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731" b="0" dirty="0" err="1">
                <a:solidFill>
                  <a:prstClr val="black">
                    <a:lumMod val="50000"/>
                    <a:lumOff val="50000"/>
                  </a:prstClr>
                </a:solidFill>
                <a:latin typeface="Arial Narrow"/>
                <a:ea typeface="LG스마트체 Regular"/>
                <a:cs typeface="+mn-cs"/>
              </a:rPr>
              <a:t>VOC_wordcloud</a:t>
            </a:r>
            <a:endParaRPr kumimoji="0" lang="ko-KR" altLang="en-US" sz="731" b="0" dirty="0">
              <a:solidFill>
                <a:prstClr val="black">
                  <a:lumMod val="50000"/>
                  <a:lumOff val="50000"/>
                </a:prstClr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1D36A35C-1E4B-4529-C99F-CD9B20BC0539}"/>
              </a:ext>
            </a:extLst>
          </p:cNvPr>
          <p:cNvSpPr txBox="1"/>
          <p:nvPr/>
        </p:nvSpPr>
        <p:spPr>
          <a:xfrm>
            <a:off x="1588572" y="4728948"/>
            <a:ext cx="1812584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Source:</a:t>
            </a:r>
            <a:r>
              <a:rPr kumimoji="0" lang="ko-KR" altLang="en-US" sz="650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키친포럼</a:t>
            </a:r>
          </a:p>
        </p:txBody>
      </p:sp>
      <p:sp>
        <p:nvSpPr>
          <p:cNvPr id="159" name="TextBox 3">
            <a:extLst>
              <a:ext uri="{FF2B5EF4-FFF2-40B4-BE49-F238E27FC236}">
                <a16:creationId xmlns="" xmlns:a16="http://schemas.microsoft.com/office/drawing/2014/main" id="{F61C5CB9-CE55-3B9C-A52A-1BD7CF472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7" y="140100"/>
            <a:ext cx="2756611" cy="5750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C-D-P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정의서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(Pitch Deck)</a:t>
            </a:r>
          </a:p>
          <a:p>
            <a:pPr lvl="0">
              <a:defRPr/>
            </a:pP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146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1">
            <a:extLst>
              <a:ext uri="{FF2B5EF4-FFF2-40B4-BE49-F238E27FC236}">
                <a16:creationId xmlns="" xmlns:a16="http://schemas.microsoft.com/office/drawing/2014/main" id="{6128DA6F-A891-0750-65E6-B7458C263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6121" y="805172"/>
            <a:ext cx="3357522" cy="22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defTabSz="742950" eaLnBrk="1" hangingPunct="1">
              <a:buNone/>
              <a:defRPr/>
            </a:pPr>
            <a:r>
              <a:rPr kumimoji="0" lang="en-US" altLang="ko-KR" sz="1463" dirty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1) Who’s Our Customer_</a:t>
            </a:r>
            <a:r>
              <a:rPr kumimoji="0" lang="ko-KR" altLang="en-US" sz="1463" dirty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고객 </a:t>
            </a:r>
            <a:r>
              <a:rPr kumimoji="0" lang="ko-KR" altLang="en-US" sz="1463" dirty="0" err="1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특성별</a:t>
            </a:r>
            <a:r>
              <a:rPr kumimoji="0" lang="ko-KR" altLang="en-US" sz="1463" dirty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463" dirty="0" err="1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니즈도출</a:t>
            </a:r>
            <a:endParaRPr kumimoji="0" lang="en-US" altLang="ko-KR" sz="1463" dirty="0">
              <a:solidFill>
                <a:srgbClr val="000000"/>
              </a:solidFill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6" name="Text Box 41">
            <a:extLst>
              <a:ext uri="{FF2B5EF4-FFF2-40B4-BE49-F238E27FC236}">
                <a16:creationId xmlns="" xmlns:a16="http://schemas.microsoft.com/office/drawing/2014/main" id="{71C25A7B-F627-0375-BF43-97432E702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76" y="805172"/>
            <a:ext cx="785471" cy="22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 eaLnBrk="1" hangingPunct="1">
              <a:buNone/>
              <a:defRPr/>
            </a:pPr>
            <a:r>
              <a:rPr kumimoji="0" lang="en-US" altLang="ko-KR" sz="1463" dirty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Pitch Deck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C56AEC8-9DB7-8583-1F32-EE7B24E4377C}"/>
              </a:ext>
            </a:extLst>
          </p:cNvPr>
          <p:cNvSpPr txBox="1"/>
          <p:nvPr/>
        </p:nvSpPr>
        <p:spPr>
          <a:xfrm>
            <a:off x="1165157" y="1517200"/>
            <a:ext cx="875241" cy="17511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342651" marR="0" lvl="0" indent="-342651" algn="ctr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278404" indent="-278404" defTabSz="742413">
              <a:defRPr/>
            </a:pPr>
            <a:r>
              <a:rPr kumimoji="0" lang="ko-KR" altLang="en-US" sz="1138" u="sng" dirty="0"/>
              <a:t>패키지 설치자</a:t>
            </a:r>
            <a:r>
              <a:rPr kumimoji="0" lang="en-US" altLang="ko-KR" sz="1138" u="sng" baseline="30000" dirty="0"/>
              <a:t>1)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789BDE58-8F81-94C9-D688-2683447988CB}"/>
              </a:ext>
            </a:extLst>
          </p:cNvPr>
          <p:cNvGrpSpPr/>
          <p:nvPr/>
        </p:nvGrpSpPr>
        <p:grpSpPr>
          <a:xfrm>
            <a:off x="143450" y="1754457"/>
            <a:ext cx="3017022" cy="3915482"/>
            <a:chOff x="253486" y="1368023"/>
            <a:chExt cx="2857378" cy="5104292"/>
          </a:xfrm>
        </p:grpSpPr>
        <p:sp>
          <p:nvSpPr>
            <p:cNvPr id="61" name="직사각형 60">
              <a:extLst>
                <a:ext uri="{FF2B5EF4-FFF2-40B4-BE49-F238E27FC236}">
                  <a16:creationId xmlns="" xmlns:a16="http://schemas.microsoft.com/office/drawing/2014/main" id="{0BEC3E06-E420-E23B-C9EF-49179A47D75A}"/>
                </a:ext>
              </a:extLst>
            </p:cNvPr>
            <p:cNvSpPr/>
            <p:nvPr/>
          </p:nvSpPr>
          <p:spPr>
            <a:xfrm>
              <a:off x="253487" y="1368023"/>
              <a:ext cx="2857377" cy="4572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413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75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더 조용하고</a:t>
              </a:r>
              <a:r>
                <a:rPr kumimoji="0" lang="en-US" altLang="ko-KR" sz="975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, </a:t>
              </a:r>
              <a:r>
                <a:rPr kumimoji="0" lang="ko-KR" altLang="en-US" sz="975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빠른 조리가 좋지만 </a:t>
              </a:r>
              <a:endParaRPr kumimoji="0" lang="en-US" altLang="ko-KR" sz="975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  <a:p>
              <a:pPr algn="ctr" defTabSz="742413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75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청소가 불편하여 자주 사용하지 않음</a:t>
              </a:r>
              <a:endParaRPr kumimoji="0" lang="en-US" altLang="ko-KR" sz="975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="" xmlns:a16="http://schemas.microsoft.com/office/drawing/2014/main" id="{8542AF98-5D9D-5A42-6721-97129C16776A}"/>
                </a:ext>
              </a:extLst>
            </p:cNvPr>
            <p:cNvSpPr/>
            <p:nvPr/>
          </p:nvSpPr>
          <p:spPr>
            <a:xfrm>
              <a:off x="253486" y="1951115"/>
              <a:ext cx="2857378" cy="45212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63" b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="" xmlns:a16="http://schemas.microsoft.com/office/drawing/2014/main" id="{5A8FFCD0-484A-64C4-FF00-51E738910CD8}"/>
              </a:ext>
            </a:extLst>
          </p:cNvPr>
          <p:cNvSpPr txBox="1"/>
          <p:nvPr/>
        </p:nvSpPr>
        <p:spPr>
          <a:xfrm>
            <a:off x="4513338" y="1526264"/>
            <a:ext cx="674865" cy="17511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342651" marR="0" lvl="0" indent="-342651" algn="ctr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278404" indent="-278404" defTabSz="742413">
              <a:defRPr/>
            </a:pPr>
            <a:r>
              <a:rPr kumimoji="0" lang="ko-KR" altLang="en-US" sz="1138" u="sng" dirty="0"/>
              <a:t>단독 설치자</a:t>
            </a:r>
            <a:endParaRPr kumimoji="0" lang="en-US" altLang="ko-KR" sz="1138" u="sng" dirty="0"/>
          </a:p>
        </p:txBody>
      </p:sp>
      <p:grpSp>
        <p:nvGrpSpPr>
          <p:cNvPr id="101" name="그룹 100">
            <a:extLst>
              <a:ext uri="{FF2B5EF4-FFF2-40B4-BE49-F238E27FC236}">
                <a16:creationId xmlns="" xmlns:a16="http://schemas.microsoft.com/office/drawing/2014/main" id="{BA59C001-C86F-C58D-8F28-0B95AB24DD22}"/>
              </a:ext>
            </a:extLst>
          </p:cNvPr>
          <p:cNvGrpSpPr/>
          <p:nvPr/>
        </p:nvGrpSpPr>
        <p:grpSpPr>
          <a:xfrm>
            <a:off x="3194908" y="1754457"/>
            <a:ext cx="3244350" cy="3915482"/>
            <a:chOff x="4111722" y="1368023"/>
            <a:chExt cx="4345321" cy="5104292"/>
          </a:xfrm>
        </p:grpSpPr>
        <p:sp>
          <p:nvSpPr>
            <p:cNvPr id="102" name="직사각형 101">
              <a:extLst>
                <a:ext uri="{FF2B5EF4-FFF2-40B4-BE49-F238E27FC236}">
                  <a16:creationId xmlns="" xmlns:a16="http://schemas.microsoft.com/office/drawing/2014/main" id="{C9614E55-C496-7C44-F95B-489BFD52AAA1}"/>
                </a:ext>
              </a:extLst>
            </p:cNvPr>
            <p:cNvSpPr/>
            <p:nvPr/>
          </p:nvSpPr>
          <p:spPr>
            <a:xfrm>
              <a:off x="4111722" y="1368023"/>
              <a:ext cx="4345321" cy="4572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413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75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“</a:t>
              </a:r>
              <a:r>
                <a:rPr kumimoji="0" lang="ko-KR" altLang="en-US" sz="975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다양한 기능이 하나의 제품에 들어 있어 좋아요</a:t>
              </a:r>
              <a:r>
                <a:rPr kumimoji="0" lang="en-US" altLang="ko-KR" sz="975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”</a:t>
              </a: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="" xmlns:a16="http://schemas.microsoft.com/office/drawing/2014/main" id="{C6835FB1-5785-C8D9-5EF3-866C95DD618E}"/>
                </a:ext>
              </a:extLst>
            </p:cNvPr>
            <p:cNvSpPr/>
            <p:nvPr/>
          </p:nvSpPr>
          <p:spPr>
            <a:xfrm>
              <a:off x="4111722" y="1951115"/>
              <a:ext cx="4345321" cy="45212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63" b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="" xmlns:a16="http://schemas.microsoft.com/office/drawing/2014/main" id="{2F0A1485-DA28-FB25-0179-D55111E2B4F1}"/>
              </a:ext>
            </a:extLst>
          </p:cNvPr>
          <p:cNvGrpSpPr/>
          <p:nvPr/>
        </p:nvGrpSpPr>
        <p:grpSpPr>
          <a:xfrm>
            <a:off x="6661086" y="3415180"/>
            <a:ext cx="2973597" cy="1082500"/>
            <a:chOff x="228600" y="2410805"/>
            <a:chExt cx="8686800" cy="726321"/>
          </a:xfrm>
        </p:grpSpPr>
        <p:cxnSp>
          <p:nvCxnSpPr>
            <p:cNvPr id="105" name="직선 연결선 104">
              <a:extLst>
                <a:ext uri="{FF2B5EF4-FFF2-40B4-BE49-F238E27FC236}">
                  <a16:creationId xmlns="" xmlns:a16="http://schemas.microsoft.com/office/drawing/2014/main" id="{F404AA5F-F004-A773-135A-4EA3B2E4F31A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2410805"/>
              <a:ext cx="868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="" xmlns:a16="http://schemas.microsoft.com/office/drawing/2014/main" id="{DC2B8F64-4555-1155-55C0-0D2983E9F646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3137126"/>
              <a:ext cx="868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7" name="표 106">
            <a:extLst>
              <a:ext uri="{FF2B5EF4-FFF2-40B4-BE49-F238E27FC236}">
                <a16:creationId xmlns="" xmlns:a16="http://schemas.microsoft.com/office/drawing/2014/main" id="{3D25D4E0-90FB-4BD2-4459-CA81789B9199}"/>
              </a:ext>
            </a:extLst>
          </p:cNvPr>
          <p:cNvGraphicFramePr>
            <a:graphicFrameLocks noGrp="1"/>
          </p:cNvGraphicFramePr>
          <p:nvPr/>
        </p:nvGraphicFramePr>
        <p:xfrm>
          <a:off x="430596" y="2556017"/>
          <a:ext cx="830356" cy="1362770"/>
        </p:xfrm>
        <a:graphic>
          <a:graphicData uri="http://schemas.openxmlformats.org/drawingml/2006/table">
            <a:tbl>
              <a:tblPr/>
              <a:tblGrid>
                <a:gridCol w="8303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effectLst/>
                          <a:latin typeface="Arial Narrow" panose="020B0606020202030204" pitchFamily="34" charset="0"/>
                        </a:rPr>
                        <a:t>Easy access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Easy to clean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72812270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effectLst/>
                          <a:latin typeface="Arial Narrow" panose="020B0606020202030204" pitchFamily="34" charset="0"/>
                        </a:rPr>
                        <a:t>Energy efficiency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81533975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Cooking performance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08340326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>
                          <a:effectLst/>
                          <a:latin typeface="Arial Narrow" panose="020B0606020202030204" pitchFamily="34" charset="0"/>
                        </a:rPr>
                        <a:t>Durability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04974619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Cooking time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62283938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effectLst/>
                          <a:latin typeface="Arial Narrow" panose="020B0606020202030204" pitchFamily="34" charset="0"/>
                        </a:rPr>
                        <a:t>Interior capacity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94265039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Less noise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96307005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effectLst/>
                          <a:latin typeface="Arial Narrow" panose="020B0606020202030204" pitchFamily="34" charset="0"/>
                        </a:rPr>
                        <a:t>Service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21326824"/>
                  </a:ext>
                </a:extLst>
              </a:tr>
              <a:tr h="136277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Preheat time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92711007"/>
                  </a:ext>
                </a:extLst>
              </a:tr>
            </a:tbl>
          </a:graphicData>
        </a:graphic>
      </p:graphicFrame>
      <p:graphicFrame>
        <p:nvGraphicFramePr>
          <p:cNvPr id="108" name="Table 4">
            <a:extLst>
              <a:ext uri="{FF2B5EF4-FFF2-40B4-BE49-F238E27FC236}">
                <a16:creationId xmlns="" xmlns:a16="http://schemas.microsoft.com/office/drawing/2014/main" id="{F52ADF80-AFD6-C141-1E75-58A05E0B199C}"/>
              </a:ext>
            </a:extLst>
          </p:cNvPr>
          <p:cNvGraphicFramePr>
            <a:graphicFrameLocks noGrp="1"/>
          </p:cNvGraphicFramePr>
          <p:nvPr/>
        </p:nvGraphicFramePr>
        <p:xfrm>
          <a:off x="2682254" y="2543069"/>
          <a:ext cx="224456" cy="13563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456">
                  <a:extLst>
                    <a:ext uri="{9D8B030D-6E8A-4147-A177-3AD203B41FA5}">
                      <a16:colId xmlns="" xmlns:a16="http://schemas.microsoft.com/office/drawing/2014/main" val="3813409967"/>
                    </a:ext>
                  </a:extLst>
                </a:gridCol>
              </a:tblGrid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69796025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53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91037139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40082299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65116140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23133254"/>
                  </a:ext>
                </a:extLst>
              </a:tr>
              <a:tr h="13626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71265315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23352457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9485110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2279858"/>
                  </a:ext>
                </a:extLst>
              </a:tr>
              <a:tr h="135561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7739" marR="7739" marT="773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41536667"/>
                  </a:ext>
                </a:extLst>
              </a:tr>
            </a:tbl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="" xmlns:a16="http://schemas.microsoft.com/office/drawing/2014/main" id="{F66D4F79-1881-7935-30EB-0C6F0D34E65E}"/>
              </a:ext>
            </a:extLst>
          </p:cNvPr>
          <p:cNvSpPr txBox="1"/>
          <p:nvPr/>
        </p:nvSpPr>
        <p:spPr>
          <a:xfrm>
            <a:off x="6889199" y="1986198"/>
            <a:ext cx="2853345" cy="162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342651" marR="0" lvl="0" indent="-342651" algn="ctr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278390" indent="-278390" algn="l" defTabSz="742376">
              <a:defRPr/>
            </a:pPr>
            <a:r>
              <a:rPr kumimoji="0" lang="en-US" altLang="ko-KR" sz="1056" u="sng" dirty="0">
                <a:solidFill>
                  <a:srgbClr val="000000"/>
                </a:solidFill>
              </a:rPr>
              <a:t>Inverter</a:t>
            </a:r>
            <a:r>
              <a:rPr kumimoji="0" lang="ko-KR" altLang="en-US" sz="1056" u="sng" dirty="0">
                <a:solidFill>
                  <a:srgbClr val="000000"/>
                </a:solidFill>
              </a:rPr>
              <a:t> </a:t>
            </a:r>
            <a:r>
              <a:rPr kumimoji="0" lang="en-US" altLang="ko-KR" sz="1056" u="sng" dirty="0" err="1">
                <a:solidFill>
                  <a:srgbClr val="000000"/>
                </a:solidFill>
              </a:rPr>
              <a:t>ProBake</a:t>
            </a:r>
            <a:r>
              <a:rPr kumimoji="0" lang="en-US" altLang="ko-KR" sz="1056" u="sng" dirty="0">
                <a:solidFill>
                  <a:srgbClr val="000000"/>
                </a:solidFill>
              </a:rPr>
              <a:t> </a:t>
            </a:r>
            <a:r>
              <a:rPr kumimoji="0" lang="ko-KR" altLang="en-US" sz="1056" u="sng" dirty="0">
                <a:solidFill>
                  <a:srgbClr val="000000"/>
                </a:solidFill>
              </a:rPr>
              <a:t>기반 쾌속조리</a:t>
            </a:r>
            <a:r>
              <a:rPr kumimoji="0" lang="en-US" altLang="ko-KR" sz="1056" u="sng" dirty="0">
                <a:solidFill>
                  <a:srgbClr val="000000"/>
                </a:solidFill>
              </a:rPr>
              <a:t>, </a:t>
            </a:r>
            <a:r>
              <a:rPr kumimoji="0" lang="en-US" altLang="ko-KR" sz="1056" u="sng" dirty="0" err="1">
                <a:solidFill>
                  <a:srgbClr val="000000"/>
                </a:solidFill>
              </a:rPr>
              <a:t>저소음</a:t>
            </a:r>
            <a:r>
              <a:rPr kumimoji="0" lang="en-US" altLang="ko-KR" sz="1056" u="sng" dirty="0">
                <a:solidFill>
                  <a:srgbClr val="000000"/>
                </a:solidFill>
              </a:rPr>
              <a:t>, </a:t>
            </a:r>
            <a:r>
              <a:rPr kumimoji="0" lang="en-US" altLang="ko-KR" sz="1056" u="sng" dirty="0" err="1">
                <a:solidFill>
                  <a:srgbClr val="000000"/>
                </a:solidFill>
              </a:rPr>
              <a:t>에너지세이빙</a:t>
            </a:r>
            <a:endParaRPr kumimoji="0" lang="en-US" altLang="ko-KR" sz="1056" u="sng" dirty="0">
              <a:solidFill>
                <a:srgbClr val="0000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="" xmlns:a16="http://schemas.microsoft.com/office/drawing/2014/main" id="{1011F869-0282-576F-56C2-B60106E8177A}"/>
              </a:ext>
            </a:extLst>
          </p:cNvPr>
          <p:cNvSpPr txBox="1"/>
          <p:nvPr/>
        </p:nvSpPr>
        <p:spPr>
          <a:xfrm>
            <a:off x="6889199" y="3659466"/>
            <a:ext cx="2571217" cy="162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342651" marR="0" lvl="0" indent="-342651" algn="ctr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278390" indent="-278390" algn="l" defTabSz="742376">
              <a:defRPr/>
            </a:pPr>
            <a:r>
              <a:rPr kumimoji="0" lang="ko-KR" altLang="en-US" sz="1056" u="sng" dirty="0" err="1">
                <a:solidFill>
                  <a:srgbClr val="000000"/>
                </a:solidFill>
              </a:rPr>
              <a:t>에어프라이어</a:t>
            </a:r>
            <a:r>
              <a:rPr kumimoji="0" lang="en-US" altLang="ko-KR" sz="1056" u="sng" dirty="0">
                <a:solidFill>
                  <a:srgbClr val="000000"/>
                </a:solidFill>
              </a:rPr>
              <a:t>/</a:t>
            </a:r>
            <a:r>
              <a:rPr kumimoji="0" lang="ko-KR" altLang="en-US" sz="1056" u="sng" dirty="0">
                <a:solidFill>
                  <a:srgbClr val="000000"/>
                </a:solidFill>
              </a:rPr>
              <a:t>토스터</a:t>
            </a:r>
            <a:r>
              <a:rPr kumimoji="0" lang="en-US" altLang="ko-KR" sz="1056" u="sng" dirty="0">
                <a:solidFill>
                  <a:srgbClr val="000000"/>
                </a:solidFill>
              </a:rPr>
              <a:t>/MWO/</a:t>
            </a:r>
            <a:r>
              <a:rPr kumimoji="0" lang="ko-KR" altLang="en-US" sz="1056" u="sng" dirty="0">
                <a:solidFill>
                  <a:srgbClr val="000000"/>
                </a:solidFill>
              </a:rPr>
              <a:t>스팀을</a:t>
            </a:r>
            <a:r>
              <a:rPr kumimoji="0" lang="en-US" altLang="ko-KR" sz="1056" u="sng" dirty="0">
                <a:solidFill>
                  <a:srgbClr val="000000"/>
                </a:solidFill>
              </a:rPr>
              <a:t> </a:t>
            </a:r>
            <a:r>
              <a:rPr kumimoji="0" lang="en-US" altLang="ko-KR" sz="1056" u="sng" dirty="0" err="1">
                <a:solidFill>
                  <a:srgbClr val="000000"/>
                </a:solidFill>
              </a:rPr>
              <a:t>하나의</a:t>
            </a:r>
            <a:r>
              <a:rPr kumimoji="0" lang="en-US" altLang="ko-KR" sz="1056" u="sng" dirty="0">
                <a:solidFill>
                  <a:srgbClr val="000000"/>
                </a:solidFill>
              </a:rPr>
              <a:t> </a:t>
            </a:r>
            <a:r>
              <a:rPr kumimoji="0" lang="en-US" altLang="ko-KR" sz="1056" u="sng" dirty="0" err="1">
                <a:solidFill>
                  <a:srgbClr val="000000"/>
                </a:solidFill>
              </a:rPr>
              <a:t>기기로</a:t>
            </a:r>
            <a:endParaRPr kumimoji="0" lang="en-US" altLang="ko-KR" sz="1056" u="sng" dirty="0">
              <a:solidFill>
                <a:srgbClr val="000000"/>
              </a:solidFill>
            </a:endParaRPr>
          </a:p>
        </p:txBody>
      </p:sp>
      <p:sp>
        <p:nvSpPr>
          <p:cNvPr id="111" name="직사각형 75">
            <a:extLst>
              <a:ext uri="{FF2B5EF4-FFF2-40B4-BE49-F238E27FC236}">
                <a16:creationId xmlns="" xmlns:a16="http://schemas.microsoft.com/office/drawing/2014/main" id="{8B7F225C-CAF8-18EC-40B6-91EF672A9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261" y="5166807"/>
            <a:ext cx="1061188" cy="154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742950" latinLnBrk="0">
              <a:lnSpc>
                <a:spcPct val="110000"/>
              </a:lnSpc>
              <a:spcBef>
                <a:spcPts val="488"/>
              </a:spcBef>
              <a:tabLst>
                <a:tab pos="294084" algn="l"/>
                <a:tab pos="1000919" algn="l"/>
              </a:tabLst>
              <a:defRPr/>
            </a:pP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- </a:t>
            </a:r>
            <a:r>
              <a:rPr kumimoji="0" lang="en-US" altLang="ko-KR" sz="975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EasyClean</a:t>
            </a:r>
            <a:r>
              <a:rPr kumimoji="0" lang="ko-KR" altLang="en-US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 법랑 적용</a:t>
            </a:r>
            <a:endParaRPr kumimoji="0" lang="ko-KR" altLang="en-US" sz="975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16" name="그룹 115">
            <a:extLst>
              <a:ext uri="{FF2B5EF4-FFF2-40B4-BE49-F238E27FC236}">
                <a16:creationId xmlns="" xmlns:a16="http://schemas.microsoft.com/office/drawing/2014/main" id="{BAF8A7FF-0068-1AAB-B077-C6702E7A6401}"/>
              </a:ext>
            </a:extLst>
          </p:cNvPr>
          <p:cNvGrpSpPr/>
          <p:nvPr/>
        </p:nvGrpSpPr>
        <p:grpSpPr>
          <a:xfrm>
            <a:off x="6594715" y="1192971"/>
            <a:ext cx="3230236" cy="187272"/>
            <a:chOff x="8472264" y="676739"/>
            <a:chExt cx="3321403" cy="220133"/>
          </a:xfrm>
        </p:grpSpPr>
        <p:sp>
          <p:nvSpPr>
            <p:cNvPr id="117" name="직사각형 116">
              <a:hlinkClick r:id="" action="ppaction://noaction"/>
              <a:extLst>
                <a:ext uri="{FF2B5EF4-FFF2-40B4-BE49-F238E27FC236}">
                  <a16:creationId xmlns="" xmlns:a16="http://schemas.microsoft.com/office/drawing/2014/main" id="{15B30CE1-5AA6-4B93-1C75-A46B22B73A7A}"/>
                </a:ext>
              </a:extLst>
            </p:cNvPr>
            <p:cNvSpPr/>
            <p:nvPr/>
          </p:nvSpPr>
          <p:spPr>
            <a:xfrm>
              <a:off x="9851939" y="676739"/>
              <a:ext cx="562052" cy="20584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 defTabSz="742950">
                <a:defRPr/>
              </a:pPr>
              <a:r>
                <a:rPr lang="ko-KR" altLang="en-US" sz="1138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제품</a:t>
              </a:r>
              <a:r>
                <a:rPr lang="en-US" altLang="ko-KR" sz="1138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ko-KR" altLang="en-US" sz="1138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컨셉</a:t>
              </a:r>
              <a:endParaRPr lang="ko-KR" altLang="en-US" sz="1138" kern="0" baseline="30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="" xmlns:a16="http://schemas.microsoft.com/office/drawing/2014/main" id="{10ED8710-91F5-9AB4-B5B0-2BFA6E740691}"/>
                </a:ext>
              </a:extLst>
            </p:cNvPr>
            <p:cNvCxnSpPr>
              <a:cxnSpLocks/>
            </p:cNvCxnSpPr>
            <p:nvPr/>
          </p:nvCxnSpPr>
          <p:spPr>
            <a:xfrm>
              <a:off x="8472264" y="896872"/>
              <a:ext cx="3321403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119" name="그룹 118">
            <a:extLst>
              <a:ext uri="{FF2B5EF4-FFF2-40B4-BE49-F238E27FC236}">
                <a16:creationId xmlns="" xmlns:a16="http://schemas.microsoft.com/office/drawing/2014/main" id="{B3FD60BE-3BF8-30D9-50AD-D50B7B26E911}"/>
              </a:ext>
            </a:extLst>
          </p:cNvPr>
          <p:cNvGrpSpPr/>
          <p:nvPr/>
        </p:nvGrpSpPr>
        <p:grpSpPr>
          <a:xfrm>
            <a:off x="188968" y="1192995"/>
            <a:ext cx="6230250" cy="187248"/>
            <a:chOff x="309508" y="676714"/>
            <a:chExt cx="3897467" cy="220158"/>
          </a:xfrm>
        </p:grpSpPr>
        <p:sp>
          <p:nvSpPr>
            <p:cNvPr id="120" name="직사각형 119">
              <a:hlinkClick r:id="" action="ppaction://noaction"/>
              <a:extLst>
                <a:ext uri="{FF2B5EF4-FFF2-40B4-BE49-F238E27FC236}">
                  <a16:creationId xmlns="" xmlns:a16="http://schemas.microsoft.com/office/drawing/2014/main" id="{8B2C92EE-AD94-51A1-22E7-6C9E8F298979}"/>
                </a:ext>
              </a:extLst>
            </p:cNvPr>
            <p:cNvSpPr/>
            <p:nvPr/>
          </p:nvSpPr>
          <p:spPr>
            <a:xfrm>
              <a:off x="2082156" y="676714"/>
              <a:ext cx="424182" cy="20589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 defTabSz="742950">
                <a:defRPr/>
              </a:pPr>
              <a:r>
                <a:rPr lang="ko-KR" altLang="en-US" sz="1138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소비자 </a:t>
              </a:r>
              <a:r>
                <a:rPr lang="en-US" altLang="ko-KR" sz="1138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VOC</a:t>
              </a:r>
              <a:endParaRPr lang="ko-KR" altLang="en-US" sz="1138" kern="0" baseline="30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="" xmlns:a16="http://schemas.microsoft.com/office/drawing/2014/main" id="{9AC54A95-A802-885C-6F51-5661CFEC079F}"/>
                </a:ext>
              </a:extLst>
            </p:cNvPr>
            <p:cNvCxnSpPr>
              <a:cxnSpLocks/>
            </p:cNvCxnSpPr>
            <p:nvPr/>
          </p:nvCxnSpPr>
          <p:spPr>
            <a:xfrm>
              <a:off x="309508" y="896872"/>
              <a:ext cx="3897467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B9CFAA00-8A53-D8D7-DE59-45F122AFC28C}"/>
              </a:ext>
            </a:extLst>
          </p:cNvPr>
          <p:cNvSpPr txBox="1"/>
          <p:nvPr/>
        </p:nvSpPr>
        <p:spPr>
          <a:xfrm>
            <a:off x="267147" y="4511437"/>
            <a:ext cx="2893326" cy="275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80975" marR="0" lvl="0" indent="-180975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kumimoji="0" sz="1100" b="1" i="0" u="sng" strike="noStrike" cap="none" spc="0" normalizeH="0" baseline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47042" indent="-147042" defTabSz="742413">
              <a:defRPr/>
            </a:pPr>
            <a:r>
              <a:rPr lang="ko-KR" altLang="en-US" sz="894" b="0" u="none" dirty="0"/>
              <a:t>기존 모델보다 작아 오히려 </a:t>
            </a:r>
            <a:r>
              <a:rPr lang="ko-KR" altLang="en-US" sz="894" b="0" u="none" dirty="0">
                <a:solidFill>
                  <a:srgbClr val="C00000"/>
                </a:solidFill>
              </a:rPr>
              <a:t>더 </a:t>
            </a:r>
            <a:r>
              <a:rPr lang="ko-KR" altLang="en-US" sz="894" u="none" dirty="0">
                <a:solidFill>
                  <a:srgbClr val="C00000"/>
                </a:solidFill>
              </a:rPr>
              <a:t>빨리 조리</a:t>
            </a:r>
            <a:r>
              <a:rPr lang="ko-KR" altLang="en-US" sz="894" b="0" u="none" dirty="0"/>
              <a:t>가 되고 </a:t>
            </a:r>
            <a:r>
              <a:rPr lang="ko-KR" altLang="en-US" sz="894" b="0" u="none" dirty="0">
                <a:solidFill>
                  <a:srgbClr val="C00000"/>
                </a:solidFill>
              </a:rPr>
              <a:t>조</a:t>
            </a:r>
            <a:r>
              <a:rPr lang="ko-KR" altLang="en-US" sz="894" u="none" dirty="0">
                <a:solidFill>
                  <a:srgbClr val="C00000"/>
                </a:solidFill>
              </a:rPr>
              <a:t>용</a:t>
            </a:r>
            <a:r>
              <a:rPr lang="ko-KR" altLang="en-US" sz="894" b="0" u="none" dirty="0"/>
              <a:t>하다</a:t>
            </a:r>
            <a:r>
              <a:rPr lang="en-US" altLang="ko-KR" sz="894" b="0" u="none" dirty="0"/>
              <a:t>       </a:t>
            </a:r>
            <a:r>
              <a:rPr lang="en-US" altLang="ko-KR" sz="894" u="none" dirty="0">
                <a:solidFill>
                  <a:srgbClr val="C00000"/>
                </a:solidFill>
              </a:rPr>
              <a:t>MW</a:t>
            </a:r>
            <a:r>
              <a:rPr lang="ko-KR" altLang="en-US" sz="894" u="none" dirty="0">
                <a:solidFill>
                  <a:srgbClr val="C00000"/>
                </a:solidFill>
              </a:rPr>
              <a:t>로 해동한</a:t>
            </a:r>
            <a:r>
              <a:rPr lang="en-US" altLang="ko-KR" sz="894" u="none" dirty="0">
                <a:solidFill>
                  <a:srgbClr val="C00000"/>
                </a:solidFill>
              </a:rPr>
              <a:t>/</a:t>
            </a:r>
            <a:r>
              <a:rPr lang="ko-KR" altLang="en-US" sz="894" u="none" dirty="0">
                <a:solidFill>
                  <a:srgbClr val="C00000"/>
                </a:solidFill>
              </a:rPr>
              <a:t>데운 음식으로</a:t>
            </a:r>
            <a:r>
              <a:rPr lang="en-US" altLang="ko-KR" sz="894" u="none" dirty="0">
                <a:solidFill>
                  <a:srgbClr val="C00000"/>
                </a:solidFill>
              </a:rPr>
              <a:t>, </a:t>
            </a:r>
            <a:r>
              <a:rPr lang="ko-KR" altLang="en-US" sz="894" u="none" dirty="0">
                <a:solidFill>
                  <a:srgbClr val="C00000"/>
                </a:solidFill>
              </a:rPr>
              <a:t>바로 조리할 수 있어 좋다</a:t>
            </a:r>
            <a:endParaRPr lang="en-US" altLang="ko-KR" sz="894" u="none" dirty="0">
              <a:solidFill>
                <a:srgbClr val="C00000"/>
              </a:solidFill>
            </a:endParaRPr>
          </a:p>
        </p:txBody>
      </p:sp>
      <p:sp>
        <p:nvSpPr>
          <p:cNvPr id="143" name="Text Box 118">
            <a:extLst>
              <a:ext uri="{FF2B5EF4-FFF2-40B4-BE49-F238E27FC236}">
                <a16:creationId xmlns="" xmlns:a16="http://schemas.microsoft.com/office/drawing/2014/main" id="{BB1097F1-AC19-BF88-3EFB-45B9EE181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70" y="4355583"/>
            <a:ext cx="737381" cy="112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indent="0" latinLnBrk="0">
              <a:spcBef>
                <a:spcPts val="0"/>
              </a:spcBef>
              <a:buClr>
                <a:prstClr val="black"/>
              </a:buClr>
              <a:buSzPts val="1300"/>
              <a:buFont typeface="Wingdings" pitchFamily="2" charset="2"/>
              <a:buNone/>
              <a:defRPr kumimoji="1" sz="900" b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defTabSz="742950" fontAlgn="auto">
              <a:spcAft>
                <a:spcPts val="0"/>
              </a:spcAft>
              <a:defRPr/>
            </a:pPr>
            <a:r>
              <a:rPr lang="en-US" altLang="ko-KR" sz="731" dirty="0">
                <a:solidFill>
                  <a:srgbClr val="0000FF"/>
                </a:solidFill>
                <a:cs typeface="+mn-cs"/>
              </a:rPr>
              <a:t>&lt;</a:t>
            </a:r>
            <a:r>
              <a:rPr lang="ko-KR" altLang="en-US" sz="731" dirty="0">
                <a:solidFill>
                  <a:srgbClr val="0000FF"/>
                </a:solidFill>
                <a:cs typeface="+mn-cs"/>
              </a:rPr>
              <a:t>긍정</a:t>
            </a:r>
            <a:r>
              <a:rPr lang="en-US" altLang="ko-KR" sz="731" dirty="0">
                <a:solidFill>
                  <a:srgbClr val="0000FF"/>
                </a:solidFill>
                <a:cs typeface="+mn-cs"/>
              </a:rPr>
              <a:t>_</a:t>
            </a:r>
            <a:r>
              <a:rPr lang="ko-KR" altLang="en-US" sz="731" dirty="0">
                <a:solidFill>
                  <a:srgbClr val="0000FF"/>
                </a:solidFill>
                <a:cs typeface="+mn-cs"/>
              </a:rPr>
              <a:t>오븐 사용성</a:t>
            </a:r>
            <a:r>
              <a:rPr lang="en-US" altLang="ko-KR" sz="731" dirty="0">
                <a:solidFill>
                  <a:srgbClr val="0000FF"/>
                </a:solidFill>
                <a:cs typeface="+mn-cs"/>
              </a:rPr>
              <a:t>&gt;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="" xmlns:a16="http://schemas.microsoft.com/office/drawing/2014/main" id="{AC44A833-B601-B191-3396-F9EA86E8C8D5}"/>
              </a:ext>
            </a:extLst>
          </p:cNvPr>
          <p:cNvSpPr txBox="1"/>
          <p:nvPr/>
        </p:nvSpPr>
        <p:spPr>
          <a:xfrm>
            <a:off x="267147" y="5155865"/>
            <a:ext cx="2893326" cy="412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80975" marR="0" lvl="0" indent="-180975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kumimoji="0" sz="1100" b="1" i="0" u="sng" strike="noStrike" cap="none" spc="0" normalizeH="0" baseline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47042" indent="-147042" defTabSz="742413">
              <a:defRPr/>
            </a:pPr>
            <a:r>
              <a:rPr lang="ko-KR" altLang="en-US" sz="894" u="none" dirty="0">
                <a:solidFill>
                  <a:srgbClr val="C00000"/>
                </a:solidFill>
              </a:rPr>
              <a:t>오븐은</a:t>
            </a:r>
            <a:r>
              <a:rPr lang="en-US" altLang="ko-KR" sz="894" u="none" dirty="0">
                <a:solidFill>
                  <a:srgbClr val="C00000"/>
                </a:solidFill>
              </a:rPr>
              <a:t> Pyro. </a:t>
            </a:r>
            <a:r>
              <a:rPr lang="ko-KR" altLang="en-US" sz="894" u="none" dirty="0">
                <a:solidFill>
                  <a:srgbClr val="C00000"/>
                </a:solidFill>
              </a:rPr>
              <a:t>기능이 되지만</a:t>
            </a:r>
            <a:r>
              <a:rPr lang="en-US" altLang="ko-KR" sz="894" u="none" dirty="0">
                <a:solidFill>
                  <a:srgbClr val="C00000"/>
                </a:solidFill>
              </a:rPr>
              <a:t>, </a:t>
            </a:r>
            <a:r>
              <a:rPr lang="ko-KR" altLang="en-US" sz="894" u="none" dirty="0" err="1">
                <a:solidFill>
                  <a:srgbClr val="C00000"/>
                </a:solidFill>
              </a:rPr>
              <a:t>컴팩트오븐은</a:t>
            </a:r>
            <a:r>
              <a:rPr lang="ko-KR" altLang="en-US" sz="894" u="none" dirty="0">
                <a:solidFill>
                  <a:srgbClr val="C00000"/>
                </a:solidFill>
              </a:rPr>
              <a:t> 되지 않아</a:t>
            </a:r>
            <a:endParaRPr lang="en-US" altLang="ko-KR" sz="894" u="none" dirty="0">
              <a:solidFill>
                <a:srgbClr val="C00000"/>
              </a:solidFill>
            </a:endParaRPr>
          </a:p>
          <a:p>
            <a:pPr marL="0" indent="0" defTabSz="742413">
              <a:buNone/>
              <a:defRPr/>
            </a:pPr>
            <a:r>
              <a:rPr lang="en-US" altLang="ko-KR" sz="894" u="none" dirty="0"/>
              <a:t>      </a:t>
            </a:r>
            <a:r>
              <a:rPr lang="ko-KR" altLang="en-US" sz="894" b="0" u="none" dirty="0"/>
              <a:t>오븐보다는 전자레인지</a:t>
            </a:r>
            <a:r>
              <a:rPr lang="en-US" altLang="ko-KR" sz="894" b="0" u="none" dirty="0"/>
              <a:t>, </a:t>
            </a:r>
            <a:r>
              <a:rPr lang="ko-KR" altLang="en-US" sz="894" b="0" u="none" dirty="0"/>
              <a:t>혹은 식품 보관 용으로 주로 사용한다</a:t>
            </a:r>
            <a:r>
              <a:rPr lang="en-US" altLang="ko-KR" sz="894" b="0" u="none" dirty="0"/>
              <a:t>.</a:t>
            </a:r>
          </a:p>
        </p:txBody>
      </p:sp>
      <p:sp>
        <p:nvSpPr>
          <p:cNvPr id="151" name="Text Box 118">
            <a:extLst>
              <a:ext uri="{FF2B5EF4-FFF2-40B4-BE49-F238E27FC236}">
                <a16:creationId xmlns="" xmlns:a16="http://schemas.microsoft.com/office/drawing/2014/main" id="{806B8B71-2ED3-9926-A3E1-93863D4CF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70" y="5000011"/>
            <a:ext cx="737381" cy="112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indent="0" latinLnBrk="0">
              <a:spcBef>
                <a:spcPts val="0"/>
              </a:spcBef>
              <a:buClr>
                <a:prstClr val="black"/>
              </a:buClr>
              <a:buSzPts val="1300"/>
              <a:buFont typeface="Wingdings" pitchFamily="2" charset="2"/>
              <a:buNone/>
              <a:defRPr kumimoji="1" sz="900" b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defTabSz="742950" fontAlgn="auto">
              <a:spcAft>
                <a:spcPts val="0"/>
              </a:spcAft>
              <a:defRPr/>
            </a:pPr>
            <a:r>
              <a:rPr lang="en-US" altLang="ko-KR" sz="731" dirty="0">
                <a:solidFill>
                  <a:srgbClr val="0000FF"/>
                </a:solidFill>
                <a:cs typeface="+mn-cs"/>
              </a:rPr>
              <a:t>&lt;</a:t>
            </a:r>
            <a:r>
              <a:rPr lang="ko-KR" altLang="en-US" sz="731" dirty="0">
                <a:solidFill>
                  <a:srgbClr val="0000FF"/>
                </a:solidFill>
                <a:cs typeface="+mn-cs"/>
              </a:rPr>
              <a:t>부정</a:t>
            </a:r>
            <a:r>
              <a:rPr lang="en-US" altLang="ko-KR" sz="731" dirty="0">
                <a:solidFill>
                  <a:srgbClr val="0000FF"/>
                </a:solidFill>
                <a:cs typeface="+mn-cs"/>
              </a:rPr>
              <a:t>_</a:t>
            </a:r>
            <a:r>
              <a:rPr lang="ko-KR" altLang="en-US" sz="731" dirty="0">
                <a:solidFill>
                  <a:srgbClr val="0000FF"/>
                </a:solidFill>
                <a:cs typeface="+mn-cs"/>
              </a:rPr>
              <a:t>제품 </a:t>
            </a:r>
            <a:r>
              <a:rPr lang="ko-KR" altLang="en-US" sz="731" dirty="0" err="1">
                <a:solidFill>
                  <a:srgbClr val="0000FF"/>
                </a:solidFill>
                <a:cs typeface="+mn-cs"/>
              </a:rPr>
              <a:t>청소성</a:t>
            </a:r>
            <a:r>
              <a:rPr lang="en-US" altLang="ko-KR" sz="731" dirty="0">
                <a:solidFill>
                  <a:srgbClr val="0000FF"/>
                </a:solidFill>
                <a:cs typeface="+mn-cs"/>
              </a:rPr>
              <a:t>&gt;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="" xmlns:a16="http://schemas.microsoft.com/office/drawing/2014/main" id="{0F02A675-1218-CC1F-F59D-F5209216544C}"/>
              </a:ext>
            </a:extLst>
          </p:cNvPr>
          <p:cNvSpPr txBox="1"/>
          <p:nvPr/>
        </p:nvSpPr>
        <p:spPr>
          <a:xfrm>
            <a:off x="93290" y="5905077"/>
            <a:ext cx="5188921" cy="3000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Source : 1) Nielsen STP 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조사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(N=4000 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중 오븐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+</a:t>
            </a:r>
            <a:r>
              <a:rPr kumimoji="0" lang="ko-KR" altLang="en-US" sz="650" b="0" dirty="0" err="1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컴팩트오븐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 사용자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n=53), 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유럽 </a:t>
            </a:r>
            <a:r>
              <a:rPr kumimoji="0" lang="ko-KR" altLang="en-US" sz="650" b="0" dirty="0" err="1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홈비짓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(’24.2)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소비자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VOC (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온라인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review, n=82) 4)Statistica,2023 5) Euromonitor,2022</a:t>
            </a:r>
          </a:p>
          <a:p>
            <a:pPr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              2) 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소비자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VOC (Kitchen Forum VOC scrapping, n=300)</a:t>
            </a:r>
          </a:p>
          <a:p>
            <a:pPr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              3) 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https://www.kuechen-forum.de/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 (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독일 키친 포럼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: 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고객들이 키친에 대한 설계와 견적 후 서로 의견을 나누는 온라인 커뮤니티</a:t>
            </a:r>
            <a:r>
              <a:rPr kumimoji="0" lang="en-US" altLang="ko-KR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)2010~2025</a:t>
            </a:r>
            <a:r>
              <a:rPr kumimoji="0" lang="ko-KR" altLang="en-US" sz="650" b="0" dirty="0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t>년 </a:t>
            </a:r>
            <a:endParaRPr kumimoji="0" lang="en-US" altLang="ko-KR" sz="650" b="0" dirty="0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  <p:cxnSp>
        <p:nvCxnSpPr>
          <p:cNvPr id="154" name="직선 연결선 153">
            <a:extLst>
              <a:ext uri="{FF2B5EF4-FFF2-40B4-BE49-F238E27FC236}">
                <a16:creationId xmlns="" xmlns:a16="http://schemas.microsoft.com/office/drawing/2014/main" id="{3C6FB8FE-BFF9-8256-45E7-56252D98403E}"/>
              </a:ext>
            </a:extLst>
          </p:cNvPr>
          <p:cNvCxnSpPr>
            <a:cxnSpLocks/>
          </p:cNvCxnSpPr>
          <p:nvPr/>
        </p:nvCxnSpPr>
        <p:spPr>
          <a:xfrm>
            <a:off x="70818" y="5881140"/>
            <a:ext cx="13579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3">
            <a:extLst>
              <a:ext uri="{FF2B5EF4-FFF2-40B4-BE49-F238E27FC236}">
                <a16:creationId xmlns="" xmlns:a16="http://schemas.microsoft.com/office/drawing/2014/main" id="{C17BA55B-0C42-A04C-5D67-6BF972753D9F}"/>
              </a:ext>
            </a:extLst>
          </p:cNvPr>
          <p:cNvSpPr/>
          <p:nvPr/>
        </p:nvSpPr>
        <p:spPr>
          <a:xfrm>
            <a:off x="343483" y="2282926"/>
            <a:ext cx="2670116" cy="219492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dist="12700" dir="5400000" algn="t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46861" defTabSz="742950" fontAlgn="auto">
              <a:spcBef>
                <a:spcPts val="0"/>
              </a:spcBef>
              <a:spcAft>
                <a:spcPts val="0"/>
              </a:spcAft>
              <a:buFont typeface="Arial Black" panose="020B0A04020102020204" pitchFamily="34" charset="0"/>
              <a:buChar char="▌"/>
            </a:pPr>
            <a:r>
              <a:rPr kumimoji="0" lang="en-US" altLang="ko-KR" sz="975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CVF </a:t>
            </a:r>
            <a:r>
              <a:rPr kumimoji="0" lang="ko-KR" altLang="en-US" sz="975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중요도</a:t>
            </a:r>
            <a:endParaRPr kumimoji="0" lang="en-US" altLang="ko-KR" sz="975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2" name="직사각형 3">
            <a:extLst>
              <a:ext uri="{FF2B5EF4-FFF2-40B4-BE49-F238E27FC236}">
                <a16:creationId xmlns="" xmlns:a16="http://schemas.microsoft.com/office/drawing/2014/main" id="{5112CD9F-ACBD-B62B-E295-722F982B45E1}"/>
              </a:ext>
            </a:extLst>
          </p:cNvPr>
          <p:cNvSpPr/>
          <p:nvPr/>
        </p:nvSpPr>
        <p:spPr>
          <a:xfrm>
            <a:off x="343483" y="3988357"/>
            <a:ext cx="2670116" cy="219492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dist="12700" dir="5400000" algn="t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46861" defTabSz="742950" fontAlgn="auto">
              <a:spcBef>
                <a:spcPts val="0"/>
              </a:spcBef>
              <a:spcAft>
                <a:spcPts val="0"/>
              </a:spcAft>
              <a:buFont typeface="Arial Black" panose="020B0A04020102020204" pitchFamily="34" charset="0"/>
              <a:buChar char="▌"/>
            </a:pPr>
            <a:r>
              <a:rPr kumimoji="0" lang="en-US" altLang="ko-KR" sz="975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VOC</a:t>
            </a:r>
          </a:p>
        </p:txBody>
      </p:sp>
      <p:graphicFrame>
        <p:nvGraphicFramePr>
          <p:cNvPr id="165" name="차트 164">
            <a:extLst>
              <a:ext uri="{FF2B5EF4-FFF2-40B4-BE49-F238E27FC236}">
                <a16:creationId xmlns="" xmlns:a16="http://schemas.microsoft.com/office/drawing/2014/main" id="{7015AD40-EC31-23CC-1FE0-DCD9F21242BB}"/>
              </a:ext>
            </a:extLst>
          </p:cNvPr>
          <p:cNvGraphicFramePr/>
          <p:nvPr/>
        </p:nvGraphicFramePr>
        <p:xfrm>
          <a:off x="1162194" y="2437909"/>
          <a:ext cx="1463475" cy="1564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7" name="직사각형 166">
            <a:extLst>
              <a:ext uri="{FF2B5EF4-FFF2-40B4-BE49-F238E27FC236}">
                <a16:creationId xmlns="" xmlns:a16="http://schemas.microsoft.com/office/drawing/2014/main" id="{55625BA6-3A0E-AA90-17A0-A8E575BAE6F4}"/>
              </a:ext>
            </a:extLst>
          </p:cNvPr>
          <p:cNvSpPr/>
          <p:nvPr/>
        </p:nvSpPr>
        <p:spPr>
          <a:xfrm>
            <a:off x="2334212" y="2345009"/>
            <a:ext cx="63375" cy="682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28" rtlCol="0" anchor="ctr"/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kumimoji="0" lang="en-US" altLang="ko-KR" sz="650" b="0" baseline="30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st+</a:t>
            </a:r>
            <a:r>
              <a:rPr kumimoji="0" lang="en-US" altLang="ko-KR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kumimoji="0" lang="en-US" altLang="ko-KR" sz="650" b="0" baseline="30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nd+</a:t>
            </a:r>
            <a:r>
              <a:rPr kumimoji="0" lang="en-US" altLang="ko-KR" sz="6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0" lang="en-US" altLang="ko-KR" sz="650" b="0" baseline="30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rd</a:t>
            </a:r>
            <a:endParaRPr kumimoji="0" lang="ko-KR" altLang="en-US" sz="650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8" name="Arrow: Down 49">
            <a:extLst>
              <a:ext uri="{FF2B5EF4-FFF2-40B4-BE49-F238E27FC236}">
                <a16:creationId xmlns="" xmlns:a16="http://schemas.microsoft.com/office/drawing/2014/main" id="{C4501546-FA78-0A32-71E7-D8DB8D9873F5}"/>
              </a:ext>
            </a:extLst>
          </p:cNvPr>
          <p:cNvSpPr/>
          <p:nvPr/>
        </p:nvSpPr>
        <p:spPr>
          <a:xfrm>
            <a:off x="2713440" y="2291396"/>
            <a:ext cx="294509" cy="196454"/>
          </a:xfrm>
          <a:prstGeom prst="downArrow">
            <a:avLst>
              <a:gd name="adj1" fmla="val 100000"/>
              <a:gd name="adj2" fmla="val 29203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678" b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9" name="Rectangle 50">
            <a:extLst>
              <a:ext uri="{FF2B5EF4-FFF2-40B4-BE49-F238E27FC236}">
                <a16:creationId xmlns="" xmlns:a16="http://schemas.microsoft.com/office/drawing/2014/main" id="{B31B963B-4FEE-E418-6163-1753A52C0F8F}"/>
              </a:ext>
            </a:extLst>
          </p:cNvPr>
          <p:cNvSpPr/>
          <p:nvPr/>
        </p:nvSpPr>
        <p:spPr>
          <a:xfrm>
            <a:off x="2683089" y="2291396"/>
            <a:ext cx="348172" cy="1923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Top1</a:t>
            </a:r>
            <a:endParaRPr kumimoji="0" lang="ko-KR" altLang="en-US" sz="65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170" name="Picture 4">
            <a:extLst>
              <a:ext uri="{FF2B5EF4-FFF2-40B4-BE49-F238E27FC236}">
                <a16:creationId xmlns="" xmlns:a16="http://schemas.microsoft.com/office/drawing/2014/main" id="{D6CA8647-66E5-F1BA-0B74-E83FEE59BE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080" b="15868"/>
          <a:stretch/>
        </p:blipFill>
        <p:spPr bwMode="auto">
          <a:xfrm>
            <a:off x="3330944" y="2618026"/>
            <a:ext cx="1284056" cy="139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ext Box 118">
            <a:extLst>
              <a:ext uri="{FF2B5EF4-FFF2-40B4-BE49-F238E27FC236}">
                <a16:creationId xmlns="" xmlns:a16="http://schemas.microsoft.com/office/drawing/2014/main" id="{8267E903-750F-0BDE-C0A9-756171BC9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885" y="2662673"/>
            <a:ext cx="448602" cy="125099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txBody>
          <a:bodyPr wrap="none" lIns="29250" tIns="0" rIns="29250" bIns="0" anchor="t" anchorCtr="0">
            <a:spAutoFit/>
          </a:bodyPr>
          <a:lstStyle>
            <a:defPPr>
              <a:defRPr lang="ko-KR"/>
            </a:defPPr>
            <a:lvl1pPr marL="177800" indent="-177800" latinLnBrk="0">
              <a:spcBef>
                <a:spcPts val="600"/>
              </a:spcBef>
              <a:buClr>
                <a:prstClr val="black"/>
              </a:buClr>
              <a:buSzPts val="1300"/>
              <a:buFont typeface="Wingdings" pitchFamily="2" charset="2"/>
              <a:buChar char="§"/>
              <a:defRPr kumimoji="1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defTabSz="742950" fontAlgn="auto">
              <a:spcBef>
                <a:spcPts val="488"/>
              </a:spcBef>
              <a:spcAft>
                <a:spcPts val="0"/>
              </a:spcAft>
              <a:buNone/>
              <a:defRPr/>
            </a:pPr>
            <a:r>
              <a:rPr lang="ko-KR" altLang="en-US" sz="813" dirty="0">
                <a:cs typeface="+mn-cs"/>
              </a:rPr>
              <a:t>설치 사유</a:t>
            </a:r>
            <a:endParaRPr lang="en-US" altLang="ko-KR" sz="813" dirty="0"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="" xmlns:a16="http://schemas.microsoft.com/office/drawing/2014/main" id="{6DD2CBBE-F038-E623-0568-149FF6D06A3D}"/>
              </a:ext>
            </a:extLst>
          </p:cNvPr>
          <p:cNvSpPr txBox="1"/>
          <p:nvPr/>
        </p:nvSpPr>
        <p:spPr>
          <a:xfrm>
            <a:off x="3349504" y="2282926"/>
            <a:ext cx="2510746" cy="28764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80975" marR="0" lvl="0" indent="-180975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kumimoji="0" sz="1100" b="1" i="0" u="sng" strike="noStrike" cap="none" spc="0" normalizeH="0" baseline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indent="0" defTabSz="742413">
              <a:buNone/>
              <a:defRPr/>
            </a:pPr>
            <a:r>
              <a:rPr lang="en-US" altLang="ko-KR" sz="894" b="0" u="none" dirty="0"/>
              <a:t>[</a:t>
            </a:r>
            <a:r>
              <a:rPr lang="ko-KR" altLang="en-US" sz="894" b="0" u="none" dirty="0"/>
              <a:t>독일 키친 포럼</a:t>
            </a:r>
            <a:r>
              <a:rPr lang="en-US" altLang="ko-KR" sz="894" b="0" u="none" baseline="30000" dirty="0"/>
              <a:t>3)</a:t>
            </a:r>
            <a:r>
              <a:rPr lang="ko-KR" altLang="en-US" sz="894" b="0" u="none" dirty="0"/>
              <a:t> 내 </a:t>
            </a:r>
            <a:endParaRPr lang="en-US" altLang="ko-KR" sz="894" b="0" u="none" dirty="0"/>
          </a:p>
          <a:p>
            <a:pPr marL="0" indent="0" defTabSz="742413">
              <a:buNone/>
              <a:defRPr/>
            </a:pPr>
            <a:r>
              <a:rPr lang="ko-KR" altLang="en-US" sz="894" b="0" u="none" dirty="0" err="1"/>
              <a:t>컴팩트오븐</a:t>
            </a:r>
            <a:r>
              <a:rPr lang="ko-KR" altLang="en-US" sz="894" b="0" u="none" dirty="0"/>
              <a:t> 언급 </a:t>
            </a:r>
            <a:r>
              <a:rPr lang="en-US" altLang="ko-KR" sz="894" b="0" u="none" dirty="0"/>
              <a:t>300 </a:t>
            </a:r>
            <a:r>
              <a:rPr lang="ko-KR" altLang="en-US" sz="894" b="0" u="none" dirty="0"/>
              <a:t>건 중</a:t>
            </a:r>
            <a:r>
              <a:rPr lang="en-US" altLang="ko-KR" sz="894" b="0" u="none" dirty="0"/>
              <a:t> </a:t>
            </a:r>
            <a:r>
              <a:rPr kumimoji="1" lang="ko-KR" altLang="en-US" sz="975" dirty="0">
                <a:solidFill>
                  <a:prstClr val="black"/>
                </a:solidFill>
              </a:rPr>
              <a:t>단독 설치 관련 언급 </a:t>
            </a:r>
            <a:r>
              <a:rPr kumimoji="1" lang="en-US" altLang="ko-KR" sz="975" dirty="0">
                <a:solidFill>
                  <a:prstClr val="black"/>
                </a:solidFill>
              </a:rPr>
              <a:t>147</a:t>
            </a:r>
            <a:r>
              <a:rPr kumimoji="1" lang="ko-KR" altLang="en-US" sz="975" dirty="0">
                <a:solidFill>
                  <a:prstClr val="black"/>
                </a:solidFill>
              </a:rPr>
              <a:t>건</a:t>
            </a:r>
            <a:r>
              <a:rPr lang="en-US" altLang="ko-KR" sz="894" b="0" u="none" dirty="0"/>
              <a:t>]</a:t>
            </a:r>
          </a:p>
        </p:txBody>
      </p:sp>
      <p:grpSp>
        <p:nvGrpSpPr>
          <p:cNvPr id="173" name="그룹 172">
            <a:extLst>
              <a:ext uri="{FF2B5EF4-FFF2-40B4-BE49-F238E27FC236}">
                <a16:creationId xmlns="" xmlns:a16="http://schemas.microsoft.com/office/drawing/2014/main" id="{F618539C-19D3-FA82-4B21-A73EC251C07C}"/>
              </a:ext>
            </a:extLst>
          </p:cNvPr>
          <p:cNvGrpSpPr/>
          <p:nvPr/>
        </p:nvGrpSpPr>
        <p:grpSpPr>
          <a:xfrm>
            <a:off x="4032052" y="2699192"/>
            <a:ext cx="743578" cy="58500"/>
            <a:chOff x="5142054" y="2648919"/>
            <a:chExt cx="915173" cy="72000"/>
          </a:xfrm>
        </p:grpSpPr>
        <p:sp>
          <p:nvSpPr>
            <p:cNvPr id="174" name="타원 173">
              <a:extLst>
                <a:ext uri="{FF2B5EF4-FFF2-40B4-BE49-F238E27FC236}">
                  <a16:creationId xmlns="" xmlns:a16="http://schemas.microsoft.com/office/drawing/2014/main" id="{DA13EC4B-F955-F7D0-99FD-1F1DD4D177DC}"/>
                </a:ext>
              </a:extLst>
            </p:cNvPr>
            <p:cNvSpPr/>
            <p:nvPr/>
          </p:nvSpPr>
          <p:spPr>
            <a:xfrm>
              <a:off x="5142054" y="2648919"/>
              <a:ext cx="72000" cy="72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742837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3" b="0">
                <a:solidFill>
                  <a:prstClr val="black"/>
                </a:solidFill>
                <a:latin typeface="Arial Narrow"/>
                <a:ea typeface="LG스마트체 Regular"/>
              </a:endParaRPr>
            </a:p>
          </p:txBody>
        </p:sp>
        <p:cxnSp>
          <p:nvCxnSpPr>
            <p:cNvPr id="175" name="직선 연결선 174">
              <a:extLst>
                <a:ext uri="{FF2B5EF4-FFF2-40B4-BE49-F238E27FC236}">
                  <a16:creationId xmlns="" xmlns:a16="http://schemas.microsoft.com/office/drawing/2014/main" id="{3455BC97-A923-8EA6-FF74-90EE80C51C64}"/>
                </a:ext>
              </a:extLst>
            </p:cNvPr>
            <p:cNvCxnSpPr>
              <a:cxnSpLocks/>
            </p:cNvCxnSpPr>
            <p:nvPr/>
          </p:nvCxnSpPr>
          <p:spPr>
            <a:xfrm>
              <a:off x="5214054" y="2688032"/>
              <a:ext cx="843173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6" name="TextBox 175">
            <a:extLst>
              <a:ext uri="{FF2B5EF4-FFF2-40B4-BE49-F238E27FC236}">
                <a16:creationId xmlns="" xmlns:a16="http://schemas.microsoft.com/office/drawing/2014/main" id="{02E8DB81-1D82-95E7-975A-70F096A632E7}"/>
              </a:ext>
            </a:extLst>
          </p:cNvPr>
          <p:cNvSpPr txBox="1"/>
          <p:nvPr/>
        </p:nvSpPr>
        <p:spPr>
          <a:xfrm>
            <a:off x="5306177" y="2661811"/>
            <a:ext cx="1041230" cy="137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80975" marR="0" lvl="0" indent="-180975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kumimoji="0" sz="1100" b="1" i="0" u="sng" strike="noStrike" cap="none" spc="0" normalizeH="0" baseline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indent="0" defTabSz="742413">
              <a:buNone/>
              <a:defRPr/>
            </a:pPr>
            <a:r>
              <a:rPr lang="ko-KR" altLang="en-US" sz="894" b="0" u="none" dirty="0"/>
              <a:t>공간활용도 ↑</a:t>
            </a:r>
            <a:endParaRPr lang="en-US" altLang="ko-KR" sz="894" b="0" u="none" dirty="0"/>
          </a:p>
        </p:txBody>
      </p:sp>
      <p:grpSp>
        <p:nvGrpSpPr>
          <p:cNvPr id="177" name="그룹 176">
            <a:extLst>
              <a:ext uri="{FF2B5EF4-FFF2-40B4-BE49-F238E27FC236}">
                <a16:creationId xmlns="" xmlns:a16="http://schemas.microsoft.com/office/drawing/2014/main" id="{FA1B8825-5E79-A0AC-E573-18854804D357}"/>
              </a:ext>
            </a:extLst>
          </p:cNvPr>
          <p:cNvGrpSpPr/>
          <p:nvPr/>
        </p:nvGrpSpPr>
        <p:grpSpPr>
          <a:xfrm>
            <a:off x="3441782" y="3675632"/>
            <a:ext cx="1350787" cy="68209"/>
            <a:chOff x="5168592" y="2653539"/>
            <a:chExt cx="888635" cy="34493"/>
          </a:xfrm>
        </p:grpSpPr>
        <p:sp>
          <p:nvSpPr>
            <p:cNvPr id="178" name="타원 177">
              <a:extLst>
                <a:ext uri="{FF2B5EF4-FFF2-40B4-BE49-F238E27FC236}">
                  <a16:creationId xmlns="" xmlns:a16="http://schemas.microsoft.com/office/drawing/2014/main" id="{18739260-1311-195A-427E-E513F704DE38}"/>
                </a:ext>
              </a:extLst>
            </p:cNvPr>
            <p:cNvSpPr/>
            <p:nvPr/>
          </p:nvSpPr>
          <p:spPr>
            <a:xfrm>
              <a:off x="5168592" y="2653539"/>
              <a:ext cx="38485" cy="2958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742837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3" b="0">
                <a:solidFill>
                  <a:prstClr val="black"/>
                </a:solidFill>
                <a:latin typeface="Arial Narrow"/>
                <a:ea typeface="LG스마트체 Regular"/>
              </a:endParaRPr>
            </a:p>
          </p:txBody>
        </p:sp>
        <p:cxnSp>
          <p:nvCxnSpPr>
            <p:cNvPr id="179" name="직선 연결선 178">
              <a:extLst>
                <a:ext uri="{FF2B5EF4-FFF2-40B4-BE49-F238E27FC236}">
                  <a16:creationId xmlns="" xmlns:a16="http://schemas.microsoft.com/office/drawing/2014/main" id="{6CF42DC8-ECC5-1284-AE7C-F0739EC6E9E6}"/>
                </a:ext>
              </a:extLst>
            </p:cNvPr>
            <p:cNvCxnSpPr>
              <a:cxnSpLocks/>
            </p:cNvCxnSpPr>
            <p:nvPr/>
          </p:nvCxnSpPr>
          <p:spPr>
            <a:xfrm>
              <a:off x="5214054" y="2688032"/>
              <a:ext cx="843173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0" name="TextBox 179">
            <a:extLst>
              <a:ext uri="{FF2B5EF4-FFF2-40B4-BE49-F238E27FC236}">
                <a16:creationId xmlns="" xmlns:a16="http://schemas.microsoft.com/office/drawing/2014/main" id="{5160ED79-992B-8BD7-45CB-C7D35ED04F2D}"/>
              </a:ext>
            </a:extLst>
          </p:cNvPr>
          <p:cNvSpPr txBox="1"/>
          <p:nvPr/>
        </p:nvSpPr>
        <p:spPr>
          <a:xfrm>
            <a:off x="4792570" y="3718735"/>
            <a:ext cx="1604742" cy="275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80975" marR="0" lvl="0" indent="-180975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kumimoji="0" sz="1100" b="1" i="0" u="sng" strike="noStrike" cap="none" spc="0" normalizeH="0" baseline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indent="0" defTabSz="742413">
              <a:buNone/>
              <a:defRPr/>
            </a:pPr>
            <a:r>
              <a:rPr lang="ko-KR" altLang="en-US" sz="894" b="0" u="none" dirty="0"/>
              <a:t>좁은 공간 </a:t>
            </a:r>
            <a:r>
              <a:rPr lang="en-US" altLang="ko-KR" sz="894" b="0" u="none" dirty="0"/>
              <a:t>(1인 </a:t>
            </a:r>
            <a:r>
              <a:rPr lang="en-US" altLang="ko-KR" sz="894" b="0" u="none" dirty="0" err="1"/>
              <a:t>가구</a:t>
            </a:r>
            <a:r>
              <a:rPr lang="en-US" altLang="ko-KR" sz="894" b="0" u="none" dirty="0"/>
              <a:t> / </a:t>
            </a:r>
            <a:r>
              <a:rPr lang="en-US" altLang="ko-KR" sz="894" b="0" u="none" dirty="0" err="1"/>
              <a:t>휴가용</a:t>
            </a:r>
            <a:r>
              <a:rPr lang="en-US" altLang="ko-KR" sz="894" b="0" u="none" dirty="0"/>
              <a:t> </a:t>
            </a:r>
            <a:r>
              <a:rPr lang="ko-KR" altLang="en-US" sz="894" b="0" u="none" dirty="0"/>
              <a:t>집</a:t>
            </a:r>
            <a:r>
              <a:rPr lang="en-US" altLang="ko-KR" sz="894" b="0" u="none" dirty="0"/>
              <a:t>)</a:t>
            </a:r>
            <a:r>
              <a:rPr lang="ko-KR" altLang="en-US" sz="894" b="0" u="none" dirty="0"/>
              <a:t> 내 효율적인 제품 설치</a:t>
            </a:r>
            <a:endParaRPr lang="en-US" altLang="ko-KR" sz="894" u="none" dirty="0">
              <a:solidFill>
                <a:srgbClr val="C00000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="" xmlns:a16="http://schemas.microsoft.com/office/drawing/2014/main" id="{4BBCBDD4-DAA7-5515-978A-46987AAA4440}"/>
              </a:ext>
            </a:extLst>
          </p:cNvPr>
          <p:cNvSpPr txBox="1"/>
          <p:nvPr/>
        </p:nvSpPr>
        <p:spPr>
          <a:xfrm>
            <a:off x="4771208" y="2767572"/>
            <a:ext cx="1702484" cy="31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with a compact oven, </a:t>
            </a:r>
          </a:p>
          <a:p>
            <a:pPr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then you've already </a:t>
            </a:r>
            <a:r>
              <a:rPr kumimoji="0" lang="en-US" altLang="ko-KR" sz="731" b="0" i="1" u="sng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gained 15 cm </a:t>
            </a:r>
            <a:r>
              <a:rPr kumimoji="0" lang="en-US" altLang="ko-KR" sz="731" b="0" i="1" dirty="0">
                <a:solidFill>
                  <a:prstClr val="white">
                    <a:lumMod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again. </a:t>
            </a:r>
            <a:endParaRPr kumimoji="0" lang="ko-KR" altLang="en-US" sz="731" b="0" i="1" dirty="0">
              <a:solidFill>
                <a:prstClr val="white">
                  <a:lumMod val="50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82" name="그룹 181">
            <a:extLst>
              <a:ext uri="{FF2B5EF4-FFF2-40B4-BE49-F238E27FC236}">
                <a16:creationId xmlns="" xmlns:a16="http://schemas.microsoft.com/office/drawing/2014/main" id="{A61CE007-AA4E-9CA8-7A6F-2940FBEBD26D}"/>
              </a:ext>
            </a:extLst>
          </p:cNvPr>
          <p:cNvGrpSpPr/>
          <p:nvPr/>
        </p:nvGrpSpPr>
        <p:grpSpPr>
          <a:xfrm>
            <a:off x="4748089" y="3043245"/>
            <a:ext cx="576613" cy="489483"/>
            <a:chOff x="4151556" y="5204901"/>
            <a:chExt cx="1128726" cy="958167"/>
          </a:xfrm>
        </p:grpSpPr>
        <p:pic>
          <p:nvPicPr>
            <p:cNvPr id="183" name="Picture 6">
              <a:extLst>
                <a:ext uri="{FF2B5EF4-FFF2-40B4-BE49-F238E27FC236}">
                  <a16:creationId xmlns="" xmlns:a16="http://schemas.microsoft.com/office/drawing/2014/main" id="{ABA63300-2CB8-D8AF-8259-34AED2DD9C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529" t="39858" r="19112" b="21643"/>
            <a:stretch/>
          </p:blipFill>
          <p:spPr bwMode="auto">
            <a:xfrm>
              <a:off x="4310128" y="5204901"/>
              <a:ext cx="970154" cy="958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4" name="원호 183">
              <a:extLst>
                <a:ext uri="{FF2B5EF4-FFF2-40B4-BE49-F238E27FC236}">
                  <a16:creationId xmlns="" xmlns:a16="http://schemas.microsoft.com/office/drawing/2014/main" id="{39D9EEAC-EDFB-931E-6E0D-D91A999945D1}"/>
                </a:ext>
              </a:extLst>
            </p:cNvPr>
            <p:cNvSpPr/>
            <p:nvPr/>
          </p:nvSpPr>
          <p:spPr>
            <a:xfrm rot="13500000">
              <a:off x="4729842" y="5882510"/>
              <a:ext cx="160951" cy="171131"/>
            </a:xfrm>
            <a:prstGeom prst="arc">
              <a:avLst/>
            </a:prstGeom>
            <a:ln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74295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3" b="0">
                <a:solidFill>
                  <a:prstClr val="black"/>
                </a:solidFill>
                <a:latin typeface="Arial Narrow"/>
                <a:ea typeface="LG스마트체 Regular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="" xmlns:a16="http://schemas.microsoft.com/office/drawing/2014/main" id="{AD112E88-EA19-5D65-9EC9-39CC97517139}"/>
                </a:ext>
              </a:extLst>
            </p:cNvPr>
            <p:cNvSpPr txBox="1"/>
            <p:nvPr/>
          </p:nvSpPr>
          <p:spPr>
            <a:xfrm>
              <a:off x="4151556" y="5759890"/>
              <a:ext cx="802219" cy="4008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742413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31" b="0" dirty="0">
                  <a:solidFill>
                    <a:srgbClr val="008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15cm</a:t>
              </a:r>
              <a:endPara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86" name="TextBox 185">
            <a:extLst>
              <a:ext uri="{FF2B5EF4-FFF2-40B4-BE49-F238E27FC236}">
                <a16:creationId xmlns="" xmlns:a16="http://schemas.microsoft.com/office/drawing/2014/main" id="{C6DA826A-F081-8B34-41F9-964A65656027}"/>
              </a:ext>
            </a:extLst>
          </p:cNvPr>
          <p:cNvSpPr txBox="1"/>
          <p:nvPr/>
        </p:nvSpPr>
        <p:spPr>
          <a:xfrm>
            <a:off x="6889199" y="4788882"/>
            <a:ext cx="1514838" cy="32496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342651" marR="0" lvl="0" indent="-342651" algn="ctr" defTabSz="913739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278390" indent="-278390" algn="l" defTabSz="742376">
              <a:defRPr/>
            </a:pPr>
            <a:r>
              <a:rPr kumimoji="0" lang="en-US" altLang="ko-KR" sz="1056" u="sng" dirty="0" err="1">
                <a:solidFill>
                  <a:srgbClr val="000000"/>
                </a:solidFill>
              </a:rPr>
              <a:t>EasyClean</a:t>
            </a:r>
            <a:r>
              <a:rPr kumimoji="0" lang="en-US" altLang="ko-KR" sz="1056" u="sng" dirty="0">
                <a:solidFill>
                  <a:srgbClr val="000000"/>
                </a:solidFill>
              </a:rPr>
              <a:t> + </a:t>
            </a:r>
            <a:r>
              <a:rPr kumimoji="0" lang="ko-KR" altLang="en-US" sz="1056" u="sng" dirty="0" err="1">
                <a:solidFill>
                  <a:srgbClr val="000000"/>
                </a:solidFill>
              </a:rPr>
              <a:t>쾌속셀프클린</a:t>
            </a:r>
            <a:r>
              <a:rPr kumimoji="0" lang="en-US" altLang="ko-KR" sz="1056" u="sng" dirty="0">
                <a:solidFill>
                  <a:srgbClr val="000000"/>
                </a:solidFill>
              </a:rPr>
              <a:t>.</a:t>
            </a:r>
          </a:p>
          <a:p>
            <a:pPr marL="278390" indent="-278390" algn="l" defTabSz="742376">
              <a:defRPr/>
            </a:pPr>
            <a:r>
              <a:rPr kumimoji="0" lang="ko-KR" altLang="en-US" sz="1056" u="sng" dirty="0">
                <a:solidFill>
                  <a:srgbClr val="000000"/>
                </a:solidFill>
              </a:rPr>
              <a:t>기능으로 빠르고 쉬운 </a:t>
            </a:r>
            <a:r>
              <a:rPr kumimoji="0" lang="ko-KR" altLang="en-US" sz="1056" u="sng" dirty="0" err="1">
                <a:solidFill>
                  <a:srgbClr val="000000"/>
                </a:solidFill>
              </a:rPr>
              <a:t>청소법</a:t>
            </a:r>
            <a:endParaRPr kumimoji="0" lang="en-US" altLang="ko-KR" sz="1056" u="sng" dirty="0">
              <a:solidFill>
                <a:srgbClr val="000000"/>
              </a:solidFill>
            </a:endParaRPr>
          </a:p>
        </p:txBody>
      </p:sp>
      <p:sp>
        <p:nvSpPr>
          <p:cNvPr id="187" name="직사각형 75">
            <a:extLst>
              <a:ext uri="{FF2B5EF4-FFF2-40B4-BE49-F238E27FC236}">
                <a16:creationId xmlns="" xmlns:a16="http://schemas.microsoft.com/office/drawing/2014/main" id="{C86F7B7F-6BD8-AEE5-FBFB-965434B81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261" y="5356927"/>
            <a:ext cx="726161" cy="154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742950" latinLnBrk="0">
              <a:lnSpc>
                <a:spcPct val="110000"/>
              </a:lnSpc>
              <a:spcBef>
                <a:spcPts val="488"/>
              </a:spcBef>
              <a:tabLst>
                <a:tab pos="294084" algn="l"/>
                <a:tab pos="1000919" algn="l"/>
              </a:tabLst>
              <a:defRPr/>
            </a:pP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- </a:t>
            </a:r>
            <a:r>
              <a:rPr kumimoji="0" lang="ko-KR" altLang="en-US" sz="975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쾌속셀프클린</a:t>
            </a:r>
            <a:endParaRPr kumimoji="0" lang="ko-KR" altLang="en-US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8" name="표 187">
            <a:extLst>
              <a:ext uri="{FF2B5EF4-FFF2-40B4-BE49-F238E27FC236}">
                <a16:creationId xmlns="" xmlns:a16="http://schemas.microsoft.com/office/drawing/2014/main" id="{3D6F259C-B964-7A82-BDBC-FB35DBF4CF5F}"/>
              </a:ext>
            </a:extLst>
          </p:cNvPr>
          <p:cNvGraphicFramePr>
            <a:graphicFrameLocks noGrp="1"/>
          </p:cNvGraphicFramePr>
          <p:nvPr/>
        </p:nvGraphicFramePr>
        <p:xfrm>
          <a:off x="6713547" y="2262255"/>
          <a:ext cx="2947404" cy="106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68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68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3685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3685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0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CVF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4625" marR="14625" marT="14625" marB="146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Conventional</a:t>
                      </a: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Inverter Probake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16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쾌속가열</a:t>
                      </a:r>
                    </a:p>
                  </a:txBody>
                  <a:tcPr marL="14625" marR="14625" marT="14625" marB="146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조리시간</a:t>
                      </a: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Conventional</a:t>
                      </a:r>
                    </a:p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-40%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65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정숙성</a:t>
                      </a:r>
                    </a:p>
                  </a:txBody>
                  <a:tcPr marL="14625" marR="14625" marT="14625" marB="146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소음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@1300rpm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 dB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26.4 dB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90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에너지</a:t>
                      </a:r>
                    </a:p>
                  </a:txBody>
                  <a:tcPr marL="14625" marR="14625" marT="14625" marB="146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에너지 소비</a:t>
                      </a: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 에너지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EEI 6%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↑ 개선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4625" marR="14625" marT="14625" marB="146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9" name="직사각형 75">
            <a:extLst>
              <a:ext uri="{FF2B5EF4-FFF2-40B4-BE49-F238E27FC236}">
                <a16:creationId xmlns="" xmlns:a16="http://schemas.microsoft.com/office/drawing/2014/main" id="{9C3DFD98-1004-53B0-74B3-8BE1F086B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261" y="3938662"/>
            <a:ext cx="3018455" cy="15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tabLst>
                <a:tab pos="294084" algn="l"/>
                <a:tab pos="1000919" algn="l"/>
              </a:tabLst>
              <a:defRPr/>
            </a:pPr>
            <a:r>
              <a:rPr kumimoji="0" lang="ko-KR" altLang="en-US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 </a:t>
            </a:r>
            <a:r>
              <a:rPr kumimoji="0" lang="ko-KR" altLang="en-US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오븐</a:t>
            </a: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</a:t>
            </a:r>
            <a:r>
              <a:rPr kumimoji="0" lang="ko-KR" altLang="en-US" sz="975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에어프라이어</a:t>
            </a: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</a:t>
            </a:r>
            <a:r>
              <a:rPr kumimoji="0" lang="ko-KR" altLang="en-US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토스터</a:t>
            </a: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</a:t>
            </a:r>
            <a:r>
              <a:rPr kumimoji="0" lang="ko-KR" altLang="en-US" sz="975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수비드머신</a:t>
            </a: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+MWO+</a:t>
            </a:r>
            <a:r>
              <a:rPr kumimoji="0" lang="ko-KR" altLang="en-US" sz="975" b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스팀</a:t>
            </a:r>
            <a:r>
              <a:rPr kumimoji="0" lang="ko-KR" altLang="en-US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(6 in</a:t>
            </a:r>
            <a:r>
              <a:rPr kumimoji="0" lang="ko-KR" altLang="en-US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1)</a:t>
            </a:r>
            <a:endParaRPr kumimoji="0" lang="ko-KR" altLang="en-US" sz="975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0" name="모서리가 둥근 직사각형 120">
            <a:extLst>
              <a:ext uri="{FF2B5EF4-FFF2-40B4-BE49-F238E27FC236}">
                <a16:creationId xmlns="" xmlns:a16="http://schemas.microsoft.com/office/drawing/2014/main" id="{4BFDC2C5-69CB-181B-A706-32427D09B1AE}"/>
              </a:ext>
            </a:extLst>
          </p:cNvPr>
          <p:cNvSpPr/>
          <p:nvPr/>
        </p:nvSpPr>
        <p:spPr>
          <a:xfrm>
            <a:off x="9265537" y="1596998"/>
            <a:ext cx="230758" cy="95250"/>
          </a:xfrm>
          <a:prstGeom prst="roundRect">
            <a:avLst/>
          </a:prstGeom>
          <a:solidFill>
            <a:srgbClr val="FFFF00"/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Unique</a:t>
            </a:r>
            <a:endParaRPr kumimoji="0" lang="ko-KR" altLang="en-US" sz="650" b="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1" name="모서리가 둥근 직사각형 121">
            <a:extLst>
              <a:ext uri="{FF2B5EF4-FFF2-40B4-BE49-F238E27FC236}">
                <a16:creationId xmlns="" xmlns:a16="http://schemas.microsoft.com/office/drawing/2014/main" id="{ACE8ED2D-915D-7F47-D5EC-7896EAD7B083}"/>
              </a:ext>
            </a:extLst>
          </p:cNvPr>
          <p:cNvSpPr/>
          <p:nvPr/>
        </p:nvSpPr>
        <p:spPr>
          <a:xfrm>
            <a:off x="9518251" y="1596998"/>
            <a:ext cx="230758" cy="95250"/>
          </a:xfrm>
          <a:prstGeom prst="roundRect">
            <a:avLst/>
          </a:prstGeom>
          <a:solidFill>
            <a:srgbClr val="006600"/>
          </a:solidFill>
          <a:ln w="190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New</a:t>
            </a:r>
            <a:endParaRPr kumimoji="0" lang="ko-KR" altLang="en-US" sz="650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2" name="모서리가 둥근 직사각형 122">
            <a:extLst>
              <a:ext uri="{FF2B5EF4-FFF2-40B4-BE49-F238E27FC236}">
                <a16:creationId xmlns="" xmlns:a16="http://schemas.microsoft.com/office/drawing/2014/main" id="{9DCC278A-9844-87E1-DED8-A6E16A62B61D}"/>
              </a:ext>
            </a:extLst>
          </p:cNvPr>
          <p:cNvSpPr/>
          <p:nvPr/>
        </p:nvSpPr>
        <p:spPr>
          <a:xfrm>
            <a:off x="9012824" y="1596998"/>
            <a:ext cx="230758" cy="95250"/>
          </a:xfrm>
          <a:prstGeom prst="roundRect">
            <a:avLst/>
          </a:prstGeom>
          <a:solidFill>
            <a:srgbClr val="A50034"/>
          </a:solidFill>
          <a:ln w="190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First</a:t>
            </a:r>
            <a:endParaRPr kumimoji="0" lang="ko-KR" altLang="en-US" sz="650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3" name="모서리가 둥근 직사각형 121">
            <a:extLst>
              <a:ext uri="{FF2B5EF4-FFF2-40B4-BE49-F238E27FC236}">
                <a16:creationId xmlns="" xmlns:a16="http://schemas.microsoft.com/office/drawing/2014/main" id="{01016D4B-7ED6-F490-2981-B68721C17A91}"/>
              </a:ext>
            </a:extLst>
          </p:cNvPr>
          <p:cNvSpPr/>
          <p:nvPr/>
        </p:nvSpPr>
        <p:spPr>
          <a:xfrm>
            <a:off x="6676484" y="4624606"/>
            <a:ext cx="230758" cy="95250"/>
          </a:xfrm>
          <a:prstGeom prst="roundRect">
            <a:avLst/>
          </a:prstGeom>
          <a:solidFill>
            <a:srgbClr val="006600"/>
          </a:solidFill>
          <a:ln w="190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New</a:t>
            </a:r>
            <a:endParaRPr kumimoji="0" lang="ko-KR" altLang="en-US" sz="650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4" name="모서리가 둥근 직사각형 120">
            <a:extLst>
              <a:ext uri="{FF2B5EF4-FFF2-40B4-BE49-F238E27FC236}">
                <a16:creationId xmlns="" xmlns:a16="http://schemas.microsoft.com/office/drawing/2014/main" id="{45CA0570-1DE7-1FE8-1608-0088A3C49891}"/>
              </a:ext>
            </a:extLst>
          </p:cNvPr>
          <p:cNvSpPr/>
          <p:nvPr/>
        </p:nvSpPr>
        <p:spPr>
          <a:xfrm>
            <a:off x="6697262" y="3508295"/>
            <a:ext cx="230758" cy="95250"/>
          </a:xfrm>
          <a:prstGeom prst="roundRect">
            <a:avLst/>
          </a:prstGeom>
          <a:solidFill>
            <a:srgbClr val="FFFF00"/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Unique</a:t>
            </a:r>
            <a:endParaRPr kumimoji="0" lang="ko-KR" altLang="en-US" sz="650" b="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5" name="모서리가 둥근 직사각형 120">
            <a:extLst>
              <a:ext uri="{FF2B5EF4-FFF2-40B4-BE49-F238E27FC236}">
                <a16:creationId xmlns="" xmlns:a16="http://schemas.microsoft.com/office/drawing/2014/main" id="{19D2F51E-67C1-57E9-3086-7E904481A7F4}"/>
              </a:ext>
            </a:extLst>
          </p:cNvPr>
          <p:cNvSpPr/>
          <p:nvPr/>
        </p:nvSpPr>
        <p:spPr>
          <a:xfrm>
            <a:off x="6697262" y="1801794"/>
            <a:ext cx="230758" cy="95250"/>
          </a:xfrm>
          <a:prstGeom prst="roundRect">
            <a:avLst/>
          </a:prstGeom>
          <a:solidFill>
            <a:srgbClr val="FFFF00"/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Unique</a:t>
            </a:r>
            <a:endParaRPr kumimoji="0" lang="ko-KR" altLang="en-US" sz="650" b="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="" xmlns:a16="http://schemas.microsoft.com/office/drawing/2014/main" id="{7B6B4357-DCAF-E1F8-2BE5-52201CF71867}"/>
              </a:ext>
            </a:extLst>
          </p:cNvPr>
          <p:cNvSpPr/>
          <p:nvPr/>
        </p:nvSpPr>
        <p:spPr>
          <a:xfrm>
            <a:off x="6580601" y="1752719"/>
            <a:ext cx="3244350" cy="391639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63" b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7" name="직사각형 196">
            <a:hlinkClick r:id="" action="ppaction://noaction"/>
            <a:extLst>
              <a:ext uri="{FF2B5EF4-FFF2-40B4-BE49-F238E27FC236}">
                <a16:creationId xmlns="" xmlns:a16="http://schemas.microsoft.com/office/drawing/2014/main" id="{0204E339-8658-A6F5-0FD4-7D4020974BCD}"/>
              </a:ext>
            </a:extLst>
          </p:cNvPr>
          <p:cNvSpPr/>
          <p:nvPr/>
        </p:nvSpPr>
        <p:spPr>
          <a:xfrm>
            <a:off x="6697262" y="4788882"/>
            <a:ext cx="131857" cy="1328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13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kumimoji="0" lang="ko-KR" altLang="en-US" sz="813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8" name="직사각형 197">
            <a:hlinkClick r:id="" action="ppaction://noaction"/>
            <a:extLst>
              <a:ext uri="{FF2B5EF4-FFF2-40B4-BE49-F238E27FC236}">
                <a16:creationId xmlns="" xmlns:a16="http://schemas.microsoft.com/office/drawing/2014/main" id="{4CEAF205-EA47-3D1A-F2D8-20C9EF96C271}"/>
              </a:ext>
            </a:extLst>
          </p:cNvPr>
          <p:cNvSpPr/>
          <p:nvPr/>
        </p:nvSpPr>
        <p:spPr>
          <a:xfrm>
            <a:off x="6698605" y="2006014"/>
            <a:ext cx="131857" cy="1328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13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0" lang="ko-KR" altLang="en-US" sz="813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9" name="직사각형 198">
            <a:hlinkClick r:id="" action="ppaction://noaction"/>
            <a:extLst>
              <a:ext uri="{FF2B5EF4-FFF2-40B4-BE49-F238E27FC236}">
                <a16:creationId xmlns="" xmlns:a16="http://schemas.microsoft.com/office/drawing/2014/main" id="{4EAB3669-277F-5881-AD4D-7A0C0FAE806B}"/>
              </a:ext>
            </a:extLst>
          </p:cNvPr>
          <p:cNvSpPr/>
          <p:nvPr/>
        </p:nvSpPr>
        <p:spPr>
          <a:xfrm>
            <a:off x="6697262" y="3670362"/>
            <a:ext cx="131857" cy="1328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13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kumimoji="0" lang="ko-KR" altLang="en-US" sz="813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="" xmlns:a16="http://schemas.microsoft.com/office/drawing/2014/main" id="{49C7D0A0-9AB0-D7C1-9806-3A310EB21C61}"/>
              </a:ext>
            </a:extLst>
          </p:cNvPr>
          <p:cNvSpPr txBox="1"/>
          <p:nvPr/>
        </p:nvSpPr>
        <p:spPr>
          <a:xfrm>
            <a:off x="5207451" y="3562824"/>
            <a:ext cx="1605190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Kitchenette (</a:t>
            </a:r>
            <a:r>
              <a:rPr kumimoji="0" lang="en-US" altLang="ko-KR" sz="731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소형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키친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용</a:t>
            </a:r>
            <a:endParaRPr kumimoji="0" lang="ko-KR" altLang="en-US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="" xmlns:a16="http://schemas.microsoft.com/office/drawing/2014/main" id="{34F9F726-213B-CB2B-B91A-BBB069FD10DA}"/>
              </a:ext>
            </a:extLst>
          </p:cNvPr>
          <p:cNvSpPr txBox="1"/>
          <p:nvPr/>
        </p:nvSpPr>
        <p:spPr>
          <a:xfrm>
            <a:off x="4453523" y="2231053"/>
            <a:ext cx="1721841" cy="31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단독설치 언급 건수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2021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이후 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70% 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이상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="" xmlns:a16="http://schemas.microsoft.com/office/drawing/2014/main" id="{50AD4CD5-FE21-D294-03D9-E41D1C2F5BA9}"/>
              </a:ext>
            </a:extLst>
          </p:cNvPr>
          <p:cNvSpPr txBox="1"/>
          <p:nvPr/>
        </p:nvSpPr>
        <p:spPr>
          <a:xfrm>
            <a:off x="6791864" y="4259433"/>
            <a:ext cx="1887055" cy="4297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Crispy reheat, Moist Reheat</a:t>
            </a:r>
          </a:p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유럽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0" lang="ko-KR" altLang="en-US" sz="731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빵조리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시 강한 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heat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필요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초반 고온 활용</a:t>
            </a:r>
            <a:endParaRPr kumimoji="0" lang="en-US" altLang="ko-KR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중아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0" lang="ko-KR" altLang="en-US" sz="731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솥밥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조리 시 뭉근한 온도 활용</a:t>
            </a:r>
            <a:endParaRPr kumimoji="0" lang="en-US" altLang="ko-KR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3" name="직사각형 75">
            <a:extLst>
              <a:ext uri="{FF2B5EF4-FFF2-40B4-BE49-F238E27FC236}">
                <a16:creationId xmlns="" xmlns:a16="http://schemas.microsoft.com/office/drawing/2014/main" id="{64F408B1-07F3-4F96-3C39-2BB1696CD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261" y="4155259"/>
            <a:ext cx="1202252" cy="15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tabLst>
                <a:tab pos="294084" algn="l"/>
                <a:tab pos="1000919" algn="l"/>
              </a:tabLst>
              <a:defRPr/>
            </a:pPr>
            <a:r>
              <a:rPr kumimoji="0" lang="ko-KR" altLang="en-US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 </a:t>
            </a:r>
            <a:r>
              <a:rPr kumimoji="0" lang="ko-KR" altLang="en-US" sz="975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지역별 특화 조리모드 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="" xmlns:a16="http://schemas.microsoft.com/office/drawing/2014/main" id="{BBF78ED6-0B37-461B-3558-AD523F7C7DF6}"/>
              </a:ext>
            </a:extLst>
          </p:cNvPr>
          <p:cNvSpPr txBox="1"/>
          <p:nvPr/>
        </p:nvSpPr>
        <p:spPr>
          <a:xfrm>
            <a:off x="7690696" y="4026970"/>
            <a:ext cx="747320" cy="2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토스터 컬러 픽 </a:t>
            </a:r>
            <a:endParaRPr kumimoji="0" lang="en-US" altLang="ko-KR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="" xmlns:a16="http://schemas.microsoft.com/office/drawing/2014/main" id="{D4735D4A-A864-EEE5-19C6-0C5F532EC3C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59" r="17722" b="2150"/>
          <a:stretch/>
        </p:blipFill>
        <p:spPr>
          <a:xfrm>
            <a:off x="8704273" y="4147263"/>
            <a:ext cx="930506" cy="1463289"/>
          </a:xfrm>
          <a:prstGeom prst="rect">
            <a:avLst/>
          </a:prstGeom>
        </p:spPr>
      </p:pic>
      <p:sp>
        <p:nvSpPr>
          <p:cNvPr id="206" name="직사각형 205">
            <a:extLst>
              <a:ext uri="{FF2B5EF4-FFF2-40B4-BE49-F238E27FC236}">
                <a16:creationId xmlns="" xmlns:a16="http://schemas.microsoft.com/office/drawing/2014/main" id="{0E05DA21-33C7-82D6-D167-1A2CDFB7FF99}"/>
              </a:ext>
            </a:extLst>
          </p:cNvPr>
          <p:cNvSpPr/>
          <p:nvPr/>
        </p:nvSpPr>
        <p:spPr bwMode="auto">
          <a:xfrm>
            <a:off x="7934448" y="4203494"/>
            <a:ext cx="676918" cy="122523"/>
          </a:xfrm>
          <a:prstGeom prst="rect">
            <a:avLst/>
          </a:prstGeom>
          <a:solidFill>
            <a:srgbClr val="333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77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CP</a:t>
            </a:r>
            <a:r>
              <a:rPr kumimoji="0" lang="ko-KR" altLang="en-US" sz="6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시 확인 예정</a:t>
            </a:r>
          </a:p>
        </p:txBody>
      </p:sp>
      <p:sp>
        <p:nvSpPr>
          <p:cNvPr id="207" name="Text Box 118">
            <a:extLst>
              <a:ext uri="{FF2B5EF4-FFF2-40B4-BE49-F238E27FC236}">
                <a16:creationId xmlns="" xmlns:a16="http://schemas.microsoft.com/office/drawing/2014/main" id="{466C73A8-D902-3C5B-6999-648CA338E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885" y="3589979"/>
            <a:ext cx="448602" cy="125099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txBody>
          <a:bodyPr wrap="none" lIns="29250" tIns="0" rIns="29250" bIns="0" anchor="t" anchorCtr="0">
            <a:spAutoFit/>
          </a:bodyPr>
          <a:lstStyle>
            <a:defPPr>
              <a:defRPr lang="ko-KR"/>
            </a:defPPr>
            <a:lvl1pPr marL="177800" indent="-177800" latinLnBrk="0">
              <a:spcBef>
                <a:spcPts val="600"/>
              </a:spcBef>
              <a:buClr>
                <a:prstClr val="black"/>
              </a:buClr>
              <a:buSzPts val="1300"/>
              <a:buFont typeface="Wingdings" pitchFamily="2" charset="2"/>
              <a:buChar char="§"/>
              <a:defRPr kumimoji="1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defTabSz="742950" fontAlgn="auto">
              <a:spcBef>
                <a:spcPts val="488"/>
              </a:spcBef>
              <a:spcAft>
                <a:spcPts val="0"/>
              </a:spcAft>
              <a:buNone/>
              <a:defRPr/>
            </a:pPr>
            <a:r>
              <a:rPr lang="ko-KR" altLang="en-US" sz="813" dirty="0">
                <a:cs typeface="+mn-cs"/>
              </a:rPr>
              <a:t>설치 사유</a:t>
            </a:r>
            <a:endParaRPr lang="en-US" altLang="ko-KR" sz="813" dirty="0">
              <a:cs typeface="+mn-cs"/>
            </a:endParaRPr>
          </a:p>
        </p:txBody>
      </p:sp>
      <p:graphicFrame>
        <p:nvGraphicFramePr>
          <p:cNvPr id="208" name="표 207">
            <a:extLst>
              <a:ext uri="{FF2B5EF4-FFF2-40B4-BE49-F238E27FC236}">
                <a16:creationId xmlns="" xmlns:a16="http://schemas.microsoft.com/office/drawing/2014/main" id="{FB90DBB2-69C5-8631-652E-BDBD8E685ACD}"/>
              </a:ext>
            </a:extLst>
          </p:cNvPr>
          <p:cNvGraphicFramePr>
            <a:graphicFrameLocks noGrp="1"/>
          </p:cNvGraphicFramePr>
          <p:nvPr/>
        </p:nvGraphicFramePr>
        <p:xfrm>
          <a:off x="3330917" y="4433426"/>
          <a:ext cx="3016489" cy="445772"/>
        </p:xfrm>
        <a:graphic>
          <a:graphicData uri="http://schemas.openxmlformats.org/drawingml/2006/table">
            <a:tbl>
              <a:tblPr/>
              <a:tblGrid>
                <a:gridCol w="100549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03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033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033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1144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ko-KR" altLang="en-US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보유율 </a:t>
                      </a:r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(%)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</a:t>
                      </a:r>
                      <a:endParaRPr lang="ko-KR" altLang="en-US" sz="7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IT</a:t>
                      </a:r>
                      <a:endParaRPr lang="ko-KR" altLang="en-US" sz="7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</a:t>
                      </a:r>
                      <a:endParaRPr lang="ko-KR" altLang="en-US" sz="7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144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ko-KR" altLang="en-US" sz="7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키친소물가전</a:t>
                      </a:r>
                      <a:endParaRPr kumimoji="0" lang="en-US" altLang="ko-KR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144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ko-KR" altLang="en-US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토스터</a:t>
                      </a:r>
                      <a:endParaRPr kumimoji="0" lang="en-US" altLang="ko-KR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144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MWO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9" name="TextBox 208">
            <a:extLst>
              <a:ext uri="{FF2B5EF4-FFF2-40B4-BE49-F238E27FC236}">
                <a16:creationId xmlns="" xmlns:a16="http://schemas.microsoft.com/office/drawing/2014/main" id="{B0F78362-C4D8-D1C9-08E6-98C8666E3958}"/>
              </a:ext>
            </a:extLst>
          </p:cNvPr>
          <p:cNvSpPr txBox="1"/>
          <p:nvPr/>
        </p:nvSpPr>
        <p:spPr bwMode="auto">
          <a:xfrm>
            <a:off x="3553874" y="4285933"/>
            <a:ext cx="774251" cy="1250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algn="ctr">
              <a:spcBef>
                <a:spcPts val="300"/>
              </a:spcBef>
              <a:buFont typeface="Wingdings" pitchFamily="2" charset="2"/>
              <a:buNone/>
              <a:defRPr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defTabSz="742913" fontAlgn="auto">
              <a:spcBef>
                <a:spcPts val="244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white">
                    <a:lumMod val="50000"/>
                  </a:prstClr>
                </a:solidFill>
              </a:rPr>
              <a:t>[</a:t>
            </a:r>
            <a:r>
              <a:rPr kumimoji="0" lang="ko-KR" altLang="en-US" sz="813" b="0" dirty="0">
                <a:solidFill>
                  <a:prstClr val="white">
                    <a:lumMod val="50000"/>
                  </a:prstClr>
                </a:solidFill>
              </a:rPr>
              <a:t>소형가전 보유율</a:t>
            </a:r>
            <a:r>
              <a:rPr kumimoji="0" lang="en-US" altLang="ko-KR" sz="813" b="0" baseline="30000" dirty="0">
                <a:solidFill>
                  <a:prstClr val="white">
                    <a:lumMod val="50000"/>
                  </a:prstClr>
                </a:solidFill>
              </a:rPr>
              <a:t>4)</a:t>
            </a:r>
            <a:r>
              <a:rPr kumimoji="0" lang="en-US" altLang="ko-KR" sz="813" b="0" dirty="0">
                <a:solidFill>
                  <a:prstClr val="white">
                    <a:lumMod val="50000"/>
                  </a:prstClr>
                </a:solidFill>
              </a:rPr>
              <a:t>]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="" xmlns:a16="http://schemas.microsoft.com/office/drawing/2014/main" id="{3E947655-7A3B-5A25-29F7-AB1494C71302}"/>
              </a:ext>
            </a:extLst>
          </p:cNvPr>
          <p:cNvSpPr txBox="1"/>
          <p:nvPr/>
        </p:nvSpPr>
        <p:spPr bwMode="auto">
          <a:xfrm>
            <a:off x="3327460" y="4947610"/>
            <a:ext cx="891270" cy="1250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algn="ctr">
              <a:spcBef>
                <a:spcPts val="300"/>
              </a:spcBef>
              <a:buFont typeface="Wingdings" pitchFamily="2" charset="2"/>
              <a:buNone/>
              <a:defRPr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defTabSz="742913" fontAlgn="auto">
              <a:spcBef>
                <a:spcPts val="244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white">
                    <a:lumMod val="50000"/>
                  </a:prstClr>
                </a:solidFill>
              </a:rPr>
              <a:t>[</a:t>
            </a:r>
            <a:r>
              <a:rPr kumimoji="0" lang="ko-KR" altLang="en-US" sz="813" b="0" dirty="0">
                <a:solidFill>
                  <a:prstClr val="white">
                    <a:lumMod val="50000"/>
                  </a:prstClr>
                </a:solidFill>
              </a:rPr>
              <a:t>유럽</a:t>
            </a:r>
            <a:r>
              <a:rPr kumimoji="0" lang="en-US" altLang="ko-KR" sz="813" b="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kumimoji="0" lang="ko-KR" altLang="en-US" sz="813" b="0" dirty="0">
                <a:solidFill>
                  <a:prstClr val="white">
                    <a:lumMod val="50000"/>
                  </a:prstClr>
                </a:solidFill>
              </a:rPr>
              <a:t>소물가전 시장</a:t>
            </a:r>
            <a:r>
              <a:rPr kumimoji="0" lang="en-US" altLang="ko-KR" sz="813" b="0" baseline="30000" dirty="0">
                <a:solidFill>
                  <a:prstClr val="white">
                    <a:lumMod val="50000"/>
                  </a:prstClr>
                </a:solidFill>
              </a:rPr>
              <a:t>5)</a:t>
            </a:r>
            <a:r>
              <a:rPr kumimoji="0" lang="en-US" altLang="ko-KR" sz="813" b="0" dirty="0">
                <a:solidFill>
                  <a:prstClr val="white">
                    <a:lumMod val="50000"/>
                  </a:prstClr>
                </a:solidFill>
              </a:rPr>
              <a:t>]</a:t>
            </a:r>
          </a:p>
        </p:txBody>
      </p:sp>
      <p:graphicFrame>
        <p:nvGraphicFramePr>
          <p:cNvPr id="211" name="표 210">
            <a:extLst>
              <a:ext uri="{FF2B5EF4-FFF2-40B4-BE49-F238E27FC236}">
                <a16:creationId xmlns="" xmlns:a16="http://schemas.microsoft.com/office/drawing/2014/main" id="{5283DEB6-4A88-E076-4621-799D4AFB80D0}"/>
              </a:ext>
            </a:extLst>
          </p:cNvPr>
          <p:cNvGraphicFramePr>
            <a:graphicFrameLocks noGrp="1"/>
          </p:cNvGraphicFramePr>
          <p:nvPr/>
        </p:nvGraphicFramePr>
        <p:xfrm>
          <a:off x="3330917" y="5110121"/>
          <a:ext cx="3016489" cy="445772"/>
        </p:xfrm>
        <a:graphic>
          <a:graphicData uri="http://schemas.openxmlformats.org/drawingml/2006/table">
            <a:tbl>
              <a:tblPr/>
              <a:tblGrid>
                <a:gridCol w="100549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03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033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033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1144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Retail Value (M$)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Unit (K</a:t>
                      </a:r>
                      <a:r>
                        <a:rPr kumimoji="0" lang="ko-KR" altLang="en-US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대</a:t>
                      </a:r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ASP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144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ko-KR" altLang="en-US" sz="7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에어프라이어</a:t>
                      </a:r>
                      <a:endParaRPr kumimoji="0" lang="en-US" altLang="ko-KR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23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11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199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144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ko-KR" altLang="en-US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토스터</a:t>
                      </a:r>
                      <a:endParaRPr kumimoji="0" lang="en-US" altLang="ko-KR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144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MWO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131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2" name="TextBox 211">
            <a:extLst>
              <a:ext uri="{FF2B5EF4-FFF2-40B4-BE49-F238E27FC236}">
                <a16:creationId xmlns="" xmlns:a16="http://schemas.microsoft.com/office/drawing/2014/main" id="{44CAECF7-A217-F7C7-0F0A-034A1AB4BCA6}"/>
              </a:ext>
            </a:extLst>
          </p:cNvPr>
          <p:cNvSpPr txBox="1"/>
          <p:nvPr/>
        </p:nvSpPr>
        <p:spPr bwMode="auto">
          <a:xfrm>
            <a:off x="3313367" y="4282862"/>
            <a:ext cx="219612" cy="1250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algn="ctr">
              <a:spcBef>
                <a:spcPts val="300"/>
              </a:spcBef>
              <a:buFont typeface="Wingdings" pitchFamily="2" charset="2"/>
              <a:buNone/>
              <a:defRPr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defTabSz="742913" fontAlgn="auto">
              <a:spcBef>
                <a:spcPts val="244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white">
                    <a:lumMod val="50000"/>
                  </a:prstClr>
                </a:solidFill>
              </a:rPr>
              <a:t>*</a:t>
            </a:r>
            <a:r>
              <a:rPr kumimoji="0" lang="ko-KR" altLang="en-US" sz="813" b="0" dirty="0">
                <a:solidFill>
                  <a:prstClr val="white">
                    <a:lumMod val="50000"/>
                  </a:prstClr>
                </a:solidFill>
              </a:rPr>
              <a:t>참고</a:t>
            </a:r>
            <a:endParaRPr kumimoji="0" lang="en-US" altLang="ko-KR" sz="813" b="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="" xmlns:a16="http://schemas.microsoft.com/office/drawing/2014/main" id="{98703AFE-8B46-AAC8-8ABC-14A5D880FF87}"/>
              </a:ext>
            </a:extLst>
          </p:cNvPr>
          <p:cNvSpPr/>
          <p:nvPr/>
        </p:nvSpPr>
        <p:spPr bwMode="auto">
          <a:xfrm>
            <a:off x="8936529" y="2187351"/>
            <a:ext cx="702078" cy="121899"/>
          </a:xfrm>
          <a:prstGeom prst="rect">
            <a:avLst/>
          </a:prstGeom>
          <a:solidFill>
            <a:srgbClr val="333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77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24</a:t>
            </a:r>
            <a:r>
              <a:rPr kumimoji="0" lang="ko-KR" altLang="en-US" sz="6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인치 기준 검토 중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9A278C04-B3C3-EF8A-8774-71E5059C8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7" y="140100"/>
            <a:ext cx="2756611" cy="5750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C-D-P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정의서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(Pitch Deck)</a:t>
            </a:r>
          </a:p>
          <a:p>
            <a:pPr lvl="0">
              <a:defRPr/>
            </a:pP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101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41">
            <a:extLst>
              <a:ext uri="{FF2B5EF4-FFF2-40B4-BE49-F238E27FC236}">
                <a16:creationId xmlns="" xmlns:a16="http://schemas.microsoft.com/office/drawing/2014/main" id="{DC3B73C5-8224-5C5A-2A6A-C39992950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75" y="805172"/>
            <a:ext cx="957570" cy="22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 eaLnBrk="1" hangingPunct="1">
              <a:buNone/>
              <a:defRPr/>
            </a:pPr>
            <a:r>
              <a:rPr kumimoji="0" lang="en-US" altLang="ko-KR" sz="1463" dirty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C-D-P </a:t>
            </a:r>
            <a:r>
              <a:rPr kumimoji="0" lang="ko-KR" altLang="en-US" sz="1463" dirty="0">
                <a:solidFill>
                  <a:srgbClr val="000000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정의서</a:t>
            </a:r>
            <a:endParaRPr kumimoji="0" lang="en-US" altLang="ko-KR" sz="1463" dirty="0">
              <a:solidFill>
                <a:srgbClr val="000000"/>
              </a:solidFill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1E88EF4-35CA-9926-76DC-7557997D8E5F}"/>
              </a:ext>
            </a:extLst>
          </p:cNvPr>
          <p:cNvSpPr txBox="1"/>
          <p:nvPr/>
        </p:nvSpPr>
        <p:spPr>
          <a:xfrm>
            <a:off x="3160840" y="3657304"/>
            <a:ext cx="2298706" cy="1312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eaLnBrk="0" fontAlgn="base" hangingPunct="0">
              <a:lnSpc>
                <a:spcPct val="120000"/>
              </a:lnSpc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 sz="1700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853" dirty="0">
                <a:solidFill>
                  <a:prstClr val="black"/>
                </a:solidFill>
              </a:rPr>
              <a:t> </a:t>
            </a:r>
            <a:r>
              <a:rPr lang="en-US" altLang="ko-KR" sz="853" dirty="0" err="1">
                <a:solidFill>
                  <a:prstClr val="black"/>
                </a:solidFill>
              </a:rPr>
              <a:t>EasyClean</a:t>
            </a:r>
            <a:r>
              <a:rPr lang="en-US" altLang="ko-KR" sz="853" dirty="0">
                <a:solidFill>
                  <a:prstClr val="black"/>
                </a:solidFill>
              </a:rPr>
              <a:t> + </a:t>
            </a:r>
            <a:r>
              <a:rPr lang="ko-KR" altLang="en-US" sz="853" dirty="0" err="1">
                <a:solidFill>
                  <a:prstClr val="black"/>
                </a:solidFill>
              </a:rPr>
              <a:t>쾌속셀프클린</a:t>
            </a:r>
            <a:r>
              <a:rPr lang="en-US" altLang="ko-KR" sz="853" dirty="0">
                <a:solidFill>
                  <a:prstClr val="black"/>
                </a:solidFill>
              </a:rPr>
              <a:t>. </a:t>
            </a:r>
            <a:r>
              <a:rPr lang="ko-KR" altLang="en-US" sz="853" dirty="0">
                <a:solidFill>
                  <a:prstClr val="black"/>
                </a:solidFill>
              </a:rPr>
              <a:t>로 빠르고 쉬운 청소경험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F31211F6-160E-C22E-1FBC-49F844657A8F}"/>
              </a:ext>
            </a:extLst>
          </p:cNvPr>
          <p:cNvSpPr/>
          <p:nvPr/>
        </p:nvSpPr>
        <p:spPr>
          <a:xfrm>
            <a:off x="392817" y="1805236"/>
            <a:ext cx="6386333" cy="2419108"/>
          </a:xfrm>
          <a:prstGeom prst="rect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63" b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7B06194-F3A8-E839-6A6B-CC0B3194C6D3}"/>
              </a:ext>
            </a:extLst>
          </p:cNvPr>
          <p:cNvSpPr/>
          <p:nvPr/>
        </p:nvSpPr>
        <p:spPr>
          <a:xfrm>
            <a:off x="7032852" y="1805236"/>
            <a:ext cx="2501304" cy="2419108"/>
          </a:xfrm>
          <a:prstGeom prst="rect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63" b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="" xmlns:a16="http://schemas.microsoft.com/office/drawing/2014/main" id="{4787CD48-264D-367D-A253-8CC0C8D9157F}"/>
              </a:ext>
            </a:extLst>
          </p:cNvPr>
          <p:cNvSpPr/>
          <p:nvPr/>
        </p:nvSpPr>
        <p:spPr>
          <a:xfrm>
            <a:off x="392817" y="4356209"/>
            <a:ext cx="3796755" cy="1702728"/>
          </a:xfrm>
          <a:prstGeom prst="flowChartProcess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63" b="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="" xmlns:a16="http://schemas.microsoft.com/office/drawing/2014/main" id="{471ADCEB-F6F0-D449-9309-D6696529F527}"/>
              </a:ext>
            </a:extLst>
          </p:cNvPr>
          <p:cNvSpPr/>
          <p:nvPr/>
        </p:nvSpPr>
        <p:spPr>
          <a:xfrm>
            <a:off x="4302073" y="4336271"/>
            <a:ext cx="2490260" cy="1723075"/>
          </a:xfrm>
          <a:prstGeom prst="flowChartProcess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63" b="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24" name="순서도: 처리 23">
            <a:extLst>
              <a:ext uri="{FF2B5EF4-FFF2-40B4-BE49-F238E27FC236}">
                <a16:creationId xmlns="" xmlns:a16="http://schemas.microsoft.com/office/drawing/2014/main" id="{E5331C41-DD92-51C9-8767-CD656717186D}"/>
              </a:ext>
            </a:extLst>
          </p:cNvPr>
          <p:cNvSpPr/>
          <p:nvPr/>
        </p:nvSpPr>
        <p:spPr>
          <a:xfrm>
            <a:off x="7032851" y="4336271"/>
            <a:ext cx="2510380" cy="1722666"/>
          </a:xfrm>
          <a:prstGeom prst="flowChartProcess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63" b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="" xmlns:a16="http://schemas.microsoft.com/office/drawing/2014/main" id="{3EE0147A-DF8C-5886-AD0F-D6B13FE22D57}"/>
              </a:ext>
            </a:extLst>
          </p:cNvPr>
          <p:cNvSpPr/>
          <p:nvPr/>
        </p:nvSpPr>
        <p:spPr>
          <a:xfrm>
            <a:off x="1471496" y="1197835"/>
            <a:ext cx="8239177" cy="292500"/>
          </a:xfrm>
          <a:prstGeom prst="rect">
            <a:avLst/>
          </a:prstGeom>
          <a:noFill/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29250" tIns="29250" rIns="29250" bIns="2925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742950">
              <a:lnSpc>
                <a:spcPct val="120000"/>
              </a:lnSpc>
              <a:tabLst>
                <a:tab pos="290215" algn="l"/>
              </a:tabLst>
              <a:defRPr/>
            </a:pPr>
            <a:r>
              <a:rPr kumimoji="0" lang="ko-KR" altLang="en-US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Max </a:t>
            </a:r>
            <a:r>
              <a:rPr kumimoji="0" lang="ko-KR" altLang="en-US" sz="1138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올인원</a:t>
            </a:r>
            <a:r>
              <a:rPr kumimoji="0" lang="ko-KR" altLang="en-US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조리기능</a:t>
            </a:r>
            <a:r>
              <a:rPr kumimoji="0" lang="en-US" altLang="ko-KR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Max </a:t>
            </a:r>
            <a:r>
              <a:rPr kumimoji="0" lang="ko-KR" altLang="en-US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수납공간</a:t>
            </a:r>
            <a:r>
              <a:rPr kumimoji="0" lang="en-US" altLang="ko-KR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Fit</a:t>
            </a:r>
            <a:r>
              <a:rPr kumimoji="0" lang="ko-KR" altLang="en-US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한 빌트인 설치로 즐기는 </a:t>
            </a:r>
            <a:r>
              <a:rPr kumimoji="0" lang="en-US" altLang="ko-KR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</a:t>
            </a:r>
            <a:r>
              <a:rPr kumimoji="0" lang="ko-KR" altLang="en-US" sz="1138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컴팩트오븐</a:t>
            </a:r>
            <a:r>
              <a:rPr kumimoji="0" lang="en-US" altLang="ko-KR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</a:t>
            </a:r>
            <a:r>
              <a:rPr kumimoji="0" lang="ko-KR" altLang="en-US" sz="1138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1138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34" name="오각형 166">
            <a:extLst>
              <a:ext uri="{FF2B5EF4-FFF2-40B4-BE49-F238E27FC236}">
                <a16:creationId xmlns="" xmlns:a16="http://schemas.microsoft.com/office/drawing/2014/main" id="{DF0D115E-3B3A-33BF-3B95-A7575C8C4F28}"/>
              </a:ext>
            </a:extLst>
          </p:cNvPr>
          <p:cNvSpPr/>
          <p:nvPr/>
        </p:nvSpPr>
        <p:spPr>
          <a:xfrm>
            <a:off x="303340" y="1197835"/>
            <a:ext cx="1116750" cy="292500"/>
          </a:xfrm>
          <a:prstGeom prst="homePlate">
            <a:avLst>
              <a:gd name="adj" fmla="val 17662"/>
            </a:avLst>
          </a:prstGeom>
          <a:solidFill>
            <a:schemeClr val="tx1">
              <a:lumMod val="95000"/>
              <a:lumOff val="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29250" tIns="29250" rIns="29250" bIns="2925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742866">
              <a:lnSpc>
                <a:spcPct val="120000"/>
              </a:lnSpc>
              <a:spcBef>
                <a:spcPts val="0"/>
              </a:spcBef>
              <a:buSzPct val="90000"/>
              <a:defRPr/>
            </a:pPr>
            <a:r>
              <a:rPr kumimoji="0" lang="ko-KR" altLang="en-US" sz="1138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고객감동목표</a:t>
            </a:r>
            <a:endParaRPr kumimoji="0" lang="en-US" altLang="ko-KR" sz="1138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37F1D9E6-E1B4-BF91-1791-77275F17DAC8}"/>
              </a:ext>
            </a:extLst>
          </p:cNvPr>
          <p:cNvSpPr txBox="1"/>
          <p:nvPr/>
        </p:nvSpPr>
        <p:spPr>
          <a:xfrm>
            <a:off x="371845" y="1848779"/>
            <a:ext cx="1037463" cy="238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76101" indent="-76101">
              <a:lnSpc>
                <a:spcPts val="1463"/>
              </a:lnSpc>
              <a:buFont typeface="Wingdings" panose="05000000000000000000" pitchFamily="2" charset="2"/>
              <a:buChar char="q"/>
              <a:defRPr sz="1200" b="1">
                <a:solidFill>
                  <a:srgbClr val="0070C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61832" indent="-61832" defTabSz="742950" fontAlgn="auto">
              <a:lnSpc>
                <a:spcPts val="118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75" dirty="0">
                <a:solidFill>
                  <a:srgbClr val="C2147D"/>
                </a:solidFill>
                <a:cs typeface="Arial"/>
              </a:rPr>
              <a:t> </a:t>
            </a:r>
            <a:r>
              <a:rPr kumimoji="0" lang="ko-KR" altLang="en-US" sz="975" dirty="0">
                <a:solidFill>
                  <a:srgbClr val="C2147D"/>
                </a:solidFill>
                <a:cs typeface="Arial"/>
              </a:rPr>
              <a:t>타겟 고객 정의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C99296E5-564D-4109-10E9-510B20BD2581}"/>
              </a:ext>
            </a:extLst>
          </p:cNvPr>
          <p:cNvSpPr txBox="1"/>
          <p:nvPr/>
        </p:nvSpPr>
        <p:spPr>
          <a:xfrm>
            <a:off x="7046818" y="3054610"/>
            <a:ext cx="1265090" cy="238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76101" indent="-76101">
              <a:lnSpc>
                <a:spcPts val="1463"/>
              </a:lnSpc>
              <a:buFont typeface="Wingdings" panose="05000000000000000000" pitchFamily="2" charset="2"/>
              <a:buChar char="q"/>
              <a:defRPr sz="1200" b="1">
                <a:solidFill>
                  <a:srgbClr val="0070C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61832" indent="-61832" defTabSz="742950" fontAlgn="auto">
              <a:lnSpc>
                <a:spcPts val="118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75" dirty="0">
                <a:solidFill>
                  <a:srgbClr val="C2147D"/>
                </a:solidFill>
                <a:cs typeface="Arial"/>
              </a:rPr>
              <a:t> </a:t>
            </a:r>
            <a:r>
              <a:rPr kumimoji="0" lang="ko-KR" altLang="en-US" sz="975" dirty="0">
                <a:solidFill>
                  <a:srgbClr val="C2147D"/>
                </a:solidFill>
                <a:cs typeface="Arial"/>
              </a:rPr>
              <a:t>경영성과 </a:t>
            </a:r>
            <a:r>
              <a:rPr kumimoji="0" lang="en-US" altLang="ko-KR" sz="894" b="0" dirty="0">
                <a:solidFill>
                  <a:srgbClr val="C2147D"/>
                </a:solidFill>
                <a:cs typeface="Arial"/>
              </a:rPr>
              <a:t>(</a:t>
            </a:r>
            <a:r>
              <a:rPr kumimoji="0" lang="ko-KR" altLang="en-US" sz="894" b="0" dirty="0">
                <a:solidFill>
                  <a:srgbClr val="C2147D"/>
                </a:solidFill>
                <a:cs typeface="Arial"/>
              </a:rPr>
              <a:t>내부지표</a:t>
            </a:r>
            <a:r>
              <a:rPr kumimoji="0" lang="en-US" altLang="ko-KR" sz="894" b="0" dirty="0">
                <a:solidFill>
                  <a:srgbClr val="C2147D"/>
                </a:solidFill>
                <a:cs typeface="Arial"/>
              </a:rPr>
              <a:t>)</a:t>
            </a:r>
            <a:endParaRPr kumimoji="0" lang="ko-KR" altLang="en-US" sz="894" b="0" dirty="0">
              <a:solidFill>
                <a:srgbClr val="C2147D"/>
              </a:solidFill>
              <a:cs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="" xmlns:a16="http://schemas.microsoft.com/office/drawing/2014/main" id="{D450C4D7-C063-5E9D-D348-5E20AFB6D23C}"/>
              </a:ext>
            </a:extLst>
          </p:cNvPr>
          <p:cNvSpPr txBox="1"/>
          <p:nvPr/>
        </p:nvSpPr>
        <p:spPr>
          <a:xfrm>
            <a:off x="7046819" y="2013840"/>
            <a:ext cx="761747" cy="238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76101" indent="-76101">
              <a:lnSpc>
                <a:spcPts val="1463"/>
              </a:lnSpc>
              <a:buFont typeface="Wingdings" panose="05000000000000000000" pitchFamily="2" charset="2"/>
              <a:buChar char="q"/>
              <a:defRPr sz="1200" b="1">
                <a:solidFill>
                  <a:srgbClr val="0070C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61832" indent="-61832" defTabSz="742950" fontAlgn="auto">
              <a:lnSpc>
                <a:spcPts val="118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75" dirty="0">
                <a:solidFill>
                  <a:srgbClr val="C2147D"/>
                </a:solidFill>
                <a:cs typeface="Arial"/>
              </a:rPr>
              <a:t> </a:t>
            </a:r>
            <a:r>
              <a:rPr kumimoji="0" lang="ko-KR" altLang="en-US" sz="975" dirty="0">
                <a:solidFill>
                  <a:srgbClr val="C2147D"/>
                </a:solidFill>
                <a:cs typeface="Arial"/>
              </a:rPr>
              <a:t>고객가치</a:t>
            </a:r>
          </a:p>
        </p:txBody>
      </p:sp>
      <p:sp>
        <p:nvSpPr>
          <p:cNvPr id="65" name="직사각형 64">
            <a:hlinkClick r:id="" action="ppaction://noaction"/>
            <a:extLst>
              <a:ext uri="{FF2B5EF4-FFF2-40B4-BE49-F238E27FC236}">
                <a16:creationId xmlns="" xmlns:a16="http://schemas.microsoft.com/office/drawing/2014/main" id="{85750431-ADDD-6B0A-5D8D-F863987537F5}"/>
              </a:ext>
            </a:extLst>
          </p:cNvPr>
          <p:cNvSpPr/>
          <p:nvPr/>
        </p:nvSpPr>
        <p:spPr>
          <a:xfrm>
            <a:off x="1249816" y="1864699"/>
            <a:ext cx="896399" cy="217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13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“</a:t>
            </a:r>
            <a:r>
              <a:rPr kumimoji="0" lang="ko-KR" altLang="en-US" sz="813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우리의 고객은</a:t>
            </a:r>
            <a:r>
              <a:rPr kumimoji="0" lang="en-US" altLang="ko-KR" sz="813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?”</a:t>
            </a:r>
            <a:endParaRPr kumimoji="0" lang="ko-KR" altLang="en-US" sz="813" dirty="0">
              <a:solidFill>
                <a:srgbClr val="008000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67" name="이등변 삼각형 66">
            <a:extLst>
              <a:ext uri="{FF2B5EF4-FFF2-40B4-BE49-F238E27FC236}">
                <a16:creationId xmlns="" xmlns:a16="http://schemas.microsoft.com/office/drawing/2014/main" id="{8A69005F-FD36-B5F9-C551-9B8D9AF4A5D8}"/>
              </a:ext>
            </a:extLst>
          </p:cNvPr>
          <p:cNvSpPr/>
          <p:nvPr/>
        </p:nvSpPr>
        <p:spPr bwMode="auto">
          <a:xfrm rot="5400000">
            <a:off x="2539900" y="2989989"/>
            <a:ext cx="783040" cy="117701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4295" tIns="37148" rIns="74295" bIns="37148" numCol="1" rtlCol="0" anchor="ctr" anchorCtr="0" compatLnSpc="1">
            <a:prstTxWarp prst="textNoShape">
              <a:avLst/>
            </a:prstTxWarp>
          </a:bodyPr>
          <a:lstStyle/>
          <a:p>
            <a:pPr defTabSz="742950">
              <a:spcBef>
                <a:spcPct val="20000"/>
              </a:spcBef>
              <a:defRPr/>
            </a:pPr>
            <a:endParaRPr lang="ko-KR" altLang="en-US" sz="975" b="0">
              <a:solidFill>
                <a:prstClr val="black"/>
              </a:solidFill>
              <a:latin typeface="Arial Narrow" panose="020B0606020202030204" pitchFamily="34" charset="0"/>
              <a:cs typeface="Arial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="" xmlns:a16="http://schemas.microsoft.com/office/drawing/2014/main" id="{EE9433F4-D4A1-8C83-9F44-818B3046CC75}"/>
              </a:ext>
            </a:extLst>
          </p:cNvPr>
          <p:cNvSpPr/>
          <p:nvPr/>
        </p:nvSpPr>
        <p:spPr>
          <a:xfrm>
            <a:off x="4829580" y="4445907"/>
            <a:ext cx="731250" cy="17221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defTabSz="742950" latinLnBrk="0">
              <a:spcBef>
                <a:spcPct val="20000"/>
              </a:spcBef>
              <a:defRPr/>
            </a:pPr>
            <a:endParaRPr lang="ko-KR" altLang="en-US" sz="975" kern="0" dirty="0">
              <a:solidFill>
                <a:srgbClr val="006400"/>
              </a:solidFill>
              <a:latin typeface="Arial Narrow" panose="020B0606020202030204" pitchFamily="34" charset="0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69" name="오각형 100">
            <a:extLst>
              <a:ext uri="{FF2B5EF4-FFF2-40B4-BE49-F238E27FC236}">
                <a16:creationId xmlns="" xmlns:a16="http://schemas.microsoft.com/office/drawing/2014/main" id="{7F567355-E36C-C9AD-8E6A-781A7F394231}"/>
              </a:ext>
            </a:extLst>
          </p:cNvPr>
          <p:cNvSpPr/>
          <p:nvPr/>
        </p:nvSpPr>
        <p:spPr>
          <a:xfrm>
            <a:off x="392820" y="1550707"/>
            <a:ext cx="6448295" cy="234000"/>
          </a:xfrm>
          <a:prstGeom prst="homePlate">
            <a:avLst>
              <a:gd name="adj" fmla="val 26133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742950" latinLnBrk="0">
              <a:spcBef>
                <a:spcPct val="20000"/>
              </a:spcBef>
              <a:defRPr/>
            </a:pPr>
            <a:r>
              <a:rPr lang="en-US" altLang="ko-KR" sz="1056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CX </a:t>
            </a:r>
            <a:r>
              <a:rPr lang="en-US" altLang="ko-KR" sz="894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(</a:t>
            </a:r>
            <a:r>
              <a:rPr lang="ko-KR" altLang="en-US" sz="894" b="0" kern="0">
                <a:solidFill>
                  <a:prstClr val="white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기획 </a:t>
            </a:r>
            <a:r>
              <a:rPr lang="en-US" altLang="ko-KR" sz="894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/ </a:t>
            </a:r>
            <a:r>
              <a:rPr lang="ko-KR" altLang="en-US" sz="894" b="0" kern="0">
                <a:solidFill>
                  <a:prstClr val="white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구현 </a:t>
            </a:r>
            <a:r>
              <a:rPr lang="en-US" altLang="ko-KR" sz="894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)</a:t>
            </a:r>
            <a:endParaRPr lang="ko-KR" altLang="en-US" sz="894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77" name="오각형 101">
            <a:extLst>
              <a:ext uri="{FF2B5EF4-FFF2-40B4-BE49-F238E27FC236}">
                <a16:creationId xmlns="" xmlns:a16="http://schemas.microsoft.com/office/drawing/2014/main" id="{E7DBF5F5-B925-4477-D164-7CD7E917F0C7}"/>
              </a:ext>
            </a:extLst>
          </p:cNvPr>
          <p:cNvSpPr/>
          <p:nvPr/>
        </p:nvSpPr>
        <p:spPr>
          <a:xfrm>
            <a:off x="7032852" y="1550707"/>
            <a:ext cx="2566066" cy="234000"/>
          </a:xfrm>
          <a:prstGeom prst="homePlate">
            <a:avLst>
              <a:gd name="adj" fmla="val 26133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742950" latinLnBrk="0">
              <a:spcBef>
                <a:spcPct val="20000"/>
              </a:spcBef>
              <a:defRPr/>
            </a:pPr>
            <a:r>
              <a:rPr lang="en-US" altLang="ko-KR" sz="1056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Performance</a:t>
            </a:r>
            <a:endParaRPr lang="ko-KR" altLang="en-US" sz="894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="" xmlns:a16="http://schemas.microsoft.com/office/drawing/2014/main" id="{E31FF2AF-8914-D68A-7A5B-CF742C7FEFFC}"/>
              </a:ext>
            </a:extLst>
          </p:cNvPr>
          <p:cNvGrpSpPr/>
          <p:nvPr/>
        </p:nvGrpSpPr>
        <p:grpSpPr>
          <a:xfrm>
            <a:off x="402969" y="4233408"/>
            <a:ext cx="3796754" cy="340295"/>
            <a:chOff x="581473" y="5069385"/>
            <a:chExt cx="2991600" cy="418825"/>
          </a:xfrm>
        </p:grpSpPr>
        <p:sp>
          <p:nvSpPr>
            <p:cNvPr id="90" name="직사각형 89">
              <a:extLst>
                <a:ext uri="{FF2B5EF4-FFF2-40B4-BE49-F238E27FC236}">
                  <a16:creationId xmlns="" xmlns:a16="http://schemas.microsoft.com/office/drawing/2014/main" id="{FAD0BF9B-CC9D-0ACB-BEC5-82206E02F304}"/>
                </a:ext>
              </a:extLst>
            </p:cNvPr>
            <p:cNvSpPr/>
            <p:nvPr/>
          </p:nvSpPr>
          <p:spPr>
            <a:xfrm>
              <a:off x="581473" y="5200210"/>
              <a:ext cx="2991600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742950" latinLnBrk="0">
                <a:spcBef>
                  <a:spcPct val="20000"/>
                </a:spcBef>
                <a:defRPr/>
              </a:pPr>
              <a:r>
                <a:rPr lang="en-US" altLang="ko-KR" sz="1056" kern="0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Trigger 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(CX </a:t>
              </a:r>
              <a:r>
                <a:rPr lang="ko-KR" altLang="en-US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기획 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:Data </a:t>
              </a:r>
              <a:r>
                <a:rPr lang="ko-KR" altLang="en-US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기반 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Insight </a:t>
              </a:r>
              <a:r>
                <a:rPr lang="ko-KR" altLang="en-US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발굴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)</a:t>
              </a:r>
              <a:endParaRPr lang="ko-KR" altLang="en-US" sz="731" b="0" kern="0" dirty="0">
                <a:solidFill>
                  <a:srgbClr val="FFFF66"/>
                </a:solidFill>
                <a:latin typeface="Arial Narrow" panose="020B0606020202030204" pitchFamily="34" charset="0"/>
                <a:ea typeface="LG스마트체 Regular"/>
                <a:cs typeface="Arial"/>
              </a:endParaRPr>
            </a:p>
          </p:txBody>
        </p:sp>
        <p:sp>
          <p:nvSpPr>
            <p:cNvPr id="96" name="이등변 삼각형 95">
              <a:extLst>
                <a:ext uri="{FF2B5EF4-FFF2-40B4-BE49-F238E27FC236}">
                  <a16:creationId xmlns="" xmlns:a16="http://schemas.microsoft.com/office/drawing/2014/main" id="{1FE41757-DCF7-F88A-A742-9CEBD2C1F313}"/>
                </a:ext>
              </a:extLst>
            </p:cNvPr>
            <p:cNvSpPr/>
            <p:nvPr/>
          </p:nvSpPr>
          <p:spPr>
            <a:xfrm>
              <a:off x="1893994" y="5069385"/>
              <a:ext cx="366559" cy="117892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7429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63" b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  <a:cs typeface="Arial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="" xmlns:a16="http://schemas.microsoft.com/office/drawing/2014/main" id="{712F13A0-2D1A-85B6-5550-FF13E57E0B93}"/>
              </a:ext>
            </a:extLst>
          </p:cNvPr>
          <p:cNvGrpSpPr/>
          <p:nvPr/>
        </p:nvGrpSpPr>
        <p:grpSpPr>
          <a:xfrm>
            <a:off x="4312224" y="4224848"/>
            <a:ext cx="2490261" cy="348576"/>
            <a:chOff x="3652912" y="5069385"/>
            <a:chExt cx="2983018" cy="429017"/>
          </a:xfrm>
        </p:grpSpPr>
        <p:sp>
          <p:nvSpPr>
            <p:cNvPr id="109" name="직사각형 108">
              <a:extLst>
                <a:ext uri="{FF2B5EF4-FFF2-40B4-BE49-F238E27FC236}">
                  <a16:creationId xmlns="" xmlns:a16="http://schemas.microsoft.com/office/drawing/2014/main" id="{2CB05909-55A0-2005-27AC-C6125338C91D}"/>
                </a:ext>
              </a:extLst>
            </p:cNvPr>
            <p:cNvSpPr/>
            <p:nvPr/>
          </p:nvSpPr>
          <p:spPr>
            <a:xfrm>
              <a:off x="3652912" y="5210402"/>
              <a:ext cx="2983018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742950" latinLnBrk="0">
                <a:spcBef>
                  <a:spcPct val="20000"/>
                </a:spcBef>
                <a:defRPr/>
              </a:pPr>
              <a:r>
                <a:rPr lang="en-US" altLang="ko-KR" sz="1056" kern="0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Accelerator 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(CX </a:t>
              </a:r>
              <a:r>
                <a:rPr lang="ko-KR" altLang="en-US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구현 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: </a:t>
              </a:r>
              <a:r>
                <a:rPr lang="ko-KR" altLang="en-US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솔루션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 </a:t>
              </a:r>
              <a:r>
                <a:rPr lang="ko-KR" altLang="en-US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제공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)</a:t>
              </a:r>
              <a:endParaRPr lang="ko-KR" altLang="en-US" sz="731" b="0" kern="0" dirty="0">
                <a:solidFill>
                  <a:srgbClr val="FFFF66"/>
                </a:solidFill>
                <a:latin typeface="Arial Narrow" panose="020B0606020202030204" pitchFamily="34" charset="0"/>
                <a:ea typeface="LG스마트체 Regular"/>
                <a:cs typeface="Arial"/>
              </a:endParaRPr>
            </a:p>
          </p:txBody>
        </p:sp>
        <p:sp>
          <p:nvSpPr>
            <p:cNvPr id="110" name="이등변 삼각형 109">
              <a:extLst>
                <a:ext uri="{FF2B5EF4-FFF2-40B4-BE49-F238E27FC236}">
                  <a16:creationId xmlns="" xmlns:a16="http://schemas.microsoft.com/office/drawing/2014/main" id="{B9AD45C4-AF56-B54C-D11A-EC8741290E30}"/>
                </a:ext>
              </a:extLst>
            </p:cNvPr>
            <p:cNvSpPr/>
            <p:nvPr/>
          </p:nvSpPr>
          <p:spPr>
            <a:xfrm>
              <a:off x="4975860" y="5069385"/>
              <a:ext cx="366559" cy="117892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7429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63" b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  <a:cs typeface="Arial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="" xmlns:a16="http://schemas.microsoft.com/office/drawing/2014/main" id="{A168DE99-B06C-1214-D74F-67001D39BC3A}"/>
              </a:ext>
            </a:extLst>
          </p:cNvPr>
          <p:cNvGrpSpPr/>
          <p:nvPr/>
        </p:nvGrpSpPr>
        <p:grpSpPr>
          <a:xfrm>
            <a:off x="7029602" y="4233408"/>
            <a:ext cx="2513630" cy="340295"/>
            <a:chOff x="6745205" y="5069385"/>
            <a:chExt cx="2991600" cy="418825"/>
          </a:xfrm>
        </p:grpSpPr>
        <p:sp>
          <p:nvSpPr>
            <p:cNvPr id="112" name="직사각형 111">
              <a:extLst>
                <a:ext uri="{FF2B5EF4-FFF2-40B4-BE49-F238E27FC236}">
                  <a16:creationId xmlns="" xmlns:a16="http://schemas.microsoft.com/office/drawing/2014/main" id="{7178E0E9-05F0-FF57-B950-3AD353D756DC}"/>
                </a:ext>
              </a:extLst>
            </p:cNvPr>
            <p:cNvSpPr/>
            <p:nvPr/>
          </p:nvSpPr>
          <p:spPr>
            <a:xfrm>
              <a:off x="6745205" y="5200210"/>
              <a:ext cx="2991600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742950" latinLnBrk="0">
                <a:spcBef>
                  <a:spcPct val="20000"/>
                </a:spcBef>
                <a:defRPr/>
              </a:pPr>
              <a:r>
                <a:rPr lang="en-US" altLang="ko-KR" sz="1056" kern="0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Tracker 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(CX</a:t>
              </a:r>
              <a:r>
                <a:rPr lang="ko-KR" altLang="en-US" sz="731" b="0" kern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검증 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: Data </a:t>
              </a:r>
              <a:r>
                <a:rPr lang="ko-KR" altLang="en-US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기반 </a:t>
              </a:r>
              <a:r>
                <a:rPr lang="ko-KR" altLang="en-US" sz="731" b="0" kern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고객경험 모니터링</a:t>
              </a:r>
              <a:r>
                <a:rPr lang="en-US" altLang="ko-KR" sz="731" b="0" kern="0" dirty="0">
                  <a:solidFill>
                    <a:srgbClr val="FFFF66"/>
                  </a:solidFill>
                  <a:latin typeface="Arial Narrow" panose="020B0606020202030204" pitchFamily="34" charset="0"/>
                  <a:ea typeface="LG스마트체 Regular"/>
                  <a:cs typeface="Arial"/>
                </a:rPr>
                <a:t>)</a:t>
              </a:r>
              <a:endParaRPr lang="ko-KR" altLang="en-US" sz="731" b="0" kern="0" dirty="0">
                <a:solidFill>
                  <a:srgbClr val="FFFF66"/>
                </a:solidFill>
                <a:latin typeface="Arial Narrow" panose="020B0606020202030204" pitchFamily="34" charset="0"/>
                <a:ea typeface="LG스마트체 Regular"/>
                <a:cs typeface="Arial"/>
              </a:endParaRPr>
            </a:p>
          </p:txBody>
        </p:sp>
        <p:sp>
          <p:nvSpPr>
            <p:cNvPr id="113" name="이등변 삼각형 112">
              <a:extLst>
                <a:ext uri="{FF2B5EF4-FFF2-40B4-BE49-F238E27FC236}">
                  <a16:creationId xmlns="" xmlns:a16="http://schemas.microsoft.com/office/drawing/2014/main" id="{D0BBB890-DCD2-8893-4D62-4E1852D2222B}"/>
                </a:ext>
              </a:extLst>
            </p:cNvPr>
            <p:cNvSpPr/>
            <p:nvPr/>
          </p:nvSpPr>
          <p:spPr>
            <a:xfrm>
              <a:off x="8057726" y="5069385"/>
              <a:ext cx="366559" cy="117892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7429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63" b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  <a:cs typeface="Arial"/>
              </a:endParaRPr>
            </a:p>
          </p:txBody>
        </p:sp>
      </p:grpSp>
      <p:sp>
        <p:nvSpPr>
          <p:cNvPr id="114" name="타원 113">
            <a:extLst>
              <a:ext uri="{FF2B5EF4-FFF2-40B4-BE49-F238E27FC236}">
                <a16:creationId xmlns="" xmlns:a16="http://schemas.microsoft.com/office/drawing/2014/main" id="{6C58D376-F700-C4FA-E78D-3EF98E09C128}"/>
              </a:ext>
            </a:extLst>
          </p:cNvPr>
          <p:cNvSpPr/>
          <p:nvPr/>
        </p:nvSpPr>
        <p:spPr>
          <a:xfrm>
            <a:off x="319228" y="1494735"/>
            <a:ext cx="343958" cy="343958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>
                <a:solidFill>
                  <a:srgbClr val="FF6600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C</a:t>
            </a:r>
            <a:r>
              <a:rPr kumimoji="0" lang="en-US" altLang="ko-KR" sz="1138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X</a:t>
            </a:r>
            <a:endParaRPr kumimoji="0" lang="ko-KR" altLang="en-US" sz="1138" dirty="0">
              <a:solidFill>
                <a:prstClr val="white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115" name="타원 114">
            <a:extLst>
              <a:ext uri="{FF2B5EF4-FFF2-40B4-BE49-F238E27FC236}">
                <a16:creationId xmlns="" xmlns:a16="http://schemas.microsoft.com/office/drawing/2014/main" id="{4CA23499-8856-7980-DC78-24911A37190D}"/>
              </a:ext>
            </a:extLst>
          </p:cNvPr>
          <p:cNvSpPr/>
          <p:nvPr/>
        </p:nvSpPr>
        <p:spPr>
          <a:xfrm>
            <a:off x="324716" y="4246245"/>
            <a:ext cx="343958" cy="343958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>
                <a:solidFill>
                  <a:srgbClr val="FF6600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D</a:t>
            </a:r>
            <a:r>
              <a:rPr kumimoji="0" lang="en-US" altLang="ko-KR" sz="1138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X</a:t>
            </a:r>
            <a:endParaRPr kumimoji="0" lang="ko-KR" altLang="en-US" sz="1138" dirty="0">
              <a:solidFill>
                <a:prstClr val="white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="" xmlns:a16="http://schemas.microsoft.com/office/drawing/2014/main" id="{9C449028-C9F4-DC5D-2623-B8FF639A8AE9}"/>
              </a:ext>
            </a:extLst>
          </p:cNvPr>
          <p:cNvSpPr/>
          <p:nvPr/>
        </p:nvSpPr>
        <p:spPr>
          <a:xfrm>
            <a:off x="6951727" y="1494735"/>
            <a:ext cx="343958" cy="343958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>
                <a:solidFill>
                  <a:srgbClr val="FF6600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P</a:t>
            </a:r>
            <a:endParaRPr kumimoji="0" lang="ko-KR" altLang="en-US" dirty="0">
              <a:solidFill>
                <a:prstClr val="white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117" name="TextBox 116">
            <a:hlinkClick r:id="" action="ppaction://noaction"/>
            <a:extLst>
              <a:ext uri="{FF2B5EF4-FFF2-40B4-BE49-F238E27FC236}">
                <a16:creationId xmlns="" xmlns:a16="http://schemas.microsoft.com/office/drawing/2014/main" id="{82243C63-E2A7-5337-3621-AC78D3DAC823}"/>
              </a:ext>
            </a:extLst>
          </p:cNvPr>
          <p:cNvSpPr txBox="1"/>
          <p:nvPr/>
        </p:nvSpPr>
        <p:spPr>
          <a:xfrm>
            <a:off x="2974699" y="1848779"/>
            <a:ext cx="1167307" cy="238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76101" indent="-76101">
              <a:lnSpc>
                <a:spcPts val="1463"/>
              </a:lnSpc>
              <a:buFont typeface="Wingdings" panose="05000000000000000000" pitchFamily="2" charset="2"/>
              <a:buChar char="q"/>
              <a:defRPr sz="1200" b="1">
                <a:solidFill>
                  <a:srgbClr val="0070C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61832" indent="-61832" defTabSz="742950" fontAlgn="auto">
              <a:lnSpc>
                <a:spcPts val="118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75" dirty="0">
                <a:solidFill>
                  <a:srgbClr val="C2147D"/>
                </a:solidFill>
                <a:cs typeface="Arial"/>
              </a:rPr>
              <a:t> </a:t>
            </a:r>
            <a:r>
              <a:rPr kumimoji="0" lang="ko-KR" altLang="en-US" sz="975" dirty="0">
                <a:solidFill>
                  <a:srgbClr val="C2147D"/>
                </a:solidFill>
                <a:cs typeface="Arial"/>
              </a:rPr>
              <a:t>컨셉 </a:t>
            </a:r>
            <a:r>
              <a:rPr kumimoji="0" lang="en-US" altLang="ko-KR" sz="894" dirty="0">
                <a:solidFill>
                  <a:srgbClr val="C2147D"/>
                </a:solidFill>
                <a:cs typeface="Arial"/>
              </a:rPr>
              <a:t>(</a:t>
            </a:r>
            <a:r>
              <a:rPr kumimoji="0" lang="ko-KR" altLang="en-US" sz="894" dirty="0">
                <a:solidFill>
                  <a:srgbClr val="C2147D"/>
                </a:solidFill>
                <a:cs typeface="Arial"/>
              </a:rPr>
              <a:t>경험 구체화</a:t>
            </a:r>
            <a:r>
              <a:rPr kumimoji="0" lang="en-US" altLang="ko-KR" sz="894" dirty="0">
                <a:solidFill>
                  <a:srgbClr val="C2147D"/>
                </a:solidFill>
                <a:cs typeface="Arial"/>
              </a:rPr>
              <a:t>)</a:t>
            </a:r>
            <a:endParaRPr kumimoji="0" lang="ko-KR" altLang="en-US" sz="894" dirty="0">
              <a:solidFill>
                <a:srgbClr val="C2147D"/>
              </a:solidFill>
              <a:cs typeface="Arial"/>
            </a:endParaRPr>
          </a:p>
        </p:txBody>
      </p:sp>
      <p:sp>
        <p:nvSpPr>
          <p:cNvPr id="118" name="모서리가 둥근 직사각형 134">
            <a:extLst>
              <a:ext uri="{FF2B5EF4-FFF2-40B4-BE49-F238E27FC236}">
                <a16:creationId xmlns="" xmlns:a16="http://schemas.microsoft.com/office/drawing/2014/main" id="{7F797B20-6999-7DBE-EBF1-8A4C29CCBBFF}"/>
              </a:ext>
            </a:extLst>
          </p:cNvPr>
          <p:cNvSpPr/>
          <p:nvPr/>
        </p:nvSpPr>
        <p:spPr>
          <a:xfrm>
            <a:off x="8320160" y="1940191"/>
            <a:ext cx="117013" cy="118906"/>
          </a:xfrm>
          <a:prstGeom prst="roundRect">
            <a:avLst/>
          </a:prstGeom>
          <a:solidFill>
            <a:schemeClr val="tx1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714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="" xmlns:a16="http://schemas.microsoft.com/office/drawing/2014/main" id="{A763EAC1-4CD1-5D0D-E5AD-985EB9581A95}"/>
              </a:ext>
            </a:extLst>
          </p:cNvPr>
          <p:cNvSpPr/>
          <p:nvPr/>
        </p:nvSpPr>
        <p:spPr>
          <a:xfrm>
            <a:off x="8457254" y="1940193"/>
            <a:ext cx="408672" cy="1124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3714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결과지표</a:t>
            </a:r>
            <a:endParaRPr kumimoji="0" lang="ko-KR" altLang="en-US" sz="731" b="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0" name="모서리가 둥근 직사각형 136">
            <a:extLst>
              <a:ext uri="{FF2B5EF4-FFF2-40B4-BE49-F238E27FC236}">
                <a16:creationId xmlns="" xmlns:a16="http://schemas.microsoft.com/office/drawing/2014/main" id="{04D06851-59B5-A7B5-D32C-BC784A154C72}"/>
              </a:ext>
            </a:extLst>
          </p:cNvPr>
          <p:cNvSpPr/>
          <p:nvPr/>
        </p:nvSpPr>
        <p:spPr>
          <a:xfrm>
            <a:off x="8848926" y="1940191"/>
            <a:ext cx="117013" cy="118906"/>
          </a:xfrm>
          <a:prstGeom prst="roundRect">
            <a:avLst/>
          </a:prstGeom>
          <a:solidFill>
            <a:schemeClr val="tx1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714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="" xmlns:a16="http://schemas.microsoft.com/office/drawing/2014/main" id="{5CA119CA-ABB0-68E7-0797-137C35D553E6}"/>
              </a:ext>
            </a:extLst>
          </p:cNvPr>
          <p:cNvSpPr/>
          <p:nvPr/>
        </p:nvSpPr>
        <p:spPr>
          <a:xfrm>
            <a:off x="8986021" y="1940193"/>
            <a:ext cx="408672" cy="1124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3714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과정지표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="" xmlns:a16="http://schemas.microsoft.com/office/drawing/2014/main" id="{7F624180-9F0D-79BB-80AD-79F128CE5485}"/>
              </a:ext>
            </a:extLst>
          </p:cNvPr>
          <p:cNvSpPr txBox="1"/>
          <p:nvPr/>
        </p:nvSpPr>
        <p:spPr>
          <a:xfrm>
            <a:off x="7239260" y="2296435"/>
            <a:ext cx="2167214" cy="138436"/>
          </a:xfrm>
          <a:prstGeom prst="rect">
            <a:avLst/>
          </a:prstGeom>
          <a:noFill/>
          <a:ln>
            <a:noFill/>
          </a:ln>
        </p:spPr>
        <p:txBody>
          <a:bodyPr wrap="square" lIns="20250" tIns="0" rIns="20250" bIns="0" rtlCol="0">
            <a:spAutoFit/>
          </a:bodyPr>
          <a:lstStyle/>
          <a:p>
            <a:pPr marL="35692" defTabSz="557146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tabLst>
                <a:tab pos="450961" algn="l"/>
              </a:tabLst>
              <a:defRPr/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고객 추천 지수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(CMR) Top1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 도전</a:t>
            </a:r>
          </a:p>
        </p:txBody>
      </p:sp>
      <p:sp>
        <p:nvSpPr>
          <p:cNvPr id="123" name="모서리가 둥근 직사각형 136">
            <a:extLst>
              <a:ext uri="{FF2B5EF4-FFF2-40B4-BE49-F238E27FC236}">
                <a16:creationId xmlns="" xmlns:a16="http://schemas.microsoft.com/office/drawing/2014/main" id="{AB8F2194-9AED-533F-9011-8F8F52B3AE92}"/>
              </a:ext>
            </a:extLst>
          </p:cNvPr>
          <p:cNvSpPr/>
          <p:nvPr/>
        </p:nvSpPr>
        <p:spPr>
          <a:xfrm>
            <a:off x="7131420" y="2312538"/>
            <a:ext cx="117013" cy="118906"/>
          </a:xfrm>
          <a:prstGeom prst="roundRect">
            <a:avLst/>
          </a:prstGeom>
          <a:solidFill>
            <a:schemeClr val="tx1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714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="" xmlns:a16="http://schemas.microsoft.com/office/drawing/2014/main" id="{A3A32FEA-D384-5035-99B1-0CF021DE7045}"/>
              </a:ext>
            </a:extLst>
          </p:cNvPr>
          <p:cNvSpPr txBox="1"/>
          <p:nvPr/>
        </p:nvSpPr>
        <p:spPr>
          <a:xfrm>
            <a:off x="7079637" y="4664890"/>
            <a:ext cx="2433546" cy="152286"/>
          </a:xfrm>
          <a:prstGeom prst="rect">
            <a:avLst/>
          </a:prstGeom>
          <a:noFill/>
          <a:ln>
            <a:noFill/>
          </a:ln>
        </p:spPr>
        <p:txBody>
          <a:bodyPr wrap="square" lIns="27000" tIns="0" rIns="27000" bIns="0" rtlCol="0">
            <a:spAutoFit/>
          </a:bodyPr>
          <a:lstStyle/>
          <a:p>
            <a:pPr marL="128590" indent="-81002" defTabSz="742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601281" algn="l"/>
              </a:tabLst>
              <a:defRPr/>
            </a:pPr>
            <a:r>
              <a:rPr kumimoji="0" lang="ko-KR" altLang="en-US" sz="894" dirty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기기</a:t>
            </a:r>
            <a:r>
              <a:rPr kumimoji="0" lang="en-US" altLang="ko-KR" sz="894" dirty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894" dirty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앱 데이터 모니터링 통한 사용행태 파악</a:t>
            </a:r>
            <a:endParaRPr kumimoji="0" lang="ko-KR" altLang="en-US" sz="894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="" xmlns:a16="http://schemas.microsoft.com/office/drawing/2014/main" id="{8C969C75-13AF-DC76-7D89-A2455A21445B}"/>
              </a:ext>
            </a:extLst>
          </p:cNvPr>
          <p:cNvSpPr txBox="1"/>
          <p:nvPr/>
        </p:nvSpPr>
        <p:spPr>
          <a:xfrm>
            <a:off x="7125470" y="4864885"/>
            <a:ext cx="2338070" cy="404278"/>
          </a:xfrm>
          <a:prstGeom prst="rect">
            <a:avLst/>
          </a:prstGeom>
          <a:noFill/>
          <a:ln>
            <a:noFill/>
          </a:ln>
        </p:spPr>
        <p:txBody>
          <a:bodyPr wrap="square" lIns="27000" tIns="0" rIns="27000" bIns="0" rtlCol="0">
            <a:spAutoFit/>
          </a:bodyPr>
          <a:lstStyle/>
          <a:p>
            <a:pPr marL="47588" defTabSz="74295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tabLst>
                <a:tab pos="601281" algn="l"/>
              </a:tabLs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가장 많이 사용하는 모드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확인하여 사용자의 사용 행태 파악하고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청소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특화조리 모드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813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레시피쿡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UP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가전 등 추가 콘텐츠 지원  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="" xmlns:a16="http://schemas.microsoft.com/office/drawing/2014/main" id="{E011FB28-04F4-7436-DD93-313F684005BF}"/>
              </a:ext>
            </a:extLst>
          </p:cNvPr>
          <p:cNvSpPr txBox="1"/>
          <p:nvPr/>
        </p:nvSpPr>
        <p:spPr>
          <a:xfrm>
            <a:off x="7070046" y="5316772"/>
            <a:ext cx="2398215" cy="145168"/>
          </a:xfrm>
          <a:prstGeom prst="rect">
            <a:avLst/>
          </a:prstGeom>
          <a:noFill/>
          <a:ln>
            <a:noFill/>
          </a:ln>
        </p:spPr>
        <p:txBody>
          <a:bodyPr wrap="square" lIns="27000" tIns="0" rIns="27000" bIns="0" rtlCol="0">
            <a:spAutoFit/>
          </a:bodyPr>
          <a:lstStyle/>
          <a:p>
            <a:pPr marL="128590" indent="-81002" defTabSz="742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601281" algn="l"/>
              </a:tabLst>
              <a:defRPr/>
            </a:pPr>
            <a:r>
              <a:rPr kumimoji="0" lang="ko-KR" altLang="en-US" sz="853" dirty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고객 </a:t>
            </a:r>
            <a:r>
              <a:rPr kumimoji="0" lang="en-US" altLang="ko-KR" sz="853" dirty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VOC</a:t>
            </a:r>
            <a:r>
              <a:rPr kumimoji="0" lang="ko-KR" altLang="en-US" sz="853" dirty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를 통한 컨셉 검증 및 개선요소발굴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="" xmlns:a16="http://schemas.microsoft.com/office/drawing/2014/main" id="{0E615CB6-72B7-A1EB-C734-2E19FABD810D}"/>
              </a:ext>
            </a:extLst>
          </p:cNvPr>
          <p:cNvSpPr/>
          <p:nvPr/>
        </p:nvSpPr>
        <p:spPr>
          <a:xfrm>
            <a:off x="7204269" y="5522134"/>
            <a:ext cx="2198152" cy="1250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8362" indent="-68362" defTabSz="742950">
              <a:defRPr/>
            </a:pPr>
            <a:r>
              <a:rPr lang="en-US" altLang="ko-KR" sz="813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 - </a:t>
            </a:r>
            <a:r>
              <a:rPr lang="ko-KR" altLang="en-US" sz="813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자사 </a:t>
            </a:r>
            <a:r>
              <a:rPr lang="ko-KR" altLang="en-US" sz="813" b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툴 </a:t>
            </a:r>
            <a:r>
              <a:rPr lang="en-US" altLang="ko-KR" sz="813" b="0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Intellytics</a:t>
            </a:r>
            <a:r>
              <a:rPr lang="ko-KR" altLang="en-US" sz="813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를 활용한 긍정</a:t>
            </a:r>
            <a:r>
              <a:rPr lang="en-US" altLang="ko-KR" sz="813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, </a:t>
            </a:r>
            <a:r>
              <a:rPr lang="ko-KR" altLang="en-US" sz="813" b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부정 요소 분석</a:t>
            </a:r>
            <a:endParaRPr lang="ko-KR" altLang="en-US" sz="813" b="0" dirty="0">
              <a:solidFill>
                <a:prstClr val="black">
                  <a:lumMod val="95000"/>
                  <a:lumOff val="5000"/>
                </a:prstClr>
              </a:solidFill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28" name="표 127">
            <a:extLst>
              <a:ext uri="{FF2B5EF4-FFF2-40B4-BE49-F238E27FC236}">
                <a16:creationId xmlns="" xmlns:a16="http://schemas.microsoft.com/office/drawing/2014/main" id="{2F87157E-02FB-47C8-57C1-0867989CADCB}"/>
              </a:ext>
            </a:extLst>
          </p:cNvPr>
          <p:cNvGraphicFramePr>
            <a:graphicFrameLocks noGrp="1"/>
          </p:cNvGraphicFramePr>
          <p:nvPr/>
        </p:nvGraphicFramePr>
        <p:xfrm>
          <a:off x="7174154" y="3313067"/>
          <a:ext cx="2126857" cy="6468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2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954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954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0954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1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sng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지표 명</a:t>
                      </a:r>
                    </a:p>
                  </a:txBody>
                  <a:tcPr marL="0" marR="0" marT="0" marB="2925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u="sng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Y</a:t>
                      </a:r>
                    </a:p>
                  </a:txBody>
                  <a:tcPr marL="0" marR="0" marT="0" marB="2925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u="sng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Y+1</a:t>
                      </a:r>
                    </a:p>
                  </a:txBody>
                  <a:tcPr marL="0" marR="0" marT="0" marB="2925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u="sng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Y+2</a:t>
                      </a:r>
                      <a:endParaRPr lang="ko-KR" altLang="en-US" sz="800" b="0" u="sng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2925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77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판매 수량 </a:t>
                      </a:r>
                      <a:r>
                        <a:rPr lang="en-US" altLang="ko-KR" sz="800" b="0" u="none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0" u="none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천대</a:t>
                      </a:r>
                      <a:r>
                        <a:rPr lang="en-US" altLang="ko-KR" sz="800" b="0" u="none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800" b="0" u="none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30.0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585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33.0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585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36.3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585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77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 </a:t>
                      </a:r>
                      <a:r>
                        <a:rPr lang="en-US" altLang="ko-KR" sz="800" b="0" u="none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(M$)</a:t>
                      </a:r>
                      <a:endParaRPr lang="ko-KR" altLang="en-US" sz="800" b="0" u="none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21.8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585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585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26.4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585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376828939"/>
                  </a:ext>
                </a:extLst>
              </a:tr>
            </a:tbl>
          </a:graphicData>
        </a:graphic>
      </p:graphicFrame>
      <p:sp>
        <p:nvSpPr>
          <p:cNvPr id="129" name="모서리가 둥근 직사각형 49">
            <a:extLst>
              <a:ext uri="{FF2B5EF4-FFF2-40B4-BE49-F238E27FC236}">
                <a16:creationId xmlns="" xmlns:a16="http://schemas.microsoft.com/office/drawing/2014/main" id="{6E05AFD4-4E3D-B019-2127-0C24A51373B9}"/>
              </a:ext>
            </a:extLst>
          </p:cNvPr>
          <p:cNvSpPr/>
          <p:nvPr/>
        </p:nvSpPr>
        <p:spPr>
          <a:xfrm>
            <a:off x="7123258" y="3570551"/>
            <a:ext cx="117013" cy="118906"/>
          </a:xfrm>
          <a:prstGeom prst="roundRect">
            <a:avLst/>
          </a:prstGeom>
          <a:solidFill>
            <a:schemeClr val="tx1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white"/>
                </a:solidFill>
                <a:latin typeface="Arial Narrow"/>
                <a:ea typeface="LG스마트체 Regular"/>
              </a:rPr>
              <a:t>결</a:t>
            </a:r>
          </a:p>
        </p:txBody>
      </p:sp>
      <p:sp>
        <p:nvSpPr>
          <p:cNvPr id="130" name="모서리가 둥근 직사각형 50">
            <a:extLst>
              <a:ext uri="{FF2B5EF4-FFF2-40B4-BE49-F238E27FC236}">
                <a16:creationId xmlns="" xmlns:a16="http://schemas.microsoft.com/office/drawing/2014/main" id="{7FAF5B91-53C6-9F0D-8556-577D3EBFACB2}"/>
              </a:ext>
            </a:extLst>
          </p:cNvPr>
          <p:cNvSpPr/>
          <p:nvPr/>
        </p:nvSpPr>
        <p:spPr>
          <a:xfrm>
            <a:off x="7123258" y="3787244"/>
            <a:ext cx="117013" cy="118906"/>
          </a:xfrm>
          <a:prstGeom prst="roundRect">
            <a:avLst/>
          </a:prstGeom>
          <a:solidFill>
            <a:schemeClr val="tx1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white"/>
                </a:solidFill>
                <a:latin typeface="Arial Narrow"/>
                <a:ea typeface="LG스마트체 Regular"/>
              </a:rPr>
              <a:t>결</a:t>
            </a:r>
          </a:p>
        </p:txBody>
      </p:sp>
      <p:sp>
        <p:nvSpPr>
          <p:cNvPr id="131" name="직사각형 130">
            <a:hlinkClick r:id="" action="ppaction://noaction"/>
            <a:extLst>
              <a:ext uri="{FF2B5EF4-FFF2-40B4-BE49-F238E27FC236}">
                <a16:creationId xmlns="" xmlns:a16="http://schemas.microsoft.com/office/drawing/2014/main" id="{2DF3A291-4E0A-01F3-5704-A3DB14EFE20C}"/>
              </a:ext>
            </a:extLst>
          </p:cNvPr>
          <p:cNvSpPr/>
          <p:nvPr/>
        </p:nvSpPr>
        <p:spPr>
          <a:xfrm>
            <a:off x="9264893" y="3549913"/>
            <a:ext cx="162151" cy="45796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63" b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32" name="모서리가 둥근 직사각형 120">
            <a:extLst>
              <a:ext uri="{FF2B5EF4-FFF2-40B4-BE49-F238E27FC236}">
                <a16:creationId xmlns="" xmlns:a16="http://schemas.microsoft.com/office/drawing/2014/main" id="{293B499A-E499-8E3B-A615-91E5272759E2}"/>
              </a:ext>
            </a:extLst>
          </p:cNvPr>
          <p:cNvSpPr/>
          <p:nvPr/>
        </p:nvSpPr>
        <p:spPr>
          <a:xfrm>
            <a:off x="4405282" y="1938489"/>
            <a:ext cx="230758" cy="95250"/>
          </a:xfrm>
          <a:prstGeom prst="roundRect">
            <a:avLst/>
          </a:prstGeom>
          <a:solidFill>
            <a:srgbClr val="FFFF00"/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Unique</a:t>
            </a:r>
            <a:endParaRPr kumimoji="0" lang="ko-KR" altLang="en-US" sz="650" b="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3" name="모서리가 둥근 직사각형 121">
            <a:extLst>
              <a:ext uri="{FF2B5EF4-FFF2-40B4-BE49-F238E27FC236}">
                <a16:creationId xmlns="" xmlns:a16="http://schemas.microsoft.com/office/drawing/2014/main" id="{F612EB94-4133-FBD6-F296-6F8080691462}"/>
              </a:ext>
            </a:extLst>
          </p:cNvPr>
          <p:cNvSpPr/>
          <p:nvPr/>
        </p:nvSpPr>
        <p:spPr>
          <a:xfrm>
            <a:off x="4657996" y="1938489"/>
            <a:ext cx="230758" cy="95250"/>
          </a:xfrm>
          <a:prstGeom prst="roundRect">
            <a:avLst/>
          </a:prstGeom>
          <a:solidFill>
            <a:srgbClr val="006600"/>
          </a:solidFill>
          <a:ln w="190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New</a:t>
            </a:r>
            <a:endParaRPr kumimoji="0" lang="ko-KR" altLang="en-US" sz="650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4" name="모서리가 둥근 직사각형 122">
            <a:extLst>
              <a:ext uri="{FF2B5EF4-FFF2-40B4-BE49-F238E27FC236}">
                <a16:creationId xmlns="" xmlns:a16="http://schemas.microsoft.com/office/drawing/2014/main" id="{39135019-1817-FDAA-84C8-F0D31E2B196F}"/>
              </a:ext>
            </a:extLst>
          </p:cNvPr>
          <p:cNvSpPr/>
          <p:nvPr/>
        </p:nvSpPr>
        <p:spPr>
          <a:xfrm>
            <a:off x="4152569" y="1938489"/>
            <a:ext cx="230758" cy="95250"/>
          </a:xfrm>
          <a:prstGeom prst="roundRect">
            <a:avLst/>
          </a:prstGeom>
          <a:solidFill>
            <a:srgbClr val="A50034"/>
          </a:solidFill>
          <a:ln w="190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First</a:t>
            </a:r>
            <a:endParaRPr kumimoji="0" lang="ko-KR" altLang="en-US" sz="650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="" xmlns:a16="http://schemas.microsoft.com/office/drawing/2014/main" id="{1B1DFFC4-AA61-D96D-6A70-BFBD0AA5F541}"/>
              </a:ext>
            </a:extLst>
          </p:cNvPr>
          <p:cNvSpPr txBox="1"/>
          <p:nvPr/>
        </p:nvSpPr>
        <p:spPr>
          <a:xfrm>
            <a:off x="3164219" y="2864732"/>
            <a:ext cx="2584041" cy="2625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eaLnBrk="0" fontAlgn="base" hangingPunct="0">
              <a:lnSpc>
                <a:spcPct val="120000"/>
              </a:lnSpc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 sz="1700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853" dirty="0">
                <a:solidFill>
                  <a:prstClr val="black"/>
                </a:solidFill>
              </a:rPr>
              <a:t> 다양한 모드로 나의 홈 쿠킹 라이프를 </a:t>
            </a:r>
            <a:r>
              <a:rPr lang="en-US" altLang="ko-KR" sz="853" dirty="0">
                <a:solidFill>
                  <a:prstClr val="black"/>
                </a:solidFill>
              </a:rPr>
              <a:t>maximize</a:t>
            </a:r>
            <a:r>
              <a:rPr lang="ko-KR" altLang="en-US" sz="853" dirty="0">
                <a:solidFill>
                  <a:prstClr val="black"/>
                </a:solidFill>
              </a:rPr>
              <a:t>해주는 경험</a:t>
            </a:r>
          </a:p>
          <a:p>
            <a:pPr defTabSz="7429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ko-KR" altLang="en-US" sz="853" dirty="0">
              <a:solidFill>
                <a:prstClr val="black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="" xmlns:a16="http://schemas.microsoft.com/office/drawing/2014/main" id="{583A3E04-E596-7820-F2FF-E4EC4D56CF23}"/>
              </a:ext>
            </a:extLst>
          </p:cNvPr>
          <p:cNvSpPr txBox="1"/>
          <p:nvPr/>
        </p:nvSpPr>
        <p:spPr>
          <a:xfrm>
            <a:off x="3160841" y="2263394"/>
            <a:ext cx="2364430" cy="1312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eaLnBrk="0" fontAlgn="base" hangingPunct="0">
              <a:lnSpc>
                <a:spcPct val="120000"/>
              </a:lnSpc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 sz="1700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853" dirty="0">
                <a:solidFill>
                  <a:prstClr val="black"/>
                </a:solidFill>
              </a:rPr>
              <a:t>Inverter</a:t>
            </a:r>
            <a:r>
              <a:rPr lang="ko-KR" altLang="en-US" sz="853" dirty="0">
                <a:solidFill>
                  <a:prstClr val="black"/>
                </a:solidFill>
              </a:rPr>
              <a:t> </a:t>
            </a:r>
            <a:r>
              <a:rPr lang="en-US" altLang="ko-KR" sz="853" dirty="0" err="1">
                <a:solidFill>
                  <a:prstClr val="black"/>
                </a:solidFill>
              </a:rPr>
              <a:t>ProBake</a:t>
            </a:r>
            <a:r>
              <a:rPr lang="ko-KR" altLang="en-US" sz="853" dirty="0">
                <a:solidFill>
                  <a:prstClr val="black"/>
                </a:solidFill>
              </a:rPr>
              <a:t>로 빨리</a:t>
            </a:r>
            <a:r>
              <a:rPr lang="en-US" altLang="ko-KR" sz="853" dirty="0">
                <a:solidFill>
                  <a:prstClr val="black"/>
                </a:solidFill>
              </a:rPr>
              <a:t> </a:t>
            </a:r>
            <a:r>
              <a:rPr lang="ko-KR" altLang="en-US" sz="853" dirty="0">
                <a:solidFill>
                  <a:prstClr val="black"/>
                </a:solidFill>
              </a:rPr>
              <a:t>맛있는 요리를 조리하는 경험 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="" xmlns:a16="http://schemas.microsoft.com/office/drawing/2014/main" id="{9B960EAE-469D-FDD0-D304-F90F684DE6A0}"/>
              </a:ext>
            </a:extLst>
          </p:cNvPr>
          <p:cNvSpPr txBox="1"/>
          <p:nvPr/>
        </p:nvSpPr>
        <p:spPr>
          <a:xfrm>
            <a:off x="3161284" y="2361112"/>
            <a:ext cx="2420856" cy="2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컨벡션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대비 조리시간 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-40%,소음 -4dB↓, </a:t>
            </a:r>
            <a:r>
              <a:rPr kumimoji="0" lang="en-US" altLang="ko-KR" sz="731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에너지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EEI 6%↑ </a:t>
            </a:r>
            <a:r>
              <a:rPr kumimoji="0" lang="en-US" altLang="ko-KR" sz="731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138" name="직사각형 75">
            <a:extLst>
              <a:ext uri="{FF2B5EF4-FFF2-40B4-BE49-F238E27FC236}">
                <a16:creationId xmlns="" xmlns:a16="http://schemas.microsoft.com/office/drawing/2014/main" id="{FF4A9C3C-49A0-E933-9B53-0DB7EE86A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222" y="3842702"/>
            <a:ext cx="889667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tabLst>
                <a:tab pos="294084" algn="l"/>
                <a:tab pos="1000919" algn="l"/>
              </a:tabLs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- </a:t>
            </a:r>
            <a:r>
              <a:rPr kumimoji="0" lang="en-US" altLang="ko-KR" sz="813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EasyClean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 법랑 적용</a:t>
            </a:r>
            <a:endParaRPr kumimoji="0" lang="ko-KR" altLang="en-US" sz="81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9" name="직사각형 75">
            <a:extLst>
              <a:ext uri="{FF2B5EF4-FFF2-40B4-BE49-F238E27FC236}">
                <a16:creationId xmlns="" xmlns:a16="http://schemas.microsoft.com/office/drawing/2014/main" id="{08FFB2EE-9774-3CF5-A563-173728212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222" y="3997751"/>
            <a:ext cx="1556516" cy="12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742950" latinLnBrk="0">
              <a:lnSpc>
                <a:spcPct val="110000"/>
              </a:lnSpc>
              <a:spcBef>
                <a:spcPts val="488"/>
              </a:spcBef>
              <a:tabLst>
                <a:tab pos="294084" algn="l"/>
                <a:tab pos="1000919" algn="l"/>
              </a:tabLs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- </a:t>
            </a:r>
            <a:r>
              <a:rPr kumimoji="0" lang="ko-KR" altLang="en-US" sz="813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쾌속셀프클린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lysis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 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(</a:t>
            </a:r>
            <a:r>
              <a:rPr kumimoji="0" lang="en-US" altLang="ko-KR" sz="731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기존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 1시간 → 30분)</a:t>
            </a:r>
            <a:endParaRPr kumimoji="0" lang="ko-KR" altLang="en-US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0" name="직사각형 75">
            <a:extLst>
              <a:ext uri="{FF2B5EF4-FFF2-40B4-BE49-F238E27FC236}">
                <a16:creationId xmlns="" xmlns:a16="http://schemas.microsoft.com/office/drawing/2014/main" id="{53F1D3F5-C912-CC40-491D-C25ED4004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396" y="3197878"/>
            <a:ext cx="2202779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tabLst>
                <a:tab pos="294084" algn="l"/>
                <a:tab pos="1000919" algn="l"/>
              </a:tabLs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지역 별 특화조리모드 운영</a:t>
            </a:r>
          </a:p>
        </p:txBody>
      </p:sp>
      <p:sp>
        <p:nvSpPr>
          <p:cNvPr id="141" name="모서리가 둥근 직사각형 121">
            <a:extLst>
              <a:ext uri="{FF2B5EF4-FFF2-40B4-BE49-F238E27FC236}">
                <a16:creationId xmlns="" xmlns:a16="http://schemas.microsoft.com/office/drawing/2014/main" id="{3962330B-C982-2150-95CA-354739E265B4}"/>
              </a:ext>
            </a:extLst>
          </p:cNvPr>
          <p:cNvSpPr/>
          <p:nvPr/>
        </p:nvSpPr>
        <p:spPr>
          <a:xfrm>
            <a:off x="3175222" y="3546694"/>
            <a:ext cx="230758" cy="95250"/>
          </a:xfrm>
          <a:prstGeom prst="roundRect">
            <a:avLst/>
          </a:prstGeom>
          <a:solidFill>
            <a:srgbClr val="006600"/>
          </a:solidFill>
          <a:ln w="190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New</a:t>
            </a:r>
            <a:endParaRPr kumimoji="0" lang="ko-KR" altLang="en-US" sz="650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2" name="모서리가 둥근 직사각형 120">
            <a:extLst>
              <a:ext uri="{FF2B5EF4-FFF2-40B4-BE49-F238E27FC236}">
                <a16:creationId xmlns="" xmlns:a16="http://schemas.microsoft.com/office/drawing/2014/main" id="{05879AE8-8A0E-0A57-84B3-11DFAB803F31}"/>
              </a:ext>
            </a:extLst>
          </p:cNvPr>
          <p:cNvSpPr/>
          <p:nvPr/>
        </p:nvSpPr>
        <p:spPr>
          <a:xfrm>
            <a:off x="3176937" y="2142577"/>
            <a:ext cx="230758" cy="95250"/>
          </a:xfrm>
          <a:prstGeom prst="roundRect">
            <a:avLst/>
          </a:prstGeom>
          <a:solidFill>
            <a:srgbClr val="FFFF00"/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Unique</a:t>
            </a:r>
            <a:endParaRPr kumimoji="0" lang="ko-KR" altLang="en-US" sz="650" b="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3" name="모서리가 둥근 직사각형 120">
            <a:extLst>
              <a:ext uri="{FF2B5EF4-FFF2-40B4-BE49-F238E27FC236}">
                <a16:creationId xmlns="" xmlns:a16="http://schemas.microsoft.com/office/drawing/2014/main" id="{4B47277C-D8E8-8554-F5B0-21EFA9408D97}"/>
              </a:ext>
            </a:extLst>
          </p:cNvPr>
          <p:cNvSpPr/>
          <p:nvPr/>
        </p:nvSpPr>
        <p:spPr>
          <a:xfrm>
            <a:off x="3176937" y="2733511"/>
            <a:ext cx="230758" cy="95250"/>
          </a:xfrm>
          <a:prstGeom prst="roundRect">
            <a:avLst/>
          </a:prstGeom>
          <a:solidFill>
            <a:srgbClr val="FFFF00"/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74286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b="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Unique</a:t>
            </a:r>
            <a:endParaRPr kumimoji="0" lang="ko-KR" altLang="en-US" sz="650" b="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4" name="직사각형 75">
            <a:extLst>
              <a:ext uri="{FF2B5EF4-FFF2-40B4-BE49-F238E27FC236}">
                <a16:creationId xmlns="" xmlns:a16="http://schemas.microsoft.com/office/drawing/2014/main" id="{C85D2FA4-AD4C-93D3-258D-EDD4E11DD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456" y="3036872"/>
            <a:ext cx="3323865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tabLst>
                <a:tab pos="294084" algn="l"/>
                <a:tab pos="1000919" algn="l"/>
              </a:tabLst>
              <a:defRPr/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오븐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 </a:t>
            </a:r>
            <a:r>
              <a:rPr kumimoji="0" lang="ko-KR" altLang="en-US" sz="813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에어프라이어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토스터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 </a:t>
            </a:r>
            <a:r>
              <a:rPr kumimoji="0" lang="ko-KR" altLang="en-US" sz="813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수비드머신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 MWO +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스팀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(6 in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1)</a:t>
            </a:r>
            <a:endParaRPr kumimoji="0" lang="ko-KR" altLang="en-US" sz="81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="" xmlns:a16="http://schemas.microsoft.com/office/drawing/2014/main" id="{48C27F79-7970-36C1-C98D-B354E7003BE5}"/>
              </a:ext>
            </a:extLst>
          </p:cNvPr>
          <p:cNvSpPr txBox="1"/>
          <p:nvPr/>
        </p:nvSpPr>
        <p:spPr>
          <a:xfrm>
            <a:off x="2028997" y="5820020"/>
            <a:ext cx="2073875" cy="137602"/>
          </a:xfrm>
          <a:prstGeom prst="rect">
            <a:avLst/>
          </a:prstGeom>
          <a:noFill/>
          <a:ln>
            <a:noFill/>
          </a:ln>
        </p:spPr>
        <p:txBody>
          <a:bodyPr wrap="square" lIns="27000" tIns="0" rIns="27000" bIns="0" rtlCol="0">
            <a:spAutoFit/>
          </a:bodyPr>
          <a:lstStyle>
            <a:defPPr>
              <a:defRPr lang="ko-KR"/>
            </a:defPPr>
            <a:lvl1pPr indent="-99695">
              <a:buFont typeface="Wingdings" panose="05000000000000000000" pitchFamily="2" charset="2"/>
              <a:buChar char="§"/>
              <a:tabLst>
                <a:tab pos="740038" algn="l"/>
              </a:tabLst>
              <a:defRPr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indent="-81002" defTabSz="742950" fontAlgn="auto">
              <a:spcBef>
                <a:spcPts val="0"/>
              </a:spcBef>
              <a:spcAft>
                <a:spcPts val="0"/>
              </a:spcAft>
              <a:tabLst>
                <a:tab pos="601281" algn="l"/>
              </a:tabLst>
            </a:pPr>
            <a:r>
              <a:rPr kumimoji="0" lang="ko-KR" altLang="en-US" sz="894" dirty="0" err="1">
                <a:cs typeface="+mn-cs"/>
              </a:rPr>
              <a:t>청소성</a:t>
            </a:r>
            <a:r>
              <a:rPr kumimoji="0" lang="ko-KR" altLang="en-US" sz="894" dirty="0">
                <a:cs typeface="+mn-cs"/>
              </a:rPr>
              <a:t> 중요하나</a:t>
            </a:r>
            <a:r>
              <a:rPr kumimoji="0" lang="en-US" altLang="ko-KR" sz="894" dirty="0">
                <a:cs typeface="+mn-cs"/>
              </a:rPr>
              <a:t>, </a:t>
            </a:r>
            <a:r>
              <a:rPr kumimoji="0" lang="en-US" altLang="ko-KR" sz="894" dirty="0" err="1">
                <a:cs typeface="+mn-cs"/>
              </a:rPr>
              <a:t>경쟁사</a:t>
            </a:r>
            <a:r>
              <a:rPr kumimoji="0" lang="en-US" altLang="ko-KR" sz="894" dirty="0">
                <a:cs typeface="+mn-cs"/>
              </a:rPr>
              <a:t> Pyro </a:t>
            </a:r>
            <a:r>
              <a:rPr kumimoji="0" lang="en-US" altLang="ko-KR" sz="894" dirty="0" err="1">
                <a:cs typeface="+mn-cs"/>
              </a:rPr>
              <a:t>적용</a:t>
            </a:r>
            <a:r>
              <a:rPr kumimoji="0" lang="en-US" altLang="ko-KR" sz="894" dirty="0">
                <a:cs typeface="+mn-cs"/>
              </a:rPr>
              <a:t> </a:t>
            </a:r>
            <a:r>
              <a:rPr kumimoji="0" lang="en-US" altLang="ko-KR" sz="894" dirty="0" err="1">
                <a:cs typeface="+mn-cs"/>
              </a:rPr>
              <a:t>미비</a:t>
            </a:r>
            <a:endParaRPr kumimoji="0" lang="ko-KR" altLang="en-US" sz="894" dirty="0"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="" xmlns:a16="http://schemas.microsoft.com/office/drawing/2014/main" id="{126624EB-9C0B-25F9-E38D-A1CD66C92B5D}"/>
              </a:ext>
            </a:extLst>
          </p:cNvPr>
          <p:cNvSpPr txBox="1"/>
          <p:nvPr/>
        </p:nvSpPr>
        <p:spPr>
          <a:xfrm>
            <a:off x="2007520" y="5220434"/>
            <a:ext cx="1835398" cy="275204"/>
          </a:xfrm>
          <a:prstGeom prst="rect">
            <a:avLst/>
          </a:prstGeom>
          <a:noFill/>
          <a:ln>
            <a:noFill/>
          </a:ln>
        </p:spPr>
        <p:txBody>
          <a:bodyPr wrap="square" lIns="27000" tIns="0" rIns="27000" bIns="0" rtlCol="0">
            <a:spAutoFit/>
          </a:bodyPr>
          <a:lstStyle>
            <a:defPPr>
              <a:defRPr lang="ko-KR"/>
            </a:defPPr>
            <a:lvl1pPr indent="-99695">
              <a:buFont typeface="Wingdings" panose="05000000000000000000" pitchFamily="2" charset="2"/>
              <a:buChar char="§"/>
              <a:tabLst>
                <a:tab pos="740038" algn="l"/>
              </a:tabLst>
              <a:defRPr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indent="-81002" defTabSz="742950" fontAlgn="auto">
              <a:spcBef>
                <a:spcPts val="0"/>
              </a:spcBef>
              <a:spcAft>
                <a:spcPts val="0"/>
              </a:spcAft>
              <a:tabLst>
                <a:tab pos="601281" algn="l"/>
              </a:tabLst>
            </a:pPr>
            <a:r>
              <a:rPr kumimoji="0" lang="ko-KR" altLang="en-US" sz="894" dirty="0">
                <a:cs typeface="+mn-cs"/>
              </a:rPr>
              <a:t>키친</a:t>
            </a:r>
            <a:r>
              <a:rPr kumimoji="0" lang="en-US" altLang="ko-KR" sz="894" dirty="0">
                <a:cs typeface="+mn-cs"/>
              </a:rPr>
              <a:t> </a:t>
            </a:r>
            <a:r>
              <a:rPr kumimoji="0" lang="ko-KR" altLang="en-US" sz="894" dirty="0">
                <a:cs typeface="+mn-cs"/>
              </a:rPr>
              <a:t>카운터탑엔 다양한 소물가전 즐비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="" xmlns:a16="http://schemas.microsoft.com/office/drawing/2014/main" id="{A649B6F5-F28C-7A5A-8D86-F4555EAD27BB}"/>
              </a:ext>
            </a:extLst>
          </p:cNvPr>
          <p:cNvSpPr/>
          <p:nvPr/>
        </p:nvSpPr>
        <p:spPr>
          <a:xfrm>
            <a:off x="2145129" y="6050584"/>
            <a:ext cx="1170806" cy="71751"/>
          </a:xfrm>
          <a:prstGeom prst="rect">
            <a:avLst/>
          </a:prstGeom>
          <a:solidFill>
            <a:srgbClr val="FFFFCC"/>
          </a:solidFill>
        </p:spPr>
        <p:txBody>
          <a:bodyPr wrap="square" lIns="0" tIns="0" rIns="0" bIns="0">
            <a:spAutoFit/>
          </a:bodyPr>
          <a:lstStyle/>
          <a:p>
            <a:pPr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569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“</a:t>
            </a:r>
            <a:r>
              <a:rPr kumimoji="0" lang="ko-KR" altLang="en-US" sz="569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청소가</a:t>
            </a:r>
            <a:r>
              <a:rPr kumimoji="0" lang="en-US" altLang="ko-KR" sz="569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569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어려워 전자레인지로만 써요</a:t>
            </a:r>
            <a:r>
              <a:rPr kumimoji="0" lang="en-US" altLang="ko-KR" sz="569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”</a:t>
            </a:r>
            <a:endParaRPr kumimoji="0" lang="ko-KR" altLang="en-US" sz="569" b="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="" xmlns:a16="http://schemas.microsoft.com/office/drawing/2014/main" id="{0A5ECFF2-3B32-F1F3-2A37-81BA537D143B}"/>
              </a:ext>
            </a:extLst>
          </p:cNvPr>
          <p:cNvSpPr/>
          <p:nvPr/>
        </p:nvSpPr>
        <p:spPr>
          <a:xfrm>
            <a:off x="516933" y="4620618"/>
            <a:ext cx="1368725" cy="159099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650" b="0" u="sng" dirty="0" err="1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컴팩트오븐</a:t>
            </a:r>
            <a:r>
              <a:rPr kumimoji="0" lang="ko-KR" altLang="en-US" sz="650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 보유자 </a:t>
            </a:r>
            <a:r>
              <a:rPr kumimoji="0" lang="en-US" altLang="ko-KR" sz="650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CVF</a:t>
            </a:r>
            <a:r>
              <a:rPr kumimoji="0" lang="ko-KR" altLang="en-US" sz="650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650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(Top3%), 10순위</a:t>
            </a:r>
            <a:endParaRPr kumimoji="0" lang="ko-KR" altLang="en-US" sz="650" b="0" u="sng" dirty="0">
              <a:solidFill>
                <a:prstClr val="black"/>
              </a:solidFill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149" name="표 148">
            <a:extLst>
              <a:ext uri="{FF2B5EF4-FFF2-40B4-BE49-F238E27FC236}">
                <a16:creationId xmlns="" xmlns:a16="http://schemas.microsoft.com/office/drawing/2014/main" id="{8AC54DD1-4DF0-47DA-EF0F-20DF53CEBCD1}"/>
              </a:ext>
            </a:extLst>
          </p:cNvPr>
          <p:cNvGraphicFramePr>
            <a:graphicFrameLocks noGrp="1"/>
          </p:cNvGraphicFramePr>
          <p:nvPr/>
        </p:nvGraphicFramePr>
        <p:xfrm>
          <a:off x="2120146" y="5343360"/>
          <a:ext cx="1434168" cy="426720"/>
        </p:xfrm>
        <a:graphic>
          <a:graphicData uri="http://schemas.openxmlformats.org/drawingml/2006/table">
            <a:tbl>
              <a:tblPr/>
              <a:tblGrid>
                <a:gridCol w="4780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187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187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1870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990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보유율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</a:t>
                      </a:r>
                      <a:endParaRPr lang="ko-KR" altLang="en-US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IT</a:t>
                      </a:r>
                      <a:endParaRPr lang="ko-KR" altLang="en-US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FR</a:t>
                      </a:r>
                      <a:endParaRPr lang="ko-KR" altLang="en-US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90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키친소물가전</a:t>
                      </a:r>
                      <a:endParaRPr lang="en-US" altLang="ko-KR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90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토스터</a:t>
                      </a:r>
                      <a:endParaRPr lang="en-US" altLang="ko-KR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90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MWO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0" name="Picture 2" descr="The Best Places to Stash Small Kitchen Appliances">
            <a:extLst>
              <a:ext uri="{FF2B5EF4-FFF2-40B4-BE49-F238E27FC236}">
                <a16:creationId xmlns="" xmlns:a16="http://schemas.microsoft.com/office/drawing/2014/main" id="{F959F4F2-F415-BB1C-4432-9CA04D1637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250" b="3598"/>
          <a:stretch/>
        </p:blipFill>
        <p:spPr bwMode="auto">
          <a:xfrm>
            <a:off x="3619934" y="5367623"/>
            <a:ext cx="414139" cy="37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TextBox 150">
            <a:extLst>
              <a:ext uri="{FF2B5EF4-FFF2-40B4-BE49-F238E27FC236}">
                <a16:creationId xmlns="" xmlns:a16="http://schemas.microsoft.com/office/drawing/2014/main" id="{A0ACFB82-DDB1-F015-F365-F8A44C28B876}"/>
              </a:ext>
            </a:extLst>
          </p:cNvPr>
          <p:cNvSpPr txBox="1"/>
          <p:nvPr/>
        </p:nvSpPr>
        <p:spPr>
          <a:xfrm>
            <a:off x="2028997" y="5917481"/>
            <a:ext cx="1547218" cy="1674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88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밀레 파이로 모델 </a:t>
            </a:r>
            <a:r>
              <a:rPr kumimoji="0" lang="en-US" altLang="ko-KR" sz="488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X, </a:t>
            </a:r>
            <a:r>
              <a:rPr kumimoji="0" lang="ko-KR" altLang="en-US" sz="488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지멘스 파이로 모델 프리미엄 </a:t>
            </a:r>
            <a:r>
              <a:rPr kumimoji="0" lang="en-US" altLang="ko-KR" sz="488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3SKU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="" xmlns:a16="http://schemas.microsoft.com/office/drawing/2014/main" id="{E0B5B7E1-6F7C-199C-8615-56647CA8C5CC}"/>
              </a:ext>
            </a:extLst>
          </p:cNvPr>
          <p:cNvSpPr txBox="1"/>
          <p:nvPr/>
        </p:nvSpPr>
        <p:spPr>
          <a:xfrm>
            <a:off x="4383328" y="5541480"/>
            <a:ext cx="2244515" cy="412805"/>
          </a:xfrm>
          <a:prstGeom prst="rect">
            <a:avLst/>
          </a:prstGeom>
          <a:noFill/>
          <a:ln>
            <a:noFill/>
          </a:ln>
        </p:spPr>
        <p:txBody>
          <a:bodyPr wrap="square" lIns="27000" tIns="0" rIns="27000" bIns="0" rtlCol="0">
            <a:spAutoFit/>
          </a:bodyPr>
          <a:lstStyle/>
          <a:p>
            <a:pPr indent="-81002" defTabSz="7429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601281" algn="l"/>
              </a:tabLst>
            </a:pPr>
            <a:r>
              <a:rPr kumimoji="0" lang="ko-KR" altLang="en-US" sz="894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쾌속셀프클린</a:t>
            </a:r>
            <a:r>
              <a:rPr kumimoji="0" lang="en-US" altLang="ko-KR" sz="894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  <a:r>
              <a:rPr kumimoji="0" lang="ko-KR" altLang="en-US" sz="894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94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+ </a:t>
            </a:r>
            <a:r>
              <a:rPr kumimoji="0" lang="en-US" altLang="ko-KR" sz="894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EasyClean</a:t>
            </a:r>
            <a:endParaRPr kumimoji="0" lang="en-US" altLang="ko-KR" sz="894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  <a:tabLst>
                <a:tab pos="601281" algn="l"/>
              </a:tabLst>
            </a:pPr>
            <a:r>
              <a:rPr kumimoji="0" lang="en-US" altLang="ko-KR" sz="894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: </a:t>
            </a:r>
            <a:r>
              <a:rPr kumimoji="0" lang="en-US" altLang="ko-KR" sz="894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</a:t>
            </a:r>
            <a:r>
              <a:rPr kumimoji="0" lang="ko-KR" altLang="en-US" sz="894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시간 미만으로 단축된 </a:t>
            </a:r>
            <a:r>
              <a:rPr kumimoji="0" lang="en-US" altLang="ko-KR" sz="894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Pyro </a:t>
            </a:r>
            <a:r>
              <a:rPr kumimoji="0" lang="en-US" altLang="ko-KR" sz="894" b="0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기능</a:t>
            </a:r>
            <a:endParaRPr kumimoji="0" lang="en-US" altLang="ko-KR" sz="894" b="0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  <a:tabLst>
                <a:tab pos="601281" algn="l"/>
              </a:tabLst>
            </a:pPr>
            <a:r>
              <a:rPr kumimoji="0" lang="en-US" altLang="ko-KR" sz="894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: MWO + </a:t>
            </a:r>
            <a:r>
              <a:rPr kumimoji="0" lang="ko-KR" altLang="en-US" sz="894" b="0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셀프크린</a:t>
            </a:r>
            <a:r>
              <a:rPr kumimoji="0" lang="ko-KR" altLang="en-US" sz="894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통합 차폐 기술 적용 도어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="" xmlns:a16="http://schemas.microsoft.com/office/drawing/2014/main" id="{767433B4-F55F-9156-6DCF-8CEAD4C890FD}"/>
              </a:ext>
            </a:extLst>
          </p:cNvPr>
          <p:cNvSpPr txBox="1"/>
          <p:nvPr/>
        </p:nvSpPr>
        <p:spPr>
          <a:xfrm>
            <a:off x="4383327" y="4672292"/>
            <a:ext cx="2244516" cy="275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eaLnBrk="0" fontAlgn="base" hangingPunct="0">
              <a:lnSpc>
                <a:spcPct val="120000"/>
              </a:lnSpc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 sz="1700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894" dirty="0">
                <a:solidFill>
                  <a:prstClr val="black"/>
                </a:solidFill>
              </a:rPr>
              <a:t> </a:t>
            </a:r>
            <a:r>
              <a:rPr lang="en-US" altLang="ko-KR" sz="894" dirty="0">
                <a:solidFill>
                  <a:prstClr val="black"/>
                </a:solidFill>
              </a:rPr>
              <a:t>Inverter </a:t>
            </a:r>
            <a:r>
              <a:rPr lang="en-US" altLang="ko-KR" sz="894" dirty="0" err="1">
                <a:solidFill>
                  <a:prstClr val="black"/>
                </a:solidFill>
              </a:rPr>
              <a:t>ProBake</a:t>
            </a:r>
            <a:endParaRPr lang="en-US" altLang="ko-KR" sz="894" dirty="0">
              <a:solidFill>
                <a:prstClr val="black"/>
              </a:solidFill>
            </a:endParaRPr>
          </a:p>
          <a:p>
            <a:pPr defTabSz="7429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894" dirty="0">
                <a:solidFill>
                  <a:prstClr val="black"/>
                </a:solidFill>
              </a:rPr>
              <a:t>   </a:t>
            </a:r>
            <a:r>
              <a:rPr lang="en-US" altLang="ko-KR" sz="894" b="0" dirty="0">
                <a:solidFill>
                  <a:prstClr val="black"/>
                </a:solidFill>
              </a:rPr>
              <a:t>: </a:t>
            </a:r>
            <a:r>
              <a:rPr kumimoji="0" lang="en-US" altLang="ko-KR" sz="894" b="0" dirty="0">
                <a:solidFill>
                  <a:prstClr val="black">
                    <a:lumMod val="95000"/>
                    <a:lumOff val="5000"/>
                  </a:prstClr>
                </a:solidFill>
                <a:cs typeface="Arial" pitchFamily="34" charset="0"/>
              </a:rPr>
              <a:t>BLDC </a:t>
            </a:r>
            <a:r>
              <a:rPr kumimoji="0" lang="ko-KR" altLang="en-US" sz="894" b="0" dirty="0" err="1">
                <a:solidFill>
                  <a:prstClr val="black">
                    <a:lumMod val="95000"/>
                    <a:lumOff val="5000"/>
                  </a:prstClr>
                </a:solidFill>
                <a:cs typeface="Arial" pitchFamily="34" charset="0"/>
              </a:rPr>
              <a:t>컨벡션</a:t>
            </a:r>
            <a:r>
              <a:rPr kumimoji="0" lang="ko-KR" altLang="en-US" sz="894" b="0" dirty="0">
                <a:solidFill>
                  <a:prstClr val="black">
                    <a:lumMod val="95000"/>
                    <a:lumOff val="5000"/>
                  </a:prstClr>
                </a:solidFill>
                <a:cs typeface="Arial" pitchFamily="34" charset="0"/>
              </a:rPr>
              <a:t> 모터 적용한 </a:t>
            </a:r>
            <a:r>
              <a:rPr kumimoji="0" lang="ko-KR" altLang="en-US" sz="894" b="0" dirty="0" err="1">
                <a:solidFill>
                  <a:prstClr val="black">
                    <a:lumMod val="95000"/>
                    <a:lumOff val="5000"/>
                  </a:prstClr>
                </a:solidFill>
                <a:cs typeface="Arial" pitchFamily="34" charset="0"/>
              </a:rPr>
              <a:t>컨백션</a:t>
            </a:r>
            <a:endParaRPr lang="ko-KR" altLang="en-US" sz="894" dirty="0">
              <a:solidFill>
                <a:prstClr val="black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="" xmlns:a16="http://schemas.microsoft.com/office/drawing/2014/main" id="{18897740-2D77-F8BB-C352-7271FC3B43D5}"/>
              </a:ext>
            </a:extLst>
          </p:cNvPr>
          <p:cNvSpPr txBox="1"/>
          <p:nvPr/>
        </p:nvSpPr>
        <p:spPr>
          <a:xfrm>
            <a:off x="4383327" y="5093536"/>
            <a:ext cx="2244516" cy="275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eaLnBrk="0" fontAlgn="base" hangingPunct="0">
              <a:lnSpc>
                <a:spcPct val="120000"/>
              </a:lnSpc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 sz="1700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894" dirty="0">
                <a:solidFill>
                  <a:prstClr val="black"/>
                </a:solidFill>
              </a:rPr>
              <a:t> 스팀 </a:t>
            </a:r>
            <a:r>
              <a:rPr lang="en-US" altLang="ko-KR" sz="894" dirty="0">
                <a:solidFill>
                  <a:prstClr val="black"/>
                </a:solidFill>
              </a:rPr>
              <a:t>+ MWO + </a:t>
            </a:r>
            <a:r>
              <a:rPr lang="en-US" altLang="ko-KR" sz="894" dirty="0" err="1">
                <a:solidFill>
                  <a:prstClr val="black"/>
                </a:solidFill>
              </a:rPr>
              <a:t>오븐</a:t>
            </a:r>
            <a:r>
              <a:rPr lang="en-US" altLang="ko-KR" sz="894" dirty="0">
                <a:solidFill>
                  <a:prstClr val="black"/>
                </a:solidFill>
              </a:rPr>
              <a:t> </a:t>
            </a:r>
            <a:r>
              <a:rPr lang="en-US" altLang="ko-KR" sz="894" dirty="0" err="1">
                <a:solidFill>
                  <a:prstClr val="black"/>
                </a:solidFill>
              </a:rPr>
              <a:t>복합</a:t>
            </a:r>
            <a:r>
              <a:rPr lang="en-US" altLang="ko-KR" sz="894" dirty="0">
                <a:solidFill>
                  <a:prstClr val="black"/>
                </a:solidFill>
              </a:rPr>
              <a:t> </a:t>
            </a:r>
            <a:r>
              <a:rPr lang="en-US" altLang="ko-KR" sz="894" dirty="0" err="1">
                <a:solidFill>
                  <a:prstClr val="black"/>
                </a:solidFill>
              </a:rPr>
              <a:t>기능</a:t>
            </a:r>
            <a:endParaRPr lang="en-US" altLang="ko-KR" sz="894" dirty="0">
              <a:solidFill>
                <a:prstClr val="black"/>
              </a:solidFill>
            </a:endParaRPr>
          </a:p>
          <a:p>
            <a:pPr defTabSz="7429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894" b="0" dirty="0">
                <a:solidFill>
                  <a:prstClr val="black"/>
                </a:solidFill>
              </a:rPr>
              <a:t>    : </a:t>
            </a:r>
            <a:r>
              <a:rPr lang="ko-KR" altLang="en-US" sz="894" b="0" dirty="0" err="1">
                <a:solidFill>
                  <a:prstClr val="black"/>
                </a:solidFill>
              </a:rPr>
              <a:t>전자파차폐</a:t>
            </a:r>
            <a:r>
              <a:rPr lang="en-US" altLang="ko-KR" sz="894" b="0" dirty="0">
                <a:solidFill>
                  <a:prstClr val="black"/>
                </a:solidFill>
              </a:rPr>
              <a:t>+</a:t>
            </a:r>
            <a:r>
              <a:rPr lang="ko-KR" altLang="en-US" sz="894" b="0" dirty="0">
                <a:solidFill>
                  <a:prstClr val="black"/>
                </a:solidFill>
              </a:rPr>
              <a:t>균일가열의 통합 </a:t>
            </a:r>
            <a:r>
              <a:rPr lang="en-US" altLang="ko-KR" sz="894" b="0" dirty="0">
                <a:solidFill>
                  <a:prstClr val="black"/>
                </a:solidFill>
              </a:rPr>
              <a:t>cavity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="" xmlns:a16="http://schemas.microsoft.com/office/drawing/2014/main" id="{5D143AF0-3CE2-B3B6-A86D-9678780D29E6}"/>
              </a:ext>
            </a:extLst>
          </p:cNvPr>
          <p:cNvSpPr/>
          <p:nvPr/>
        </p:nvSpPr>
        <p:spPr>
          <a:xfrm>
            <a:off x="7204269" y="5694987"/>
            <a:ext cx="2198152" cy="1250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8362" indent="-68362" defTabSz="742950">
              <a:defRPr/>
            </a:pPr>
            <a:r>
              <a:rPr lang="en-US" altLang="ko-KR" sz="813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 - KC</a:t>
            </a:r>
            <a:r>
              <a:rPr lang="ko-KR" altLang="en-US" sz="813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en-US" altLang="ko-KR" sz="813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VOC </a:t>
            </a:r>
            <a:r>
              <a:rPr lang="ko-KR" altLang="en-US" sz="813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모니터링 통한 키친 </a:t>
            </a:r>
            <a:r>
              <a:rPr lang="ko-KR" altLang="en-US" sz="813" b="0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플래너</a:t>
            </a:r>
            <a:r>
              <a:rPr lang="ko-KR" altLang="en-US" sz="813" b="0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anose="020B0600000101010101" pitchFamily="50" charset="-127"/>
                <a:cs typeface="+mn-cs"/>
              </a:rPr>
              <a:t> 니즈 분석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A603DC2E-4729-4C07-1CF3-D14569472ECD}"/>
              </a:ext>
            </a:extLst>
          </p:cNvPr>
          <p:cNvSpPr txBox="1"/>
          <p:nvPr/>
        </p:nvSpPr>
        <p:spPr>
          <a:xfrm>
            <a:off x="5723961" y="1947046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u="sng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</a:t>
            </a:r>
            <a:r>
              <a:rPr kumimoji="0" lang="ko-KR" altLang="en-US" sz="731" b="0" u="sng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731" b="0" u="sng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CVF</a:t>
            </a:r>
            <a:endParaRPr kumimoji="0" lang="ko-KR" altLang="en-US" sz="731" b="0" u="sng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="" xmlns:a16="http://schemas.microsoft.com/office/drawing/2014/main" id="{B40A6050-304B-00C3-216C-A1C5F96F8DA1}"/>
              </a:ext>
            </a:extLst>
          </p:cNvPr>
          <p:cNvSpPr txBox="1"/>
          <p:nvPr/>
        </p:nvSpPr>
        <p:spPr>
          <a:xfrm>
            <a:off x="2007520" y="4642179"/>
            <a:ext cx="2573877" cy="137602"/>
          </a:xfrm>
          <a:prstGeom prst="rect">
            <a:avLst/>
          </a:prstGeom>
          <a:noFill/>
          <a:ln>
            <a:noFill/>
          </a:ln>
        </p:spPr>
        <p:txBody>
          <a:bodyPr wrap="square" lIns="27000" tIns="0" rIns="27000" bIns="0" rtlCol="0">
            <a:spAutoFit/>
          </a:bodyPr>
          <a:lstStyle>
            <a:defPPr>
              <a:defRPr lang="ko-KR"/>
            </a:defPPr>
            <a:lvl1pPr indent="-99695">
              <a:buFont typeface="Wingdings" panose="05000000000000000000" pitchFamily="2" charset="2"/>
              <a:buChar char="§"/>
              <a:tabLst>
                <a:tab pos="740038" algn="l"/>
              </a:tabLst>
              <a:defRPr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indent="-81002" defTabSz="742950" fontAlgn="auto">
              <a:spcBef>
                <a:spcPts val="0"/>
              </a:spcBef>
              <a:spcAft>
                <a:spcPts val="0"/>
              </a:spcAft>
              <a:tabLst>
                <a:tab pos="601281" algn="l"/>
              </a:tabLst>
            </a:pPr>
            <a:r>
              <a:rPr kumimoji="0" lang="ko-KR" altLang="en-US" sz="894" dirty="0" err="1">
                <a:cs typeface="+mn-cs"/>
              </a:rPr>
              <a:t>컴팩트오븐</a:t>
            </a:r>
            <a:r>
              <a:rPr kumimoji="0" lang="ko-KR" altLang="en-US" sz="894" dirty="0">
                <a:cs typeface="+mn-cs"/>
              </a:rPr>
              <a:t> 보유자</a:t>
            </a:r>
            <a:r>
              <a:rPr kumimoji="0" lang="en-US" altLang="ko-KR" sz="894" dirty="0">
                <a:cs typeface="+mn-cs"/>
              </a:rPr>
              <a:t>, </a:t>
            </a:r>
            <a:r>
              <a:rPr kumimoji="0" lang="ko-KR" altLang="en-US" sz="894" dirty="0">
                <a:cs typeface="+mn-cs"/>
              </a:rPr>
              <a:t>오븐</a:t>
            </a:r>
            <a:r>
              <a:rPr kumimoji="0" lang="en-US" altLang="ko-KR" sz="894" dirty="0">
                <a:cs typeface="+mn-cs"/>
              </a:rPr>
              <a:t> </a:t>
            </a:r>
            <a:r>
              <a:rPr kumimoji="0" lang="ko-KR" altLang="en-US" sz="894" dirty="0">
                <a:cs typeface="+mn-cs"/>
              </a:rPr>
              <a:t>사용 횟수 더  많음</a:t>
            </a:r>
            <a:endParaRPr kumimoji="0" lang="en-US" altLang="ko-KR" sz="894" dirty="0">
              <a:cs typeface="+mn-cs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="" xmlns:a16="http://schemas.microsoft.com/office/drawing/2014/main" id="{2A8A8579-EB28-0785-8FC2-014167538782}"/>
              </a:ext>
            </a:extLst>
          </p:cNvPr>
          <p:cNvSpPr/>
          <p:nvPr/>
        </p:nvSpPr>
        <p:spPr bwMode="auto">
          <a:xfrm>
            <a:off x="2952606" y="4875624"/>
            <a:ext cx="271687" cy="271687"/>
          </a:xfrm>
          <a:prstGeom prst="ellipse">
            <a:avLst/>
          </a:prstGeom>
          <a:solidFill>
            <a:srgbClr val="F2DCD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/>
            <a:endParaRPr lang="ko-KR" altLang="en-US" sz="975" dirty="0">
              <a:solidFill>
                <a:prstClr val="black"/>
              </a:solidFill>
            </a:endParaRPr>
          </a:p>
        </p:txBody>
      </p:sp>
      <p:sp>
        <p:nvSpPr>
          <p:cNvPr id="161" name="타원 160">
            <a:extLst>
              <a:ext uri="{FF2B5EF4-FFF2-40B4-BE49-F238E27FC236}">
                <a16:creationId xmlns="" xmlns:a16="http://schemas.microsoft.com/office/drawing/2014/main" id="{933C94B6-1B54-78F1-324B-471729F2F91F}"/>
              </a:ext>
            </a:extLst>
          </p:cNvPr>
          <p:cNvSpPr/>
          <p:nvPr/>
        </p:nvSpPr>
        <p:spPr bwMode="auto">
          <a:xfrm>
            <a:off x="3671708" y="4816593"/>
            <a:ext cx="416046" cy="416046"/>
          </a:xfrm>
          <a:prstGeom prst="ellipse">
            <a:avLst/>
          </a:prstGeom>
          <a:solidFill>
            <a:srgbClr val="C2147D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975" dirty="0">
              <a:solidFill>
                <a:prstClr val="black"/>
              </a:solidFill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="" xmlns:a16="http://schemas.microsoft.com/office/drawing/2014/main" id="{F73004A9-51FD-4EE7-7C86-B6F63E193810}"/>
              </a:ext>
            </a:extLst>
          </p:cNvPr>
          <p:cNvCxnSpPr>
            <a:cxnSpLocks/>
          </p:cNvCxnSpPr>
          <p:nvPr/>
        </p:nvCxnSpPr>
        <p:spPr bwMode="auto">
          <a:xfrm>
            <a:off x="3299542" y="5011467"/>
            <a:ext cx="308333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3" name="직사각형 162">
            <a:extLst>
              <a:ext uri="{FF2B5EF4-FFF2-40B4-BE49-F238E27FC236}">
                <a16:creationId xmlns="" xmlns:a16="http://schemas.microsoft.com/office/drawing/2014/main" id="{3045739C-AD77-3988-BE6F-FABBB5856AC5}"/>
              </a:ext>
            </a:extLst>
          </p:cNvPr>
          <p:cNvSpPr/>
          <p:nvPr/>
        </p:nvSpPr>
        <p:spPr>
          <a:xfrm>
            <a:off x="2877570" y="4945245"/>
            <a:ext cx="452637" cy="1519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569" b="0" dirty="0">
                <a:solidFill>
                  <a:prstClr val="white">
                    <a:lumMod val="50000"/>
                  </a:prst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오븐보유자 </a:t>
            </a:r>
            <a:endParaRPr kumimoji="0" lang="en-US" altLang="ko-KR" sz="569" b="0" dirty="0">
              <a:solidFill>
                <a:prstClr val="white">
                  <a:lumMod val="50000"/>
                </a:prst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650" b="0" dirty="0">
                <a:solidFill>
                  <a:prstClr val="white">
                    <a:lumMod val="50000"/>
                  </a:prst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5.8</a:t>
            </a:r>
            <a:r>
              <a:rPr kumimoji="0" lang="ko-KR" altLang="en-US" sz="650" b="0" dirty="0">
                <a:solidFill>
                  <a:prstClr val="white">
                    <a:lumMod val="50000"/>
                  </a:prst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번</a:t>
            </a:r>
            <a:endParaRPr kumimoji="0" lang="ko-KR" altLang="en-US" sz="650" b="0" dirty="0">
              <a:solidFill>
                <a:prstClr val="white">
                  <a:lumMod val="50000"/>
                </a:prstClr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="" xmlns:a16="http://schemas.microsoft.com/office/drawing/2014/main" id="{8994B56B-37D3-47D9-2434-16586B26A014}"/>
              </a:ext>
            </a:extLst>
          </p:cNvPr>
          <p:cNvSpPr/>
          <p:nvPr/>
        </p:nvSpPr>
        <p:spPr>
          <a:xfrm>
            <a:off x="3570725" y="4891714"/>
            <a:ext cx="599579" cy="2625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650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오븐</a:t>
            </a:r>
            <a:r>
              <a:rPr kumimoji="0" lang="en-US" altLang="ko-KR" sz="650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+</a:t>
            </a:r>
            <a:r>
              <a:rPr kumimoji="0" lang="ko-KR" altLang="en-US" sz="650" b="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컴팩트오븐</a:t>
            </a:r>
            <a:r>
              <a:rPr kumimoji="0" lang="ko-KR" altLang="en-US" sz="650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보유자 </a:t>
            </a:r>
            <a:endParaRPr kumimoji="0" lang="en-US" altLang="ko-KR" sz="650" b="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algn="ctr"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9.8</a:t>
            </a:r>
            <a:r>
              <a:rPr kumimoji="0" lang="ko-KR" altLang="en-US" sz="813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번</a:t>
            </a:r>
            <a:endParaRPr kumimoji="0" lang="ko-KR" altLang="en-US" sz="813" b="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="" xmlns:a16="http://schemas.microsoft.com/office/drawing/2014/main" id="{80E1E1A9-6B37-07EB-43E9-A6A575485457}"/>
              </a:ext>
            </a:extLst>
          </p:cNvPr>
          <p:cNvSpPr/>
          <p:nvPr/>
        </p:nvSpPr>
        <p:spPr>
          <a:xfrm>
            <a:off x="2139200" y="4800937"/>
            <a:ext cx="1170806" cy="141257"/>
          </a:xfrm>
          <a:prstGeom prst="rect">
            <a:avLst/>
          </a:prstGeom>
          <a:solidFill>
            <a:srgbClr val="FFFFCC"/>
          </a:solidFill>
        </p:spPr>
        <p:txBody>
          <a:bodyPr wrap="square" lIns="0" tIns="0" rIns="0" bIns="0">
            <a:spAutoFit/>
          </a:bodyPr>
          <a:lstStyle/>
          <a:p>
            <a:pPr defTabSz="371475" fontAlgn="auto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569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“</a:t>
            </a:r>
            <a:r>
              <a:rPr kumimoji="0" lang="ko-KR" altLang="en-US" sz="569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빵 </a:t>
            </a:r>
            <a:r>
              <a:rPr kumimoji="0" lang="ko-KR" altLang="en-US" sz="569" b="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굽는걸</a:t>
            </a:r>
            <a:r>
              <a:rPr kumimoji="0" lang="ko-KR" altLang="en-US" sz="569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좋아해 오븐이 두개 필요해요</a:t>
            </a:r>
            <a:r>
              <a:rPr kumimoji="0" lang="en-US" altLang="ko-KR" sz="569" b="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”</a:t>
            </a:r>
            <a:endParaRPr kumimoji="0" lang="ko-KR" altLang="en-US" sz="569" b="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="" xmlns:a16="http://schemas.microsoft.com/office/drawing/2014/main" id="{4A148908-0E3F-9E75-718D-100EC443FF40}"/>
              </a:ext>
            </a:extLst>
          </p:cNvPr>
          <p:cNvSpPr/>
          <p:nvPr/>
        </p:nvSpPr>
        <p:spPr>
          <a:xfrm>
            <a:off x="2106454" y="4919876"/>
            <a:ext cx="706684" cy="159099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650" b="0" u="sng" dirty="0">
                <a:solidFill>
                  <a:prstClr val="black"/>
                </a:solidFill>
                <a:latin typeface="Arial Narrow"/>
                <a:ea typeface="LG스마트체 Regular"/>
                <a:cs typeface="+mn-cs"/>
              </a:rPr>
              <a:t>주간 오븐 사용 회수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="" xmlns:a16="http://schemas.microsoft.com/office/drawing/2014/main" id="{BBA6D69A-DDB6-2127-FF34-23820400FC07}"/>
              </a:ext>
            </a:extLst>
          </p:cNvPr>
          <p:cNvSpPr txBox="1"/>
          <p:nvPr/>
        </p:nvSpPr>
        <p:spPr>
          <a:xfrm>
            <a:off x="3186205" y="3278803"/>
            <a:ext cx="1141659" cy="2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Crispy reheat, Moist Reheat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="" xmlns:a16="http://schemas.microsoft.com/office/drawing/2014/main" id="{6555DC53-8401-D782-2889-CD33CE40C5EF}"/>
              </a:ext>
            </a:extLst>
          </p:cNvPr>
          <p:cNvSpPr txBox="1"/>
          <p:nvPr/>
        </p:nvSpPr>
        <p:spPr>
          <a:xfrm>
            <a:off x="5723961" y="2162851"/>
            <a:ext cx="1036382" cy="65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Cooking performance</a:t>
            </a:r>
          </a:p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Energy Efficiency</a:t>
            </a:r>
          </a:p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Cooking time</a:t>
            </a:r>
          </a:p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Less noise</a:t>
            </a:r>
          </a:p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Preheat time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="" xmlns:a16="http://schemas.microsoft.com/office/drawing/2014/main" id="{831FE115-C2BA-78A7-7FEF-A02CF41633A8}"/>
              </a:ext>
            </a:extLst>
          </p:cNvPr>
          <p:cNvSpPr txBox="1"/>
          <p:nvPr/>
        </p:nvSpPr>
        <p:spPr>
          <a:xfrm>
            <a:off x="5723961" y="3800951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Easy to Clean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="" xmlns:a16="http://schemas.microsoft.com/office/drawing/2014/main" id="{AD7C7176-5E39-DAB1-2901-A56839877653}"/>
              </a:ext>
            </a:extLst>
          </p:cNvPr>
          <p:cNvSpPr txBox="1"/>
          <p:nvPr/>
        </p:nvSpPr>
        <p:spPr>
          <a:xfrm>
            <a:off x="5727787" y="2869001"/>
            <a:ext cx="1036382" cy="31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Cooking performance</a:t>
            </a:r>
          </a:p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Cooking time</a:t>
            </a:r>
          </a:p>
        </p:txBody>
      </p:sp>
      <p:graphicFrame>
        <p:nvGraphicFramePr>
          <p:cNvPr id="171" name="표 170">
            <a:extLst>
              <a:ext uri="{FF2B5EF4-FFF2-40B4-BE49-F238E27FC236}">
                <a16:creationId xmlns="" xmlns:a16="http://schemas.microsoft.com/office/drawing/2014/main" id="{6181A604-DB67-007B-C950-6F7365ED961C}"/>
              </a:ext>
            </a:extLst>
          </p:cNvPr>
          <p:cNvGraphicFramePr>
            <a:graphicFrameLocks noGrp="1"/>
          </p:cNvGraphicFramePr>
          <p:nvPr/>
        </p:nvGraphicFramePr>
        <p:xfrm>
          <a:off x="408248" y="4869231"/>
          <a:ext cx="830356" cy="1166730"/>
        </p:xfrm>
        <a:graphic>
          <a:graphicData uri="http://schemas.openxmlformats.org/drawingml/2006/table">
            <a:tbl>
              <a:tblPr/>
              <a:tblGrid>
                <a:gridCol w="8303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effectLst/>
                          <a:latin typeface="Arial Narrow" panose="020B0606020202030204" pitchFamily="34" charset="0"/>
                        </a:rPr>
                        <a:t>Easy access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70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Cooking performance</a:t>
                      </a:r>
                      <a:endParaRPr lang="en-US" altLang="ko-KR" sz="7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72812270"/>
                  </a:ext>
                </a:extLst>
              </a:tr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Energy efficiency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81533975"/>
                  </a:ext>
                </a:extLst>
              </a:tr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Easy</a:t>
                      </a:r>
                      <a:r>
                        <a:rPr lang="ko-KR" alt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to Clean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08340326"/>
                  </a:ext>
                </a:extLst>
              </a:tr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Durability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04974619"/>
                  </a:ext>
                </a:extLst>
              </a:tr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Cooking time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62283938"/>
                  </a:ext>
                </a:extLst>
              </a:tr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Interior capacity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94265039"/>
                  </a:ext>
                </a:extLst>
              </a:tr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Less noise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96307005"/>
                  </a:ext>
                </a:extLst>
              </a:tr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Service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21326824"/>
                  </a:ext>
                </a:extLst>
              </a:tr>
              <a:tr h="116673">
                <a:tc>
                  <a:txBody>
                    <a:bodyPr/>
                    <a:lstStyle/>
                    <a:p>
                      <a:pPr algn="r" fontAlgn="t"/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Preheat time</a:t>
                      </a:r>
                    </a:p>
                  </a:txBody>
                  <a:tcPr marL="5230" marR="5230" marT="523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92711007"/>
                  </a:ext>
                </a:extLst>
              </a:tr>
            </a:tbl>
          </a:graphicData>
        </a:graphic>
      </p:graphicFrame>
      <p:graphicFrame>
        <p:nvGraphicFramePr>
          <p:cNvPr id="172" name="차트 171">
            <a:extLst>
              <a:ext uri="{FF2B5EF4-FFF2-40B4-BE49-F238E27FC236}">
                <a16:creationId xmlns="" xmlns:a16="http://schemas.microsoft.com/office/drawing/2014/main" id="{A691DF5E-88EF-6F28-B7C8-82CB9FEB605F}"/>
              </a:ext>
            </a:extLst>
          </p:cNvPr>
          <p:cNvGraphicFramePr/>
          <p:nvPr/>
        </p:nvGraphicFramePr>
        <p:xfrm>
          <a:off x="1139847" y="4766070"/>
          <a:ext cx="823342" cy="1370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3" name="직사각형 172">
            <a:extLst>
              <a:ext uri="{FF2B5EF4-FFF2-40B4-BE49-F238E27FC236}">
                <a16:creationId xmlns="" xmlns:a16="http://schemas.microsoft.com/office/drawing/2014/main" id="{486FE347-5D8B-44E4-73C9-FC7F243F2355}"/>
              </a:ext>
            </a:extLst>
          </p:cNvPr>
          <p:cNvSpPr/>
          <p:nvPr/>
        </p:nvSpPr>
        <p:spPr>
          <a:xfrm>
            <a:off x="509438" y="4732826"/>
            <a:ext cx="1307811" cy="159099"/>
          </a:xfrm>
          <a:prstGeom prst="rect">
            <a:avLst/>
          </a:prstGeom>
          <a:noFill/>
        </p:spPr>
        <p:txBody>
          <a:bodyPr wrap="none" lIns="29250" tIns="29250" rIns="29250" bIns="29250" rtlCol="0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650" b="0" dirty="0">
                <a:solidFill>
                  <a:prstClr val="white">
                    <a:lumMod val="75000"/>
                  </a:prstClr>
                </a:solidFill>
                <a:latin typeface="Arial Narrow"/>
                <a:ea typeface="LG스마트체 Regular"/>
                <a:cs typeface="+mn-cs"/>
              </a:rPr>
              <a:t>Nielsen</a:t>
            </a:r>
            <a:r>
              <a:rPr kumimoji="0" lang="ko-KR" altLang="en-US" sz="650" b="0" dirty="0">
                <a:solidFill>
                  <a:prstClr val="white">
                    <a:lumMod val="75000"/>
                  </a:prstClr>
                </a:solidFill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650" b="0" dirty="0">
                <a:solidFill>
                  <a:prstClr val="white">
                    <a:lumMod val="75000"/>
                  </a:prstClr>
                </a:solidFill>
                <a:latin typeface="Arial Narrow"/>
                <a:ea typeface="LG스마트체 Regular"/>
                <a:cs typeface="+mn-cs"/>
              </a:rPr>
              <a:t>2020</a:t>
            </a:r>
            <a:r>
              <a:rPr kumimoji="0" lang="ko-KR" altLang="en-US" sz="650" b="0" dirty="0">
                <a:solidFill>
                  <a:prstClr val="white">
                    <a:lumMod val="75000"/>
                  </a:prstClr>
                </a:solidFill>
                <a:latin typeface="Arial Narrow"/>
                <a:ea typeface="LG스마트체 Regular"/>
                <a:cs typeface="+mn-cs"/>
              </a:rPr>
              <a:t>년 조사</a:t>
            </a:r>
            <a:r>
              <a:rPr kumimoji="0" lang="en-US" altLang="ko-KR" sz="650" b="0" dirty="0">
                <a:solidFill>
                  <a:prstClr val="white">
                    <a:lumMod val="75000"/>
                  </a:prstClr>
                </a:solidFill>
                <a:latin typeface="Arial Narrow"/>
                <a:ea typeface="LG스마트체 Regular"/>
                <a:cs typeface="+mn-cs"/>
              </a:rPr>
              <a:t>, 4000</a:t>
            </a:r>
            <a:r>
              <a:rPr kumimoji="0" lang="ko-KR" altLang="en-US" sz="650" b="0" dirty="0">
                <a:solidFill>
                  <a:prstClr val="white">
                    <a:lumMod val="75000"/>
                  </a:prstClr>
                </a:solidFill>
                <a:latin typeface="Arial Narrow"/>
                <a:ea typeface="LG스마트체 Regular"/>
                <a:cs typeface="+mn-cs"/>
              </a:rPr>
              <a:t>샘플 중</a:t>
            </a:r>
            <a:r>
              <a:rPr kumimoji="0" lang="en-US" altLang="ko-KR" sz="650" b="0" dirty="0">
                <a:solidFill>
                  <a:prstClr val="white">
                    <a:lumMod val="75000"/>
                  </a:prstClr>
                </a:solidFill>
                <a:latin typeface="Arial Narrow"/>
                <a:ea typeface="LG스마트체 Regular"/>
                <a:cs typeface="+mn-cs"/>
              </a:rPr>
              <a:t> n=52</a:t>
            </a:r>
            <a:endParaRPr kumimoji="0" lang="ko-KR" altLang="en-US" sz="650" b="0" dirty="0">
              <a:solidFill>
                <a:prstClr val="white">
                  <a:lumMod val="75000"/>
                </a:prstClr>
              </a:solidFill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="" xmlns:a16="http://schemas.microsoft.com/office/drawing/2014/main" id="{D3CE6621-D344-099C-F878-7DF42672BA20}"/>
              </a:ext>
            </a:extLst>
          </p:cNvPr>
          <p:cNvSpPr/>
          <p:nvPr/>
        </p:nvSpPr>
        <p:spPr bwMode="auto">
          <a:xfrm>
            <a:off x="4404284" y="3197368"/>
            <a:ext cx="676918" cy="122523"/>
          </a:xfrm>
          <a:prstGeom prst="rect">
            <a:avLst/>
          </a:prstGeom>
          <a:solidFill>
            <a:srgbClr val="333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77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CP</a:t>
            </a:r>
            <a:r>
              <a:rPr kumimoji="0" lang="ko-KR" altLang="en-US" sz="6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시 확인 예정</a:t>
            </a:r>
          </a:p>
        </p:txBody>
      </p:sp>
      <p:sp>
        <p:nvSpPr>
          <p:cNvPr id="178" name="TextBox 177">
            <a:hlinkClick r:id="" action="ppaction://noaction"/>
            <a:extLst>
              <a:ext uri="{FF2B5EF4-FFF2-40B4-BE49-F238E27FC236}">
                <a16:creationId xmlns="" xmlns:a16="http://schemas.microsoft.com/office/drawing/2014/main" id="{C5A95F66-ADB2-7A6E-8CAE-A6442C461E3B}"/>
              </a:ext>
            </a:extLst>
          </p:cNvPr>
          <p:cNvSpPr txBox="1"/>
          <p:nvPr/>
        </p:nvSpPr>
        <p:spPr>
          <a:xfrm>
            <a:off x="371845" y="3117048"/>
            <a:ext cx="1008609" cy="238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76101" indent="-76101">
              <a:lnSpc>
                <a:spcPts val="1463"/>
              </a:lnSpc>
              <a:buFont typeface="Wingdings" panose="05000000000000000000" pitchFamily="2" charset="2"/>
              <a:buChar char="q"/>
              <a:defRPr sz="1200" b="1">
                <a:solidFill>
                  <a:srgbClr val="0070C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61832" indent="-61832" defTabSz="742950" fontAlgn="auto">
              <a:lnSpc>
                <a:spcPts val="118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75" dirty="0">
                <a:solidFill>
                  <a:srgbClr val="C2147D"/>
                </a:solidFill>
                <a:cs typeface="Arial"/>
              </a:rPr>
              <a:t> </a:t>
            </a:r>
            <a:r>
              <a:rPr kumimoji="0" lang="ko-KR" altLang="en-US" sz="975" dirty="0">
                <a:solidFill>
                  <a:srgbClr val="C2147D"/>
                </a:solidFill>
                <a:cs typeface="Arial"/>
              </a:rPr>
              <a:t>핵심 고객경험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="" xmlns:a16="http://schemas.microsoft.com/office/drawing/2014/main" id="{837F7CA1-A5B4-63BF-0A63-AF8E37AA436C}"/>
              </a:ext>
            </a:extLst>
          </p:cNvPr>
          <p:cNvSpPr/>
          <p:nvPr/>
        </p:nvSpPr>
        <p:spPr>
          <a:xfrm>
            <a:off x="1197288" y="3163197"/>
            <a:ext cx="1377300" cy="217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13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“</a:t>
            </a:r>
            <a:r>
              <a:rPr kumimoji="0" lang="ko-KR" altLang="en-US" sz="813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우리가 만드는 고객가치는</a:t>
            </a:r>
            <a:r>
              <a:rPr kumimoji="0" lang="en-US" altLang="ko-KR" sz="813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/>
                <a:cs typeface="Arial"/>
              </a:rPr>
              <a:t>?”</a:t>
            </a:r>
            <a:endParaRPr kumimoji="0" lang="ko-KR" altLang="en-US" sz="813" dirty="0">
              <a:solidFill>
                <a:srgbClr val="008000"/>
              </a:solidFill>
              <a:latin typeface="Arial Narrow" panose="020B0606020202030204" pitchFamily="34" charset="0"/>
              <a:ea typeface="LG스마트체 Regular"/>
              <a:cs typeface="Arial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="" xmlns:a16="http://schemas.microsoft.com/office/drawing/2014/main" id="{F425ADDC-E591-F313-B18B-E01B5D959429}"/>
              </a:ext>
            </a:extLst>
          </p:cNvPr>
          <p:cNvSpPr txBox="1"/>
          <p:nvPr/>
        </p:nvSpPr>
        <p:spPr>
          <a:xfrm>
            <a:off x="660300" y="3463741"/>
            <a:ext cx="1995739" cy="2501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dirty="0">
                <a:solidFill>
                  <a:prstClr val="black"/>
                </a:solidFill>
                <a:cs typeface="+mn-cs"/>
              </a:rPr>
              <a:t>융복합 오븐으로 지저분한 키친 공간을 깨끗하게</a:t>
            </a:r>
            <a:r>
              <a:rPr kumimoji="0" lang="en-US" altLang="ko-KR" sz="813" dirty="0">
                <a:solidFill>
                  <a:prstClr val="black"/>
                </a:solidFill>
                <a:cs typeface="+mn-cs"/>
              </a:rPr>
              <a:t>, </a:t>
            </a:r>
          </a:p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dirty="0">
                <a:solidFill>
                  <a:prstClr val="black"/>
                </a:solidFill>
                <a:cs typeface="+mn-cs"/>
              </a:rPr>
              <a:t>공간을 확대하는 경험</a:t>
            </a:r>
          </a:p>
        </p:txBody>
      </p:sp>
      <p:sp>
        <p:nvSpPr>
          <p:cNvPr id="181" name="Text Box 3">
            <a:extLst>
              <a:ext uri="{FF2B5EF4-FFF2-40B4-BE49-F238E27FC236}">
                <a16:creationId xmlns="" xmlns:a16="http://schemas.microsoft.com/office/drawing/2014/main" id="{C5F06D15-BF35-72F5-EB41-1166E3F25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11" y="3741814"/>
            <a:ext cx="2478448" cy="1384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복합 기능으로 차별화된 기능 바탕의 빌트인 오븐 패키지</a:t>
            </a:r>
          </a:p>
        </p:txBody>
      </p:sp>
      <p:sp>
        <p:nvSpPr>
          <p:cNvPr id="182" name="Text Box 3">
            <a:extLst>
              <a:ext uri="{FF2B5EF4-FFF2-40B4-BE49-F238E27FC236}">
                <a16:creationId xmlns="" xmlns:a16="http://schemas.microsoft.com/office/drawing/2014/main" id="{408CA005-68EF-D903-2FE0-D21E7D1D2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11" y="3873883"/>
            <a:ext cx="2641941" cy="1250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Compact</a:t>
            </a:r>
            <a:r>
              <a:rPr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한 사이즈에 주방 필수품 오븐</a:t>
            </a:r>
            <a:r>
              <a:rPr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전자레인지가 한대로</a:t>
            </a:r>
            <a:endParaRPr lang="en-US" altLang="ko-KR" sz="81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3" name="모서리가 둥근 직사각형 135">
            <a:extLst>
              <a:ext uri="{FF2B5EF4-FFF2-40B4-BE49-F238E27FC236}">
                <a16:creationId xmlns="" xmlns:a16="http://schemas.microsoft.com/office/drawing/2014/main" id="{2091C5AD-BE7C-76FE-5883-33C68F3084F7}"/>
              </a:ext>
            </a:extLst>
          </p:cNvPr>
          <p:cNvSpPr/>
          <p:nvPr/>
        </p:nvSpPr>
        <p:spPr>
          <a:xfrm>
            <a:off x="846184" y="3335610"/>
            <a:ext cx="500928" cy="103321"/>
          </a:xfrm>
          <a:prstGeom prst="roundRect">
            <a:avLst/>
          </a:prstGeom>
          <a:solidFill>
            <a:srgbClr val="C2147D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23766" rIns="0" bIns="23766"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594" b="0" dirty="0" err="1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Fit&amp;Max</a:t>
            </a:r>
            <a:endParaRPr kumimoji="0" lang="ko-KR" altLang="en-US" sz="594" b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4" name="모서리가 둥근 직사각형 135">
            <a:extLst>
              <a:ext uri="{FF2B5EF4-FFF2-40B4-BE49-F238E27FC236}">
                <a16:creationId xmlns="" xmlns:a16="http://schemas.microsoft.com/office/drawing/2014/main" id="{F56A2D05-392F-1041-3354-7C64DB4D8227}"/>
              </a:ext>
            </a:extLst>
          </p:cNvPr>
          <p:cNvSpPr/>
          <p:nvPr/>
        </p:nvSpPr>
        <p:spPr>
          <a:xfrm>
            <a:off x="1382309" y="3335610"/>
            <a:ext cx="500928" cy="103321"/>
          </a:xfrm>
          <a:prstGeom prst="roundRect">
            <a:avLst/>
          </a:prstGeom>
          <a:solidFill>
            <a:srgbClr val="C2147D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23766" rIns="0" bIns="23766"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594" b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Premium</a:t>
            </a:r>
            <a:endParaRPr kumimoji="0" lang="ko-KR" altLang="en-US" sz="594" b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5" name="모서리가 둥근 직사각형 135">
            <a:extLst>
              <a:ext uri="{FF2B5EF4-FFF2-40B4-BE49-F238E27FC236}">
                <a16:creationId xmlns="" xmlns:a16="http://schemas.microsoft.com/office/drawing/2014/main" id="{A53EA2FB-C08D-9D04-C764-3CA7080ABA7F}"/>
              </a:ext>
            </a:extLst>
          </p:cNvPr>
          <p:cNvSpPr/>
          <p:nvPr/>
        </p:nvSpPr>
        <p:spPr>
          <a:xfrm>
            <a:off x="1918435" y="3335610"/>
            <a:ext cx="500928" cy="103321"/>
          </a:xfrm>
          <a:prstGeom prst="roundRect">
            <a:avLst/>
          </a:prstGeom>
          <a:solidFill>
            <a:srgbClr val="C2147D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23766" rIns="0" bIns="23766"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594" b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Functional</a:t>
            </a:r>
            <a:endParaRPr kumimoji="0" lang="ko-KR" altLang="en-US" sz="594" b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="" xmlns:a16="http://schemas.microsoft.com/office/drawing/2014/main" id="{24A37FB5-626B-8F9A-38E9-9C17BE1E83AE}"/>
              </a:ext>
            </a:extLst>
          </p:cNvPr>
          <p:cNvSpPr txBox="1"/>
          <p:nvPr/>
        </p:nvSpPr>
        <p:spPr>
          <a:xfrm>
            <a:off x="764613" y="2324783"/>
            <a:ext cx="1625755" cy="317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Siemens VP 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인터뷰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“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일반적으로 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€12K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↑ 패키지에는 </a:t>
            </a:r>
            <a:r>
              <a:rPr kumimoji="0" lang="ko-KR" altLang="en-US" sz="731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컴팩트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오븐 필요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”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="" xmlns:a16="http://schemas.microsoft.com/office/drawing/2014/main" id="{8E83E276-351E-78CC-E857-F5611AAF247E}"/>
              </a:ext>
            </a:extLst>
          </p:cNvPr>
          <p:cNvSpPr txBox="1"/>
          <p:nvPr/>
        </p:nvSpPr>
        <p:spPr>
          <a:xfrm>
            <a:off x="763660" y="2791937"/>
            <a:ext cx="1748259" cy="317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협소공간으로 인한 </a:t>
            </a:r>
            <a:r>
              <a:rPr kumimoji="0" lang="ko-KR" altLang="en-US" sz="731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컴팩트오븐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단독설치 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VOC 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증가 </a:t>
            </a:r>
            <a:endParaRPr kumimoji="0" lang="en-US" altLang="ko-KR" sz="731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8" name="사각형: 둥근 모서리 29">
            <a:extLst>
              <a:ext uri="{FF2B5EF4-FFF2-40B4-BE49-F238E27FC236}">
                <a16:creationId xmlns="" xmlns:a16="http://schemas.microsoft.com/office/drawing/2014/main" id="{E8D4636F-14A2-2831-1A74-0857A19323D6}"/>
              </a:ext>
            </a:extLst>
          </p:cNvPr>
          <p:cNvSpPr/>
          <p:nvPr/>
        </p:nvSpPr>
        <p:spPr>
          <a:xfrm>
            <a:off x="519539" y="2114845"/>
            <a:ext cx="249539" cy="90594"/>
          </a:xfrm>
          <a:prstGeom prst="roundRect">
            <a:avLst/>
          </a:prstGeom>
          <a:solidFill>
            <a:srgbClr val="C2147D"/>
          </a:solidFill>
          <a:ln w="190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6035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528" b="0" kern="0" dirty="0" err="1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CoG</a:t>
            </a:r>
            <a:endParaRPr kumimoji="0" lang="ko-KR" altLang="en-US" sz="528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9" name="Text Box 41">
            <a:extLst>
              <a:ext uri="{FF2B5EF4-FFF2-40B4-BE49-F238E27FC236}">
                <a16:creationId xmlns="" xmlns:a16="http://schemas.microsoft.com/office/drawing/2014/main" id="{3D1979D1-70CF-0D37-B4C2-C8055F980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585" y="2108528"/>
            <a:ext cx="2074984" cy="1250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742950" eaLnBrk="1" fontAlgn="auto" hangingPunct="1">
              <a:spcAft>
                <a:spcPts val="0"/>
              </a:spcAft>
              <a:buSzPct val="80000"/>
              <a:buNone/>
            </a:pPr>
            <a:r>
              <a:rPr lang="ko-KR" altLang="en-US" sz="813" spc="-41" dirty="0" err="1">
                <a:solidFill>
                  <a:prstClr val="black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빌트인으로</a:t>
            </a:r>
            <a:r>
              <a:rPr lang="ko-KR" altLang="en-US" sz="813" spc="-41" dirty="0">
                <a:solidFill>
                  <a:prstClr val="black"/>
                </a:solidFill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 주방 전체 가전을 맞추고자 하는 소비자 </a:t>
            </a:r>
          </a:p>
        </p:txBody>
      </p:sp>
      <p:sp>
        <p:nvSpPr>
          <p:cNvPr id="190" name="사각형: 둥근 모서리 70">
            <a:extLst>
              <a:ext uri="{FF2B5EF4-FFF2-40B4-BE49-F238E27FC236}">
                <a16:creationId xmlns="" xmlns:a16="http://schemas.microsoft.com/office/drawing/2014/main" id="{8B960661-AD07-7F61-8995-1925ABB4D4EF}"/>
              </a:ext>
            </a:extLst>
          </p:cNvPr>
          <p:cNvSpPr/>
          <p:nvPr/>
        </p:nvSpPr>
        <p:spPr>
          <a:xfrm>
            <a:off x="515074" y="2265419"/>
            <a:ext cx="249539" cy="9059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6035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528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Main</a:t>
            </a:r>
            <a:endParaRPr kumimoji="0" lang="ko-KR" altLang="en-US" sz="528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1" name="사각형: 둥근 모서리 71">
            <a:extLst>
              <a:ext uri="{FF2B5EF4-FFF2-40B4-BE49-F238E27FC236}">
                <a16:creationId xmlns="" xmlns:a16="http://schemas.microsoft.com/office/drawing/2014/main" id="{CA17B1C2-4012-BF6E-657F-E6482D66058D}"/>
              </a:ext>
            </a:extLst>
          </p:cNvPr>
          <p:cNvSpPr/>
          <p:nvPr/>
        </p:nvSpPr>
        <p:spPr>
          <a:xfrm>
            <a:off x="515075" y="2610393"/>
            <a:ext cx="249539" cy="9059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defTabSz="6035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528" b="0" kern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Second</a:t>
            </a:r>
            <a:endParaRPr kumimoji="0" lang="ko-KR" altLang="en-US" sz="528" b="0" kern="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="" xmlns:a16="http://schemas.microsoft.com/office/drawing/2014/main" id="{F45A4539-D6E0-7F0F-277D-376E8512C17B}"/>
              </a:ext>
            </a:extLst>
          </p:cNvPr>
          <p:cNvSpPr txBox="1"/>
          <p:nvPr/>
        </p:nvSpPr>
        <p:spPr>
          <a:xfrm>
            <a:off x="841061" y="2251438"/>
            <a:ext cx="1471557" cy="125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dirty="0">
                <a:solidFill>
                  <a:prstClr val="black"/>
                </a:solidFill>
                <a:cs typeface="+mn-cs"/>
              </a:rPr>
              <a:t>가구 패키지 구매하는  </a:t>
            </a:r>
            <a:r>
              <a:rPr kumimoji="0" lang="en-US" altLang="ko-KR" sz="813" dirty="0">
                <a:solidFill>
                  <a:prstClr val="black"/>
                </a:solidFill>
                <a:cs typeface="+mn-cs"/>
              </a:rPr>
              <a:t>3</a:t>
            </a:r>
            <a:r>
              <a:rPr kumimoji="0" lang="ko-KR" altLang="en-US" sz="813" dirty="0">
                <a:solidFill>
                  <a:prstClr val="black"/>
                </a:solidFill>
                <a:cs typeface="+mn-cs"/>
              </a:rPr>
              <a:t>인 이상 가족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="" xmlns:a16="http://schemas.microsoft.com/office/drawing/2014/main" id="{8A7CC722-0A2B-AFAF-6CB4-EE36937FEA06}"/>
              </a:ext>
            </a:extLst>
          </p:cNvPr>
          <p:cNvSpPr txBox="1"/>
          <p:nvPr/>
        </p:nvSpPr>
        <p:spPr>
          <a:xfrm>
            <a:off x="841062" y="2600151"/>
            <a:ext cx="1707199" cy="2501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13" dirty="0">
                <a:solidFill>
                  <a:prstClr val="black"/>
                </a:solidFill>
                <a:cs typeface="+mn-cs"/>
              </a:rPr>
              <a:t>1-2</a:t>
            </a:r>
            <a:r>
              <a:rPr kumimoji="0" lang="ko-KR" altLang="en-US" sz="813" dirty="0">
                <a:solidFill>
                  <a:prstClr val="black"/>
                </a:solidFill>
                <a:cs typeface="+mn-cs"/>
              </a:rPr>
              <a:t>인 가족으로 협소한 주방공간으로 인해 </a:t>
            </a:r>
            <a:endParaRPr kumimoji="0" lang="en-US" altLang="ko-KR" sz="813" dirty="0">
              <a:solidFill>
                <a:prstClr val="black"/>
              </a:solidFill>
              <a:cs typeface="+mn-cs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13" dirty="0">
                <a:solidFill>
                  <a:prstClr val="black"/>
                </a:solidFill>
                <a:cs typeface="+mn-cs"/>
              </a:rPr>
              <a:t>여러 조리가전을 구매하기 어려운 소비자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="" xmlns:a16="http://schemas.microsoft.com/office/drawing/2014/main" id="{94D5C3B6-B5AC-D9D3-BEA9-EA20B5FB553C}"/>
              </a:ext>
            </a:extLst>
          </p:cNvPr>
          <p:cNvSpPr txBox="1"/>
          <p:nvPr/>
        </p:nvSpPr>
        <p:spPr>
          <a:xfrm>
            <a:off x="7239260" y="2723809"/>
            <a:ext cx="2167214" cy="138436"/>
          </a:xfrm>
          <a:prstGeom prst="rect">
            <a:avLst/>
          </a:prstGeom>
          <a:noFill/>
          <a:ln>
            <a:noFill/>
          </a:ln>
        </p:spPr>
        <p:txBody>
          <a:bodyPr wrap="square" lIns="20250" tIns="0" rIns="20250" bIns="0" rtlCol="0">
            <a:spAutoFit/>
          </a:bodyPr>
          <a:lstStyle/>
          <a:p>
            <a:pPr marL="35692" defTabSz="557146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tabLst>
                <a:tab pos="450961" algn="l"/>
              </a:tabLst>
              <a:defRPr/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오븐패키지 구매율 증가</a:t>
            </a:r>
          </a:p>
        </p:txBody>
      </p:sp>
      <p:sp>
        <p:nvSpPr>
          <p:cNvPr id="196" name="모서리가 둥근 직사각형 136">
            <a:extLst>
              <a:ext uri="{FF2B5EF4-FFF2-40B4-BE49-F238E27FC236}">
                <a16:creationId xmlns="" xmlns:a16="http://schemas.microsoft.com/office/drawing/2014/main" id="{7F120F99-5668-07CE-C53F-79A4AAF6FC47}"/>
              </a:ext>
            </a:extLst>
          </p:cNvPr>
          <p:cNvSpPr/>
          <p:nvPr/>
        </p:nvSpPr>
        <p:spPr>
          <a:xfrm>
            <a:off x="7131420" y="2739912"/>
            <a:ext cx="117013" cy="118906"/>
          </a:xfrm>
          <a:prstGeom prst="roundRect">
            <a:avLst/>
          </a:prstGeom>
          <a:solidFill>
            <a:schemeClr val="tx1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714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="" xmlns:a16="http://schemas.microsoft.com/office/drawing/2014/main" id="{59EA7150-2049-0056-9E87-EA45087B540D}"/>
              </a:ext>
            </a:extLst>
          </p:cNvPr>
          <p:cNvSpPr txBox="1"/>
          <p:nvPr/>
        </p:nvSpPr>
        <p:spPr>
          <a:xfrm>
            <a:off x="7239260" y="2449873"/>
            <a:ext cx="2167214" cy="138436"/>
          </a:xfrm>
          <a:prstGeom prst="rect">
            <a:avLst/>
          </a:prstGeom>
          <a:noFill/>
          <a:ln>
            <a:noFill/>
          </a:ln>
        </p:spPr>
        <p:txBody>
          <a:bodyPr wrap="square" lIns="20250" tIns="0" rIns="20250" bIns="0" rtlCol="0">
            <a:spAutoFit/>
          </a:bodyPr>
          <a:lstStyle/>
          <a:p>
            <a:pPr marL="35692" defTabSz="557146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tabLst>
                <a:tab pos="450961" algn="l"/>
              </a:tabLst>
              <a:defRPr/>
            </a:pP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쾌속조리 관련 만족 </a:t>
            </a:r>
            <a:r>
              <a:rPr kumimoji="0" lang="en-US" altLang="ko-KR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VOC </a:t>
            </a:r>
            <a:r>
              <a:rPr kumimoji="0" lang="ko-KR" altLang="en-US" sz="81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증가</a:t>
            </a:r>
          </a:p>
        </p:txBody>
      </p:sp>
      <p:sp>
        <p:nvSpPr>
          <p:cNvPr id="198" name="모서리가 둥근 직사각형 136">
            <a:extLst>
              <a:ext uri="{FF2B5EF4-FFF2-40B4-BE49-F238E27FC236}">
                <a16:creationId xmlns="" xmlns:a16="http://schemas.microsoft.com/office/drawing/2014/main" id="{917D96D6-EFAC-7C1F-40B2-E55FD9260B57}"/>
              </a:ext>
            </a:extLst>
          </p:cNvPr>
          <p:cNvSpPr/>
          <p:nvPr/>
        </p:nvSpPr>
        <p:spPr>
          <a:xfrm>
            <a:off x="7131420" y="2465976"/>
            <a:ext cx="117013" cy="118906"/>
          </a:xfrm>
          <a:prstGeom prst="roundRect">
            <a:avLst/>
          </a:prstGeom>
          <a:solidFill>
            <a:schemeClr val="tx1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71475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1" b="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A4B101B-1C05-0BA2-F3DB-F96EDAC8C5FA}"/>
              </a:ext>
            </a:extLst>
          </p:cNvPr>
          <p:cNvSpPr txBox="1"/>
          <p:nvPr/>
        </p:nvSpPr>
        <p:spPr>
          <a:xfrm>
            <a:off x="8577225" y="2348564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End</a:t>
            </a:r>
            <a:r>
              <a:rPr kumimoji="0" lang="ko-KR" altLang="en-US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User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AAEAD39-F261-6EA0-87B5-BAAC4F062A9E}"/>
              </a:ext>
            </a:extLst>
          </p:cNvPr>
          <p:cNvSpPr txBox="1"/>
          <p:nvPr/>
        </p:nvSpPr>
        <p:spPr>
          <a:xfrm>
            <a:off x="8577225" y="2692193"/>
            <a:ext cx="1036382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41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1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KC Planner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="" xmlns:a16="http://schemas.microsoft.com/office/drawing/2014/main" id="{2D7A0903-38AD-6EE0-2D04-A06B1D196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7" y="140100"/>
            <a:ext cx="2756611" cy="5750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C-D-P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정의서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(Pitch Deck)</a:t>
            </a:r>
          </a:p>
          <a:p>
            <a:pPr lvl="0">
              <a:defRPr/>
            </a:pP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374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="" xmlns:a16="http://schemas.microsoft.com/office/drawing/2014/main" id="{2D7A0903-38AD-6EE0-2D04-A06B1D196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7" y="140100"/>
            <a:ext cx="1956456" cy="5750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G1 Gate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결과서</a:t>
            </a:r>
          </a:p>
          <a:p>
            <a:pPr lvl="0">
              <a:defRPr/>
            </a:pP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5371731F-54F9-C0DC-C5E4-BBCF4705E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6347"/>
            <a:ext cx="9906000" cy="510530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23537910-CD28-C1C3-3A51-AFA13C37CF1E}"/>
              </a:ext>
            </a:extLst>
          </p:cNvPr>
          <p:cNvSpPr/>
          <p:nvPr/>
        </p:nvSpPr>
        <p:spPr>
          <a:xfrm>
            <a:off x="1289471" y="4365104"/>
            <a:ext cx="5895777" cy="5040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86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표 159">
            <a:extLst>
              <a:ext uri="{FF2B5EF4-FFF2-40B4-BE49-F238E27FC236}">
                <a16:creationId xmlns="" xmlns:a16="http://schemas.microsoft.com/office/drawing/2014/main" id="{4C8585ED-AA9A-9193-F0F2-50A26CBCD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280486"/>
              </p:ext>
            </p:extLst>
          </p:nvPr>
        </p:nvGraphicFramePr>
        <p:xfrm>
          <a:off x="416496" y="620688"/>
          <a:ext cx="9289030" cy="5808110"/>
        </p:xfrm>
        <a:graphic>
          <a:graphicData uri="http://schemas.openxmlformats.org/drawingml/2006/table">
            <a:tbl>
              <a:tblPr/>
              <a:tblGrid>
                <a:gridCol w="433448">
                  <a:extLst>
                    <a:ext uri="{9D8B030D-6E8A-4147-A177-3AD203B41FA5}">
                      <a16:colId xmlns="" xmlns:a16="http://schemas.microsoft.com/office/drawing/2014/main" val="2316308849"/>
                    </a:ext>
                  </a:extLst>
                </a:gridCol>
                <a:gridCol w="802682">
                  <a:extLst>
                    <a:ext uri="{9D8B030D-6E8A-4147-A177-3AD203B41FA5}">
                      <a16:colId xmlns="" xmlns:a16="http://schemas.microsoft.com/office/drawing/2014/main" val="4119457977"/>
                    </a:ext>
                  </a:extLst>
                </a:gridCol>
                <a:gridCol w="1549174">
                  <a:extLst>
                    <a:ext uri="{9D8B030D-6E8A-4147-A177-3AD203B41FA5}">
                      <a16:colId xmlns="" xmlns:a16="http://schemas.microsoft.com/office/drawing/2014/main" val="2122711111"/>
                    </a:ext>
                  </a:extLst>
                </a:gridCol>
                <a:gridCol w="987298">
                  <a:extLst>
                    <a:ext uri="{9D8B030D-6E8A-4147-A177-3AD203B41FA5}">
                      <a16:colId xmlns="" xmlns:a16="http://schemas.microsoft.com/office/drawing/2014/main" val="1883627476"/>
                    </a:ext>
                  </a:extLst>
                </a:gridCol>
                <a:gridCol w="3148517">
                  <a:extLst>
                    <a:ext uri="{9D8B030D-6E8A-4147-A177-3AD203B41FA5}">
                      <a16:colId xmlns="" xmlns:a16="http://schemas.microsoft.com/office/drawing/2014/main" val="3789904467"/>
                    </a:ext>
                  </a:extLst>
                </a:gridCol>
                <a:gridCol w="2367911">
                  <a:extLst>
                    <a:ext uri="{9D8B030D-6E8A-4147-A177-3AD203B41FA5}">
                      <a16:colId xmlns="" xmlns:a16="http://schemas.microsoft.com/office/drawing/2014/main" val="72309196"/>
                    </a:ext>
                  </a:extLst>
                </a:gridCol>
              </a:tblGrid>
              <a:tr h="13654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액티비티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주관부서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 의견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0236134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BO/PO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경험 컨셉 도출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BO/PO Event Skip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 결정하에 삭제 가능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64274983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G0 Gate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BO/PO Event Skip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 결정하에 삭제 가능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81850302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BO/PO Event Skip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선정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급 이상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PM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미선정 시 개발팀장이 대체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76470554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컨셉구체화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컨셉구현성리뷰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BO/PO Event Skip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 결정하에 삭제 가능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39976083"/>
                  </a:ext>
                </a:extLst>
              </a:tr>
              <a:tr h="54617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G1 Gate 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상품화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draft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발의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BO/PO Event Skip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프로젝트등록 후 결과물 추가 필요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b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무슨 내용으로 추가할지 협의 필요 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상품화 발의서 가능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Pitch deck / pr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신사업에만 적용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62961227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Pre-CP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PJT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NPI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같이 주요 상품화 목적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 워딩으로 등록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(NPI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동일하게 등록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0923742"/>
                  </a:ext>
                </a:extLst>
              </a:tr>
              <a:tr h="54617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컨셉 고객경험 평가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일정내 실행 불가하므로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Activity Skip (DV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금형품 고객경험평가 대체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가이드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MVP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또는 컨셉 사용씬 기반의 고객경험 평가를 통하여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 설계 방향성을 도출한다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CX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</a:t>
                      </a:r>
                      <a:r>
                        <a:rPr lang="en-US" altLang="ko-KR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UXP</a:t>
                      </a:r>
                      <a:r>
                        <a:rPr lang="ko-KR" alt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대한 최소 수준 이상의 동작이 가능한 현물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(MVP: Minimum Viable Product,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 기능 제품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또는 앱</a:t>
                      </a:r>
                      <a:r>
                        <a:rPr lang="en-US" altLang="ko-KR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사용씬</a:t>
                      </a:r>
                      <a:r>
                        <a:rPr lang="en-US" altLang="ko-KR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</a:t>
                      </a:r>
                      <a:r>
                        <a:rPr lang="en-US" altLang="ko-KR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</a:t>
                      </a:r>
                      <a:r>
                        <a:rPr lang="en-US" altLang="ko-KR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준비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skip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(BOPO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미진행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SKIP)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98749818"/>
                  </a:ext>
                </a:extLst>
              </a:tr>
              <a:tr h="2348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상품화 워크샵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기존대로 진행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팀빌딩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MVP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진행 여부에 대해 협의하여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skip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가능하다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(DQA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팀장 승인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- ALM activity)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79749877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 발의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기존대로 진행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45082612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구현성검토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MVP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시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MVP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때 실무진 결정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44895576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개발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(V0.5)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MVP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시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MVP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때 실무진 결정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79821141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프로토타입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MVP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시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MVP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때 실무진 결정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25182425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영업요구조건 의뢰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영요조 의뢰가 아닌 입수가 되어야함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필요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액티비티만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closing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00371977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렌더링 구조 및 제품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렌더링 리뷰로 진행하면 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1030241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목업 리뷰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목업 구조 검토 및 리뷰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72439148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디자인구현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3F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설정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외관감성기술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36272259"/>
                  </a:ext>
                </a:extLst>
              </a:tr>
              <a:tr h="44376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목업 심의회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참석 대상 부서 축소 필요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상기만 필참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목업 심의회와 동일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22309655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연구소 선행기술 완성도 점검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선행기술개발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98668122"/>
                  </a:ext>
                </a:extLst>
              </a:tr>
              <a:tr h="27308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 설계 및 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선행기술개발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방안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사례 필요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개발팀 의견 필요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있는 경우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 depth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하게 검토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없을 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skip?</a:t>
                      </a:r>
                      <a:b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31018774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 설계 심의회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개발팀 의견 필요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95262681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선행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FMEA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62124176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영업요구조건서 등록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73947329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목표재료비 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24149815"/>
                  </a:ext>
                </a:extLst>
              </a:tr>
              <a:tr h="27308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수익성검토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액티비티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(PPPM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에만 등록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b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시스템이 아니라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Pre-CP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작성을 위한 사전 단계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18261315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Pre-CP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최종리뷰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9430285"/>
                  </a:ext>
                </a:extLst>
              </a:tr>
              <a:tr h="1365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Pre-CP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G2) Gate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기존대로 진행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 Final DR???)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5508917"/>
                  </a:ext>
                </a:extLst>
              </a:tr>
            </a:tbl>
          </a:graphicData>
        </a:graphic>
      </p:graphicFrame>
      <p:sp>
        <p:nvSpPr>
          <p:cNvPr id="161" name="TextBox 3">
            <a:extLst>
              <a:ext uri="{FF2B5EF4-FFF2-40B4-BE49-F238E27FC236}">
                <a16:creationId xmlns="" xmlns:a16="http://schemas.microsoft.com/office/drawing/2014/main" id="{E36A1C5E-4AEA-9AD0-14C6-DD2AD1A32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7" y="140100"/>
            <a:ext cx="5568278" cy="5750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G1 Gate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결과서 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en-US" altLang="ko-KR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BOPO~Pre-CP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액티비티 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Skip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관련 논의 건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>
              <a:defRPr/>
            </a:pPr>
            <a:endParaRPr kumimoji="0"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294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>
            <a:spLocks noChangeArrowheads="1"/>
          </p:cNvSpPr>
          <p:nvPr/>
        </p:nvSpPr>
        <p:spPr bwMode="auto">
          <a:xfrm>
            <a:off x="52167" y="140100"/>
            <a:ext cx="2908640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상세 작성 내용</a:t>
            </a:r>
          </a:p>
        </p:txBody>
      </p:sp>
      <p:pic>
        <p:nvPicPr>
          <p:cNvPr id="3" name="그림 2"/>
          <p:cNvPicPr preferRelativeResize="0">
            <a:picLocks/>
          </p:cNvPicPr>
          <p:nvPr/>
        </p:nvPicPr>
        <p:blipFill rotWithShape="1">
          <a:blip r:embed="rId2"/>
          <a:srcRect l="1764" t="7568"/>
          <a:stretch/>
        </p:blipFill>
        <p:spPr>
          <a:xfrm>
            <a:off x="1589325" y="2571139"/>
            <a:ext cx="1440000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3252" y="2571139"/>
            <a:ext cx="884858" cy="1658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kumimoji="1" lang="en-US" altLang="ko-KR" sz="1100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B700 Oven Only</a:t>
            </a:r>
            <a:endParaRPr lang="ko-KR" altLang="en-US" sz="1100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302000" y="2190006"/>
            <a:ext cx="0" cy="4638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604000" y="2190006"/>
            <a:ext cx="0" cy="4638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883478"/>
              </p:ext>
            </p:extLst>
          </p:nvPr>
        </p:nvGraphicFramePr>
        <p:xfrm>
          <a:off x="223252" y="3696237"/>
          <a:ext cx="2893598" cy="2381974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87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481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1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변경점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①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치수 </a:t>
                      </a: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137mm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감소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Cavity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방식 변경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MWO,</a:t>
                      </a:r>
                      <a:r>
                        <a:rPr lang="en-US" altLang="ko-KR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Steam </a:t>
                      </a:r>
                      <a:r>
                        <a:rPr lang="ko-KR" altLang="en-US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 </a:t>
                      </a:r>
                      <a:r>
                        <a:rPr lang="ko-KR" altLang="en-US" sz="800" b="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착탈</a:t>
                      </a:r>
                      <a:r>
                        <a:rPr lang="ko-KR" altLang="en-US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구조 반영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42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②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Hinge Bar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형상 수정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③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Controller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Conv Heater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삭제에 따른 인쇄 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이외 항목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BO24 Good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동일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4340">
                <a:tc>
                  <a:txBody>
                    <a:bodyPr/>
                    <a:lstStyle/>
                    <a:p>
                      <a:pPr marL="0" marR="0" lvl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④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Insulator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BO24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대비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변경점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없음</a:t>
                      </a:r>
                      <a:endParaRPr lang="en-US" altLang="ko-KR" sz="800" b="0" dirty="0">
                        <a:solidFill>
                          <a:srgbClr val="008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02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⑤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Assembly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Conv Heater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삭제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⑥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Case</a:t>
                      </a:r>
                    </a:p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24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그림 10"/>
          <p:cNvPicPr preferRelativeResize="0">
            <a:picLocks/>
          </p:cNvPicPr>
          <p:nvPr/>
        </p:nvPicPr>
        <p:blipFill rotWithShape="1">
          <a:blip r:embed="rId2"/>
          <a:srcRect l="1764" t="7568"/>
          <a:stretch/>
        </p:blipFill>
        <p:spPr>
          <a:xfrm>
            <a:off x="4857248" y="2571139"/>
            <a:ext cx="1440000" cy="1080000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925587"/>
              </p:ext>
            </p:extLst>
          </p:nvPr>
        </p:nvGraphicFramePr>
        <p:xfrm>
          <a:off x="3525251" y="3696237"/>
          <a:ext cx="2893598" cy="2747734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87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481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1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변경점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0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①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치수 </a:t>
                      </a: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137mm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감소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Cavity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방식 변경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MWO,</a:t>
                      </a:r>
                      <a:r>
                        <a:rPr lang="en-US" altLang="ko-KR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Steam </a:t>
                      </a:r>
                      <a:r>
                        <a:rPr lang="ko-KR" altLang="en-US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 </a:t>
                      </a:r>
                      <a:r>
                        <a:rPr lang="ko-KR" altLang="en-US" sz="800" b="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착탈</a:t>
                      </a:r>
                      <a:r>
                        <a:rPr lang="ko-KR" altLang="en-US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구조 반영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42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②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MW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차폐 구조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Hinge Bar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형상 수정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8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③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Controller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Knob Type Controller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MW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추가에 따른 인쇄 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4428">
                <a:tc>
                  <a:txBody>
                    <a:bodyPr/>
                    <a:lstStyle/>
                    <a:p>
                      <a:pPr marL="0" marR="0" lvl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④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Insulator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MGT, Inverter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dirty="0">
                        <a:solidFill>
                          <a:srgbClr val="008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MWO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 추가에 따른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Cooling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유로 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MWO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부품 안착 구조 반영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⑤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Assembly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BLDC Motor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Noise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Filter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⑥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Case</a:t>
                      </a:r>
                    </a:p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24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509199"/>
              </p:ext>
            </p:extLst>
          </p:nvPr>
        </p:nvGraphicFramePr>
        <p:xfrm>
          <a:off x="6789152" y="3699203"/>
          <a:ext cx="2893598" cy="3113494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87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481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1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변경점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81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①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치수 </a:t>
                      </a: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137mm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감소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Cavity </a:t>
                      </a:r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방식 변경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MWO,</a:t>
                      </a:r>
                      <a:r>
                        <a:rPr lang="en-US" altLang="ko-KR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Stema</a:t>
                      </a:r>
                      <a:r>
                        <a:rPr lang="en-US" altLang="ko-KR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 </a:t>
                      </a:r>
                      <a:r>
                        <a:rPr lang="ko-KR" altLang="en-US" sz="800" b="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착탈</a:t>
                      </a:r>
                      <a:r>
                        <a:rPr lang="ko-KR" altLang="en-US" sz="8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구조 반영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82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②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MW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차폐 구조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Hinge Bar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형상 수정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③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Controller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6.8” Wide LCD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LCD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화면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변경에 따른 인쇄 위치 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Matt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Black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외관 적용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④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Insulator</a:t>
                      </a:r>
                      <a:endParaRPr lang="ko-KR" altLang="en-US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MGT, Inverter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dirty="0">
                        <a:solidFill>
                          <a:srgbClr val="008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MWO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 추가에 따른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Cooling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유로 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MWO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부품 안착 구조 반영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 Steam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구조 적용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(0.5L)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⑤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Assembly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VI type Steam </a:t>
                      </a:r>
                      <a:r>
                        <a:rPr lang="en-US" altLang="ko-KR" sz="800" b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Generaator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BO24 </a:t>
                      </a:r>
                      <a:r>
                        <a:rPr lang="en-US" altLang="ko-KR" sz="800" b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Stema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Module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 type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⑥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Case</a:t>
                      </a:r>
                    </a:p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24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치수 변경에 따른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06652" y="2571139"/>
            <a:ext cx="958597" cy="1658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kumimoji="1" lang="en-US" altLang="ko-KR" sz="1100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B700 </a:t>
            </a:r>
            <a:r>
              <a:rPr kumimoji="1" lang="en-US" altLang="ko-KR" sz="1100" b="1" u="sng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Oven+MWO</a:t>
            </a:r>
            <a:endParaRPr lang="ko-KR" altLang="en-US" sz="1100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87076" y="2569096"/>
            <a:ext cx="1372171" cy="1658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kumimoji="1" lang="en-US" altLang="ko-KR" sz="1100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B900 </a:t>
            </a:r>
            <a:r>
              <a:rPr kumimoji="1" lang="en-US" altLang="ko-KR" sz="1100" b="1" u="sng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Oven+MWO+</a:t>
            </a:r>
            <a:r>
              <a:rPr lang="en-US" altLang="ko-KR" sz="1100" u="sng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Steam</a:t>
            </a:r>
            <a:endParaRPr lang="ko-KR" altLang="en-US" sz="1100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17" name="그림 16"/>
          <p:cNvPicPr preferRelativeResize="0">
            <a:picLocks/>
          </p:cNvPicPr>
          <p:nvPr/>
        </p:nvPicPr>
        <p:blipFill rotWithShape="1">
          <a:blip r:embed="rId3"/>
          <a:srcRect t="1673" b="-1"/>
          <a:stretch/>
        </p:blipFill>
        <p:spPr>
          <a:xfrm>
            <a:off x="8235951" y="2569096"/>
            <a:ext cx="1440000" cy="1080000"/>
          </a:xfrm>
          <a:prstGeom prst="rect">
            <a:avLst/>
          </a:prstGeom>
        </p:spPr>
      </p:pic>
      <p:sp>
        <p:nvSpPr>
          <p:cNvPr id="18" name="실행 단추: 앞으로 또는 다음 17">
            <a:hlinkClick r:id="rId4" action="ppaction://hlinksldjump" highlightClick="1"/>
          </p:cNvPr>
          <p:cNvSpPr/>
          <p:nvPr/>
        </p:nvSpPr>
        <p:spPr>
          <a:xfrm>
            <a:off x="1120417" y="4428041"/>
            <a:ext cx="108000" cy="108000"/>
          </a:xfrm>
          <a:prstGeom prst="actionButtonForwardNex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실행 단추: 앞으로 또는 다음 18">
            <a:hlinkClick r:id="rId5" action="ppaction://hlinksldjump" highlightClick="1"/>
          </p:cNvPr>
          <p:cNvSpPr/>
          <p:nvPr/>
        </p:nvSpPr>
        <p:spPr>
          <a:xfrm>
            <a:off x="1120417" y="4793222"/>
            <a:ext cx="108000" cy="108000"/>
          </a:xfrm>
          <a:prstGeom prst="actionButtonForwardNex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실행 단추: 앞으로 또는 다음 19">
            <a:hlinkClick r:id="rId6" action="ppaction://hlinksldjump" highlightClick="1"/>
          </p:cNvPr>
          <p:cNvSpPr/>
          <p:nvPr/>
        </p:nvSpPr>
        <p:spPr>
          <a:xfrm>
            <a:off x="1120417" y="5082590"/>
            <a:ext cx="108000" cy="108000"/>
          </a:xfrm>
          <a:prstGeom prst="actionButtonForwardNex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실행 단추: 앞으로 또는 다음 20">
            <a:hlinkClick r:id="rId7" action="ppaction://hlinksldjump" highlightClick="1"/>
          </p:cNvPr>
          <p:cNvSpPr/>
          <p:nvPr/>
        </p:nvSpPr>
        <p:spPr>
          <a:xfrm>
            <a:off x="1120417" y="5291032"/>
            <a:ext cx="108000" cy="108000"/>
          </a:xfrm>
          <a:prstGeom prst="actionButtonForwardNex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실행 단추: 앞으로 또는 다음 21">
            <a:hlinkClick r:id="rId8" action="ppaction://hlinksldjump" highlightClick="1"/>
          </p:cNvPr>
          <p:cNvSpPr/>
          <p:nvPr/>
        </p:nvSpPr>
        <p:spPr>
          <a:xfrm>
            <a:off x="1120417" y="5615442"/>
            <a:ext cx="108000" cy="108000"/>
          </a:xfrm>
          <a:prstGeom prst="actionButtonForwardNex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실행 단추: 앞으로 또는 다음 22">
            <a:hlinkClick r:id="rId9" action="ppaction://hlinksldjump" highlightClick="1"/>
          </p:cNvPr>
          <p:cNvSpPr/>
          <p:nvPr/>
        </p:nvSpPr>
        <p:spPr>
          <a:xfrm>
            <a:off x="1120417" y="5910420"/>
            <a:ext cx="108000" cy="108000"/>
          </a:xfrm>
          <a:prstGeom prst="actionButtonForwardNex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00472" y="628503"/>
            <a:ext cx="948978" cy="1696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&lt;</a:t>
            </a:r>
            <a:r>
              <a:rPr lang="ko-KR" altLang="en-US" sz="11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장입</a:t>
            </a:r>
            <a:r>
              <a:rPr lang="ko-KR" altLang="en-US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치수 변경</a:t>
            </a: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&gt;</a:t>
            </a:r>
          </a:p>
        </p:txBody>
      </p:sp>
      <p:cxnSp>
        <p:nvCxnSpPr>
          <p:cNvPr id="33" name="직선 연결선 32"/>
          <p:cNvCxnSpPr/>
          <p:nvPr/>
        </p:nvCxnSpPr>
        <p:spPr>
          <a:xfrm>
            <a:off x="320744" y="2117998"/>
            <a:ext cx="9073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그림 33"/>
          <p:cNvPicPr preferRelativeResize="0">
            <a:picLocks/>
          </p:cNvPicPr>
          <p:nvPr/>
        </p:nvPicPr>
        <p:blipFill rotWithShape="1">
          <a:blip r:embed="rId10"/>
          <a:srcRect l="2605" t="4599" r="-1" b="1"/>
          <a:stretch/>
        </p:blipFill>
        <p:spPr>
          <a:xfrm>
            <a:off x="1323273" y="600169"/>
            <a:ext cx="1440000" cy="1440000"/>
          </a:xfrm>
          <a:prstGeom prst="rect">
            <a:avLst/>
          </a:prstGeom>
        </p:spPr>
      </p:pic>
      <p:pic>
        <p:nvPicPr>
          <p:cNvPr id="35" name="그림 34"/>
          <p:cNvPicPr preferRelativeResize="0">
            <a:picLocks/>
          </p:cNvPicPr>
          <p:nvPr/>
        </p:nvPicPr>
        <p:blipFill rotWithShape="1">
          <a:blip r:embed="rId11"/>
          <a:srcRect l="811" t="3333"/>
          <a:stretch/>
        </p:blipFill>
        <p:spPr>
          <a:xfrm>
            <a:off x="5817096" y="698494"/>
            <a:ext cx="1440000" cy="108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0472" y="2153252"/>
            <a:ext cx="791883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&lt;</a:t>
            </a:r>
            <a:r>
              <a:rPr lang="ko-KR" altLang="en-US" sz="11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변경점</a:t>
            </a:r>
            <a:r>
              <a:rPr lang="ko-KR" altLang="en-US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상세</a:t>
            </a: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&gt;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9675"/>
              </p:ext>
            </p:extLst>
          </p:nvPr>
        </p:nvGraphicFramePr>
        <p:xfrm>
          <a:off x="3302000" y="603651"/>
          <a:ext cx="1343918" cy="1296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340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258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Product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8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558.0mm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8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549.0mm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38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579.0mm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467850"/>
              </p:ext>
            </p:extLst>
          </p:nvPr>
        </p:nvGraphicFramePr>
        <p:xfrm>
          <a:off x="8073578" y="603651"/>
          <a:ext cx="1343918" cy="1296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340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258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Product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8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558.0mm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8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549.0mm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38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442.0mm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0" name="직선 연결선 39"/>
          <p:cNvCxnSpPr/>
          <p:nvPr/>
        </p:nvCxnSpPr>
        <p:spPr>
          <a:xfrm flipV="1">
            <a:off x="2061292" y="798165"/>
            <a:ext cx="899515" cy="2750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V="1">
            <a:off x="2061292" y="1734050"/>
            <a:ext cx="899515" cy="2750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>
            <a:off x="2864768" y="826816"/>
            <a:ext cx="0" cy="94207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TextBox 44"/>
          <p:cNvSpPr txBox="1"/>
          <p:nvPr/>
        </p:nvSpPr>
        <p:spPr>
          <a:xfrm>
            <a:off x="2911944" y="1191142"/>
            <a:ext cx="351058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579.0mm</a:t>
            </a:r>
          </a:p>
        </p:txBody>
      </p:sp>
      <p:cxnSp>
        <p:nvCxnSpPr>
          <p:cNvPr id="46" name="직선 연결선 45"/>
          <p:cNvCxnSpPr/>
          <p:nvPr/>
        </p:nvCxnSpPr>
        <p:spPr>
          <a:xfrm flipV="1">
            <a:off x="6561715" y="907256"/>
            <a:ext cx="734435" cy="1992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7296150" y="899639"/>
            <a:ext cx="0" cy="65715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 flipV="1">
            <a:off x="6561715" y="1552748"/>
            <a:ext cx="734435" cy="1992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2" name="TextBox 51"/>
          <p:cNvSpPr txBox="1"/>
          <p:nvPr/>
        </p:nvSpPr>
        <p:spPr>
          <a:xfrm>
            <a:off x="7410254" y="1191142"/>
            <a:ext cx="351058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442.0mm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17096" y="1817468"/>
            <a:ext cx="1540486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**BOSCH, Siemens </a:t>
            </a:r>
            <a:r>
              <a:rPr lang="ko-KR" altLang="en-US" sz="800" b="0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장입</a:t>
            </a:r>
            <a:r>
              <a:rPr lang="ko-KR" altLang="en-US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높이</a:t>
            </a:r>
            <a:r>
              <a:rPr lang="en-US" altLang="ko-KR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443.0mm</a:t>
            </a:r>
          </a:p>
        </p:txBody>
      </p:sp>
    </p:spTree>
    <p:extLst>
      <p:ext uri="{BB962C8B-B14F-4D97-AF65-F5344CB8AC3E}">
        <p14:creationId xmlns:p14="http://schemas.microsoft.com/office/powerpoint/2010/main" val="47827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122032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_Cavity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24513"/>
              </p:ext>
            </p:extLst>
          </p:nvPr>
        </p:nvGraphicFramePr>
        <p:xfrm>
          <a:off x="128464" y="606346"/>
          <a:ext cx="9475752" cy="5832648"/>
        </p:xfrm>
        <a:graphic>
          <a:graphicData uri="http://schemas.openxmlformats.org/drawingml/2006/table">
            <a:tbl>
              <a:tblPr/>
              <a:tblGrid>
                <a:gridCol w="3616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831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4980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</a:t>
                      </a:r>
                      <a:r>
                        <a:rPr lang="en-US" altLang="ko-KR" sz="1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Good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B700_Oven Only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 Better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 (B900)_Oven+MWO+(Steam)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Front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Lower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Upper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721" y="881513"/>
            <a:ext cx="1482618" cy="113049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303230" y="2252461"/>
            <a:ext cx="176490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 590 x 446.7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Packing,Gasket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안착부 포밍 착탈 구조 반영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→ 착탈 불가 시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8 Gasket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사용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94165" y="2202519"/>
            <a:ext cx="828753" cy="160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**</a:t>
            </a:r>
            <a:r>
              <a:rPr lang="ko-KR" altLang="en-US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높이 </a:t>
            </a:r>
            <a:r>
              <a:rPr lang="en-US" altLang="ko-KR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137.0mm </a:t>
            </a:r>
            <a:r>
              <a:rPr lang="ko-KR" altLang="en-US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감소</a:t>
            </a:r>
            <a:endParaRPr lang="en-US" altLang="ko-KR" sz="800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567096" y="2252461"/>
            <a:ext cx="174086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MW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차폐 구조 적용을 위한 평면 구간 반영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Door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latch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구조 착탈 반영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Moving Controller 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착탈 반영 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55833" y="2252461"/>
            <a:ext cx="939360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 590 x 583.7</a:t>
            </a:r>
          </a:p>
        </p:txBody>
      </p:sp>
      <p:pic>
        <p:nvPicPr>
          <p:cNvPr id="3" name="그림 2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321229" y="881513"/>
            <a:ext cx="1656000" cy="1321200"/>
          </a:xfrm>
          <a:prstGeom prst="rect">
            <a:avLst/>
          </a:prstGeom>
        </p:spPr>
      </p:pic>
      <p:pic>
        <p:nvPicPr>
          <p:cNvPr id="4" name="그림 3"/>
          <p:cNvPicPr preferRelativeResize="0">
            <a:picLocks/>
          </p:cNvPicPr>
          <p:nvPr/>
        </p:nvPicPr>
        <p:blipFill rotWithShape="1">
          <a:blip r:embed="rId5"/>
          <a:srcRect l="1419" t="7529"/>
          <a:stretch/>
        </p:blipFill>
        <p:spPr>
          <a:xfrm>
            <a:off x="3518139" y="2738170"/>
            <a:ext cx="1483200" cy="11304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303230" y="4073617"/>
            <a:ext cx="195566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MW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차폐 구조 적용으로 폭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10.0mm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감소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높이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129.0mm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감소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용접라인 위치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8.0mm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상승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Front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전면 삽입에 따른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Flange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추가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67096" y="4073617"/>
            <a:ext cx="189955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 590 x 446.7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Guide,Rail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삽입부 스파크 방지 구조 적용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착탈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Front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전면 삽입에 따른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Flange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추가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5" name="그림 4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214649" y="2738170"/>
            <a:ext cx="1656000" cy="1321200"/>
          </a:xfrm>
          <a:prstGeom prst="rect">
            <a:avLst/>
          </a:prstGeom>
        </p:spPr>
      </p:pic>
      <p:pic>
        <p:nvPicPr>
          <p:cNvPr id="6" name="그림 5"/>
          <p:cNvPicPr preferRelativeResize="0">
            <a:picLocks/>
          </p:cNvPicPr>
          <p:nvPr/>
        </p:nvPicPr>
        <p:blipFill rotWithShape="1">
          <a:blip r:embed="rId7"/>
          <a:srcRect l="2579" t="11977"/>
          <a:stretch/>
        </p:blipFill>
        <p:spPr>
          <a:xfrm>
            <a:off x="3432346" y="4584186"/>
            <a:ext cx="1656000" cy="13212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303230" y="6135107"/>
            <a:ext cx="144911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후면 </a:t>
            </a:r>
            <a:r>
              <a:rPr lang="ko-KR" altLang="en-US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포밍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삭제하여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Rear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공간 확보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착탈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구조 반영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(MGT/LED Lamp)</a:t>
            </a:r>
          </a:p>
        </p:txBody>
      </p:sp>
      <p:pic>
        <p:nvPicPr>
          <p:cNvPr id="7" name="그림 6"/>
          <p:cNvPicPr preferRelativeResize="0">
            <a:picLocks/>
          </p:cNvPicPr>
          <p:nvPr/>
        </p:nvPicPr>
        <p:blipFill rotWithShape="1">
          <a:blip r:embed="rId8"/>
          <a:srcRect l="3031" t="17744"/>
          <a:stretch/>
        </p:blipFill>
        <p:spPr>
          <a:xfrm>
            <a:off x="1214649" y="4584186"/>
            <a:ext cx="1656000" cy="1321200"/>
          </a:xfrm>
          <a:prstGeom prst="rect">
            <a:avLst/>
          </a:prstGeom>
        </p:spPr>
      </p:pic>
      <p:pic>
        <p:nvPicPr>
          <p:cNvPr id="8" name="그림 7"/>
          <p:cNvPicPr preferRelativeResize="0">
            <a:picLocks/>
          </p:cNvPicPr>
          <p:nvPr/>
        </p:nvPicPr>
        <p:blipFill rotWithShape="1">
          <a:blip r:embed="rId9"/>
          <a:srcRect l="4569" t="1081"/>
          <a:stretch/>
        </p:blipFill>
        <p:spPr>
          <a:xfrm>
            <a:off x="7688875" y="4620259"/>
            <a:ext cx="1656000" cy="1321200"/>
          </a:xfrm>
          <a:prstGeom prst="rect">
            <a:avLst/>
          </a:prstGeom>
        </p:spPr>
      </p:pic>
      <p:pic>
        <p:nvPicPr>
          <p:cNvPr id="57" name="그림 56"/>
          <p:cNvPicPr preferRelativeResize="0">
            <a:picLocks/>
          </p:cNvPicPr>
          <p:nvPr/>
        </p:nvPicPr>
        <p:blipFill rotWithShape="1">
          <a:blip r:embed="rId8"/>
          <a:srcRect l="3031" t="17744"/>
          <a:stretch/>
        </p:blipFill>
        <p:spPr>
          <a:xfrm>
            <a:off x="5560610" y="4584186"/>
            <a:ext cx="1656000" cy="1321200"/>
          </a:xfrm>
          <a:prstGeom prst="rect">
            <a:avLst/>
          </a:prstGeom>
        </p:spPr>
      </p:pic>
      <p:pic>
        <p:nvPicPr>
          <p:cNvPr id="11" name="그림 10"/>
          <p:cNvPicPr preferRelativeResize="0">
            <a:picLocks/>
          </p:cNvPicPr>
          <p:nvPr/>
        </p:nvPicPr>
        <p:blipFill rotWithShape="1">
          <a:blip r:embed="rId10"/>
          <a:srcRect l="2138" t="2590" r="490"/>
          <a:stretch/>
        </p:blipFill>
        <p:spPr>
          <a:xfrm>
            <a:off x="7775275" y="2742654"/>
            <a:ext cx="1483200" cy="1130400"/>
          </a:xfrm>
          <a:prstGeom prst="rect">
            <a:avLst/>
          </a:prstGeom>
        </p:spPr>
      </p:pic>
      <p:pic>
        <p:nvPicPr>
          <p:cNvPr id="19" name="그림 18"/>
          <p:cNvPicPr preferRelativeResize="0">
            <a:picLocks/>
          </p:cNvPicPr>
          <p:nvPr/>
        </p:nvPicPr>
        <p:blipFill rotWithShape="1">
          <a:blip r:embed="rId11"/>
          <a:srcRect l="1076" t="1701"/>
          <a:stretch/>
        </p:blipFill>
        <p:spPr>
          <a:xfrm>
            <a:off x="5609735" y="2744068"/>
            <a:ext cx="1656000" cy="1321200"/>
          </a:xfrm>
          <a:prstGeom prst="rect">
            <a:avLst/>
          </a:prstGeom>
        </p:spPr>
      </p:pic>
      <p:pic>
        <p:nvPicPr>
          <p:cNvPr id="20" name="그림 19"/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5609735" y="883674"/>
            <a:ext cx="1656000" cy="1321200"/>
          </a:xfrm>
          <a:prstGeom prst="rect">
            <a:avLst/>
          </a:prstGeom>
        </p:spPr>
      </p:pic>
      <p:pic>
        <p:nvPicPr>
          <p:cNvPr id="21" name="그림 20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7798832" y="882205"/>
            <a:ext cx="1483200" cy="11304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560214" y="5941552"/>
            <a:ext cx="160460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MGT Bracket Mount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용접 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Guide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Aseembly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Screw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체결 구조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– Lamp, Heater 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제외 착탈 구조 적용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2598398" y="875086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2598398" y="2194960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>
            <a:off x="3108153" y="875086"/>
            <a:ext cx="0" cy="132743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1321229" y="1969813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2967338" y="1903876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1321229" y="2252461"/>
            <a:ext cx="165600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5" name="TextBox 64"/>
          <p:cNvSpPr txBox="1"/>
          <p:nvPr/>
        </p:nvSpPr>
        <p:spPr>
          <a:xfrm>
            <a:off x="3013096" y="1403709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583.7</a:t>
            </a:r>
          </a:p>
        </p:txBody>
      </p:sp>
      <p:sp useBgFill="1">
        <p:nvSpPr>
          <p:cNvPr id="66" name="TextBox 65"/>
          <p:cNvSpPr txBox="1"/>
          <p:nvPr/>
        </p:nvSpPr>
        <p:spPr>
          <a:xfrm>
            <a:off x="2003587" y="2234566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590.0</a:t>
            </a:r>
          </a:p>
        </p:txBody>
      </p:sp>
      <p:cxnSp>
        <p:nvCxnSpPr>
          <p:cNvPr id="70" name="직선 화살표 연결선 69"/>
          <p:cNvCxnSpPr/>
          <p:nvPr/>
        </p:nvCxnSpPr>
        <p:spPr>
          <a:xfrm>
            <a:off x="1496616" y="3303370"/>
            <a:ext cx="862060" cy="38055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3" name="TextBox 72"/>
          <p:cNvSpPr txBox="1"/>
          <p:nvPr/>
        </p:nvSpPr>
        <p:spPr>
          <a:xfrm>
            <a:off x="1797668" y="3400428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488.2</a:t>
            </a:r>
          </a:p>
        </p:txBody>
      </p:sp>
      <p:cxnSp>
        <p:nvCxnSpPr>
          <p:cNvPr id="74" name="직선 화살표 연결선 73"/>
          <p:cNvCxnSpPr/>
          <p:nvPr/>
        </p:nvCxnSpPr>
        <p:spPr>
          <a:xfrm>
            <a:off x="2967338" y="3061717"/>
            <a:ext cx="0" cy="68761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V="1">
            <a:off x="2521681" y="3028716"/>
            <a:ext cx="537216" cy="1508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 flipV="1">
            <a:off x="2540990" y="3722740"/>
            <a:ext cx="517907" cy="1533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2" name="TextBox 81"/>
          <p:cNvSpPr txBox="1"/>
          <p:nvPr/>
        </p:nvSpPr>
        <p:spPr>
          <a:xfrm>
            <a:off x="2895295" y="3345847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341.2</a:t>
            </a:r>
          </a:p>
        </p:txBody>
      </p:sp>
      <p:cxnSp>
        <p:nvCxnSpPr>
          <p:cNvPr id="83" name="직선 화살표 연결선 82"/>
          <p:cNvCxnSpPr/>
          <p:nvPr/>
        </p:nvCxnSpPr>
        <p:spPr>
          <a:xfrm>
            <a:off x="1250156" y="5243513"/>
            <a:ext cx="720885" cy="64064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5" name="TextBox 84"/>
          <p:cNvSpPr txBox="1"/>
          <p:nvPr/>
        </p:nvSpPr>
        <p:spPr>
          <a:xfrm>
            <a:off x="1496616" y="5474101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478.0</a:t>
            </a:r>
          </a:p>
        </p:txBody>
      </p:sp>
      <p:cxnSp>
        <p:nvCxnSpPr>
          <p:cNvPr id="86" name="직선 화살표 연결선 85"/>
          <p:cNvCxnSpPr/>
          <p:nvPr/>
        </p:nvCxnSpPr>
        <p:spPr>
          <a:xfrm flipH="1">
            <a:off x="2050032" y="5464969"/>
            <a:ext cx="864618" cy="48807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flipV="1">
            <a:off x="1926431" y="5803106"/>
            <a:ext cx="252413" cy="1381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V="1">
            <a:off x="1154906" y="5179306"/>
            <a:ext cx="219808" cy="121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1997445" y="5883916"/>
            <a:ext cx="109961" cy="138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>
            <a:off x="2864200" y="5404968"/>
            <a:ext cx="109961" cy="138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1" name="TextBox 100"/>
          <p:cNvSpPr txBox="1"/>
          <p:nvPr/>
        </p:nvSpPr>
        <p:spPr>
          <a:xfrm>
            <a:off x="2513891" y="5623570"/>
            <a:ext cx="209994" cy="15754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445.5</a:t>
            </a:r>
          </a:p>
        </p:txBody>
      </p:sp>
      <p:cxnSp>
        <p:nvCxnSpPr>
          <p:cNvPr id="102" name="직선 화살표 연결선 101"/>
          <p:cNvCxnSpPr/>
          <p:nvPr/>
        </p:nvCxnSpPr>
        <p:spPr>
          <a:xfrm>
            <a:off x="3754078" y="3186070"/>
            <a:ext cx="862060" cy="38055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" name="TextBox 102"/>
          <p:cNvSpPr txBox="1"/>
          <p:nvPr/>
        </p:nvSpPr>
        <p:spPr>
          <a:xfrm>
            <a:off x="4055130" y="3283128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478.2</a:t>
            </a:r>
          </a:p>
        </p:txBody>
      </p:sp>
      <p:cxnSp>
        <p:nvCxnSpPr>
          <p:cNvPr id="104" name="직선 화살표 연결선 103"/>
          <p:cNvCxnSpPr/>
          <p:nvPr/>
        </p:nvCxnSpPr>
        <p:spPr>
          <a:xfrm>
            <a:off x="5088801" y="3061717"/>
            <a:ext cx="0" cy="47829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V="1">
            <a:off x="4712494" y="3061718"/>
            <a:ext cx="401953" cy="1315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7" name="TextBox 106"/>
          <p:cNvSpPr txBox="1"/>
          <p:nvPr/>
        </p:nvSpPr>
        <p:spPr>
          <a:xfrm>
            <a:off x="5017921" y="3219977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212.2</a:t>
            </a:r>
          </a:p>
        </p:txBody>
      </p:sp>
      <p:cxnSp>
        <p:nvCxnSpPr>
          <p:cNvPr id="109" name="직선 연결선 108"/>
          <p:cNvCxnSpPr/>
          <p:nvPr/>
        </p:nvCxnSpPr>
        <p:spPr>
          <a:xfrm flipV="1">
            <a:off x="4712494" y="3540009"/>
            <a:ext cx="401953" cy="1315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/>
          <p:nvPr/>
        </p:nvCxnSpPr>
        <p:spPr>
          <a:xfrm>
            <a:off x="3415695" y="5287221"/>
            <a:ext cx="766782" cy="63624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/>
        </p:nvCxnSpPr>
        <p:spPr>
          <a:xfrm flipV="1">
            <a:off x="3312183" y="5225466"/>
            <a:ext cx="219808" cy="121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V="1">
            <a:off x="4066473" y="5865747"/>
            <a:ext cx="219808" cy="121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8" name="TextBox 117"/>
          <p:cNvSpPr txBox="1"/>
          <p:nvPr/>
        </p:nvSpPr>
        <p:spPr>
          <a:xfrm>
            <a:off x="3649081" y="5556866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466.0</a:t>
            </a:r>
          </a:p>
        </p:txBody>
      </p:sp>
      <p:cxnSp>
        <p:nvCxnSpPr>
          <p:cNvPr id="119" name="직선 화살표 연결선 118"/>
          <p:cNvCxnSpPr/>
          <p:nvPr/>
        </p:nvCxnSpPr>
        <p:spPr>
          <a:xfrm flipH="1">
            <a:off x="4295214" y="5476642"/>
            <a:ext cx="864618" cy="48807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>
            <a:off x="4242627" y="5895589"/>
            <a:ext cx="109961" cy="138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>
            <a:off x="5086391" y="5416081"/>
            <a:ext cx="109961" cy="138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6" name="TextBox 125"/>
          <p:cNvSpPr txBox="1"/>
          <p:nvPr/>
        </p:nvSpPr>
        <p:spPr>
          <a:xfrm>
            <a:off x="4676171" y="5668918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442.3</a:t>
            </a:r>
          </a:p>
        </p:txBody>
      </p:sp>
      <p:cxnSp>
        <p:nvCxnSpPr>
          <p:cNvPr id="128" name="직선 연결선 127"/>
          <p:cNvCxnSpPr/>
          <p:nvPr/>
        </p:nvCxnSpPr>
        <p:spPr>
          <a:xfrm>
            <a:off x="4670550" y="875086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/>
          <p:cNvCxnSpPr/>
          <p:nvPr/>
        </p:nvCxnSpPr>
        <p:spPr>
          <a:xfrm>
            <a:off x="4670550" y="2012409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/>
          <p:cNvCxnSpPr/>
          <p:nvPr/>
        </p:nvCxnSpPr>
        <p:spPr>
          <a:xfrm>
            <a:off x="5180305" y="875086"/>
            <a:ext cx="0" cy="113692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2" name="TextBox 131"/>
          <p:cNvSpPr txBox="1"/>
          <p:nvPr/>
        </p:nvSpPr>
        <p:spPr>
          <a:xfrm>
            <a:off x="5061191" y="1403709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446.7</a:t>
            </a:r>
          </a:p>
        </p:txBody>
      </p:sp>
      <p:sp useBgFill="1">
        <p:nvSpPr>
          <p:cNvPr id="135" name="TextBox 134"/>
          <p:cNvSpPr txBox="1"/>
          <p:nvPr/>
        </p:nvSpPr>
        <p:spPr>
          <a:xfrm>
            <a:off x="4119438" y="1438731"/>
            <a:ext cx="317395" cy="15754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Opening</a:t>
            </a:r>
          </a:p>
        </p:txBody>
      </p:sp>
      <p:sp useBgFill="1">
        <p:nvSpPr>
          <p:cNvPr id="138" name="TextBox 137"/>
          <p:cNvSpPr txBox="1"/>
          <p:nvPr/>
        </p:nvSpPr>
        <p:spPr>
          <a:xfrm>
            <a:off x="1990531" y="1438731"/>
            <a:ext cx="317395" cy="15754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Opening</a:t>
            </a:r>
          </a:p>
        </p:txBody>
      </p:sp>
      <p:sp>
        <p:nvSpPr>
          <p:cNvPr id="131" name="실행 단추: 시작 130">
            <a:hlinkClick r:id="rId14" action="ppaction://hlinksldjump" highlightClick="1"/>
          </p:cNvPr>
          <p:cNvSpPr/>
          <p:nvPr/>
        </p:nvSpPr>
        <p:spPr>
          <a:xfrm>
            <a:off x="9344875" y="116632"/>
            <a:ext cx="259341" cy="216024"/>
          </a:xfrm>
          <a:prstGeom prst="actionButtonBeginning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화살표 연결선 139"/>
          <p:cNvCxnSpPr/>
          <p:nvPr/>
        </p:nvCxnSpPr>
        <p:spPr>
          <a:xfrm>
            <a:off x="2654751" y="1238227"/>
            <a:ext cx="0" cy="77378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7" name="TextBox 136"/>
          <p:cNvSpPr txBox="1"/>
          <p:nvPr/>
        </p:nvSpPr>
        <p:spPr>
          <a:xfrm>
            <a:off x="2549754" y="1480505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357.8</a:t>
            </a:r>
          </a:p>
        </p:txBody>
      </p:sp>
      <p:cxnSp>
        <p:nvCxnSpPr>
          <p:cNvPr id="142" name="직선 화살표 연결선 141"/>
          <p:cNvCxnSpPr/>
          <p:nvPr/>
        </p:nvCxnSpPr>
        <p:spPr>
          <a:xfrm>
            <a:off x="1496616" y="1827019"/>
            <a:ext cx="1293673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6" name="TextBox 135"/>
          <p:cNvSpPr txBox="1"/>
          <p:nvPr/>
        </p:nvSpPr>
        <p:spPr>
          <a:xfrm>
            <a:off x="2042173" y="1737296"/>
            <a:ext cx="209994" cy="15754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473.8</a:t>
            </a:r>
          </a:p>
        </p:txBody>
      </p:sp>
      <p:cxnSp>
        <p:nvCxnSpPr>
          <p:cNvPr id="145" name="직선 화살표 연결선 144"/>
          <p:cNvCxnSpPr/>
          <p:nvPr/>
        </p:nvCxnSpPr>
        <p:spPr>
          <a:xfrm>
            <a:off x="3649081" y="1731939"/>
            <a:ext cx="1217259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3" name="TextBox 132"/>
          <p:cNvSpPr txBox="1"/>
          <p:nvPr/>
        </p:nvSpPr>
        <p:spPr>
          <a:xfrm>
            <a:off x="4189831" y="1643952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461.0</a:t>
            </a:r>
          </a:p>
        </p:txBody>
      </p:sp>
      <p:cxnSp>
        <p:nvCxnSpPr>
          <p:cNvPr id="148" name="직선 화살표 연결선 147"/>
          <p:cNvCxnSpPr/>
          <p:nvPr/>
        </p:nvCxnSpPr>
        <p:spPr>
          <a:xfrm>
            <a:off x="4710708" y="1254703"/>
            <a:ext cx="0" cy="56878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4" name="TextBox 133"/>
          <p:cNvSpPr txBox="1"/>
          <p:nvPr/>
        </p:nvSpPr>
        <p:spPr>
          <a:xfrm>
            <a:off x="4584649" y="1438731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220.5</a:t>
            </a:r>
          </a:p>
        </p:txBody>
      </p:sp>
    </p:spTree>
    <p:extLst>
      <p:ext uri="{BB962C8B-B14F-4D97-AF65-F5344CB8AC3E}">
        <p14:creationId xmlns:p14="http://schemas.microsoft.com/office/powerpoint/2010/main" val="252670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122032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_Cavity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852666"/>
              </p:ext>
            </p:extLst>
          </p:nvPr>
        </p:nvGraphicFramePr>
        <p:xfrm>
          <a:off x="128464" y="606346"/>
          <a:ext cx="9475752" cy="5832648"/>
        </p:xfrm>
        <a:graphic>
          <a:graphicData uri="http://schemas.openxmlformats.org/drawingml/2006/table">
            <a:tbl>
              <a:tblPr/>
              <a:tblGrid>
                <a:gridCol w="3616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831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4980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</a:t>
                      </a:r>
                      <a:r>
                        <a:rPr lang="en-US" altLang="ko-KR" sz="1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Good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B700_Oven Only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B700_Oven+MWO+(Steam)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Rear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Heater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3303230" y="2235985"/>
            <a:ext cx="144911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 590 x 446.7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Conv Heater / Steam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착탈 반영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Broil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개별 원형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Thermistor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좌측으로 이동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51410" y="2235985"/>
            <a:ext cx="939360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 590 x 583.7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55833" y="2252461"/>
            <a:ext cx="939360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 590 x 583.7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03230" y="4073617"/>
            <a:ext cx="195726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AC / BLDC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공용화 예정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Air Flow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해석 진행 후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In/Out 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형상 수정 예정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51410" y="4080582"/>
            <a:ext cx="1032334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):1135.0 x 450.0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67096" y="4073617"/>
            <a:ext cx="189955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 590 x 446.7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Guide,Rail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삽입부 스파크 방지 구조 적용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착탈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Front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전면 삽입에 따른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Flange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추가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8" name="그림 7"/>
          <p:cNvPicPr preferRelativeResize="0">
            <a:picLocks/>
          </p:cNvPicPr>
          <p:nvPr/>
        </p:nvPicPr>
        <p:blipFill rotWithShape="1">
          <a:blip r:embed="rId3"/>
          <a:srcRect l="789" t="1462" r="1565"/>
          <a:stretch/>
        </p:blipFill>
        <p:spPr>
          <a:xfrm>
            <a:off x="3512840" y="926398"/>
            <a:ext cx="1483200" cy="1130400"/>
          </a:xfrm>
          <a:prstGeom prst="rect">
            <a:avLst/>
          </a:prstGeom>
        </p:spPr>
      </p:pic>
      <p:pic>
        <p:nvPicPr>
          <p:cNvPr id="10" name="그림 9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86" y="926398"/>
            <a:ext cx="1656000" cy="1321200"/>
          </a:xfrm>
          <a:prstGeom prst="rect">
            <a:avLst/>
          </a:prstGeom>
        </p:spPr>
      </p:pic>
      <p:pic>
        <p:nvPicPr>
          <p:cNvPr id="11" name="그림 10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512840" y="2759116"/>
            <a:ext cx="1483200" cy="1130400"/>
          </a:xfrm>
          <a:prstGeom prst="rect">
            <a:avLst/>
          </a:prstGeom>
        </p:spPr>
      </p:pic>
      <p:pic>
        <p:nvPicPr>
          <p:cNvPr id="12" name="그림 11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86" y="2728428"/>
            <a:ext cx="1656000" cy="1321200"/>
          </a:xfrm>
          <a:prstGeom prst="rect">
            <a:avLst/>
          </a:prstGeom>
        </p:spPr>
      </p:pic>
      <p:pic>
        <p:nvPicPr>
          <p:cNvPr id="24" name="그림 23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849228" y="2759116"/>
            <a:ext cx="1483200" cy="1130400"/>
          </a:xfrm>
          <a:prstGeom prst="rect">
            <a:avLst/>
          </a:prstGeom>
        </p:spPr>
      </p:pic>
      <p:pic>
        <p:nvPicPr>
          <p:cNvPr id="25" name="그림 24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631874" y="2728428"/>
            <a:ext cx="1656000" cy="1321200"/>
          </a:xfrm>
          <a:prstGeom prst="rect">
            <a:avLst/>
          </a:prstGeom>
        </p:spPr>
      </p:pic>
      <p:pic>
        <p:nvPicPr>
          <p:cNvPr id="13" name="그림 12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351770" y="4796363"/>
            <a:ext cx="1800000" cy="1440000"/>
          </a:xfrm>
          <a:prstGeom prst="rect">
            <a:avLst/>
          </a:prstGeom>
        </p:spPr>
      </p:pic>
      <p:pic>
        <p:nvPicPr>
          <p:cNvPr id="14" name="그림 13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7690828" y="4796363"/>
            <a:ext cx="1800000" cy="1440000"/>
          </a:xfrm>
          <a:prstGeom prst="rect">
            <a:avLst/>
          </a:prstGeom>
        </p:spPr>
      </p:pic>
      <p:pic>
        <p:nvPicPr>
          <p:cNvPr id="15" name="그림 14"/>
          <p:cNvPicPr preferRelativeResize="0">
            <a:picLocks/>
          </p:cNvPicPr>
          <p:nvPr/>
        </p:nvPicPr>
        <p:blipFill rotWithShape="1">
          <a:blip r:embed="rId9"/>
          <a:srcRect l="1228" t="2476" r="231"/>
          <a:stretch/>
        </p:blipFill>
        <p:spPr>
          <a:xfrm>
            <a:off x="7849228" y="926398"/>
            <a:ext cx="1483200" cy="1130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67096" y="2235985"/>
            <a:ext cx="144911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Conv Heater / Steam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착탈 반영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Broil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개별 원형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Steam Hole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착탈 적용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Thermistor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좌측으로 이동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17" name="그림 16"/>
          <p:cNvPicPr preferRelativeResize="0">
            <a:picLocks/>
          </p:cNvPicPr>
          <p:nvPr/>
        </p:nvPicPr>
        <p:blipFill rotWithShape="1">
          <a:blip r:embed="rId10"/>
          <a:srcRect l="86" t="697"/>
          <a:stretch/>
        </p:blipFill>
        <p:spPr>
          <a:xfrm>
            <a:off x="5631874" y="931879"/>
            <a:ext cx="1656000" cy="1321200"/>
          </a:xfrm>
          <a:prstGeom prst="rect">
            <a:avLst/>
          </a:prstGeom>
        </p:spPr>
      </p:pic>
      <p:sp>
        <p:nvSpPr>
          <p:cNvPr id="35" name="실행 단추: 시작 34">
            <a:hlinkClick r:id="rId11" action="ppaction://hlinksldjump" highlightClick="1"/>
          </p:cNvPr>
          <p:cNvSpPr/>
          <p:nvPr/>
        </p:nvSpPr>
        <p:spPr>
          <a:xfrm>
            <a:off x="9344875" y="116632"/>
            <a:ext cx="259341" cy="216024"/>
          </a:xfrm>
          <a:prstGeom prst="actionButtonBeginning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62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122032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_Cavity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369918"/>
              </p:ext>
            </p:extLst>
          </p:nvPr>
        </p:nvGraphicFramePr>
        <p:xfrm>
          <a:off x="128464" y="886198"/>
          <a:ext cx="9475752" cy="2110754"/>
        </p:xfrm>
        <a:graphic>
          <a:graphicData uri="http://schemas.openxmlformats.org/drawingml/2006/table">
            <a:tbl>
              <a:tblPr/>
              <a:tblGrid>
                <a:gridCol w="9448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498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순서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BO24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00472" y="628503"/>
            <a:ext cx="993862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&lt;BO24 </a:t>
            </a:r>
            <a:r>
              <a:rPr lang="ko-KR" altLang="en-US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조립</a:t>
            </a: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방식</a:t>
            </a: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472" y="3609504"/>
            <a:ext cx="1750479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&lt;Compact Oven </a:t>
            </a:r>
            <a:r>
              <a:rPr lang="ko-KR" altLang="en-US" sz="11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조립</a:t>
            </a: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1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용접 방식</a:t>
            </a:r>
            <a:r>
              <a:rPr lang="en-US" altLang="ko-KR" sz="11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&gt;</a:t>
            </a:r>
          </a:p>
        </p:txBody>
      </p:sp>
      <p:pic>
        <p:nvPicPr>
          <p:cNvPr id="2" name="그림 1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92" y="1143056"/>
            <a:ext cx="1080000" cy="1440000"/>
          </a:xfrm>
          <a:prstGeom prst="rect">
            <a:avLst/>
          </a:prstGeom>
        </p:spPr>
      </p:pic>
      <p:pic>
        <p:nvPicPr>
          <p:cNvPr id="3" name="그림 2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368824" y="1143056"/>
            <a:ext cx="1800000" cy="1440000"/>
          </a:xfrm>
          <a:prstGeom prst="rect">
            <a:avLst/>
          </a:prstGeom>
        </p:spPr>
      </p:pic>
      <p:pic>
        <p:nvPicPr>
          <p:cNvPr id="4" name="그림 3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529064" y="1143056"/>
            <a:ext cx="1800000" cy="1440000"/>
          </a:xfrm>
          <a:prstGeom prst="rect">
            <a:avLst/>
          </a:prstGeom>
        </p:spPr>
      </p:pic>
      <p:pic>
        <p:nvPicPr>
          <p:cNvPr id="5" name="그림 4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669247" y="1221575"/>
            <a:ext cx="1800000" cy="144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0472" y="3123692"/>
            <a:ext cx="3997889" cy="34753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Upper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Rear 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조립 시 </a:t>
            </a: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Flange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부가 </a:t>
            </a: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Front 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전면으로 노출된 상태로 조립 후 용접</a:t>
            </a:r>
            <a:endParaRPr lang="en-US" altLang="ko-KR" sz="105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ts val="1400"/>
              </a:lnSpc>
            </a:pP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Rear 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가 </a:t>
            </a: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Upper/Lower 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내부로 조립 후 용접 </a:t>
            </a:r>
            <a:endParaRPr lang="en-US" altLang="ko-KR" sz="105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94334" y="2720754"/>
            <a:ext cx="27892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Front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6816" y="2720754"/>
            <a:ext cx="142346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Front</a:t>
            </a:r>
            <a:r>
              <a:rPr lang="ko-KR" altLang="en-US" sz="9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에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Upper </a:t>
            </a:r>
            <a:r>
              <a:rPr lang="ko-KR" altLang="en-US" sz="9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조립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9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전면 노출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0736" y="2720754"/>
            <a:ext cx="142346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Front</a:t>
            </a:r>
            <a:r>
              <a:rPr lang="ko-KR" altLang="en-US" sz="9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에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Lower </a:t>
            </a:r>
            <a:r>
              <a:rPr lang="ko-KR" altLang="en-US" sz="9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조립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9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전면 노출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2476" y="2720754"/>
            <a:ext cx="180498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9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조립된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</a:t>
            </a:r>
            <a:r>
              <a:rPr lang="ko-KR" altLang="en-US" sz="9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 부품 후면에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Rear </a:t>
            </a:r>
            <a:r>
              <a:rPr lang="ko-KR" altLang="en-US" sz="9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끼워 조립</a:t>
            </a:r>
            <a:endParaRPr lang="en-US" altLang="ko-KR" sz="9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13307" y="3319780"/>
            <a:ext cx="1027525" cy="160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**30</a:t>
            </a:r>
            <a:r>
              <a:rPr lang="ko-KR" altLang="en-US" sz="800" b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인치오븐 외부로 조립</a:t>
            </a:r>
            <a:endParaRPr lang="en-US" altLang="ko-KR" sz="800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5147"/>
              </p:ext>
            </p:extLst>
          </p:nvPr>
        </p:nvGraphicFramePr>
        <p:xfrm>
          <a:off x="128464" y="3861048"/>
          <a:ext cx="9475752" cy="2110754"/>
        </p:xfrm>
        <a:graphic>
          <a:graphicData uri="http://schemas.openxmlformats.org/drawingml/2006/table">
            <a:tbl>
              <a:tblPr/>
              <a:tblGrid>
                <a:gridCol w="9448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498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순서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Compact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Oven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6" name="그림 35"/>
          <p:cNvPicPr preferRelativeResize="0">
            <a:picLocks/>
          </p:cNvPicPr>
          <p:nvPr/>
        </p:nvPicPr>
        <p:blipFill rotWithShape="1">
          <a:blip r:embed="rId7"/>
          <a:srcRect t="5862" r="2424"/>
          <a:stretch/>
        </p:blipFill>
        <p:spPr>
          <a:xfrm>
            <a:off x="3368824" y="4293096"/>
            <a:ext cx="1800000" cy="1440000"/>
          </a:xfrm>
          <a:prstGeom prst="rect">
            <a:avLst/>
          </a:prstGeom>
        </p:spPr>
      </p:pic>
      <p:pic>
        <p:nvPicPr>
          <p:cNvPr id="37" name="그림 36"/>
          <p:cNvPicPr preferRelativeResize="0">
            <a:picLocks/>
          </p:cNvPicPr>
          <p:nvPr/>
        </p:nvPicPr>
        <p:blipFill rotWithShape="1">
          <a:blip r:embed="rId8"/>
          <a:srcRect t="1866" r="3419"/>
          <a:stretch/>
        </p:blipFill>
        <p:spPr>
          <a:xfrm>
            <a:off x="5529064" y="4293096"/>
            <a:ext cx="1800000" cy="1440000"/>
          </a:xfrm>
          <a:prstGeom prst="rect">
            <a:avLst/>
          </a:prstGeom>
        </p:spPr>
      </p:pic>
      <p:pic>
        <p:nvPicPr>
          <p:cNvPr id="38" name="그림 37"/>
          <p:cNvPicPr preferRelativeResize="0">
            <a:picLocks/>
          </p:cNvPicPr>
          <p:nvPr/>
        </p:nvPicPr>
        <p:blipFill rotWithShape="1">
          <a:blip r:embed="rId9"/>
          <a:srcRect t="2139" r="2779"/>
          <a:stretch/>
        </p:blipFill>
        <p:spPr>
          <a:xfrm>
            <a:off x="7669247" y="4293096"/>
            <a:ext cx="1800000" cy="1440000"/>
          </a:xfrm>
          <a:prstGeom prst="rect">
            <a:avLst/>
          </a:prstGeom>
        </p:spPr>
      </p:pic>
      <p:pic>
        <p:nvPicPr>
          <p:cNvPr id="6" name="그림 5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898775" y="4293096"/>
            <a:ext cx="1080000" cy="144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00472" y="6056319"/>
            <a:ext cx="4207883" cy="3590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Upper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Rear 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조립 시 </a:t>
            </a: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Flange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부가 </a:t>
            </a: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Front 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후면에 안착되어 전면으로 노출되지 않음</a:t>
            </a:r>
            <a:endParaRPr lang="en-US" altLang="ko-KR" sz="105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ts val="1400"/>
              </a:lnSpc>
            </a:pP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Rear 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가 </a:t>
            </a:r>
            <a:r>
              <a:rPr lang="en-US" altLang="ko-KR" sz="105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Upper/Lower </a:t>
            </a:r>
            <a:r>
              <a:rPr lang="ko-KR" altLang="en-US" sz="105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내부로 조립 후 용접 </a:t>
            </a:r>
            <a:endParaRPr lang="en-US" altLang="ko-KR" sz="105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0867" y="4410818"/>
            <a:ext cx="2472972" cy="156098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40868" y="1504159"/>
            <a:ext cx="2472972" cy="1492726"/>
          </a:xfrm>
          <a:prstGeom prst="rect">
            <a:avLst/>
          </a:prstGeom>
        </p:spPr>
      </p:pic>
      <p:sp>
        <p:nvSpPr>
          <p:cNvPr id="41" name="실행 단추: 시작 40">
            <a:hlinkClick r:id="rId13" action="ppaction://hlinksldjump" highlightClick="1"/>
          </p:cNvPr>
          <p:cNvSpPr/>
          <p:nvPr/>
        </p:nvSpPr>
        <p:spPr>
          <a:xfrm>
            <a:off x="9344875" y="116632"/>
            <a:ext cx="259341" cy="216024"/>
          </a:xfrm>
          <a:prstGeom prst="actionButtonBeginning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613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008218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_Door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28464" y="606346"/>
          <a:ext cx="9475752" cy="5774982"/>
        </p:xfrm>
        <a:graphic>
          <a:graphicData uri="http://schemas.openxmlformats.org/drawingml/2006/table">
            <a:tbl>
              <a:tblPr/>
              <a:tblGrid>
                <a:gridCol w="9448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498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</a:t>
                      </a:r>
                      <a:r>
                        <a:rPr lang="en-US" altLang="ko-KR" sz="1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Good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B700_Oven Only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 (B900)_Oven+MWO+(Steam)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0799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</a:t>
                      </a:r>
                      <a:b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 </a:t>
                      </a:r>
                      <a:r>
                        <a:rPr lang="ko-KR" altLang="en-US" sz="1000" b="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품번추가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TBD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Platform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으로 인한 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 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없음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endParaRPr lang="en-US" altLang="ko-KR" sz="10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 </a:t>
                      </a:r>
                      <a:r>
                        <a:rPr lang="ko-KR" altLang="en-US" sz="1000" b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품번추가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TBD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521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80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521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4466196" y="2785938"/>
            <a:ext cx="828753" cy="160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**</a:t>
            </a:r>
            <a:r>
              <a:rPr lang="ko-KR" altLang="en-US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높이 </a:t>
            </a:r>
            <a:r>
              <a:rPr lang="en-US" altLang="ko-KR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137.0mm </a:t>
            </a:r>
            <a:r>
              <a:rPr lang="ko-KR" altLang="en-US" sz="800" b="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감소</a:t>
            </a:r>
            <a:endParaRPr lang="en-US" altLang="ko-KR" sz="800" b="0" dirty="0">
              <a:solidFill>
                <a:srgbClr val="008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l="1527" t="1201"/>
          <a:stretch/>
        </p:blipFill>
        <p:spPr>
          <a:xfrm>
            <a:off x="1090168" y="942273"/>
            <a:ext cx="2107607" cy="215892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rcRect l="1527" t="1201"/>
          <a:stretch/>
        </p:blipFill>
        <p:spPr>
          <a:xfrm>
            <a:off x="3210823" y="1268760"/>
            <a:ext cx="2107607" cy="150594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824" y="3101195"/>
            <a:ext cx="719092" cy="57542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196" y="3184020"/>
            <a:ext cx="704749" cy="409771"/>
          </a:xfrm>
          <a:prstGeom prst="rect">
            <a:avLst/>
          </a:prstGeom>
        </p:spPr>
      </p:pic>
      <p:sp>
        <p:nvSpPr>
          <p:cNvPr id="13" name="오른쪽 화살표 12"/>
          <p:cNvSpPr/>
          <p:nvPr/>
        </p:nvSpPr>
        <p:spPr>
          <a:xfrm>
            <a:off x="4207436" y="3293213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249050" y="3729926"/>
            <a:ext cx="20943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1. Glass :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높이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137.0mm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감소 됨에 따라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Size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가 변경된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Glass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(Assembly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구조는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Base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와 동일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167" y="4226476"/>
            <a:ext cx="644404" cy="52311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7238" y="4314982"/>
            <a:ext cx="642663" cy="346099"/>
          </a:xfrm>
          <a:prstGeom prst="rect">
            <a:avLst/>
          </a:prstGeom>
        </p:spPr>
      </p:pic>
      <p:sp>
        <p:nvSpPr>
          <p:cNvPr id="31" name="오른쪽 화살표 30"/>
          <p:cNvSpPr/>
          <p:nvPr/>
        </p:nvSpPr>
        <p:spPr>
          <a:xfrm>
            <a:off x="4207436" y="4394189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249050" y="4842045"/>
            <a:ext cx="20943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2. 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Frame,Door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: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높이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137.0mm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감소 됨에 따라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Size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가 변경된 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Frame,Door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(Assembly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구조는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Base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와 동일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8"/>
          <a:srcRect l="1244" t="1201" b="1380"/>
          <a:stretch/>
        </p:blipFill>
        <p:spPr>
          <a:xfrm>
            <a:off x="3408300" y="5303834"/>
            <a:ext cx="640137" cy="46327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4890" y="5274869"/>
            <a:ext cx="696055" cy="523112"/>
          </a:xfrm>
          <a:prstGeom prst="rect">
            <a:avLst/>
          </a:prstGeom>
        </p:spPr>
      </p:pic>
      <p:sp>
        <p:nvSpPr>
          <p:cNvPr id="36" name="오른쪽 화살표 35"/>
          <p:cNvSpPr/>
          <p:nvPr/>
        </p:nvSpPr>
        <p:spPr>
          <a:xfrm>
            <a:off x="4207436" y="5439779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299503" y="5854134"/>
            <a:ext cx="20943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3. Hinge Assembly :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- Door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무게 변경에 따른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Spring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강도 변경</a:t>
            </a:r>
          </a:p>
          <a:p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B700 (B900)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구조에 따른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Hinge Bar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형상 변경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0"/>
          <a:srcRect t="1201"/>
          <a:stretch/>
        </p:blipFill>
        <p:spPr>
          <a:xfrm>
            <a:off x="7487135" y="1129616"/>
            <a:ext cx="2092432" cy="178423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91890" y="3668370"/>
            <a:ext cx="20943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1. 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Panel,Door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: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- Frame Assembly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와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Hinge Assembly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체결을 위한 구조 반영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- Outer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Glass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부착을 위한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Sealing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구조 반영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41" name="오른쪽 화살표 40"/>
          <p:cNvSpPr/>
          <p:nvPr/>
        </p:nvSpPr>
        <p:spPr>
          <a:xfrm>
            <a:off x="8481392" y="3293213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9424" y="3191375"/>
            <a:ext cx="706202" cy="42430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798698" y="3341970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Base None.</a:t>
            </a:r>
          </a:p>
        </p:txBody>
      </p:sp>
      <p:sp>
        <p:nvSpPr>
          <p:cNvPr id="47" name="오른쪽 화살표 46"/>
          <p:cNvSpPr/>
          <p:nvPr/>
        </p:nvSpPr>
        <p:spPr>
          <a:xfrm>
            <a:off x="8512310" y="4410253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2335" y="4169954"/>
            <a:ext cx="862215" cy="69626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798698" y="4441963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Base None.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1890" y="4882787"/>
            <a:ext cx="20943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2. Frame 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Assembly,Door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: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-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전자레인지 누설 차폐를 위한 구조 반영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65468" y="3184020"/>
            <a:ext cx="706202" cy="421396"/>
          </a:xfrm>
          <a:prstGeom prst="rect">
            <a:avLst/>
          </a:prstGeom>
        </p:spPr>
      </p:pic>
      <p:sp>
        <p:nvSpPr>
          <p:cNvPr id="58" name="오른쪽 화살표 57"/>
          <p:cNvSpPr/>
          <p:nvPr/>
        </p:nvSpPr>
        <p:spPr>
          <a:xfrm>
            <a:off x="8536881" y="5458060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94913" y="5348867"/>
            <a:ext cx="706202" cy="4213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798698" y="5473915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Base None.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1890" y="5829574"/>
            <a:ext cx="20943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3. 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Choke,Cover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:</a:t>
            </a: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-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누설 차폐에 중요한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Frame Choke </a:t>
            </a:r>
            <a:r>
              <a:rPr lang="ko-KR" altLang="en-US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보호 구조 반영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056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424999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_Controller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710923"/>
              </p:ext>
            </p:extLst>
          </p:nvPr>
        </p:nvGraphicFramePr>
        <p:xfrm>
          <a:off x="128464" y="606346"/>
          <a:ext cx="9475752" cy="3971701"/>
        </p:xfrm>
        <a:graphic>
          <a:graphicData uri="http://schemas.openxmlformats.org/drawingml/2006/table">
            <a:tbl>
              <a:tblPr/>
              <a:tblGrid>
                <a:gridCol w="3616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831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4980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</a:t>
                      </a:r>
                      <a:r>
                        <a:rPr lang="en-US" altLang="ko-KR" sz="1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Good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B700_Oven Only / Oven</a:t>
                      </a:r>
                      <a:r>
                        <a:rPr lang="en-US" altLang="ko-KR" sz="1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+ MWO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 Best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 (B900)_Oven+MWO+(Steam)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인쇄</a:t>
                      </a:r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</a:t>
                      </a:r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LCD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</a:t>
                      </a:r>
                      <a:endParaRPr lang="en-US" altLang="ko-KR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7567096" y="2252461"/>
            <a:ext cx="196688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Wide(6.8”) LCD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적용에 따른 인쇄 위치 이동 필요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UI/UX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변경 예정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Glass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외관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Matt Black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67096" y="4073617"/>
            <a:ext cx="149079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- 6.8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인치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LCD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Panel Control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신작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8" name="그림 7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08584" y="1196752"/>
            <a:ext cx="1800000" cy="360000"/>
          </a:xfrm>
          <a:prstGeom prst="rect">
            <a:avLst/>
          </a:prstGeom>
        </p:spPr>
      </p:pic>
      <p:pic>
        <p:nvPicPr>
          <p:cNvPr id="21" name="그림 20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4" y="1196752"/>
            <a:ext cx="180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22063" y="2266352"/>
            <a:ext cx="2093522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Oven Only: Conv Heater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삭제에 따른 인쇄 변경 필요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22063" y="2439798"/>
            <a:ext cx="1922001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Oven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+ MWO: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기능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추가에 따른 인쇄 변경 필요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22063" y="1642248"/>
            <a:ext cx="1360950" cy="3590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** BO24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동일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LED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모둘 젹용 예정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** STS, Black STS 2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 동일 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Display</a:t>
            </a:r>
          </a:p>
        </p:txBody>
      </p:sp>
      <p:pic>
        <p:nvPicPr>
          <p:cNvPr id="10" name="그림 9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208584" y="1697989"/>
            <a:ext cx="1800000" cy="360000"/>
          </a:xfrm>
          <a:prstGeom prst="rect">
            <a:avLst/>
          </a:prstGeom>
        </p:spPr>
      </p:pic>
      <p:pic>
        <p:nvPicPr>
          <p:cNvPr id="11" name="그림 10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529064" y="1697989"/>
            <a:ext cx="1800000" cy="360000"/>
          </a:xfrm>
          <a:prstGeom prst="rect">
            <a:avLst/>
          </a:prstGeom>
        </p:spPr>
      </p:pic>
      <p:pic>
        <p:nvPicPr>
          <p:cNvPr id="13" name="그림 12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666655" y="1196752"/>
            <a:ext cx="1800000" cy="360000"/>
          </a:xfrm>
          <a:prstGeom prst="rect">
            <a:avLst/>
          </a:prstGeom>
        </p:spPr>
      </p:pic>
      <p:pic>
        <p:nvPicPr>
          <p:cNvPr id="14" name="그림 13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534924" y="1196752"/>
            <a:ext cx="1800000" cy="36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22063" y="4045404"/>
            <a:ext cx="1152560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** BO24 Good </a:t>
            </a: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부품 공용 적용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33" name="그림 32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526905" y="3068960"/>
            <a:ext cx="1800000" cy="360000"/>
          </a:xfrm>
          <a:prstGeom prst="rect">
            <a:avLst/>
          </a:prstGeom>
        </p:spPr>
      </p:pic>
      <p:pic>
        <p:nvPicPr>
          <p:cNvPr id="16" name="그림 15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616875" y="3068960"/>
            <a:ext cx="1800000" cy="360000"/>
          </a:xfrm>
          <a:prstGeom prst="rect">
            <a:avLst/>
          </a:prstGeom>
        </p:spPr>
      </p:pic>
      <p:pic>
        <p:nvPicPr>
          <p:cNvPr id="17" name="그림 16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208584" y="3068960"/>
            <a:ext cx="1800000" cy="360000"/>
          </a:xfrm>
          <a:prstGeom prst="rect">
            <a:avLst/>
          </a:prstGeom>
        </p:spPr>
      </p:pic>
      <p:pic>
        <p:nvPicPr>
          <p:cNvPr id="36" name="그림 35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375149" y="3068960"/>
            <a:ext cx="1800000" cy="360000"/>
          </a:xfrm>
          <a:prstGeom prst="rect">
            <a:avLst/>
          </a:prstGeom>
        </p:spPr>
      </p:pic>
      <p:cxnSp>
        <p:nvCxnSpPr>
          <p:cNvPr id="37" name="직선 연결선 36"/>
          <p:cNvCxnSpPr/>
          <p:nvPr/>
        </p:nvCxnSpPr>
        <p:spPr>
          <a:xfrm>
            <a:off x="5528304" y="1988720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7311087" y="1988720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5522737" y="2348880"/>
            <a:ext cx="180000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0" name="TextBox 39"/>
          <p:cNvSpPr txBox="1"/>
          <p:nvPr/>
        </p:nvSpPr>
        <p:spPr>
          <a:xfrm>
            <a:off x="6317740" y="2264230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591.2</a:t>
            </a:r>
          </a:p>
        </p:txBody>
      </p:sp>
      <p:cxnSp>
        <p:nvCxnSpPr>
          <p:cNvPr id="41" name="직선 연결선 40"/>
          <p:cNvCxnSpPr/>
          <p:nvPr/>
        </p:nvCxnSpPr>
        <p:spPr>
          <a:xfrm>
            <a:off x="6912551" y="1688397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6912551" y="2057989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>
            <a:off x="7422306" y="1688397"/>
            <a:ext cx="0" cy="36959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TextBox 46"/>
          <p:cNvSpPr txBox="1"/>
          <p:nvPr/>
        </p:nvSpPr>
        <p:spPr>
          <a:xfrm>
            <a:off x="7327249" y="1788221"/>
            <a:ext cx="163506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90.0</a:t>
            </a:r>
          </a:p>
        </p:txBody>
      </p:sp>
      <p:sp>
        <p:nvSpPr>
          <p:cNvPr id="48" name="실행 단추: 시작 47">
            <a:hlinkClick r:id="rId11" action="ppaction://hlinksldjump" highlightClick="1"/>
          </p:cNvPr>
          <p:cNvSpPr/>
          <p:nvPr/>
        </p:nvSpPr>
        <p:spPr>
          <a:xfrm>
            <a:off x="9344875" y="116632"/>
            <a:ext cx="259341" cy="216024"/>
          </a:xfrm>
          <a:prstGeom prst="actionButtonBeginning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021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330422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_Insulator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28464" y="606346"/>
          <a:ext cx="9475752" cy="6063014"/>
        </p:xfrm>
        <a:graphic>
          <a:graphicData uri="http://schemas.openxmlformats.org/drawingml/2006/table">
            <a:tbl>
              <a:tblPr/>
              <a:tblGrid>
                <a:gridCol w="9448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498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</a:t>
                      </a:r>
                      <a:r>
                        <a:rPr lang="en-US" altLang="ko-KR" sz="1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Good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B700_Oven Only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</a:t>
                      </a:r>
                      <a:r>
                        <a:rPr lang="en-US" altLang="ko-KR" sz="1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Best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 (B900)_Oven+MWO+(Steam)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20719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Insulator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latinLnBrk="1"/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 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대비 </a:t>
                      </a:r>
                      <a:r>
                        <a:rPr lang="ko-KR" altLang="en-US" sz="1000" b="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변경점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없음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10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Insulator assembly </a:t>
                      </a:r>
                      <a:r>
                        <a:rPr lang="ko-KR" altLang="en-US" sz="900" b="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품번추가</a:t>
                      </a:r>
                      <a:r>
                        <a:rPr lang="ko-KR" altLang="en-US" sz="9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TBD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440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20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4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04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04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7920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7920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127169" y="4263413"/>
            <a:ext cx="827150" cy="3590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P/No. AEV73730303</a:t>
            </a:r>
          </a:p>
          <a:p>
            <a:pPr>
              <a:lnSpc>
                <a:spcPts val="1400"/>
              </a:lnSpc>
            </a:pP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08" y="3140968"/>
            <a:ext cx="2059459" cy="102972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333" y="1124744"/>
            <a:ext cx="2031459" cy="10779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86341" y="5494887"/>
            <a:ext cx="20943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6. Cam Assembly :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모듈 공용</a:t>
            </a:r>
            <a:endParaRPr lang="en-US" altLang="ko-KR" sz="8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오른쪽 화살표 24"/>
          <p:cNvSpPr/>
          <p:nvPr/>
        </p:nvSpPr>
        <p:spPr>
          <a:xfrm>
            <a:off x="8558177" y="2398593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8174" y="2312393"/>
            <a:ext cx="408374" cy="3930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86341" y="2650002"/>
            <a:ext cx="20943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 Insulator :</a:t>
            </a:r>
          </a:p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Inverter, Fan, PCB, Water Tank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등 각종 부품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Assembly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 구조 반영</a:t>
            </a:r>
            <a:endParaRPr lang="en-US" altLang="ko-KR" sz="8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오른쪽 화살표 31"/>
          <p:cNvSpPr/>
          <p:nvPr/>
        </p:nvSpPr>
        <p:spPr>
          <a:xfrm>
            <a:off x="8556141" y="3149618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8556141" y="3658631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화살표 39"/>
          <p:cNvSpPr/>
          <p:nvPr/>
        </p:nvSpPr>
        <p:spPr>
          <a:xfrm>
            <a:off x="8556141" y="4114730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오른쪽 화살표 46"/>
          <p:cNvSpPr/>
          <p:nvPr/>
        </p:nvSpPr>
        <p:spPr>
          <a:xfrm>
            <a:off x="8556141" y="4618539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오른쪽 화살표 57"/>
          <p:cNvSpPr/>
          <p:nvPr/>
        </p:nvSpPr>
        <p:spPr>
          <a:xfrm>
            <a:off x="8556141" y="5208509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231" y="3138110"/>
            <a:ext cx="413233" cy="20571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7"/>
          <a:srcRect l="469" t="1152" r="518" b="1681"/>
          <a:stretch/>
        </p:blipFill>
        <p:spPr>
          <a:xfrm>
            <a:off x="9087247" y="3132072"/>
            <a:ext cx="464545" cy="23031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486341" y="3319087"/>
            <a:ext cx="20943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en-US" altLang="ko-KR" sz="800" b="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Cooling,Duct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:</a:t>
            </a:r>
          </a:p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MGT, Inverter Cooling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Duct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endParaRPr lang="en-US" altLang="ko-KR" sz="8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6392" y="3590918"/>
            <a:ext cx="439321" cy="32481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487979" y="3933669"/>
            <a:ext cx="20943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 Fan Assembly :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AC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모터에서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Blower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 변경</a:t>
            </a:r>
            <a:endParaRPr lang="en-US" altLang="ko-KR" sz="8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2461" y="4096855"/>
            <a:ext cx="407655" cy="22515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7812" y="4135914"/>
            <a:ext cx="424735" cy="158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486341" y="4313335"/>
            <a:ext cx="20943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4. Water Tank: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1L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0.5L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Pump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동일</a:t>
            </a:r>
            <a:endParaRPr lang="en-US" altLang="ko-KR" sz="8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Assist Steam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기능을 위한 모듈 반영</a:t>
            </a:r>
            <a:endParaRPr lang="en-US" altLang="ko-KR" sz="8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11"/>
          <a:srcRect l="1913"/>
          <a:stretch/>
        </p:blipFill>
        <p:spPr>
          <a:xfrm>
            <a:off x="8783709" y="4601622"/>
            <a:ext cx="345755" cy="231469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1853" y="4610084"/>
            <a:ext cx="424735" cy="18990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486341" y="4829801"/>
            <a:ext cx="20943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5. PCB: Main 1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종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Main, Inverter, Noise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각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1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종 </a:t>
            </a:r>
            <a:endParaRPr lang="en-US" altLang="ko-KR" sz="8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Oven + MWO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기능을 위한 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PCB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반영</a:t>
            </a:r>
            <a:endParaRPr lang="en-US" altLang="ko-KR" sz="8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486341" y="6384187"/>
            <a:ext cx="20943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7. Knock on Module: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</a:t>
            </a:r>
            <a:r>
              <a:rPr lang="en-US" altLang="ko-KR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 공용</a:t>
            </a:r>
            <a:endParaRPr lang="en-US" altLang="ko-KR" sz="8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오른쪽 화살표 66"/>
          <p:cNvSpPr/>
          <p:nvPr/>
        </p:nvSpPr>
        <p:spPr>
          <a:xfrm>
            <a:off x="8556141" y="6006420"/>
            <a:ext cx="139239" cy="191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2383" y="5919826"/>
            <a:ext cx="255465" cy="355357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28970" y="5147217"/>
            <a:ext cx="425774" cy="32255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15"/>
          <a:srcRect l="1396" t="6089"/>
          <a:stretch/>
        </p:blipFill>
        <p:spPr>
          <a:xfrm>
            <a:off x="5601072" y="1124745"/>
            <a:ext cx="1657293" cy="10779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10371" y="2319980"/>
            <a:ext cx="399013" cy="38543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17"/>
          <a:srcRect l="353" t="2330" r="1"/>
          <a:stretch/>
        </p:blipFill>
        <p:spPr>
          <a:xfrm>
            <a:off x="8008771" y="3116994"/>
            <a:ext cx="399013" cy="1547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18"/>
          <a:srcRect l="2016" t="6077"/>
          <a:stretch/>
        </p:blipFill>
        <p:spPr>
          <a:xfrm>
            <a:off x="8008771" y="3631760"/>
            <a:ext cx="399013" cy="30155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19"/>
          <a:srcRect t="4238"/>
          <a:stretch/>
        </p:blipFill>
        <p:spPr>
          <a:xfrm>
            <a:off x="8026482" y="4108165"/>
            <a:ext cx="490820" cy="23331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0"/>
          <a:srcRect l="722" t="2153" r="-1"/>
          <a:stretch/>
        </p:blipFill>
        <p:spPr>
          <a:xfrm>
            <a:off x="8031489" y="4614623"/>
            <a:ext cx="394294" cy="176593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2010" y="5147217"/>
            <a:ext cx="425774" cy="322555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9847" y="5919826"/>
            <a:ext cx="255465" cy="355357"/>
          </a:xfrm>
          <a:prstGeom prst="rect">
            <a:avLst/>
          </a:prstGeom>
        </p:spPr>
      </p:pic>
      <p:sp>
        <p:nvSpPr>
          <p:cNvPr id="39" name="실행 단추: 시작 38">
            <a:hlinkClick r:id="rId21" action="ppaction://hlinksldjump" highlightClick="1"/>
          </p:cNvPr>
          <p:cNvSpPr/>
          <p:nvPr/>
        </p:nvSpPr>
        <p:spPr>
          <a:xfrm>
            <a:off x="9344875" y="116632"/>
            <a:ext cx="259341" cy="216024"/>
          </a:xfrm>
          <a:prstGeom prst="actionButtonBeginning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369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065926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_Panel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823259"/>
              </p:ext>
            </p:extLst>
          </p:nvPr>
        </p:nvGraphicFramePr>
        <p:xfrm>
          <a:off x="128464" y="606346"/>
          <a:ext cx="9475752" cy="5774982"/>
        </p:xfrm>
        <a:graphic>
          <a:graphicData uri="http://schemas.openxmlformats.org/drawingml/2006/table">
            <a:tbl>
              <a:tblPr/>
              <a:tblGrid>
                <a:gridCol w="9448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629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</a:t>
                      </a:r>
                      <a:r>
                        <a:rPr lang="en-US" altLang="ko-KR" sz="1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Good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B700_Oven Only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 Better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B700 (B900)_Oven+MWO+(Steam)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412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그림 2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62908" y="1340888"/>
            <a:ext cx="1800000" cy="1080000"/>
          </a:xfrm>
          <a:prstGeom prst="rect">
            <a:avLst/>
          </a:prstGeom>
        </p:spPr>
      </p:pic>
      <p:pic>
        <p:nvPicPr>
          <p:cNvPr id="4" name="그림 3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617296" y="3484085"/>
            <a:ext cx="1800000" cy="1080000"/>
          </a:xfrm>
          <a:prstGeom prst="rect">
            <a:avLst/>
          </a:prstGeom>
        </p:spPr>
      </p:pic>
      <p:pic>
        <p:nvPicPr>
          <p:cNvPr id="5" name="그림 4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617296" y="1340888"/>
            <a:ext cx="1800000" cy="1080000"/>
          </a:xfrm>
          <a:prstGeom prst="rect">
            <a:avLst/>
          </a:prstGeom>
        </p:spPr>
      </p:pic>
      <p:pic>
        <p:nvPicPr>
          <p:cNvPr id="7" name="그림 6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208584" y="1340888"/>
            <a:ext cx="1800000" cy="144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44588" y="1116382"/>
            <a:ext cx="6732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&lt;BO24 Good&gt;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8824" y="1116382"/>
            <a:ext cx="92172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&lt;B700 Only Oven&gt;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3060" y="1116382"/>
            <a:ext cx="69730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&lt;BO24 Better&gt;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7296" y="1116382"/>
            <a:ext cx="10483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&lt;B700 Oven + MWO&gt;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7296" y="3267901"/>
            <a:ext cx="148117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&lt;B900 Oven + MWO + Steam&gt;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8092" y="2492896"/>
            <a:ext cx="1912383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Base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대비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Panel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Assy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구성 변경 없음</a:t>
            </a:r>
            <a:endParaRPr lang="en-US" altLang="ko-KR" sz="10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(AC Motor, Motor BKT, Terminal Block)</a:t>
            </a:r>
          </a:p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en-US" altLang="ko-KR" sz="10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Panel,Rear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Size: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6103" y="2493289"/>
            <a:ext cx="175689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BLDC Motor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 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(Motor, Fan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공용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Noise PCB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및 </a:t>
            </a:r>
            <a:r>
              <a:rPr lang="en-US" altLang="ko-KR" sz="10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Suppoter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반영 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규격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6103" y="4626381"/>
            <a:ext cx="1756891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BLDC Motor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 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(Motor, Fan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공용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Noise PCB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및 </a:t>
            </a:r>
            <a:r>
              <a:rPr lang="en-US" altLang="ko-KR" sz="10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Suppoter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반영 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규격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  <a:p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Steam Heater VI type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적용</a:t>
            </a:r>
            <a:endParaRPr lang="en-US" altLang="ko-KR" sz="10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12" name="그림 11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512286" y="1340888"/>
            <a:ext cx="1800000" cy="1440000"/>
          </a:xfrm>
          <a:prstGeom prst="rect">
            <a:avLst/>
          </a:prstGeom>
        </p:spPr>
      </p:pic>
      <p:cxnSp>
        <p:nvCxnSpPr>
          <p:cNvPr id="38" name="직선 연결선 37"/>
          <p:cNvCxnSpPr/>
          <p:nvPr/>
        </p:nvCxnSpPr>
        <p:spPr>
          <a:xfrm>
            <a:off x="2598398" y="1340888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2598398" y="2756600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3108153" y="1340888"/>
            <a:ext cx="0" cy="141571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1214151" y="2519744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2996934" y="2519744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1208584" y="2879904"/>
            <a:ext cx="180000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TextBox 43"/>
          <p:cNvSpPr txBox="1"/>
          <p:nvPr/>
        </p:nvSpPr>
        <p:spPr>
          <a:xfrm>
            <a:off x="3013096" y="1869511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474.2</a:t>
            </a:r>
          </a:p>
        </p:txBody>
      </p:sp>
      <p:sp useBgFill="1">
        <p:nvSpPr>
          <p:cNvPr id="45" name="TextBox 44"/>
          <p:cNvSpPr txBox="1"/>
          <p:nvPr/>
        </p:nvSpPr>
        <p:spPr>
          <a:xfrm>
            <a:off x="2003587" y="2864642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538.4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4750466" y="1340888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4750466" y="2403144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>
            <a:off x="5179668" y="1340888"/>
            <a:ext cx="0" cy="106225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6" name="TextBox 45"/>
          <p:cNvSpPr txBox="1"/>
          <p:nvPr/>
        </p:nvSpPr>
        <p:spPr>
          <a:xfrm>
            <a:off x="5105714" y="1779743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336.2</a:t>
            </a:r>
          </a:p>
        </p:txBody>
      </p:sp>
      <p:sp>
        <p:nvSpPr>
          <p:cNvPr id="53" name="실행 단추: 시작 52">
            <a:hlinkClick r:id="rId8" action="ppaction://hlinksldjump" highlightClick="1"/>
          </p:cNvPr>
          <p:cNvSpPr/>
          <p:nvPr/>
        </p:nvSpPr>
        <p:spPr>
          <a:xfrm>
            <a:off x="9344875" y="116632"/>
            <a:ext cx="259341" cy="216024"/>
          </a:xfrm>
          <a:prstGeom prst="actionButtonBeginning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262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524527"/>
              </p:ext>
            </p:extLst>
          </p:nvPr>
        </p:nvGraphicFramePr>
        <p:xfrm>
          <a:off x="128464" y="606346"/>
          <a:ext cx="5210296" cy="5832648"/>
        </p:xfrm>
        <a:graphic>
          <a:graphicData uri="http://schemas.openxmlformats.org/drawingml/2006/table">
            <a:tbl>
              <a:tblPr/>
              <a:tblGrid>
                <a:gridCol w="3616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831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27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4980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Modulek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Base_BO24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Compact</a:t>
                      </a:r>
                      <a:r>
                        <a:rPr lang="en-US" altLang="ko-KR" sz="1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Oven </a:t>
                      </a:r>
                      <a:r>
                        <a:rPr lang="ko-KR" altLang="en-US" sz="11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Side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Rear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Top</a:t>
                      </a:r>
                    </a:p>
                    <a:p>
                      <a:pPr algn="ctr" latinLnBrk="1"/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8" name="직선 화살표 연결선 57"/>
          <p:cNvCxnSpPr/>
          <p:nvPr/>
        </p:nvCxnSpPr>
        <p:spPr>
          <a:xfrm>
            <a:off x="3086491" y="2838708"/>
            <a:ext cx="0" cy="144416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311186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en-US" altLang="ko-KR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OutCase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" name="그림 1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873634"/>
            <a:ext cx="1440000" cy="1440000"/>
          </a:xfrm>
          <a:prstGeom prst="rect">
            <a:avLst/>
          </a:prstGeom>
        </p:spPr>
      </p:pic>
      <p:pic>
        <p:nvPicPr>
          <p:cNvPr id="3" name="그림 2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584768" y="889535"/>
            <a:ext cx="1440000" cy="1080000"/>
          </a:xfrm>
          <a:prstGeom prst="rect">
            <a:avLst/>
          </a:prstGeom>
        </p:spPr>
      </p:pic>
      <p:pic>
        <p:nvPicPr>
          <p:cNvPr id="4" name="그림 3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584768" y="2852936"/>
            <a:ext cx="1440000" cy="1080000"/>
          </a:xfrm>
          <a:prstGeom prst="rect">
            <a:avLst/>
          </a:prstGeom>
        </p:spPr>
      </p:pic>
      <p:pic>
        <p:nvPicPr>
          <p:cNvPr id="5" name="그림 4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484831" y="2852936"/>
            <a:ext cx="1440000" cy="1440000"/>
          </a:xfrm>
          <a:prstGeom prst="rect">
            <a:avLst/>
          </a:prstGeom>
        </p:spPr>
      </p:pic>
      <p:pic>
        <p:nvPicPr>
          <p:cNvPr id="6" name="그림 5"/>
          <p:cNvPicPr preferRelativeResize="0">
            <a:picLocks/>
          </p:cNvPicPr>
          <p:nvPr/>
        </p:nvPicPr>
        <p:blipFill rotWithShape="1">
          <a:blip r:embed="rId7"/>
          <a:srcRect l="980"/>
          <a:stretch/>
        </p:blipFill>
        <p:spPr>
          <a:xfrm>
            <a:off x="1136736" y="4825965"/>
            <a:ext cx="1440000" cy="540000"/>
          </a:xfrm>
          <a:prstGeom prst="rect">
            <a:avLst/>
          </a:prstGeom>
        </p:spPr>
      </p:pic>
      <p:pic>
        <p:nvPicPr>
          <p:cNvPr id="7" name="그림 6"/>
          <p:cNvPicPr preferRelativeResize="0">
            <a:picLocks/>
          </p:cNvPicPr>
          <p:nvPr/>
        </p:nvPicPr>
        <p:blipFill rotWithShape="1">
          <a:blip r:embed="rId8"/>
          <a:srcRect l="3693" t="6104"/>
          <a:stretch/>
        </p:blipFill>
        <p:spPr>
          <a:xfrm>
            <a:off x="1136736" y="5517232"/>
            <a:ext cx="1440000" cy="540000"/>
          </a:xfrm>
          <a:prstGeom prst="rect">
            <a:avLst/>
          </a:prstGeom>
        </p:spPr>
      </p:pic>
      <p:pic>
        <p:nvPicPr>
          <p:cNvPr id="27" name="그림 26"/>
          <p:cNvPicPr preferRelativeResize="0">
            <a:picLocks/>
          </p:cNvPicPr>
          <p:nvPr/>
        </p:nvPicPr>
        <p:blipFill rotWithShape="1">
          <a:blip r:embed="rId7"/>
          <a:srcRect l="980"/>
          <a:stretch/>
        </p:blipFill>
        <p:spPr>
          <a:xfrm>
            <a:off x="3584768" y="4825965"/>
            <a:ext cx="1440000" cy="540000"/>
          </a:xfrm>
          <a:prstGeom prst="rect">
            <a:avLst/>
          </a:prstGeom>
        </p:spPr>
      </p:pic>
      <p:pic>
        <p:nvPicPr>
          <p:cNvPr id="28" name="그림 27"/>
          <p:cNvPicPr preferRelativeResize="0">
            <a:picLocks/>
          </p:cNvPicPr>
          <p:nvPr/>
        </p:nvPicPr>
        <p:blipFill rotWithShape="1">
          <a:blip r:embed="rId8"/>
          <a:srcRect l="3693" t="6104"/>
          <a:stretch/>
        </p:blipFill>
        <p:spPr>
          <a:xfrm>
            <a:off x="3584768" y="5517232"/>
            <a:ext cx="1440000" cy="54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4768" y="2489755"/>
            <a:ext cx="939360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 590 x 583.7</a:t>
            </a:r>
          </a:p>
        </p:txBody>
      </p:sp>
      <p:sp useBgFill="1">
        <p:nvSpPr>
          <p:cNvPr id="31" name="TextBox 30"/>
          <p:cNvSpPr txBox="1"/>
          <p:nvPr/>
        </p:nvSpPr>
        <p:spPr>
          <a:xfrm>
            <a:off x="2099834" y="4275376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535.0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768" y="4365144"/>
            <a:ext cx="939360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Size(</a:t>
            </a:r>
            <a:r>
              <a:rPr lang="en-US" altLang="ko-KR" sz="8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WxH</a:t>
            </a: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): 590 x 583.7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3397" y="4916429"/>
            <a:ext cx="182742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공용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33397" y="5931339"/>
            <a:ext cx="182742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8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공용</a:t>
            </a:r>
            <a:endParaRPr lang="en-US" altLang="ko-KR" sz="8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576736" y="5201078"/>
            <a:ext cx="509755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549.2 x 451.4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6736" y="5877696"/>
            <a:ext cx="509755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538.4 x 501.4</a:t>
            </a:r>
          </a:p>
        </p:txBody>
      </p:sp>
      <p:cxnSp>
        <p:nvCxnSpPr>
          <p:cNvPr id="26" name="직선 연결선 25"/>
          <p:cNvCxnSpPr/>
          <p:nvPr/>
        </p:nvCxnSpPr>
        <p:spPr>
          <a:xfrm>
            <a:off x="2576736" y="881872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2576736" y="2297584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3086491" y="881872"/>
            <a:ext cx="0" cy="141571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1496616" y="2060728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2924831" y="2060728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1496616" y="2420888"/>
            <a:ext cx="1428215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2576736" y="2852936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2576736" y="4285124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1480140" y="4012186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2908355" y="4012186"/>
            <a:ext cx="0" cy="42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>
            <a:off x="1480140" y="4372346"/>
            <a:ext cx="1428215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TextBox 61"/>
          <p:cNvSpPr txBox="1"/>
          <p:nvPr/>
        </p:nvSpPr>
        <p:spPr>
          <a:xfrm>
            <a:off x="3001354" y="3433266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475.5</a:t>
            </a:r>
          </a:p>
        </p:txBody>
      </p:sp>
      <p:cxnSp>
        <p:nvCxnSpPr>
          <p:cNvPr id="63" name="직선 화살표 연결선 62"/>
          <p:cNvCxnSpPr/>
          <p:nvPr/>
        </p:nvCxnSpPr>
        <p:spPr>
          <a:xfrm>
            <a:off x="5189683" y="2838708"/>
            <a:ext cx="0" cy="109422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" name="TextBox 63"/>
          <p:cNvSpPr txBox="1"/>
          <p:nvPr/>
        </p:nvSpPr>
        <p:spPr>
          <a:xfrm>
            <a:off x="5080022" y="3414989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320.9</a:t>
            </a:r>
          </a:p>
        </p:txBody>
      </p:sp>
      <p:cxnSp>
        <p:nvCxnSpPr>
          <p:cNvPr id="65" name="직선 연결선 64"/>
          <p:cNvCxnSpPr/>
          <p:nvPr/>
        </p:nvCxnSpPr>
        <p:spPr>
          <a:xfrm>
            <a:off x="4679928" y="2852936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4679928" y="3926146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9" name="TextBox 68"/>
          <p:cNvSpPr txBox="1"/>
          <p:nvPr/>
        </p:nvSpPr>
        <p:spPr>
          <a:xfrm>
            <a:off x="2976830" y="1496208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567.8</a:t>
            </a:r>
          </a:p>
        </p:txBody>
      </p:sp>
      <p:sp useBgFill="1">
        <p:nvSpPr>
          <p:cNvPr id="70" name="TextBox 69"/>
          <p:cNvSpPr txBox="1"/>
          <p:nvPr/>
        </p:nvSpPr>
        <p:spPr>
          <a:xfrm>
            <a:off x="2051556" y="2356823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490.5</a:t>
            </a:r>
          </a:p>
        </p:txBody>
      </p:sp>
      <p:sp useBgFill="1">
        <p:nvSpPr>
          <p:cNvPr id="71" name="TextBox 70"/>
          <p:cNvSpPr txBox="1"/>
          <p:nvPr/>
        </p:nvSpPr>
        <p:spPr>
          <a:xfrm>
            <a:off x="5073935" y="1496208"/>
            <a:ext cx="209994" cy="17953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>
                <a:solidFill>
                  <a:srgbClr val="000000"/>
                </a:solidFill>
                <a:effectLst>
                  <a:glow rad="368300">
                    <a:schemeClr val="bg1"/>
                  </a:glow>
                </a:effectLst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430.8</a:t>
            </a:r>
          </a:p>
        </p:txBody>
      </p:sp>
      <p:cxnSp>
        <p:nvCxnSpPr>
          <p:cNvPr id="72" name="직선 연결선 71"/>
          <p:cNvCxnSpPr/>
          <p:nvPr/>
        </p:nvCxnSpPr>
        <p:spPr>
          <a:xfrm>
            <a:off x="4747192" y="897112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4747192" y="1959867"/>
            <a:ext cx="50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/>
          <p:nvPr/>
        </p:nvCxnSpPr>
        <p:spPr>
          <a:xfrm>
            <a:off x="5189683" y="897112"/>
            <a:ext cx="0" cy="107242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실행 단추: 시작 75">
            <a:hlinkClick r:id="rId9" action="ppaction://hlinksldjump" highlightClick="1"/>
          </p:cNvPr>
          <p:cNvSpPr/>
          <p:nvPr/>
        </p:nvSpPr>
        <p:spPr>
          <a:xfrm>
            <a:off x="9344875" y="116632"/>
            <a:ext cx="259341" cy="216024"/>
          </a:xfrm>
          <a:prstGeom prst="actionButtonBeginning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175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0" y="836712"/>
            <a:ext cx="4179968" cy="4033536"/>
          </a:xfrm>
          <a:prstGeom prst="rect">
            <a:avLst/>
          </a:prstGeom>
        </p:spPr>
      </p:pic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2908640" cy="5750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상세 작성 내용</a:t>
            </a:r>
          </a:p>
          <a:p>
            <a:pPr lvl="0">
              <a:defRPr/>
            </a:pPr>
            <a:endParaRPr kumimoji="0"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636882"/>
              </p:ext>
            </p:extLst>
          </p:nvPr>
        </p:nvGraphicFramePr>
        <p:xfrm>
          <a:off x="5054054" y="708718"/>
          <a:ext cx="4483870" cy="404316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1878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1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r>
                        <a:rPr lang="ko-KR" altLang="en-US" sz="12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변경점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85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①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BLDC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Conv. Fan Motor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(AC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BLDC)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- BLDC</a:t>
                      </a: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Motor </a:t>
                      </a:r>
                      <a:r>
                        <a:rPr lang="ko-KR" altLang="en-US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적용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(30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인치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SKS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공용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Fan Blade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적용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(30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인치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SKS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공용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Fan Cover </a:t>
                      </a:r>
                      <a:r>
                        <a:rPr lang="ko-KR" altLang="en-US" sz="1000" b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금형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수정</a:t>
                      </a:r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 Side LED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구조 추가</a:t>
                      </a:r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85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②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Camera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Module(LED)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장착 구조 반영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Door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무게 변경으로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soft closing hinge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수정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85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③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Controller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DQA1 PCB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구조 추가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85774">
                <a:tc>
                  <a:txBody>
                    <a:bodyPr/>
                    <a:lstStyle/>
                    <a:p>
                      <a:pPr marL="0" marR="0" lvl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④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(PCB)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AI (DQ1)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PCB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(Camera,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Wi-Fi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Camera PCB / LED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Main PCB</a:t>
                      </a:r>
                      <a:endParaRPr lang="en-US" altLang="ko-KR" sz="1000" b="0" dirty="0">
                        <a:solidFill>
                          <a:srgbClr val="008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85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⑤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etc.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1. 1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점인식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→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점인식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Probe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216696" y="3229352"/>
            <a:ext cx="10681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r>
              <a:rPr lang="ko-KR" altLang="en-US" sz="1200" b="1" dirty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Cavity </a:t>
            </a:r>
            <a:r>
              <a:rPr lang="en-US" altLang="ko-KR" sz="1200" b="1" dirty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Assy</a:t>
            </a:r>
            <a:endParaRPr lang="ko-KR" altLang="en-US" sz="1200" b="1" dirty="0">
              <a:solidFill>
                <a:srgbClr val="FF0000"/>
              </a:solidFill>
              <a:effectLst>
                <a:glow rad="127000">
                  <a:schemeClr val="bg1"/>
                </a:glow>
              </a:effectLs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309" y="3589392"/>
            <a:ext cx="983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② </a:t>
            </a:r>
            <a:r>
              <a:rPr lang="en-US" altLang="ko-KR" sz="1200" dirty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Door Assy</a:t>
            </a:r>
            <a:endParaRPr lang="ko-KR" altLang="en-US" sz="1200" b="1" dirty="0">
              <a:solidFill>
                <a:srgbClr val="FF0000"/>
              </a:solidFill>
              <a:effectLst>
                <a:glow rad="127000">
                  <a:schemeClr val="bg1"/>
                </a:glow>
              </a:effectLs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4999" y="2591798"/>
            <a:ext cx="1257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r>
              <a:rPr lang="en-US" altLang="ko-KR" sz="1200" dirty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Controller Assy</a:t>
            </a:r>
            <a:endParaRPr lang="ko-KR" altLang="en-US" sz="1200" b="1" dirty="0">
              <a:solidFill>
                <a:srgbClr val="FF0000"/>
              </a:solidFill>
              <a:effectLst>
                <a:glow rad="127000">
                  <a:schemeClr val="bg1"/>
                </a:glow>
              </a:effectLs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실행 단추: 앞으로 또는 다음 21">
            <a:hlinkClick r:id="rId4" action="ppaction://hlinksldjump" highlightClick="1"/>
          </p:cNvPr>
          <p:cNvSpPr/>
          <p:nvPr/>
        </p:nvSpPr>
        <p:spPr>
          <a:xfrm>
            <a:off x="6141152" y="1484784"/>
            <a:ext cx="180000" cy="180000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itchFamily="50" charset="-127"/>
              <a:ea typeface="LG스마트체 Regular" pitchFamily="50" charset="-127"/>
            </a:endParaRPr>
          </a:p>
        </p:txBody>
      </p:sp>
      <p:sp>
        <p:nvSpPr>
          <p:cNvPr id="23" name="실행 단추: 앞으로 또는 다음 22">
            <a:hlinkClick r:id="rId5" action="ppaction://hlinksldjump" highlightClick="1"/>
          </p:cNvPr>
          <p:cNvSpPr/>
          <p:nvPr/>
        </p:nvSpPr>
        <p:spPr>
          <a:xfrm>
            <a:off x="6141152" y="2222901"/>
            <a:ext cx="180000" cy="180000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itchFamily="50" charset="-127"/>
              <a:ea typeface="LG스마트체 Regular" pitchFamily="50" charset="-127"/>
            </a:endParaRPr>
          </a:p>
        </p:txBody>
      </p:sp>
      <p:sp>
        <p:nvSpPr>
          <p:cNvPr id="24" name="실행 단추: 앞으로 또는 다음 23">
            <a:hlinkClick r:id="rId6" action="ppaction://hlinksldjump" highlightClick="1"/>
          </p:cNvPr>
          <p:cNvSpPr/>
          <p:nvPr/>
        </p:nvSpPr>
        <p:spPr>
          <a:xfrm>
            <a:off x="6141152" y="2961018"/>
            <a:ext cx="180000" cy="180000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itchFamily="50" charset="-127"/>
              <a:ea typeface="LG스마트체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2689805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표준 글꼴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7_디자인 사용자 지정">
  <a:themeElements>
    <a:clrScheme name="17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7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rtlCol="0" anchor="ctr">
        <a:spAutoFit/>
      </a:bodyPr>
      <a:lstStyle>
        <a:defPPr algn="r">
          <a:defRPr sz="800" i="0" smtClean="0">
            <a:solidFill>
              <a:schemeClr val="tx1"/>
            </a:solidFill>
            <a:latin typeface="돋움" pitchFamily="50" charset="-127"/>
            <a:ea typeface="돋움" pitchFamily="50" charset="-127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A5002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17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표준 글꼴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기본 디자인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G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rgbClr val="00B050"/>
          </a:solidFill>
          <a:headEnd type="triangl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118702</TotalTime>
  <Words>3874</Words>
  <Application>Microsoft Office PowerPoint</Application>
  <PresentationFormat>A4 용지(210x297mm)</PresentationFormat>
  <Paragraphs>1186</Paragraphs>
  <Slides>16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16</vt:i4>
      </vt:variant>
    </vt:vector>
  </HeadingPairs>
  <TitlesOfParts>
    <vt:vector size="37" baseType="lpstr">
      <vt:lpstr>LG스마트체 Regular</vt:lpstr>
      <vt:lpstr>LG스마트체2.0 Bold</vt:lpstr>
      <vt:lpstr>LG스마트체2.0 SemiBold</vt:lpstr>
      <vt:lpstr>굴림</vt:lpstr>
      <vt:lpstr>굴림체</vt:lpstr>
      <vt:lpstr>돋움</vt:lpstr>
      <vt:lpstr>맑은 고딕</vt:lpstr>
      <vt:lpstr>Arial</vt:lpstr>
      <vt:lpstr>Arial Black</vt:lpstr>
      <vt:lpstr>Arial Narrow</vt:lpstr>
      <vt:lpstr>Calibri</vt:lpstr>
      <vt:lpstr>Trebuchet MS</vt:lpstr>
      <vt:lpstr>Wingdings</vt:lpstr>
      <vt:lpstr>1_기본 디자인</vt:lpstr>
      <vt:lpstr>5_기본 디자인</vt:lpstr>
      <vt:lpstr>37_디자인 사용자 지정</vt:lpstr>
      <vt:lpstr>9_기본 디자인</vt:lpstr>
      <vt:lpstr>10_기본 디자인</vt:lpstr>
      <vt:lpstr>디자인 사용자 지정</vt:lpstr>
      <vt:lpstr>1_디자인 사용자 지정</vt:lpstr>
      <vt:lpstr>6_기본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NDSystem</dc:creator>
  <cp:lastModifiedBy>장승태/선임연구원/유럽빌트인쿠킹패키지개발TDR(seungtae.jang@lge.com)</cp:lastModifiedBy>
  <cp:revision>2794</cp:revision>
  <cp:lastPrinted>2020-11-02T23:03:22Z</cp:lastPrinted>
  <dcterms:created xsi:type="dcterms:W3CDTF">2011-03-07T09:09:03Z</dcterms:created>
  <dcterms:modified xsi:type="dcterms:W3CDTF">2025-04-08T05:02:56Z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2025-04-07T10:14:35Z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99d63ab8-092e-4a49-bf31-5c2060f5b0ce</vt:lpwstr>
  </property>
  <property fmtid="{D5CDD505-2E9C-101B-9397-08002B2CF9AE}" pid="8" name="MSIP_Label_cc6ed9fc-fefc-4a0c-a6d6-10cf236c0d4f_ContentBits">
    <vt:lpwstr>1</vt:lpwstr>
  </property>
</Properties>
</file>