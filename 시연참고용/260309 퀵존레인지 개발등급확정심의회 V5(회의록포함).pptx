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slideLayouts/slideLayout18.xml" ContentType="application/vnd.openxmlformats-officedocument.presentationml.slideLayout+xml"/>
  <Override PartName="/ppt/theme/theme4.xml" ContentType="application/vnd.openxmlformats-officedocument.theme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5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6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7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8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9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theme/theme1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tags/tag6.xml" ContentType="application/vnd.openxmlformats-officedocument.presentationml.tags+xml"/>
  <Override PartName="/ppt/notesSlides/notesSlide2.xml" ContentType="application/vnd.openxmlformats-officedocument.presentationml.notesSlide+xml"/>
  <Override PartName="/ppt/tags/tag7.xml" ContentType="application/vnd.openxmlformats-officedocument.presentationml.tags+xml"/>
  <Override PartName="/ppt/notesSlides/notesSlide3.xml" ContentType="application/vnd.openxmlformats-officedocument.presentationml.notesSlide+xml"/>
  <Override PartName="/ppt/tags/tag8.xml" ContentType="application/vnd.openxmlformats-officedocument.presentationml.tags+xml"/>
  <Override PartName="/ppt/notesSlides/notesSlide4.xml" ContentType="application/vnd.openxmlformats-officedocument.presentationml.notesSlide+xml"/>
  <Override PartName="/ppt/tags/tag9.xml" ContentType="application/vnd.openxmlformats-officedocument.presentationml.tags+xml"/>
  <Override PartName="/ppt/notesSlides/notesSlide5.xml" ContentType="application/vnd.openxmlformats-officedocument.presentationml.notesSlide+xml"/>
  <Override PartName="/ppt/tags/tag10.xml" ContentType="application/vnd.openxmlformats-officedocument.presentationml.tags+xml"/>
  <Override PartName="/ppt/notesSlides/notesSlide6.xml" ContentType="application/vnd.openxmlformats-officedocument.presentationml.notesSlide+xml"/>
  <Override PartName="/ppt/tags/tag11.xml" ContentType="application/vnd.openxmlformats-officedocument.presentationml.tags+xml"/>
  <Override PartName="/ppt/notesSlides/notesSlide7.xml" ContentType="application/vnd.openxmlformats-officedocument.presentationml.notesSlide+xml"/>
  <Override PartName="/ppt/tags/tag12.xml" ContentType="application/vnd.openxmlformats-officedocument.presentationml.tags+xml"/>
  <Override PartName="/ppt/notesSlides/notesSlide8.xml" ContentType="application/vnd.openxmlformats-officedocument.presentationml.notesSlide+xml"/>
  <Override PartName="/ppt/tags/tag13.xml" ContentType="application/vnd.openxmlformats-officedocument.presentationml.tags+xml"/>
  <Override PartName="/ppt/notesSlides/notesSlide9.xml" ContentType="application/vnd.openxmlformats-officedocument.presentationml.notesSlide+xml"/>
  <Override PartName="/ppt/tags/tag14.xml" ContentType="application/vnd.openxmlformats-officedocument.presentationml.tags+xml"/>
  <Override PartName="/ppt/notesSlides/notesSlide10.xml" ContentType="application/vnd.openxmlformats-officedocument.presentationml.notesSlide+xml"/>
  <Override PartName="/ppt/tags/tag15.xml" ContentType="application/vnd.openxmlformats-officedocument.presentationml.tags+xml"/>
  <Override PartName="/ppt/notesSlides/notesSlide11.xml" ContentType="application/vnd.openxmlformats-officedocument.presentationml.notesSlide+xml"/>
  <Override PartName="/ppt/tags/tag16.xml" ContentType="application/vnd.openxmlformats-officedocument.presentationml.tags+xml"/>
  <Override PartName="/ppt/notesSlides/notesSlide12.xml" ContentType="application/vnd.openxmlformats-officedocument.presentationml.notesSlide+xml"/>
  <Override PartName="/ppt/tags/tag17.xml" ContentType="application/vnd.openxmlformats-officedocument.presentationml.tags+xml"/>
  <Override PartName="/ppt/notesSlides/notesSlide13.xml" ContentType="application/vnd.openxmlformats-officedocument.presentationml.notesSlide+xml"/>
  <Override PartName="/ppt/tags/tag18.xml" ContentType="application/vnd.openxmlformats-officedocument.presentationml.tags+xml"/>
  <Override PartName="/ppt/notesSlides/notesSlide14.xml" ContentType="application/vnd.openxmlformats-officedocument.presentationml.notesSlide+xml"/>
  <Override PartName="/ppt/tags/tag19.xml" ContentType="application/vnd.openxmlformats-officedocument.presentationml.tags+xml"/>
  <Override PartName="/ppt/notesSlides/notesSlide15.xml" ContentType="application/vnd.openxmlformats-officedocument.presentationml.notesSlide+xml"/>
  <Override PartName="/ppt/tags/tag20.xml" ContentType="application/vnd.openxmlformats-officedocument.presentationml.tags+xml"/>
  <Override PartName="/ppt/notesSlides/notesSlide16.xml" ContentType="application/vnd.openxmlformats-officedocument.presentationml.notesSlide+xml"/>
  <Override PartName="/ppt/tags/tag21.xml" ContentType="application/vnd.openxmlformats-officedocument.presentationml.tags+xml"/>
  <Override PartName="/ppt/notesSlides/notesSlide17.xml" ContentType="application/vnd.openxmlformats-officedocument.presentationml.notesSlide+xml"/>
  <Override PartName="/ppt/tags/tag22.xml" ContentType="application/vnd.openxmlformats-officedocument.presentationml.tags+xml"/>
  <Override PartName="/ppt/notesSlides/notesSlide18.xml" ContentType="application/vnd.openxmlformats-officedocument.presentationml.notesSlide+xml"/>
  <Override PartName="/ppt/tags/tag23.xml" ContentType="application/vnd.openxmlformats-officedocument.presentationml.tags+xml"/>
  <Override PartName="/ppt/notesSlides/notesSlide19.xml" ContentType="application/vnd.openxmlformats-officedocument.presentationml.notesSlid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notesSlides/notesSlide20.xml" ContentType="application/vnd.openxmlformats-officedocument.presentationml.notesSlide+xml"/>
  <Override PartName="/ppt/tags/tag26.xml" ContentType="application/vnd.openxmlformats-officedocument.presentationml.tags+xml"/>
  <Override PartName="/ppt/notesSlides/notesSlide21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notesSlides/notesSlide22.xml" ContentType="application/vnd.openxmlformats-officedocument.presentationml.notesSlide+xml"/>
  <Override PartName="/ppt/tags/tag31.xml" ContentType="application/vnd.openxmlformats-officedocument.presentationml.tags+xml"/>
  <Override PartName="/ppt/notesSlides/notesSlide23.xml" ContentType="application/vnd.openxmlformats-officedocument.presentationml.notesSlide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notesSlides/notesSlide24.xml" ContentType="application/vnd.openxmlformats-officedocument.presentationml.notesSlide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25.xml" ContentType="application/vnd.openxmlformats-officedocument.presentationml.notesSlide+xml"/>
  <Override PartName="/ppt/tags/tag39.xml" ContentType="application/vnd.openxmlformats-officedocument.presentationml.tags+xml"/>
  <Override PartName="/ppt/notesSlides/notesSlide26.xml" ContentType="application/vnd.openxmlformats-officedocument.presentationml.notesSlide+xml"/>
  <Override PartName="/ppt/tags/tag40.xml" ContentType="application/vnd.openxmlformats-officedocument.presentationml.tags+xml"/>
  <Override PartName="/ppt/notesSlides/notesSlide27.xml" ContentType="application/vnd.openxmlformats-officedocument.presentationml.notesSlide+xml"/>
  <Override PartName="/ppt/tags/tag41.xml" ContentType="application/vnd.openxmlformats-officedocument.presentationml.tags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719" r:id="rId1"/>
    <p:sldMasterId id="2147483729" r:id="rId2"/>
    <p:sldMasterId id="2147483758" r:id="rId3"/>
    <p:sldMasterId id="2147483788" r:id="rId4"/>
    <p:sldMasterId id="2147483790" r:id="rId5"/>
    <p:sldMasterId id="2147483804" r:id="rId6"/>
    <p:sldMasterId id="2147483837" r:id="rId7"/>
    <p:sldMasterId id="2147483850" r:id="rId8"/>
    <p:sldMasterId id="2147483853" r:id="rId9"/>
    <p:sldMasterId id="2147483865" r:id="rId10"/>
  </p:sldMasterIdLst>
  <p:notesMasterIdLst>
    <p:notesMasterId r:id="rId58"/>
  </p:notesMasterIdLst>
  <p:handoutMasterIdLst>
    <p:handoutMasterId r:id="rId59"/>
  </p:handoutMasterIdLst>
  <p:sldIdLst>
    <p:sldId id="1348" r:id="rId11"/>
    <p:sldId id="954" r:id="rId12"/>
    <p:sldId id="1328" r:id="rId13"/>
    <p:sldId id="1318" r:id="rId14"/>
    <p:sldId id="1330" r:id="rId15"/>
    <p:sldId id="1332" r:id="rId16"/>
    <p:sldId id="1347" r:id="rId17"/>
    <p:sldId id="1334" r:id="rId18"/>
    <p:sldId id="1331" r:id="rId19"/>
    <p:sldId id="1333" r:id="rId20"/>
    <p:sldId id="1335" r:id="rId21"/>
    <p:sldId id="1336" r:id="rId22"/>
    <p:sldId id="1341" r:id="rId23"/>
    <p:sldId id="1342" r:id="rId24"/>
    <p:sldId id="1343" r:id="rId25"/>
    <p:sldId id="1344" r:id="rId26"/>
    <p:sldId id="1339" r:id="rId27"/>
    <p:sldId id="1340" r:id="rId28"/>
    <p:sldId id="1338" r:id="rId29"/>
    <p:sldId id="1345" r:id="rId30"/>
    <p:sldId id="1337" r:id="rId31"/>
    <p:sldId id="1346" r:id="rId32"/>
    <p:sldId id="1329" r:id="rId33"/>
    <p:sldId id="1319" r:id="rId34"/>
    <p:sldId id="861" r:id="rId35"/>
    <p:sldId id="1300" r:id="rId36"/>
    <p:sldId id="1210" r:id="rId37"/>
    <p:sldId id="1211" r:id="rId38"/>
    <p:sldId id="1320" r:id="rId39"/>
    <p:sldId id="1321" r:id="rId40"/>
    <p:sldId id="1322" r:id="rId41"/>
    <p:sldId id="1303" r:id="rId42"/>
    <p:sldId id="928" r:id="rId43"/>
    <p:sldId id="1304" r:id="rId44"/>
    <p:sldId id="1305" r:id="rId45"/>
    <p:sldId id="929" r:id="rId46"/>
    <p:sldId id="919" r:id="rId47"/>
    <p:sldId id="924" r:id="rId48"/>
    <p:sldId id="935" r:id="rId49"/>
    <p:sldId id="1226" r:id="rId50"/>
    <p:sldId id="1228" r:id="rId51"/>
    <p:sldId id="1225" r:id="rId52"/>
    <p:sldId id="1229" r:id="rId53"/>
    <p:sldId id="868" r:id="rId54"/>
    <p:sldId id="2147483636" r:id="rId55"/>
    <p:sldId id="2147483642" r:id="rId56"/>
    <p:sldId id="2147483586" r:id="rId57"/>
  </p:sldIdLst>
  <p:sldSz cx="9906000" cy="6858000" type="A4"/>
  <p:notesSz cx="6797675" cy="9928225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1pPr>
    <a:lvl2pPr marL="436215" algn="l" rtl="0" fontAlgn="base" latinLnBrk="1">
      <a:spcBef>
        <a:spcPct val="0"/>
      </a:spcBef>
      <a:spcAft>
        <a:spcPct val="0"/>
      </a:spcAft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2pPr>
    <a:lvl3pPr marL="872431" algn="l" rtl="0" fontAlgn="base" latinLnBrk="1">
      <a:spcBef>
        <a:spcPct val="0"/>
      </a:spcBef>
      <a:spcAft>
        <a:spcPct val="0"/>
      </a:spcAft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3pPr>
    <a:lvl4pPr marL="1308643" algn="l" rtl="0" fontAlgn="base" latinLnBrk="1">
      <a:spcBef>
        <a:spcPct val="0"/>
      </a:spcBef>
      <a:spcAft>
        <a:spcPct val="0"/>
      </a:spcAft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4pPr>
    <a:lvl5pPr marL="1744861" algn="l" rtl="0" fontAlgn="base" latinLnBrk="1">
      <a:spcBef>
        <a:spcPct val="0"/>
      </a:spcBef>
      <a:spcAft>
        <a:spcPct val="0"/>
      </a:spcAft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5pPr>
    <a:lvl6pPr marL="2181074" algn="l" defTabSz="872431" rtl="0" eaLnBrk="1" latinLnBrk="1" hangingPunct="1"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6pPr>
    <a:lvl7pPr marL="2617290" algn="l" defTabSz="872431" rtl="0" eaLnBrk="1" latinLnBrk="1" hangingPunct="1"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7pPr>
    <a:lvl8pPr marL="3053504" algn="l" defTabSz="872431" rtl="0" eaLnBrk="1" latinLnBrk="1" hangingPunct="1"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8pPr>
    <a:lvl9pPr marL="3489719" algn="l" defTabSz="872431" rtl="0" eaLnBrk="1" latinLnBrk="1" hangingPunct="1">
      <a:defRPr kumimoji="1" sz="1300" b="1" kern="1200">
        <a:solidFill>
          <a:schemeClr val="tx1"/>
        </a:solidFill>
        <a:latin typeface="Arial" charset="0"/>
        <a:ea typeface="돋움" pitchFamily="50" charset="-127"/>
        <a:cs typeface="Arial" charset="0"/>
      </a:defRPr>
    </a:lvl9pPr>
  </p:defaultTextStyle>
  <p:extLst>
    <p:ext uri="{521415D9-36F7-43E2-AB2F-B90AF26B5E84}">
      <p14:sectionLst xmlns:p14="http://schemas.microsoft.com/office/powerpoint/2010/main">
        <p14:section name="(KOR) 개발 유형 및 등급 확정 심의 양식" id="{BCBDC747-E19E-4893-8EB0-47EE514E91CB}">
          <p14:sldIdLst>
            <p14:sldId id="1348"/>
            <p14:sldId id="954"/>
            <p14:sldId id="1328"/>
          </p14:sldIdLst>
        </p14:section>
        <p14:section name="유첨 1. 개발 변경점 상세 작성 내용" id="{51E510EA-0638-4075-96A0-E40D5B5E3FD8}">
          <p14:sldIdLst>
            <p14:sldId id="1318"/>
            <p14:sldId id="1330"/>
            <p14:sldId id="1332"/>
            <p14:sldId id="1347"/>
            <p14:sldId id="1334"/>
            <p14:sldId id="1331"/>
            <p14:sldId id="1333"/>
            <p14:sldId id="1335"/>
            <p14:sldId id="1336"/>
            <p14:sldId id="1341"/>
            <p14:sldId id="1342"/>
            <p14:sldId id="1343"/>
            <p14:sldId id="1344"/>
            <p14:sldId id="1339"/>
            <p14:sldId id="1340"/>
            <p14:sldId id="1338"/>
            <p14:sldId id="1345"/>
            <p14:sldId id="1337"/>
            <p14:sldId id="1346"/>
            <p14:sldId id="1329"/>
          </p14:sldIdLst>
        </p14:section>
        <p14:section name="유첨 2. 개발 예상 우려점 검토 결과" id="{2C49742C-FFED-4CA4-A10C-3E5BA09444EF}">
          <p14:sldIdLst>
            <p14:sldId id="1319"/>
            <p14:sldId id="861"/>
          </p14:sldIdLst>
        </p14:section>
        <p14:section name="유첨 3. 개발 PJT 역량 점검 결과" id="{0F7B3E55-D8E3-4F1E-A959-EB2C586AF0AC}">
          <p14:sldIdLst>
            <p14:sldId id="1300"/>
            <p14:sldId id="1210"/>
            <p14:sldId id="1211"/>
          </p14:sldIdLst>
        </p14:section>
        <p14:section name="유첨 4. 단계별 실행 Activity 조정 결과" id="{069152B9-3B26-4C3F-B46B-3FD03518D394}">
          <p14:sldIdLst>
            <p14:sldId id="1320"/>
          </p14:sldIdLst>
        </p14:section>
        <p14:section name="유첨 5. 파생 모델 개발 계통도" id="{DCC6750B-75D3-42C0-A393-3D79796BF3B6}">
          <p14:sldIdLst>
            <p14:sldId id="1321"/>
          </p14:sldIdLst>
        </p14:section>
        <p14:section name="유첨 6. Field Worst 불량 개선항목 (B↑)" id="{011CC894-C0E2-4520-AD85-0DD4869BDA01}">
          <p14:sldIdLst>
            <p14:sldId id="1322"/>
          </p14:sldIdLst>
        </p14:section>
        <p14:section name="Activity Check list(NXI) - Ca↑" id="{B2C13E4A-7C4C-44B5-B3AC-FBDC22A0052B}">
          <p14:sldIdLst>
            <p14:sldId id="1303"/>
            <p14:sldId id="928"/>
            <p14:sldId id="1304"/>
            <p14:sldId id="1305"/>
            <p14:sldId id="929"/>
          </p14:sldIdLst>
        </p14:section>
        <p14:section name="유첨.개발유형 및 등급확정 심의 기준" id="{29FB7E96-A6E3-43D1-8178-AAB1D4CF0518}">
          <p14:sldIdLst>
            <p14:sldId id="919"/>
            <p14:sldId id="924"/>
          </p14:sldIdLst>
        </p14:section>
        <p14:section name="개발 Event 결재 기준" id="{96F71265-F294-4297-A595-86A8DAD3C4C5}">
          <p14:sldIdLst>
            <p14:sldId id="935"/>
          </p14:sldIdLst>
        </p14:section>
        <p14:section name="등급분류기준-NXI" id="{F1AE8F06-B6C3-4016-BDAA-44FB84B3E69E}">
          <p14:sldIdLst>
            <p14:sldId id="1226"/>
            <p14:sldId id="1228"/>
            <p14:sldId id="1225"/>
            <p14:sldId id="1229"/>
          </p14:sldIdLst>
        </p14:section>
        <p14:section name="유첨.R&amp;D PMS 일정 등록 품의 양식" id="{F4F103CA-DBBB-48D8-99D2-0C629AF8A68A}">
          <p14:sldIdLst>
            <p14:sldId id="868"/>
            <p14:sldId id="2147483636"/>
            <p14:sldId id="2147483642"/>
            <p14:sldId id="2147483586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709" userDrawn="1">
          <p15:clr>
            <a:srgbClr val="A4A3A4"/>
          </p15:clr>
        </p15:guide>
        <p15:guide id="2" orient="horz" pos="2341" userDrawn="1">
          <p15:clr>
            <a:srgbClr val="A4A3A4"/>
          </p15:clr>
        </p15:guide>
        <p15:guide id="3" orient="horz" pos="1117" userDrawn="1">
          <p15:clr>
            <a:srgbClr val="A4A3A4"/>
          </p15:clr>
        </p15:guide>
        <p15:guide id="4" pos="483" userDrawn="1">
          <p15:clr>
            <a:srgbClr val="A4A3A4"/>
          </p15:clr>
        </p15:guide>
        <p15:guide id="5" pos="5877" userDrawn="1">
          <p15:clr>
            <a:srgbClr val="A4A3A4"/>
          </p15:clr>
        </p15:guide>
        <p15:guide id="6" pos="2702" userDrawn="1">
          <p15:clr>
            <a:srgbClr val="A4A3A4"/>
          </p15:clr>
        </p15:guide>
        <p15:guide id="7" pos="791" userDrawn="1">
          <p15:clr>
            <a:srgbClr val="A4A3A4"/>
          </p15:clr>
        </p15:guide>
        <p15:guide id="8" pos="1090" userDrawn="1">
          <p15:clr>
            <a:srgbClr val="A4A3A4"/>
          </p15:clr>
        </p15:guide>
        <p15:guide id="9" pos="2810" userDrawn="1">
          <p15:clr>
            <a:srgbClr val="A4A3A4"/>
          </p15:clr>
        </p15:guide>
        <p15:guide id="10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6600"/>
    <a:srgbClr val="00FF00"/>
    <a:srgbClr val="FF0000"/>
    <a:srgbClr val="CC66FF"/>
    <a:srgbClr val="3333FF"/>
    <a:srgbClr val="FFFFFF"/>
    <a:srgbClr val="FFFF99"/>
    <a:srgbClr val="00CC00"/>
    <a:srgbClr val="CC9900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465" autoAdjust="0"/>
    <p:restoredTop sz="96242" autoAdjust="0"/>
  </p:normalViewPr>
  <p:slideViewPr>
    <p:cSldViewPr>
      <p:cViewPr varScale="1">
        <p:scale>
          <a:sx n="110" d="100"/>
          <a:sy n="110" d="100"/>
        </p:scale>
        <p:origin x="696" y="114"/>
      </p:cViewPr>
      <p:guideLst>
        <p:guide orient="horz" pos="709"/>
        <p:guide orient="horz" pos="2341"/>
        <p:guide orient="horz" pos="1117"/>
        <p:guide pos="483"/>
        <p:guide pos="5877"/>
        <p:guide pos="2702"/>
        <p:guide pos="791"/>
        <p:guide pos="1090"/>
        <p:guide pos="2810"/>
        <p:guide pos="3120"/>
      </p:guideLst>
    </p:cSldViewPr>
  </p:slideViewPr>
  <p:outlineViewPr>
    <p:cViewPr>
      <p:scale>
        <a:sx n="33" d="100"/>
        <a:sy n="33" d="100"/>
      </p:scale>
      <p:origin x="36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80" d="100"/>
          <a:sy n="80" d="100"/>
        </p:scale>
        <p:origin x="-4032" y="-102"/>
      </p:cViewPr>
      <p:guideLst>
        <p:guide orient="horz" pos="3127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9" Type="http://schemas.openxmlformats.org/officeDocument/2006/relationships/slide" Target="slides/slide29.xml"/><Relationship Id="rId21" Type="http://schemas.openxmlformats.org/officeDocument/2006/relationships/slide" Target="slides/slide11.xml"/><Relationship Id="rId34" Type="http://schemas.openxmlformats.org/officeDocument/2006/relationships/slide" Target="slides/slide24.xml"/><Relationship Id="rId42" Type="http://schemas.openxmlformats.org/officeDocument/2006/relationships/slide" Target="slides/slide32.xml"/><Relationship Id="rId47" Type="http://schemas.openxmlformats.org/officeDocument/2006/relationships/slide" Target="slides/slide37.xml"/><Relationship Id="rId50" Type="http://schemas.openxmlformats.org/officeDocument/2006/relationships/slide" Target="slides/slide40.xml"/><Relationship Id="rId55" Type="http://schemas.openxmlformats.org/officeDocument/2006/relationships/slide" Target="slides/slide45.xml"/><Relationship Id="rId63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9" Type="http://schemas.openxmlformats.org/officeDocument/2006/relationships/slide" Target="slides/slide19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slide" Target="slides/slide22.xml"/><Relationship Id="rId37" Type="http://schemas.openxmlformats.org/officeDocument/2006/relationships/slide" Target="slides/slide27.xml"/><Relationship Id="rId40" Type="http://schemas.openxmlformats.org/officeDocument/2006/relationships/slide" Target="slides/slide30.xml"/><Relationship Id="rId45" Type="http://schemas.openxmlformats.org/officeDocument/2006/relationships/slide" Target="slides/slide35.xml"/><Relationship Id="rId53" Type="http://schemas.openxmlformats.org/officeDocument/2006/relationships/slide" Target="slides/slide43.xml"/><Relationship Id="rId58" Type="http://schemas.openxmlformats.org/officeDocument/2006/relationships/notesMaster" Target="notesMasters/notesMaster1.xml"/><Relationship Id="rId5" Type="http://schemas.openxmlformats.org/officeDocument/2006/relationships/slideMaster" Target="slideMasters/slideMaster5.xml"/><Relationship Id="rId61" Type="http://schemas.openxmlformats.org/officeDocument/2006/relationships/viewProps" Target="viewProps.xml"/><Relationship Id="rId19" Type="http://schemas.openxmlformats.org/officeDocument/2006/relationships/slide" Target="slides/slide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slide" Target="slides/slide25.xml"/><Relationship Id="rId43" Type="http://schemas.openxmlformats.org/officeDocument/2006/relationships/slide" Target="slides/slide33.xml"/><Relationship Id="rId48" Type="http://schemas.openxmlformats.org/officeDocument/2006/relationships/slide" Target="slides/slide38.xml"/><Relationship Id="rId56" Type="http://schemas.openxmlformats.org/officeDocument/2006/relationships/slide" Target="slides/slide46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slide" Target="slides/slide23.xml"/><Relationship Id="rId38" Type="http://schemas.openxmlformats.org/officeDocument/2006/relationships/slide" Target="slides/slide28.xml"/><Relationship Id="rId46" Type="http://schemas.openxmlformats.org/officeDocument/2006/relationships/slide" Target="slides/slide36.xml"/><Relationship Id="rId59" Type="http://schemas.openxmlformats.org/officeDocument/2006/relationships/handoutMaster" Target="handoutMasters/handoutMaster1.xml"/><Relationship Id="rId20" Type="http://schemas.openxmlformats.org/officeDocument/2006/relationships/slide" Target="slides/slide10.xml"/><Relationship Id="rId41" Type="http://schemas.openxmlformats.org/officeDocument/2006/relationships/slide" Target="slides/slide31.xml"/><Relationship Id="rId54" Type="http://schemas.openxmlformats.org/officeDocument/2006/relationships/slide" Target="slides/slide44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slide" Target="slides/slide26.xml"/><Relationship Id="rId49" Type="http://schemas.openxmlformats.org/officeDocument/2006/relationships/slide" Target="slides/slide39.xml"/><Relationship Id="rId57" Type="http://schemas.openxmlformats.org/officeDocument/2006/relationships/slide" Target="slides/slide47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21.xml"/><Relationship Id="rId44" Type="http://schemas.openxmlformats.org/officeDocument/2006/relationships/slide" Target="slides/slide34.xml"/><Relationship Id="rId52" Type="http://schemas.openxmlformats.org/officeDocument/2006/relationships/slide" Target="slides/slide42.xml"/><Relationship Id="rId60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.xlsx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홈파티 O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7A4D-46F2-BB99-DA716872BB2F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기본기능</c:v>
                </c:pt>
                <c:pt idx="1">
                  <c:v>Steam (+$100)</c:v>
                </c:pt>
                <c:pt idx="2">
                  <c:v>MWO (+$100)</c:v>
                </c:pt>
                <c:pt idx="3">
                  <c:v>Air-fryer (+$100)</c:v>
                </c:pt>
              </c:strCache>
            </c:strRef>
          </c:cat>
          <c:val>
            <c:numRef>
              <c:f>Sheet1!$B$2:$B$5</c:f>
              <c:numCache>
                <c:formatCode>0_);[Red]\(0\)</c:formatCode>
                <c:ptCount val="4"/>
                <c:pt idx="0">
                  <c:v>8</c:v>
                </c:pt>
                <c:pt idx="1">
                  <c:v>40</c:v>
                </c:pt>
                <c:pt idx="2">
                  <c:v>48</c:v>
                </c:pt>
                <c:pt idx="3">
                  <c:v>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4D-46F2-BB99-DA716872BB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5"/>
        <c:axId val="495150080"/>
        <c:axId val="495145768"/>
      </c:barChart>
      <c:catAx>
        <c:axId val="49515008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 sz="700"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pPr>
            <a:endParaRPr lang="ko-KR"/>
          </a:p>
        </c:txPr>
        <c:crossAx val="495145768"/>
        <c:crosses val="autoZero"/>
        <c:auto val="1"/>
        <c:lblAlgn val="ctr"/>
        <c:lblOffset val="100"/>
        <c:noMultiLvlLbl val="0"/>
      </c:catAx>
      <c:valAx>
        <c:axId val="495145768"/>
        <c:scaling>
          <c:orientation val="minMax"/>
          <c:min val="0"/>
        </c:scaling>
        <c:delete val="1"/>
        <c:axPos val="b"/>
        <c:numFmt formatCode="0_);[Red]\(0\)" sourceLinked="1"/>
        <c:majorTickMark val="out"/>
        <c:minorTickMark val="none"/>
        <c:tickLblPos val="nextTo"/>
        <c:crossAx val="495150080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50"/>
      </a:pPr>
      <a:endParaRPr lang="ko-KR"/>
    </a:p>
  </c:txPr>
  <c:externalData r:id="rId2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6DC3384-588B-4981-8D7B-59559094B3D8}" type="datetimeFigureOut">
              <a:rPr lang="ko-KR" altLang="en-US" smtClean="0"/>
              <a:pPr/>
              <a:t>2026-03-20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A3E5EDC-71CF-4B18-A9F2-6FD8A6481F8E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2695964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FontTx/>
              <a:buNone/>
              <a:defRPr sz="1200" b="0">
                <a:latin typeface="굴림" pitchFamily="50" charset="-127"/>
                <a:ea typeface="굴림" pitchFamily="50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1741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8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sz="1200" b="0">
                <a:latin typeface="굴림" pitchFamily="50" charset="-127"/>
                <a:ea typeface="굴림" pitchFamily="50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1638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11200" y="744538"/>
            <a:ext cx="5376863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0" y="4716463"/>
            <a:ext cx="5438775" cy="4467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/>
              <a:t>마스터 텍스트 스타일을 편집합니다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1741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FontTx/>
              <a:buNone/>
              <a:defRPr sz="1200" b="0">
                <a:latin typeface="굴림" pitchFamily="50" charset="-127"/>
                <a:ea typeface="굴림" pitchFamily="50" charset="-127"/>
                <a:cs typeface="+mn-cs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1741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8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sz="1200" b="0">
                <a:latin typeface="굴림" pitchFamily="50" charset="-127"/>
                <a:ea typeface="굴림" pitchFamily="50" charset="-127"/>
                <a:cs typeface="+mn-cs"/>
              </a:defRPr>
            </a:lvl1pPr>
          </a:lstStyle>
          <a:p>
            <a:pPr>
              <a:defRPr/>
            </a:pPr>
            <a:fld id="{AD60512F-43DA-4FEC-9FA7-52BAE0DD74FC}" type="slidenum">
              <a:rPr lang="en-US" altLang="ko-KR"/>
              <a:pPr>
                <a:defRPr/>
              </a:pPr>
              <a:t>‹#›</a:t>
            </a:fld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91117401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kumimoji="1" sz="11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36215" algn="l" rtl="0" eaLnBrk="0" fontAlgn="base" latinLnBrk="1" hangingPunct="0">
      <a:spcBef>
        <a:spcPct val="30000"/>
      </a:spcBef>
      <a:spcAft>
        <a:spcPct val="0"/>
      </a:spcAft>
      <a:defRPr kumimoji="1" sz="11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872431" algn="l" rtl="0" eaLnBrk="0" fontAlgn="base" latinLnBrk="1" hangingPunct="0">
      <a:spcBef>
        <a:spcPct val="30000"/>
      </a:spcBef>
      <a:spcAft>
        <a:spcPct val="0"/>
      </a:spcAft>
      <a:defRPr kumimoji="1" sz="11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08643" algn="l" rtl="0" eaLnBrk="0" fontAlgn="base" latinLnBrk="1" hangingPunct="0">
      <a:spcBef>
        <a:spcPct val="30000"/>
      </a:spcBef>
      <a:spcAft>
        <a:spcPct val="0"/>
      </a:spcAft>
      <a:defRPr kumimoji="1" sz="11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744861" algn="l" rtl="0" eaLnBrk="0" fontAlgn="base" latinLnBrk="1" hangingPunct="0">
      <a:spcBef>
        <a:spcPct val="30000"/>
      </a:spcBef>
      <a:spcAft>
        <a:spcPct val="0"/>
      </a:spcAft>
      <a:defRPr kumimoji="1" sz="11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181074" algn="l" defTabSz="872431" rtl="0" eaLnBrk="1" latinLnBrk="1" hangingPunct="1">
      <a:defRPr sz="1100" kern="1200">
        <a:solidFill>
          <a:schemeClr val="tx1"/>
        </a:solidFill>
        <a:latin typeface="+mn-lt"/>
        <a:ea typeface="+mn-ea"/>
        <a:cs typeface="+mn-cs"/>
      </a:defRPr>
    </a:lvl6pPr>
    <a:lvl7pPr marL="2617290" algn="l" defTabSz="872431" rtl="0" eaLnBrk="1" latinLnBrk="1" hangingPunct="1">
      <a:defRPr sz="1100" kern="1200">
        <a:solidFill>
          <a:schemeClr val="tx1"/>
        </a:solidFill>
        <a:latin typeface="+mn-lt"/>
        <a:ea typeface="+mn-ea"/>
        <a:cs typeface="+mn-cs"/>
      </a:defRPr>
    </a:lvl7pPr>
    <a:lvl8pPr marL="3053504" algn="l" defTabSz="872431" rtl="0" eaLnBrk="1" latinLnBrk="1" hangingPunct="1">
      <a:defRPr sz="1100" kern="1200">
        <a:solidFill>
          <a:schemeClr val="tx1"/>
        </a:solidFill>
        <a:latin typeface="+mn-lt"/>
        <a:ea typeface="+mn-ea"/>
        <a:cs typeface="+mn-cs"/>
      </a:defRPr>
    </a:lvl8pPr>
    <a:lvl9pPr marL="3489719" algn="l" defTabSz="872431" rtl="0" eaLnBrk="1" latinLnBrk="1" hangingPunct="1">
      <a:defRPr sz="11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768738-E3FB-CDFE-B244-EBCF54C6D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3B7141-5231-7B8D-1AFF-7A7BC13220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1A90BE-CB6D-4C42-F009-0DF6A68F87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F07E9AE-63E2-AEE0-B716-FBD29589998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070156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ABE3F-A89F-8FB1-E9CA-59417DA2BC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3744E9-AB91-4772-BA42-3E1A7D7184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059215-5216-AC0A-3242-0BA29A338A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302698-22D1-1F18-4899-CD01E22D2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885136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1E7729-9681-2090-3ADD-1ED8F5D7C0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AADD4D-3DC2-9196-C64F-9673F21814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AE98DF5-43F1-C529-D376-E6EF86C262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302247E-CC59-FA04-8B76-B4F9AC09F3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617758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61C555-4A71-A775-1FC0-50FF8CD1AB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B3F5EEA-BA17-7ADF-881B-6CC1295353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1F8974E-CF86-BA25-B536-C440936E68B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3A8E8FE-181A-98C5-9DF1-933DE954AA8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171086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B4953D-F50B-E308-001B-A3B8AB1472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011E11E-8C83-705C-B977-2392E42A9F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3B1DDE-7529-C7A5-2D0D-FFC98FD76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DF31B3-05BA-5EBA-D364-F45ED289FE0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260140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75DBBF-B598-0F1B-8E56-3EF5527313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2CFFF2-7AA2-9486-960D-C5A56C3139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864B4D8-5137-4E22-4B2A-C673721390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AD1FD8-7C71-D28F-34BF-6E4D05F9C0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82549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4D582-8D61-4369-9C4F-D3C00AC63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ACAC2C-CAEA-DECF-27D1-ACF47ECCFC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DC79191-BCD3-B7F3-1B21-0D66114FCB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5530E7E-1044-4FE0-67EC-595594188C1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28420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8CE586-3F8F-19DD-31E8-5092C210E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5010DB8-0D61-3D12-9A4B-1F83463BC40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5AA655-62FF-7919-3259-92E6E01D32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1868282-D83F-3ED6-D105-3FE0CF6F419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815406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B72F0A-2DE3-7CA3-1411-9C429BCF8F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2806A72-5514-7C00-F523-257C12270C9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2EEEECA-7966-DBB0-549B-FC53C7A946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BE8379F-32DE-CD70-B81D-EA18389882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248932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DA85A9-CAD0-90E1-1C47-048AB90A90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F0DB1B-C8B5-BD3C-BED1-5A546754DC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ED6B266-2C14-8A12-1721-3C86449647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F3CEDC5-A1D6-BF43-EBB3-FB692FB4CD0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47913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74070B-6BC8-51D4-82DB-AF14A9BA12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82F711-78F6-DD80-F68A-9D6245DAF7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0B848A-6EE1-7C11-727A-47F7862C93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F6220FA-FE03-1D1D-E4BB-0DED7CBF4D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2555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CA7ED4-D58A-1234-B346-FA0F2F94A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1AB824A-BECF-2FEB-CF09-FB9D13AAF9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4952FF3-C1EB-89D2-CECE-6FAE42348D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90975EE-D6C9-B4E2-4CA1-BB3FDA5A731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143541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E5A786-F948-D88F-D78A-0BBBFAF0E5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C605A15-AF14-CFF9-6F5C-73E6101787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F7A7403-551C-C7C4-D6BA-3FD14C87FB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6FF575-FD47-CC34-9091-C4794B83FE1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01426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DD629D-548A-CD7D-95A5-8B65CDBD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EA0644-A95C-35B9-52EE-E97F8314CF9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8912232-6DAF-FCF6-CCD2-B729E99D8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68017E-5A2C-13AB-4A4A-4E4899EDE5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547519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D7E3CD-94CC-47D7-0A06-E378A38D07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A97723B-0D5A-5B14-BBAA-1C4050332C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E217EC-8BED-EA02-FF05-DF20C4D416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7DB5E0-5165-B090-B308-E2B67336221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64805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3E5887-D069-B549-2702-3C12C7C8AA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836C96-8B41-4109-1101-622AD32D04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13B76F7-F06C-4CC7-570C-D8B2926CC0F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BAAE398-2444-42C6-6809-EE8744612D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090747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CD32C1-1305-DB61-8B82-8B06801DCD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B62DC9-BBD8-D14A-CB49-8CC30208F0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521EC2-2F9A-607D-0665-5EB0DB3D03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1390E0-CB40-6269-E04B-FB001191C7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664060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A1F90-EB66-7A30-D297-D21ADC258D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68CC52-695A-D7A5-87ED-4CD7B74F09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91FCA57-1032-21B4-6C49-C6E7AC1ED6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4A133E7-AE33-8400-D8FD-C24254C9FC2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937902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3A5AD-B244-44BA-5066-598741ADCA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FE899C8-4DF0-A686-0F38-F96A76C443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B27BF57-7ABE-3403-87CC-FE9B461C36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35965AF-71B5-C00A-77FE-7A7B4C6698E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356593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BB87D1-A8DB-8921-771F-0A44D766FA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98B5AE-B61D-15BF-849E-50B4D0F601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E84CB17-120A-42C7-DF7C-A517F0AA2B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F3980C-2E91-409A-6DF5-ACB9243C07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155213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6B27CA-ADAD-8995-F1B1-BB03B741DF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7A94151-4F73-5E3F-C6FC-7D1805C494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9D9293A-1831-9F3D-7F47-12146C13D8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DB8ACC7-9B8E-7910-41BE-17E07CE6BE8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68077-94B1-4921-86E9-D47F8D7E3E40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rPr>
              <a:pPr marL="0" marR="0" lvl="0" indent="0" algn="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328826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A68077-94B1-4921-86E9-D47F8D7E3E40}" type="slidenum">
              <a:rPr lang="ko-KR" altLang="en-US" smtClean="0">
                <a:solidFill>
                  <a:prstClr val="black"/>
                </a:solidFill>
              </a:rPr>
              <a:pPr/>
              <a:t>24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801360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B4540C-15D5-E549-D2FE-C81C965431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9AFE993-E42D-654B-EE89-8ECCEFEC4D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7EB9FD-0137-7A27-331B-BCC46FC556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F760FD8-4A15-2F0F-7AAC-AFBC1E3DE6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A68077-94B1-4921-86E9-D47F8D7E3E40}" type="slidenum">
              <a:rPr lang="ko-KR" altLang="en-US" smtClean="0">
                <a:solidFill>
                  <a:prstClr val="black"/>
                </a:solidFill>
              </a:rPr>
              <a:pPr/>
              <a:t>25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630723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FA02D7-EB53-207C-2F5C-9D35D7013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7AA4DD6-BF06-4B73-6476-61BF6051FE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711200" y="744538"/>
            <a:ext cx="5375275" cy="3722687"/>
          </a:xfrm>
        </p:spPr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495382E-5E6A-9FBE-3896-9B876E1AD6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70CC36-4F2B-7F7B-8552-BA4B19763C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A68077-94B1-4921-86E9-D47F8D7E3E40}" type="slidenum">
              <a:rPr lang="ko-KR" altLang="en-US" smtClean="0">
                <a:solidFill>
                  <a:prstClr val="black"/>
                </a:solidFill>
              </a:rPr>
              <a:pPr/>
              <a:t>28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917689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99DAC6E-574E-477A-8C52-65A1BC9FB650}" type="slidenum">
              <a:rPr lang="en-US" altLang="ko-KR" smtClean="0">
                <a:solidFill>
                  <a:srgbClr val="000000"/>
                </a:solidFill>
              </a:rPr>
              <a:pPr/>
              <a:t>39</a:t>
            </a:fld>
            <a:endParaRPr lang="en-US" altLang="ko-KR">
              <a:solidFill>
                <a:srgbClr val="000000"/>
              </a:solidFill>
            </a:endParaRPr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1838" y="769938"/>
            <a:ext cx="5335587" cy="3694112"/>
          </a:xfrm>
          <a:ln w="12700" cap="flat">
            <a:solidFill>
              <a:schemeClr val="tx1"/>
            </a:solidFill>
          </a:ln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718050"/>
            <a:ext cx="4987925" cy="4181475"/>
          </a:xfrm>
          <a:noFill/>
          <a:ln/>
        </p:spPr>
        <p:txBody>
          <a:bodyPr lIns="92501" tIns="46251" rIns="92501" bIns="46251"/>
          <a:lstStyle/>
          <a:p>
            <a:pPr eaLnBrk="1" hangingPunct="1"/>
            <a:endParaRPr lang="ko-KR" altLang="ko-KR"/>
          </a:p>
        </p:txBody>
      </p:sp>
      <p:sp>
        <p:nvSpPr>
          <p:cNvPr id="128005" name="Rectangle 4"/>
          <p:cNvSpPr>
            <a:spLocks noChangeArrowheads="1"/>
          </p:cNvSpPr>
          <p:nvPr/>
        </p:nvSpPr>
        <p:spPr bwMode="auto">
          <a:xfrm>
            <a:off x="-106363" y="8081963"/>
            <a:ext cx="184151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501" tIns="46251" rIns="92501" bIns="46251">
            <a:spAutoFit/>
          </a:bodyPr>
          <a:lstStyle/>
          <a:p>
            <a:pPr defTabSz="917575" eaLnBrk="0" latinLnBrk="0" hangingPunct="0"/>
            <a:endParaRPr lang="ko-KR" altLang="ko-KR" sz="2400">
              <a:solidFill>
                <a:srgbClr val="000000"/>
              </a:solidFill>
              <a:latin typeface="Times New Roman" pitchFamily="18" charset="0"/>
              <a:ea typeface="굴림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8777965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99DAC6E-574E-477A-8C52-65A1BC9FB650}" type="slidenum">
              <a:rPr lang="en-US" altLang="ko-KR" smtClean="0">
                <a:solidFill>
                  <a:srgbClr val="000000"/>
                </a:solidFill>
              </a:rPr>
              <a:pPr/>
              <a:t>40</a:t>
            </a:fld>
            <a:endParaRPr lang="en-US" altLang="ko-KR">
              <a:solidFill>
                <a:srgbClr val="000000"/>
              </a:solidFill>
            </a:endParaRPr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1838" y="769938"/>
            <a:ext cx="5335587" cy="3694112"/>
          </a:xfrm>
          <a:ln w="12700" cap="flat">
            <a:solidFill>
              <a:schemeClr val="tx1"/>
            </a:solidFill>
          </a:ln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718050"/>
            <a:ext cx="4987925" cy="4181475"/>
          </a:xfrm>
          <a:noFill/>
          <a:ln/>
        </p:spPr>
        <p:txBody>
          <a:bodyPr lIns="92501" tIns="46251" rIns="92501" bIns="46251"/>
          <a:lstStyle/>
          <a:p>
            <a:pPr eaLnBrk="1" hangingPunct="1"/>
            <a:endParaRPr lang="ko-KR" altLang="ko-KR"/>
          </a:p>
        </p:txBody>
      </p:sp>
      <p:sp>
        <p:nvSpPr>
          <p:cNvPr id="128005" name="Rectangle 4"/>
          <p:cNvSpPr>
            <a:spLocks noChangeArrowheads="1"/>
          </p:cNvSpPr>
          <p:nvPr/>
        </p:nvSpPr>
        <p:spPr bwMode="auto">
          <a:xfrm>
            <a:off x="-106363" y="8081963"/>
            <a:ext cx="184151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501" tIns="46251" rIns="92501" bIns="46251">
            <a:spAutoFit/>
          </a:bodyPr>
          <a:lstStyle/>
          <a:p>
            <a:pPr defTabSz="917575" eaLnBrk="0" latinLnBrk="0" hangingPunct="0"/>
            <a:endParaRPr lang="ko-KR" altLang="ko-KR" sz="2400">
              <a:solidFill>
                <a:srgbClr val="000000"/>
              </a:solidFill>
              <a:latin typeface="Times New Roman" pitchFamily="18" charset="0"/>
              <a:ea typeface="굴림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159491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99DAC6E-574E-477A-8C52-65A1BC9FB650}" type="slidenum">
              <a:rPr lang="en-US" altLang="ko-KR" smtClean="0">
                <a:solidFill>
                  <a:srgbClr val="000000"/>
                </a:solidFill>
              </a:rPr>
              <a:pPr/>
              <a:t>41</a:t>
            </a:fld>
            <a:endParaRPr lang="en-US" altLang="ko-KR">
              <a:solidFill>
                <a:srgbClr val="000000"/>
              </a:solidFill>
            </a:endParaRPr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1838" y="769938"/>
            <a:ext cx="5335587" cy="3694112"/>
          </a:xfrm>
          <a:ln w="12700" cap="flat">
            <a:solidFill>
              <a:schemeClr val="tx1"/>
            </a:solidFill>
          </a:ln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718050"/>
            <a:ext cx="4987925" cy="4181475"/>
          </a:xfrm>
          <a:noFill/>
          <a:ln/>
        </p:spPr>
        <p:txBody>
          <a:bodyPr lIns="92501" tIns="46251" rIns="92501" bIns="46251"/>
          <a:lstStyle/>
          <a:p>
            <a:pPr eaLnBrk="1" hangingPunct="1"/>
            <a:endParaRPr lang="ko-KR" altLang="ko-KR"/>
          </a:p>
        </p:txBody>
      </p:sp>
      <p:sp>
        <p:nvSpPr>
          <p:cNvPr id="128005" name="Rectangle 4"/>
          <p:cNvSpPr>
            <a:spLocks noChangeArrowheads="1"/>
          </p:cNvSpPr>
          <p:nvPr/>
        </p:nvSpPr>
        <p:spPr bwMode="auto">
          <a:xfrm>
            <a:off x="-106363" y="8081963"/>
            <a:ext cx="184151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501" tIns="46251" rIns="92501" bIns="46251">
            <a:spAutoFit/>
          </a:bodyPr>
          <a:lstStyle/>
          <a:p>
            <a:pPr defTabSz="917575" eaLnBrk="0" latinLnBrk="0" hangingPunct="0"/>
            <a:endParaRPr lang="ko-KR" altLang="ko-KR" sz="2400">
              <a:solidFill>
                <a:srgbClr val="000000"/>
              </a:solidFill>
              <a:latin typeface="Times New Roman" pitchFamily="18" charset="0"/>
              <a:ea typeface="굴림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9740392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99DAC6E-574E-477A-8C52-65A1BC9FB650}" type="slidenum">
              <a:rPr lang="en-US" altLang="ko-KR" smtClean="0">
                <a:solidFill>
                  <a:srgbClr val="000000"/>
                </a:solidFill>
              </a:rPr>
              <a:pPr/>
              <a:t>42</a:t>
            </a:fld>
            <a:endParaRPr lang="en-US" altLang="ko-KR">
              <a:solidFill>
                <a:srgbClr val="000000"/>
              </a:solidFill>
            </a:endParaRPr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1838" y="769938"/>
            <a:ext cx="5335587" cy="3694112"/>
          </a:xfrm>
          <a:ln w="12700" cap="flat">
            <a:solidFill>
              <a:schemeClr val="tx1"/>
            </a:solidFill>
          </a:ln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718050"/>
            <a:ext cx="4987925" cy="4181475"/>
          </a:xfrm>
          <a:noFill/>
          <a:ln/>
        </p:spPr>
        <p:txBody>
          <a:bodyPr lIns="92501" tIns="46251" rIns="92501" bIns="46251"/>
          <a:lstStyle/>
          <a:p>
            <a:pPr eaLnBrk="1" hangingPunct="1"/>
            <a:endParaRPr lang="ko-KR" altLang="ko-KR"/>
          </a:p>
        </p:txBody>
      </p:sp>
      <p:sp>
        <p:nvSpPr>
          <p:cNvPr id="128005" name="Rectangle 4"/>
          <p:cNvSpPr>
            <a:spLocks noChangeArrowheads="1"/>
          </p:cNvSpPr>
          <p:nvPr/>
        </p:nvSpPr>
        <p:spPr bwMode="auto">
          <a:xfrm>
            <a:off x="-106363" y="8081963"/>
            <a:ext cx="184151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501" tIns="46251" rIns="92501" bIns="46251">
            <a:spAutoFit/>
          </a:bodyPr>
          <a:lstStyle/>
          <a:p>
            <a:pPr defTabSz="917575" eaLnBrk="0" latinLnBrk="0" hangingPunct="0"/>
            <a:endParaRPr lang="ko-KR" altLang="ko-KR" sz="2400">
              <a:solidFill>
                <a:srgbClr val="000000"/>
              </a:solidFill>
              <a:latin typeface="Times New Roman" pitchFamily="18" charset="0"/>
              <a:ea typeface="굴림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2702793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32ED462-EAB3-46DF-AA63-B2C9B40D882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933990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png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6.png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495301" y="6245224"/>
            <a:ext cx="2312988" cy="477838"/>
          </a:xfrm>
          <a:prstGeom prst="rect">
            <a:avLst/>
          </a:prstGeom>
          <a:ln/>
        </p:spPr>
        <p:txBody>
          <a:bodyPr lIns="87242" tIns="43621" rIns="87242" bIns="43621"/>
          <a:lstStyle>
            <a:lvl1pPr>
              <a:defRPr/>
            </a:lvl1pPr>
          </a:lstStyle>
          <a:p>
            <a:pPr>
              <a:defRPr/>
            </a:pPr>
            <a:endParaRPr lang="en-US" altLang="ko-KR" dirty="0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384551" y="6245224"/>
            <a:ext cx="3136900" cy="477838"/>
          </a:xfrm>
          <a:prstGeom prst="rect">
            <a:avLst/>
          </a:prstGeom>
          <a:ln/>
        </p:spPr>
        <p:txBody>
          <a:bodyPr lIns="87242" tIns="43621" rIns="87242" bIns="43621"/>
          <a:lstStyle>
            <a:lvl1pPr>
              <a:defRPr/>
            </a:lvl1pPr>
          </a:lstStyle>
          <a:p>
            <a:pPr>
              <a:defRPr/>
            </a:pPr>
            <a:endParaRPr lang="en-US" altLang="ko-KR" dirty="0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7717" y="6245224"/>
            <a:ext cx="2312987" cy="477838"/>
          </a:xfrm>
          <a:prstGeom prst="rect">
            <a:avLst/>
          </a:prstGeom>
          <a:ln/>
        </p:spPr>
        <p:txBody>
          <a:bodyPr lIns="87242" tIns="43621" rIns="87242" bIns="43621"/>
          <a:lstStyle>
            <a:lvl1pPr>
              <a:defRPr/>
            </a:lvl1pPr>
          </a:lstStyle>
          <a:p>
            <a:pPr>
              <a:defRPr/>
            </a:pPr>
            <a:fld id="{F6FA7202-355A-4F7A-921C-8D880F39668C}" type="slidenum">
              <a:rPr lang="en-US" altLang="ko-KR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ko-KR" dirty="0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5692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30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220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440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661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68815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1101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5322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95427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37631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664825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01678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506" y="4406905"/>
            <a:ext cx="8420100" cy="1362075"/>
          </a:xfrm>
        </p:spPr>
        <p:txBody>
          <a:bodyPr anchor="t"/>
          <a:lstStyle>
            <a:lvl1pPr algn="l">
              <a:defRPr sz="3692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506" y="2906713"/>
            <a:ext cx="8420100" cy="1500187"/>
          </a:xfrm>
        </p:spPr>
        <p:txBody>
          <a:bodyPr anchor="b"/>
          <a:lstStyle>
            <a:lvl1pPr marL="0" indent="0">
              <a:buNone/>
              <a:defRPr sz="1846">
                <a:solidFill>
                  <a:schemeClr val="tx1">
                    <a:tint val="75000"/>
                  </a:schemeClr>
                </a:solidFill>
              </a:defRPr>
            </a:lvl1pPr>
            <a:lvl2pPr marL="422039" indent="0">
              <a:buNone/>
              <a:defRPr sz="1662">
                <a:solidFill>
                  <a:schemeClr val="tx1">
                    <a:tint val="75000"/>
                  </a:schemeClr>
                </a:solidFill>
              </a:defRPr>
            </a:lvl2pPr>
            <a:lvl3pPr marL="844078" indent="0">
              <a:buNone/>
              <a:defRPr sz="1477">
                <a:solidFill>
                  <a:schemeClr val="tx1">
                    <a:tint val="75000"/>
                  </a:schemeClr>
                </a:solidFill>
              </a:defRPr>
            </a:lvl3pPr>
            <a:lvl4pPr marL="1266117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4pPr>
            <a:lvl5pPr marL="1688155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5pPr>
            <a:lvl6pPr marL="2110195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6pPr>
            <a:lvl7pPr marL="2532233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7pPr>
            <a:lvl8pPr marL="2954272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8pPr>
            <a:lvl9pPr marL="3376311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449178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6575" y="1600205"/>
            <a:ext cx="4746625" cy="4525963"/>
          </a:xfrm>
        </p:spPr>
        <p:txBody>
          <a:bodyPr/>
          <a:lstStyle>
            <a:lvl1pPr>
              <a:defRPr sz="2585"/>
            </a:lvl1pPr>
            <a:lvl2pPr>
              <a:defRPr sz="2215"/>
            </a:lvl2pPr>
            <a:lvl3pPr>
              <a:defRPr sz="1846"/>
            </a:lvl3pPr>
            <a:lvl4pPr>
              <a:defRPr sz="1662"/>
            </a:lvl4pPr>
            <a:lvl5pPr>
              <a:defRPr sz="1662"/>
            </a:lvl5pPr>
            <a:lvl6pPr>
              <a:defRPr sz="1662"/>
            </a:lvl6pPr>
            <a:lvl7pPr>
              <a:defRPr sz="1662"/>
            </a:lvl7pPr>
            <a:lvl8pPr>
              <a:defRPr sz="1662"/>
            </a:lvl8pPr>
            <a:lvl9pPr>
              <a:defRPr sz="1662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48300" y="1600205"/>
            <a:ext cx="4746625" cy="4525963"/>
          </a:xfrm>
        </p:spPr>
        <p:txBody>
          <a:bodyPr/>
          <a:lstStyle>
            <a:lvl1pPr>
              <a:defRPr sz="2585"/>
            </a:lvl1pPr>
            <a:lvl2pPr>
              <a:defRPr sz="2215"/>
            </a:lvl2pPr>
            <a:lvl3pPr>
              <a:defRPr sz="1846"/>
            </a:lvl3pPr>
            <a:lvl4pPr>
              <a:defRPr sz="1662"/>
            </a:lvl4pPr>
            <a:lvl5pPr>
              <a:defRPr sz="1662"/>
            </a:lvl5pPr>
            <a:lvl6pPr>
              <a:defRPr sz="1662"/>
            </a:lvl6pPr>
            <a:lvl7pPr>
              <a:defRPr sz="1662"/>
            </a:lvl7pPr>
            <a:lvl8pPr>
              <a:defRPr sz="1662"/>
            </a:lvl8pPr>
            <a:lvl9pPr>
              <a:defRPr sz="1662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4897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870" cy="639762"/>
          </a:xfrm>
        </p:spPr>
        <p:txBody>
          <a:bodyPr anchor="b"/>
          <a:lstStyle>
            <a:lvl1pPr marL="0" indent="0">
              <a:buNone/>
              <a:defRPr sz="2215" b="1"/>
            </a:lvl1pPr>
            <a:lvl2pPr marL="422039" indent="0">
              <a:buNone/>
              <a:defRPr sz="1846" b="1"/>
            </a:lvl2pPr>
            <a:lvl3pPr marL="844078" indent="0">
              <a:buNone/>
              <a:defRPr sz="1662" b="1"/>
            </a:lvl3pPr>
            <a:lvl4pPr marL="1266117" indent="0">
              <a:buNone/>
              <a:defRPr sz="1477" b="1"/>
            </a:lvl4pPr>
            <a:lvl5pPr marL="1688155" indent="0">
              <a:buNone/>
              <a:defRPr sz="1477" b="1"/>
            </a:lvl5pPr>
            <a:lvl6pPr marL="2110195" indent="0">
              <a:buNone/>
              <a:defRPr sz="1477" b="1"/>
            </a:lvl6pPr>
            <a:lvl7pPr marL="2532233" indent="0">
              <a:buNone/>
              <a:defRPr sz="1477" b="1"/>
            </a:lvl7pPr>
            <a:lvl8pPr marL="2954272" indent="0">
              <a:buNone/>
              <a:defRPr sz="1477" b="1"/>
            </a:lvl8pPr>
            <a:lvl9pPr marL="3376311" indent="0">
              <a:buNone/>
              <a:defRPr sz="1477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870" cy="3951288"/>
          </a:xfrm>
        </p:spPr>
        <p:txBody>
          <a:bodyPr/>
          <a:lstStyle>
            <a:lvl1pPr>
              <a:defRPr sz="2215"/>
            </a:lvl1pPr>
            <a:lvl2pPr>
              <a:defRPr sz="1846"/>
            </a:lvl2pPr>
            <a:lvl3pPr>
              <a:defRPr sz="1662"/>
            </a:lvl3pPr>
            <a:lvl4pPr>
              <a:defRPr sz="1477"/>
            </a:lvl4pPr>
            <a:lvl5pPr>
              <a:defRPr sz="1477"/>
            </a:lvl5pPr>
            <a:lvl6pPr>
              <a:defRPr sz="1477"/>
            </a:lvl6pPr>
            <a:lvl7pPr>
              <a:defRPr sz="1477"/>
            </a:lvl7pPr>
            <a:lvl8pPr>
              <a:defRPr sz="1477"/>
            </a:lvl8pPr>
            <a:lvl9pPr>
              <a:defRPr sz="1477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113" y="1535113"/>
            <a:ext cx="4378590" cy="639762"/>
          </a:xfrm>
        </p:spPr>
        <p:txBody>
          <a:bodyPr anchor="b"/>
          <a:lstStyle>
            <a:lvl1pPr marL="0" indent="0">
              <a:buNone/>
              <a:defRPr sz="2215" b="1"/>
            </a:lvl1pPr>
            <a:lvl2pPr marL="422039" indent="0">
              <a:buNone/>
              <a:defRPr sz="1846" b="1"/>
            </a:lvl2pPr>
            <a:lvl3pPr marL="844078" indent="0">
              <a:buNone/>
              <a:defRPr sz="1662" b="1"/>
            </a:lvl3pPr>
            <a:lvl4pPr marL="1266117" indent="0">
              <a:buNone/>
              <a:defRPr sz="1477" b="1"/>
            </a:lvl4pPr>
            <a:lvl5pPr marL="1688155" indent="0">
              <a:buNone/>
              <a:defRPr sz="1477" b="1"/>
            </a:lvl5pPr>
            <a:lvl6pPr marL="2110195" indent="0">
              <a:buNone/>
              <a:defRPr sz="1477" b="1"/>
            </a:lvl6pPr>
            <a:lvl7pPr marL="2532233" indent="0">
              <a:buNone/>
              <a:defRPr sz="1477" b="1"/>
            </a:lvl7pPr>
            <a:lvl8pPr marL="2954272" indent="0">
              <a:buNone/>
              <a:defRPr sz="1477" b="1"/>
            </a:lvl8pPr>
            <a:lvl9pPr marL="3376311" indent="0">
              <a:buNone/>
              <a:defRPr sz="1477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113" y="2174875"/>
            <a:ext cx="4378590" cy="3951288"/>
          </a:xfrm>
        </p:spPr>
        <p:txBody>
          <a:bodyPr/>
          <a:lstStyle>
            <a:lvl1pPr>
              <a:defRPr sz="2215"/>
            </a:lvl1pPr>
            <a:lvl2pPr>
              <a:defRPr sz="1846"/>
            </a:lvl2pPr>
            <a:lvl3pPr>
              <a:defRPr sz="1662"/>
            </a:lvl3pPr>
            <a:lvl4pPr>
              <a:defRPr sz="1477"/>
            </a:lvl4pPr>
            <a:lvl5pPr>
              <a:defRPr sz="1477"/>
            </a:lvl5pPr>
            <a:lvl6pPr>
              <a:defRPr sz="1477"/>
            </a:lvl6pPr>
            <a:lvl7pPr>
              <a:defRPr sz="1477"/>
            </a:lvl7pPr>
            <a:lvl8pPr>
              <a:defRPr sz="1477"/>
            </a:lvl8pPr>
            <a:lvl9pPr>
              <a:defRPr sz="1477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630540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894912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7163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006" cy="1162050"/>
          </a:xfrm>
        </p:spPr>
        <p:txBody>
          <a:bodyPr anchor="b"/>
          <a:lstStyle>
            <a:lvl1pPr algn="l">
              <a:defRPr sz="1846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2972" y="273055"/>
            <a:ext cx="5537729" cy="5853113"/>
          </a:xfrm>
        </p:spPr>
        <p:txBody>
          <a:bodyPr/>
          <a:lstStyle>
            <a:lvl1pPr>
              <a:defRPr sz="2954"/>
            </a:lvl1pPr>
            <a:lvl2pPr>
              <a:defRPr sz="2585"/>
            </a:lvl2pPr>
            <a:lvl3pPr>
              <a:defRPr sz="2215"/>
            </a:lvl3pPr>
            <a:lvl4pPr>
              <a:defRPr sz="1846"/>
            </a:lvl4pPr>
            <a:lvl5pPr>
              <a:defRPr sz="1846"/>
            </a:lvl5pPr>
            <a:lvl6pPr>
              <a:defRPr sz="1846"/>
            </a:lvl6pPr>
            <a:lvl7pPr>
              <a:defRPr sz="1846"/>
            </a:lvl7pPr>
            <a:lvl8pPr>
              <a:defRPr sz="1846"/>
            </a:lvl8pPr>
            <a:lvl9pPr>
              <a:defRPr sz="1846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0" y="1435103"/>
            <a:ext cx="3259006" cy="4691063"/>
          </a:xfrm>
        </p:spPr>
        <p:txBody>
          <a:bodyPr/>
          <a:lstStyle>
            <a:lvl1pPr marL="0" indent="0">
              <a:buNone/>
              <a:defRPr sz="1292"/>
            </a:lvl1pPr>
            <a:lvl2pPr marL="422039" indent="0">
              <a:buNone/>
              <a:defRPr sz="1108"/>
            </a:lvl2pPr>
            <a:lvl3pPr marL="844078" indent="0">
              <a:buNone/>
              <a:defRPr sz="923"/>
            </a:lvl3pPr>
            <a:lvl4pPr marL="1266117" indent="0">
              <a:buNone/>
              <a:defRPr sz="831"/>
            </a:lvl4pPr>
            <a:lvl5pPr marL="1688155" indent="0">
              <a:buNone/>
              <a:defRPr sz="831"/>
            </a:lvl5pPr>
            <a:lvl6pPr marL="2110195" indent="0">
              <a:buNone/>
              <a:defRPr sz="831"/>
            </a:lvl6pPr>
            <a:lvl7pPr marL="2532233" indent="0">
              <a:buNone/>
              <a:defRPr sz="831"/>
            </a:lvl7pPr>
            <a:lvl8pPr marL="2954272" indent="0">
              <a:buNone/>
              <a:defRPr sz="831"/>
            </a:lvl8pPr>
            <a:lvl9pPr marL="3376311" indent="0">
              <a:buNone/>
              <a:defRPr sz="83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442354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5520151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6228781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e 21"/>
          <p:cNvSpPr>
            <a:spLocks noChangeShapeType="1"/>
          </p:cNvSpPr>
          <p:nvPr userDrawn="1"/>
        </p:nvSpPr>
        <p:spPr bwMode="auto">
          <a:xfrm>
            <a:off x="0" y="6453188"/>
            <a:ext cx="990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ko-KR" altLang="en-US" sz="1662" b="0">
              <a:solidFill>
                <a:srgbClr val="000000"/>
              </a:solidFill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" name="Line 14"/>
          <p:cNvSpPr>
            <a:spLocks noChangeShapeType="1"/>
          </p:cNvSpPr>
          <p:nvPr userDrawn="1"/>
        </p:nvSpPr>
        <p:spPr bwMode="auto">
          <a:xfrm>
            <a:off x="0" y="534988"/>
            <a:ext cx="990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ko-KR" altLang="en-US" sz="1662" b="0">
              <a:solidFill>
                <a:srgbClr val="000000"/>
              </a:solidFill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4" name="Text Box 168"/>
          <p:cNvSpPr txBox="1">
            <a:spLocks noChangeArrowheads="1"/>
          </p:cNvSpPr>
          <p:nvPr userDrawn="1"/>
        </p:nvSpPr>
        <p:spPr bwMode="auto">
          <a:xfrm>
            <a:off x="4089400" y="153994"/>
            <a:ext cx="1606530" cy="262829"/>
          </a:xfrm>
          <a:prstGeom prst="rect">
            <a:avLst/>
          </a:prstGeom>
          <a:noFill/>
          <a:ln w="9525">
            <a:solidFill>
              <a:srgbClr val="C0C0C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108" b="0">
                <a:solidFill>
                  <a:srgbClr val="C0C0C0"/>
                </a:solidFill>
                <a:ea typeface="맑은 고딕" pitchFamily="50" charset="-127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327289310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제목 및 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표 개체 틀 2"/>
          <p:cNvSpPr>
            <a:spLocks noGrp="1"/>
          </p:cNvSpPr>
          <p:nvPr>
            <p:ph type="tbl" idx="1"/>
          </p:nvPr>
        </p:nvSpPr>
        <p:spPr>
          <a:xfrm>
            <a:off x="495300" y="1600204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ko-KR" altLang="en-US" noProof="0"/>
          </a:p>
        </p:txBody>
      </p:sp>
    </p:spTree>
    <p:extLst>
      <p:ext uri="{BB962C8B-B14F-4D97-AF65-F5344CB8AC3E}">
        <p14:creationId xmlns:p14="http://schemas.microsoft.com/office/powerpoint/2010/main" val="307689303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69981" y="274637"/>
            <a:ext cx="6659668" cy="1143000"/>
          </a:xfrm>
          <a:prstGeom prst="rect">
            <a:avLst/>
          </a:prstGeom>
        </p:spPr>
        <p:txBody>
          <a:bodyPr lIns="80250" tIns="40126" rIns="80250" bIns="40126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69981" y="1600205"/>
            <a:ext cx="6659668" cy="4525963"/>
          </a:xfrm>
          <a:prstGeom prst="rect">
            <a:avLst/>
          </a:prstGeom>
        </p:spPr>
        <p:txBody>
          <a:bodyPr lIns="80250" tIns="40126" rIns="80250" bIns="40126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389936276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615575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947609" y="2717286"/>
            <a:ext cx="10739543" cy="1874965"/>
          </a:xfrm>
          <a:prstGeom prst="rect">
            <a:avLst/>
          </a:prstGeom>
        </p:spPr>
        <p:txBody>
          <a:bodyPr lIns="122182" tIns="61091" rIns="122182" bIns="61091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895216" y="4956712"/>
            <a:ext cx="8844329" cy="2235380"/>
          </a:xfrm>
          <a:prstGeom prst="rect">
            <a:avLst/>
          </a:prstGeom>
        </p:spPr>
        <p:txBody>
          <a:bodyPr lIns="122182" tIns="61091" rIns="122182" bIns="61091"/>
          <a:lstStyle>
            <a:lvl1pPr marL="0" indent="0" algn="ctr">
              <a:buNone/>
              <a:defRPr/>
            </a:lvl1pPr>
            <a:lvl2pPr marL="563929" indent="0" algn="ctr">
              <a:buNone/>
              <a:defRPr/>
            </a:lvl2pPr>
            <a:lvl3pPr marL="1127857" indent="0" algn="ctr">
              <a:buNone/>
              <a:defRPr/>
            </a:lvl3pPr>
            <a:lvl4pPr marL="1691786" indent="0" algn="ctr">
              <a:buNone/>
              <a:defRPr/>
            </a:lvl4pPr>
            <a:lvl5pPr marL="2255714" indent="0" algn="ctr">
              <a:buNone/>
              <a:defRPr/>
            </a:lvl5pPr>
            <a:lvl6pPr marL="2819642" indent="0" algn="ctr">
              <a:buNone/>
              <a:defRPr/>
            </a:lvl6pPr>
            <a:lvl7pPr marL="3383570" indent="0" algn="ctr">
              <a:buNone/>
              <a:defRPr/>
            </a:lvl7pPr>
            <a:lvl8pPr marL="3947498" indent="0" algn="ctr">
              <a:buNone/>
              <a:defRPr/>
            </a:lvl8pPr>
            <a:lvl9pPr marL="4511427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102131754"/>
      </p:ext>
    </p:extLst>
  </p:cSld>
  <p:clrMapOvr>
    <a:masterClrMapping/>
  </p:clrMapOvr>
  <p:transition spd="slow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31740" y="350291"/>
            <a:ext cx="11371281" cy="1457856"/>
          </a:xfrm>
          <a:prstGeom prst="rect">
            <a:avLst/>
          </a:prstGeom>
        </p:spPr>
        <p:txBody>
          <a:bodyPr lIns="122182" tIns="61091" rIns="122182" bIns="61091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631740" y="2041004"/>
            <a:ext cx="11371281" cy="5772707"/>
          </a:xfrm>
          <a:prstGeom prst="rect">
            <a:avLst/>
          </a:prstGeom>
        </p:spPr>
        <p:txBody>
          <a:bodyPr lIns="122182" tIns="61091" rIns="122182" bIns="61091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499486339"/>
      </p:ext>
    </p:extLst>
  </p:cSld>
  <p:clrMapOvr>
    <a:masterClrMapping/>
  </p:clrMapOvr>
  <p:transition spd="slow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998061" y="5620851"/>
            <a:ext cx="10739543" cy="1737279"/>
          </a:xfrm>
          <a:prstGeom prst="rect">
            <a:avLst/>
          </a:prstGeom>
        </p:spPr>
        <p:txBody>
          <a:bodyPr lIns="122182" tIns="61091" rIns="122182" bIns="61091" anchor="t"/>
          <a:lstStyle>
            <a:lvl1pPr algn="l">
              <a:defRPr sz="4892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998061" y="3707411"/>
            <a:ext cx="10739543" cy="1913436"/>
          </a:xfrm>
          <a:prstGeom prst="rect">
            <a:avLst/>
          </a:prstGeom>
        </p:spPr>
        <p:txBody>
          <a:bodyPr lIns="122182" tIns="61091" rIns="122182" bIns="61091" anchor="b"/>
          <a:lstStyle>
            <a:lvl1pPr marL="0" indent="0">
              <a:buNone/>
              <a:defRPr sz="2492"/>
            </a:lvl1pPr>
            <a:lvl2pPr marL="563929" indent="0">
              <a:buNone/>
              <a:defRPr sz="2215"/>
            </a:lvl2pPr>
            <a:lvl3pPr marL="1127857" indent="0">
              <a:buNone/>
              <a:defRPr sz="1939"/>
            </a:lvl3pPr>
            <a:lvl4pPr marL="1691786" indent="0">
              <a:buNone/>
              <a:defRPr sz="1754"/>
            </a:lvl4pPr>
            <a:lvl5pPr marL="2255714" indent="0">
              <a:buNone/>
              <a:defRPr sz="1754"/>
            </a:lvl5pPr>
            <a:lvl6pPr marL="2819642" indent="0">
              <a:buNone/>
              <a:defRPr sz="1754"/>
            </a:lvl6pPr>
            <a:lvl7pPr marL="3383570" indent="0">
              <a:buNone/>
              <a:defRPr sz="1754"/>
            </a:lvl7pPr>
            <a:lvl8pPr marL="3947498" indent="0">
              <a:buNone/>
              <a:defRPr sz="1754"/>
            </a:lvl8pPr>
            <a:lvl9pPr marL="4511427" indent="0">
              <a:buNone/>
              <a:defRPr sz="1754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358577951"/>
      </p:ext>
    </p:extLst>
  </p:cSld>
  <p:clrMapOvr>
    <a:masterClrMapping/>
  </p:clrMapOvr>
  <p:transition spd="slow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31740" y="350291"/>
            <a:ext cx="11371281" cy="1457856"/>
          </a:xfrm>
          <a:prstGeom prst="rect">
            <a:avLst/>
          </a:prstGeom>
        </p:spPr>
        <p:txBody>
          <a:bodyPr lIns="122182" tIns="61091" rIns="122182" bIns="61091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631740" y="2041004"/>
            <a:ext cx="5580351" cy="5772707"/>
          </a:xfrm>
          <a:prstGeom prst="rect">
            <a:avLst/>
          </a:prstGeom>
        </p:spPr>
        <p:txBody>
          <a:bodyPr lIns="122182" tIns="61091" rIns="122182" bIns="61091"/>
          <a:lstStyle>
            <a:lvl1pPr>
              <a:defRPr sz="3415"/>
            </a:lvl1pPr>
            <a:lvl2pPr>
              <a:defRPr sz="2954"/>
            </a:lvl2pPr>
            <a:lvl3pPr>
              <a:defRPr sz="2492"/>
            </a:lvl3pPr>
            <a:lvl4pPr>
              <a:defRPr sz="2215"/>
            </a:lvl4pPr>
            <a:lvl5pPr>
              <a:defRPr sz="2215"/>
            </a:lvl5pPr>
            <a:lvl6pPr>
              <a:defRPr sz="2215"/>
            </a:lvl6pPr>
            <a:lvl7pPr>
              <a:defRPr sz="2215"/>
            </a:lvl7pPr>
            <a:lvl8pPr>
              <a:defRPr sz="2215"/>
            </a:lvl8pPr>
            <a:lvl9pPr>
              <a:defRPr sz="2215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422670" y="2041004"/>
            <a:ext cx="5580351" cy="5772707"/>
          </a:xfrm>
          <a:prstGeom prst="rect">
            <a:avLst/>
          </a:prstGeom>
        </p:spPr>
        <p:txBody>
          <a:bodyPr lIns="122182" tIns="61091" rIns="122182" bIns="61091"/>
          <a:lstStyle>
            <a:lvl1pPr>
              <a:defRPr sz="3415"/>
            </a:lvl1pPr>
            <a:lvl2pPr>
              <a:defRPr sz="2954"/>
            </a:lvl2pPr>
            <a:lvl3pPr>
              <a:defRPr sz="2492"/>
            </a:lvl3pPr>
            <a:lvl4pPr>
              <a:defRPr sz="2215"/>
            </a:lvl4pPr>
            <a:lvl5pPr>
              <a:defRPr sz="2215"/>
            </a:lvl5pPr>
            <a:lvl6pPr>
              <a:defRPr sz="2215"/>
            </a:lvl6pPr>
            <a:lvl7pPr>
              <a:defRPr sz="2215"/>
            </a:lvl7pPr>
            <a:lvl8pPr>
              <a:defRPr sz="2215"/>
            </a:lvl8pPr>
            <a:lvl9pPr>
              <a:defRPr sz="2215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721520023"/>
      </p:ext>
    </p:extLst>
  </p:cSld>
  <p:clrMapOvr>
    <a:masterClrMapping/>
  </p:clrMapOvr>
  <p:transition spd="slow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31740" y="350291"/>
            <a:ext cx="11371281" cy="1457856"/>
          </a:xfrm>
          <a:prstGeom prst="rect">
            <a:avLst/>
          </a:prstGeom>
        </p:spPr>
        <p:txBody>
          <a:bodyPr lIns="122182" tIns="61091" rIns="122182" bIns="61091"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631738" y="1957983"/>
            <a:ext cx="5582545" cy="815994"/>
          </a:xfrm>
          <a:prstGeom prst="rect">
            <a:avLst/>
          </a:prstGeom>
        </p:spPr>
        <p:txBody>
          <a:bodyPr lIns="122182" tIns="61091" rIns="122182" bIns="61091" anchor="b"/>
          <a:lstStyle>
            <a:lvl1pPr marL="0" indent="0">
              <a:buNone/>
              <a:defRPr sz="2954" b="1"/>
            </a:lvl1pPr>
            <a:lvl2pPr marL="563929" indent="0">
              <a:buNone/>
              <a:defRPr sz="2492" b="1"/>
            </a:lvl2pPr>
            <a:lvl3pPr marL="1127857" indent="0">
              <a:buNone/>
              <a:defRPr sz="2215" b="1"/>
            </a:lvl3pPr>
            <a:lvl4pPr marL="1691786" indent="0">
              <a:buNone/>
              <a:defRPr sz="1939" b="1"/>
            </a:lvl4pPr>
            <a:lvl5pPr marL="2255714" indent="0">
              <a:buNone/>
              <a:defRPr sz="1939" b="1"/>
            </a:lvl5pPr>
            <a:lvl6pPr marL="2819642" indent="0">
              <a:buNone/>
              <a:defRPr sz="1939" b="1"/>
            </a:lvl6pPr>
            <a:lvl7pPr marL="3383570" indent="0">
              <a:buNone/>
              <a:defRPr sz="1939" b="1"/>
            </a:lvl7pPr>
            <a:lvl8pPr marL="3947498" indent="0">
              <a:buNone/>
              <a:defRPr sz="1939" b="1"/>
            </a:lvl8pPr>
            <a:lvl9pPr marL="4511427" indent="0">
              <a:buNone/>
              <a:defRPr sz="1939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31738" y="2773981"/>
            <a:ext cx="5582545" cy="5039729"/>
          </a:xfrm>
          <a:prstGeom prst="rect">
            <a:avLst/>
          </a:prstGeom>
        </p:spPr>
        <p:txBody>
          <a:bodyPr lIns="122182" tIns="61091" rIns="122182" bIns="61091"/>
          <a:lstStyle>
            <a:lvl1pPr>
              <a:defRPr sz="2954"/>
            </a:lvl1pPr>
            <a:lvl2pPr>
              <a:defRPr sz="2492"/>
            </a:lvl2pPr>
            <a:lvl3pPr>
              <a:defRPr sz="2215"/>
            </a:lvl3pPr>
            <a:lvl4pPr>
              <a:defRPr sz="1939"/>
            </a:lvl4pPr>
            <a:lvl5pPr>
              <a:defRPr sz="1939"/>
            </a:lvl5pPr>
            <a:lvl6pPr>
              <a:defRPr sz="1939"/>
            </a:lvl6pPr>
            <a:lvl7pPr>
              <a:defRPr sz="1939"/>
            </a:lvl7pPr>
            <a:lvl8pPr>
              <a:defRPr sz="1939"/>
            </a:lvl8pPr>
            <a:lvl9pPr>
              <a:defRPr sz="1939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6418283" y="1957983"/>
            <a:ext cx="5584738" cy="815994"/>
          </a:xfrm>
          <a:prstGeom prst="rect">
            <a:avLst/>
          </a:prstGeom>
        </p:spPr>
        <p:txBody>
          <a:bodyPr lIns="122182" tIns="61091" rIns="122182" bIns="61091" anchor="b"/>
          <a:lstStyle>
            <a:lvl1pPr marL="0" indent="0">
              <a:buNone/>
              <a:defRPr sz="2954" b="1"/>
            </a:lvl1pPr>
            <a:lvl2pPr marL="563929" indent="0">
              <a:buNone/>
              <a:defRPr sz="2492" b="1"/>
            </a:lvl2pPr>
            <a:lvl3pPr marL="1127857" indent="0">
              <a:buNone/>
              <a:defRPr sz="2215" b="1"/>
            </a:lvl3pPr>
            <a:lvl4pPr marL="1691786" indent="0">
              <a:buNone/>
              <a:defRPr sz="1939" b="1"/>
            </a:lvl4pPr>
            <a:lvl5pPr marL="2255714" indent="0">
              <a:buNone/>
              <a:defRPr sz="1939" b="1"/>
            </a:lvl5pPr>
            <a:lvl6pPr marL="2819642" indent="0">
              <a:buNone/>
              <a:defRPr sz="1939" b="1"/>
            </a:lvl6pPr>
            <a:lvl7pPr marL="3383570" indent="0">
              <a:buNone/>
              <a:defRPr sz="1939" b="1"/>
            </a:lvl7pPr>
            <a:lvl8pPr marL="3947498" indent="0">
              <a:buNone/>
              <a:defRPr sz="1939" b="1"/>
            </a:lvl8pPr>
            <a:lvl9pPr marL="4511427" indent="0">
              <a:buNone/>
              <a:defRPr sz="1939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6418283" y="2773981"/>
            <a:ext cx="5584738" cy="5039729"/>
          </a:xfrm>
          <a:prstGeom prst="rect">
            <a:avLst/>
          </a:prstGeom>
        </p:spPr>
        <p:txBody>
          <a:bodyPr lIns="122182" tIns="61091" rIns="122182" bIns="61091"/>
          <a:lstStyle>
            <a:lvl1pPr>
              <a:defRPr sz="2954"/>
            </a:lvl1pPr>
            <a:lvl2pPr>
              <a:defRPr sz="2492"/>
            </a:lvl2pPr>
            <a:lvl3pPr>
              <a:defRPr sz="2215"/>
            </a:lvl3pPr>
            <a:lvl4pPr>
              <a:defRPr sz="1939"/>
            </a:lvl4pPr>
            <a:lvl5pPr>
              <a:defRPr sz="1939"/>
            </a:lvl5pPr>
            <a:lvl6pPr>
              <a:defRPr sz="1939"/>
            </a:lvl6pPr>
            <a:lvl7pPr>
              <a:defRPr sz="1939"/>
            </a:lvl7pPr>
            <a:lvl8pPr>
              <a:defRPr sz="1939"/>
            </a:lvl8pPr>
            <a:lvl9pPr>
              <a:defRPr sz="1939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3339876309"/>
      </p:ext>
    </p:extLst>
  </p:cSld>
  <p:clrMapOvr>
    <a:masterClrMapping/>
  </p:clrMapOvr>
  <p:transition spd="slow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31740" y="350291"/>
            <a:ext cx="11371281" cy="1457856"/>
          </a:xfrm>
          <a:prstGeom prst="rect">
            <a:avLst/>
          </a:prstGeom>
        </p:spPr>
        <p:txBody>
          <a:bodyPr lIns="122182" tIns="61091" rIns="122182" bIns="61091"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1310357793"/>
      </p:ext>
    </p:extLst>
  </p:cSld>
  <p:clrMapOvr>
    <a:masterClrMapping/>
  </p:clrMapOvr>
  <p:transition spd="slow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15733927"/>
      </p:ext>
    </p:extLst>
  </p:cSld>
  <p:clrMapOvr>
    <a:masterClrMapping/>
  </p:clrMapOvr>
  <p:transition spd="slow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31738" y="348266"/>
            <a:ext cx="4156748" cy="1482154"/>
          </a:xfrm>
          <a:prstGeom prst="rect">
            <a:avLst/>
          </a:prstGeom>
        </p:spPr>
        <p:txBody>
          <a:bodyPr lIns="122182" tIns="61091" rIns="122182" bIns="61091" anchor="b"/>
          <a:lstStyle>
            <a:lvl1pPr algn="l">
              <a:defRPr sz="2492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39839" y="348266"/>
            <a:ext cx="7063180" cy="7465440"/>
          </a:xfrm>
          <a:prstGeom prst="rect">
            <a:avLst/>
          </a:prstGeom>
        </p:spPr>
        <p:txBody>
          <a:bodyPr lIns="122182" tIns="61091" rIns="122182" bIns="61091"/>
          <a:lstStyle>
            <a:lvl1pPr>
              <a:defRPr sz="3969"/>
            </a:lvl1pPr>
            <a:lvl2pPr>
              <a:defRPr sz="3415"/>
            </a:lvl2pPr>
            <a:lvl3pPr>
              <a:defRPr sz="2954"/>
            </a:lvl3pPr>
            <a:lvl4pPr>
              <a:defRPr sz="2492"/>
            </a:lvl4pPr>
            <a:lvl5pPr>
              <a:defRPr sz="2492"/>
            </a:lvl5pPr>
            <a:lvl6pPr>
              <a:defRPr sz="2492"/>
            </a:lvl6pPr>
            <a:lvl7pPr>
              <a:defRPr sz="2492"/>
            </a:lvl7pPr>
            <a:lvl8pPr>
              <a:defRPr sz="2492"/>
            </a:lvl8pPr>
            <a:lvl9pPr>
              <a:defRPr sz="2492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631738" y="1830420"/>
            <a:ext cx="4156748" cy="5983286"/>
          </a:xfrm>
          <a:prstGeom prst="rect">
            <a:avLst/>
          </a:prstGeom>
        </p:spPr>
        <p:txBody>
          <a:bodyPr lIns="122182" tIns="61091" rIns="122182" bIns="61091"/>
          <a:lstStyle>
            <a:lvl1pPr marL="0" indent="0">
              <a:buNone/>
              <a:defRPr sz="1754"/>
            </a:lvl1pPr>
            <a:lvl2pPr marL="563929" indent="0">
              <a:buNone/>
              <a:defRPr sz="1477"/>
            </a:lvl2pPr>
            <a:lvl3pPr marL="1127857" indent="0">
              <a:buNone/>
              <a:defRPr sz="1200"/>
            </a:lvl3pPr>
            <a:lvl4pPr marL="1691786" indent="0">
              <a:buNone/>
              <a:defRPr sz="1108"/>
            </a:lvl4pPr>
            <a:lvl5pPr marL="2255714" indent="0">
              <a:buNone/>
              <a:defRPr sz="1108"/>
            </a:lvl5pPr>
            <a:lvl6pPr marL="2819642" indent="0">
              <a:buNone/>
              <a:defRPr sz="1108"/>
            </a:lvl6pPr>
            <a:lvl7pPr marL="3383570" indent="0">
              <a:buNone/>
              <a:defRPr sz="1108"/>
            </a:lvl7pPr>
            <a:lvl8pPr marL="3947498" indent="0">
              <a:buNone/>
              <a:defRPr sz="1108"/>
            </a:lvl8pPr>
            <a:lvl9pPr marL="4511427" indent="0">
              <a:buNone/>
              <a:defRPr sz="1108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012658198"/>
      </p:ext>
    </p:extLst>
  </p:cSld>
  <p:clrMapOvr>
    <a:masterClrMapping/>
  </p:clrMapOvr>
  <p:transition spd="slow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476501" y="6122997"/>
            <a:ext cx="7580854" cy="722854"/>
          </a:xfrm>
          <a:prstGeom prst="rect">
            <a:avLst/>
          </a:prstGeom>
        </p:spPr>
        <p:txBody>
          <a:bodyPr lIns="122182" tIns="61091" rIns="122182" bIns="61091" anchor="b"/>
          <a:lstStyle>
            <a:lvl1pPr algn="l">
              <a:defRPr sz="2492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476501" y="781577"/>
            <a:ext cx="7580854" cy="5248283"/>
          </a:xfrm>
          <a:prstGeom prst="rect">
            <a:avLst/>
          </a:prstGeom>
        </p:spPr>
        <p:txBody>
          <a:bodyPr lIns="122182" tIns="61091" rIns="122182" bIns="61091"/>
          <a:lstStyle>
            <a:lvl1pPr marL="0" indent="0">
              <a:buNone/>
              <a:defRPr sz="3969"/>
            </a:lvl1pPr>
            <a:lvl2pPr marL="563929" indent="0">
              <a:buNone/>
              <a:defRPr sz="3415"/>
            </a:lvl2pPr>
            <a:lvl3pPr marL="1127857" indent="0">
              <a:buNone/>
              <a:defRPr sz="2954"/>
            </a:lvl3pPr>
            <a:lvl4pPr marL="1691786" indent="0">
              <a:buNone/>
              <a:defRPr sz="2492"/>
            </a:lvl4pPr>
            <a:lvl5pPr marL="2255714" indent="0">
              <a:buNone/>
              <a:defRPr sz="2492"/>
            </a:lvl5pPr>
            <a:lvl6pPr marL="2819642" indent="0">
              <a:buNone/>
              <a:defRPr sz="2492"/>
            </a:lvl6pPr>
            <a:lvl7pPr marL="3383570" indent="0">
              <a:buNone/>
              <a:defRPr sz="2492"/>
            </a:lvl7pPr>
            <a:lvl8pPr marL="3947498" indent="0">
              <a:buNone/>
              <a:defRPr sz="2492"/>
            </a:lvl8pPr>
            <a:lvl9pPr marL="4511427" indent="0">
              <a:buNone/>
              <a:defRPr sz="2492"/>
            </a:lvl9pPr>
          </a:lstStyle>
          <a:p>
            <a:pPr lvl="0"/>
            <a:endParaRPr lang="ko-KR" altLang="en-US" noProof="0" dirty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476501" y="6845855"/>
            <a:ext cx="7580854" cy="1026573"/>
          </a:xfrm>
          <a:prstGeom prst="rect">
            <a:avLst/>
          </a:prstGeom>
        </p:spPr>
        <p:txBody>
          <a:bodyPr lIns="122182" tIns="61091" rIns="122182" bIns="61091"/>
          <a:lstStyle>
            <a:lvl1pPr marL="0" indent="0">
              <a:buNone/>
              <a:defRPr sz="1754"/>
            </a:lvl1pPr>
            <a:lvl2pPr marL="563929" indent="0">
              <a:buNone/>
              <a:defRPr sz="1477"/>
            </a:lvl2pPr>
            <a:lvl3pPr marL="1127857" indent="0">
              <a:buNone/>
              <a:defRPr sz="1200"/>
            </a:lvl3pPr>
            <a:lvl4pPr marL="1691786" indent="0">
              <a:buNone/>
              <a:defRPr sz="1108"/>
            </a:lvl4pPr>
            <a:lvl5pPr marL="2255714" indent="0">
              <a:buNone/>
              <a:defRPr sz="1108"/>
            </a:lvl5pPr>
            <a:lvl6pPr marL="2819642" indent="0">
              <a:buNone/>
              <a:defRPr sz="1108"/>
            </a:lvl6pPr>
            <a:lvl7pPr marL="3383570" indent="0">
              <a:buNone/>
              <a:defRPr sz="1108"/>
            </a:lvl7pPr>
            <a:lvl8pPr marL="3947498" indent="0">
              <a:buNone/>
              <a:defRPr sz="1108"/>
            </a:lvl8pPr>
            <a:lvl9pPr marL="4511427" indent="0">
              <a:buNone/>
              <a:defRPr sz="1108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598487128"/>
      </p:ext>
    </p:extLst>
  </p:cSld>
  <p:clrMapOvr>
    <a:masterClrMapping/>
  </p:clrMapOvr>
  <p:transition spd="slow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31740" y="350291"/>
            <a:ext cx="11371281" cy="1457856"/>
          </a:xfrm>
          <a:prstGeom prst="rect">
            <a:avLst/>
          </a:prstGeom>
        </p:spPr>
        <p:txBody>
          <a:bodyPr lIns="122182" tIns="61091" rIns="122182" bIns="61091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631740" y="2041004"/>
            <a:ext cx="11371281" cy="5772707"/>
          </a:xfrm>
          <a:prstGeom prst="rect">
            <a:avLst/>
          </a:prstGeom>
        </p:spPr>
        <p:txBody>
          <a:bodyPr vert="eaVert" lIns="122182" tIns="61091" rIns="122182" bIns="61091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4039153116"/>
      </p:ext>
    </p:extLst>
  </p:cSld>
  <p:clrMapOvr>
    <a:masterClrMapping/>
  </p:clrMapOvr>
  <p:transition spd="slow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9160198" y="350296"/>
            <a:ext cx="2842821" cy="7463415"/>
          </a:xfrm>
          <a:prstGeom prst="rect">
            <a:avLst/>
          </a:prstGeom>
        </p:spPr>
        <p:txBody>
          <a:bodyPr vert="eaVert" lIns="122182" tIns="61091" rIns="122182" bIns="61091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631738" y="350296"/>
            <a:ext cx="8317881" cy="7463415"/>
          </a:xfrm>
          <a:prstGeom prst="rect">
            <a:avLst/>
          </a:prstGeom>
        </p:spPr>
        <p:txBody>
          <a:bodyPr vert="eaVert" lIns="122182" tIns="61091" rIns="122182" bIns="61091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647505031"/>
      </p:ext>
    </p:extLst>
  </p:cSld>
  <p:clrMapOvr>
    <a:masterClrMapping/>
  </p:clrMapOvr>
  <p:transition spd="slow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631740" y="350296"/>
            <a:ext cx="11371281" cy="7463415"/>
          </a:xfrm>
          <a:prstGeom prst="rect">
            <a:avLst/>
          </a:prstGeom>
        </p:spPr>
        <p:txBody>
          <a:bodyPr lIns="122182" tIns="61091" rIns="122182" bIns="61091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1411141002"/>
      </p:ext>
    </p:extLst>
  </p:cSld>
  <p:clrMapOvr>
    <a:masterClrMapping/>
  </p:clrMapOvr>
  <p:transition spd="slow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844034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30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220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440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661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68815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1101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5322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95427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37631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511609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955169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506" y="4406905"/>
            <a:ext cx="8420100" cy="1362075"/>
          </a:xfrm>
        </p:spPr>
        <p:txBody>
          <a:bodyPr anchor="t"/>
          <a:lstStyle>
            <a:lvl1pPr algn="l">
              <a:defRPr sz="3692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506" y="2906713"/>
            <a:ext cx="8420100" cy="1500187"/>
          </a:xfrm>
        </p:spPr>
        <p:txBody>
          <a:bodyPr anchor="b"/>
          <a:lstStyle>
            <a:lvl1pPr marL="0" indent="0">
              <a:buNone/>
              <a:defRPr sz="1846">
                <a:solidFill>
                  <a:schemeClr val="tx1">
                    <a:tint val="75000"/>
                  </a:schemeClr>
                </a:solidFill>
              </a:defRPr>
            </a:lvl1pPr>
            <a:lvl2pPr marL="422039" indent="0">
              <a:buNone/>
              <a:defRPr sz="1662">
                <a:solidFill>
                  <a:schemeClr val="tx1">
                    <a:tint val="75000"/>
                  </a:schemeClr>
                </a:solidFill>
              </a:defRPr>
            </a:lvl2pPr>
            <a:lvl3pPr marL="844078" indent="0">
              <a:buNone/>
              <a:defRPr sz="1477">
                <a:solidFill>
                  <a:schemeClr val="tx1">
                    <a:tint val="75000"/>
                  </a:schemeClr>
                </a:solidFill>
              </a:defRPr>
            </a:lvl3pPr>
            <a:lvl4pPr marL="1266117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4pPr>
            <a:lvl5pPr marL="1688155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5pPr>
            <a:lvl6pPr marL="2110195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6pPr>
            <a:lvl7pPr marL="2532233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7pPr>
            <a:lvl8pPr marL="2954272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8pPr>
            <a:lvl9pPr marL="3376311" indent="0">
              <a:buNone/>
              <a:defRPr sz="1292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861186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6575" y="1600205"/>
            <a:ext cx="4746625" cy="4525963"/>
          </a:xfrm>
        </p:spPr>
        <p:txBody>
          <a:bodyPr/>
          <a:lstStyle>
            <a:lvl1pPr>
              <a:defRPr sz="2585"/>
            </a:lvl1pPr>
            <a:lvl2pPr>
              <a:defRPr sz="2215"/>
            </a:lvl2pPr>
            <a:lvl3pPr>
              <a:defRPr sz="1846"/>
            </a:lvl3pPr>
            <a:lvl4pPr>
              <a:defRPr sz="1662"/>
            </a:lvl4pPr>
            <a:lvl5pPr>
              <a:defRPr sz="1662"/>
            </a:lvl5pPr>
            <a:lvl6pPr>
              <a:defRPr sz="1662"/>
            </a:lvl6pPr>
            <a:lvl7pPr>
              <a:defRPr sz="1662"/>
            </a:lvl7pPr>
            <a:lvl8pPr>
              <a:defRPr sz="1662"/>
            </a:lvl8pPr>
            <a:lvl9pPr>
              <a:defRPr sz="1662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48300" y="1600205"/>
            <a:ext cx="4746625" cy="4525963"/>
          </a:xfrm>
        </p:spPr>
        <p:txBody>
          <a:bodyPr/>
          <a:lstStyle>
            <a:lvl1pPr>
              <a:defRPr sz="2585"/>
            </a:lvl1pPr>
            <a:lvl2pPr>
              <a:defRPr sz="2215"/>
            </a:lvl2pPr>
            <a:lvl3pPr>
              <a:defRPr sz="1846"/>
            </a:lvl3pPr>
            <a:lvl4pPr>
              <a:defRPr sz="1662"/>
            </a:lvl4pPr>
            <a:lvl5pPr>
              <a:defRPr sz="1662"/>
            </a:lvl5pPr>
            <a:lvl6pPr>
              <a:defRPr sz="1662"/>
            </a:lvl6pPr>
            <a:lvl7pPr>
              <a:defRPr sz="1662"/>
            </a:lvl7pPr>
            <a:lvl8pPr>
              <a:defRPr sz="1662"/>
            </a:lvl8pPr>
            <a:lvl9pPr>
              <a:defRPr sz="1662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10576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870" cy="639762"/>
          </a:xfrm>
        </p:spPr>
        <p:txBody>
          <a:bodyPr anchor="b"/>
          <a:lstStyle>
            <a:lvl1pPr marL="0" indent="0">
              <a:buNone/>
              <a:defRPr sz="2215" b="1"/>
            </a:lvl1pPr>
            <a:lvl2pPr marL="422039" indent="0">
              <a:buNone/>
              <a:defRPr sz="1846" b="1"/>
            </a:lvl2pPr>
            <a:lvl3pPr marL="844078" indent="0">
              <a:buNone/>
              <a:defRPr sz="1662" b="1"/>
            </a:lvl3pPr>
            <a:lvl4pPr marL="1266117" indent="0">
              <a:buNone/>
              <a:defRPr sz="1477" b="1"/>
            </a:lvl4pPr>
            <a:lvl5pPr marL="1688155" indent="0">
              <a:buNone/>
              <a:defRPr sz="1477" b="1"/>
            </a:lvl5pPr>
            <a:lvl6pPr marL="2110195" indent="0">
              <a:buNone/>
              <a:defRPr sz="1477" b="1"/>
            </a:lvl6pPr>
            <a:lvl7pPr marL="2532233" indent="0">
              <a:buNone/>
              <a:defRPr sz="1477" b="1"/>
            </a:lvl7pPr>
            <a:lvl8pPr marL="2954272" indent="0">
              <a:buNone/>
              <a:defRPr sz="1477" b="1"/>
            </a:lvl8pPr>
            <a:lvl9pPr marL="3376311" indent="0">
              <a:buNone/>
              <a:defRPr sz="1477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870" cy="3951288"/>
          </a:xfrm>
        </p:spPr>
        <p:txBody>
          <a:bodyPr/>
          <a:lstStyle>
            <a:lvl1pPr>
              <a:defRPr sz="2215"/>
            </a:lvl1pPr>
            <a:lvl2pPr>
              <a:defRPr sz="1846"/>
            </a:lvl2pPr>
            <a:lvl3pPr>
              <a:defRPr sz="1662"/>
            </a:lvl3pPr>
            <a:lvl4pPr>
              <a:defRPr sz="1477"/>
            </a:lvl4pPr>
            <a:lvl5pPr>
              <a:defRPr sz="1477"/>
            </a:lvl5pPr>
            <a:lvl6pPr>
              <a:defRPr sz="1477"/>
            </a:lvl6pPr>
            <a:lvl7pPr>
              <a:defRPr sz="1477"/>
            </a:lvl7pPr>
            <a:lvl8pPr>
              <a:defRPr sz="1477"/>
            </a:lvl8pPr>
            <a:lvl9pPr>
              <a:defRPr sz="1477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113" y="1535113"/>
            <a:ext cx="4378590" cy="639762"/>
          </a:xfrm>
        </p:spPr>
        <p:txBody>
          <a:bodyPr anchor="b"/>
          <a:lstStyle>
            <a:lvl1pPr marL="0" indent="0">
              <a:buNone/>
              <a:defRPr sz="2215" b="1"/>
            </a:lvl1pPr>
            <a:lvl2pPr marL="422039" indent="0">
              <a:buNone/>
              <a:defRPr sz="1846" b="1"/>
            </a:lvl2pPr>
            <a:lvl3pPr marL="844078" indent="0">
              <a:buNone/>
              <a:defRPr sz="1662" b="1"/>
            </a:lvl3pPr>
            <a:lvl4pPr marL="1266117" indent="0">
              <a:buNone/>
              <a:defRPr sz="1477" b="1"/>
            </a:lvl4pPr>
            <a:lvl5pPr marL="1688155" indent="0">
              <a:buNone/>
              <a:defRPr sz="1477" b="1"/>
            </a:lvl5pPr>
            <a:lvl6pPr marL="2110195" indent="0">
              <a:buNone/>
              <a:defRPr sz="1477" b="1"/>
            </a:lvl6pPr>
            <a:lvl7pPr marL="2532233" indent="0">
              <a:buNone/>
              <a:defRPr sz="1477" b="1"/>
            </a:lvl7pPr>
            <a:lvl8pPr marL="2954272" indent="0">
              <a:buNone/>
              <a:defRPr sz="1477" b="1"/>
            </a:lvl8pPr>
            <a:lvl9pPr marL="3376311" indent="0">
              <a:buNone/>
              <a:defRPr sz="1477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113" y="2174875"/>
            <a:ext cx="4378590" cy="3951288"/>
          </a:xfrm>
        </p:spPr>
        <p:txBody>
          <a:bodyPr/>
          <a:lstStyle>
            <a:lvl1pPr>
              <a:defRPr sz="2215"/>
            </a:lvl1pPr>
            <a:lvl2pPr>
              <a:defRPr sz="1846"/>
            </a:lvl2pPr>
            <a:lvl3pPr>
              <a:defRPr sz="1662"/>
            </a:lvl3pPr>
            <a:lvl4pPr>
              <a:defRPr sz="1477"/>
            </a:lvl4pPr>
            <a:lvl5pPr>
              <a:defRPr sz="1477"/>
            </a:lvl5pPr>
            <a:lvl6pPr>
              <a:defRPr sz="1477"/>
            </a:lvl6pPr>
            <a:lvl7pPr>
              <a:defRPr sz="1477"/>
            </a:lvl7pPr>
            <a:lvl8pPr>
              <a:defRPr sz="1477"/>
            </a:lvl8pPr>
            <a:lvl9pPr>
              <a:defRPr sz="1477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903053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568317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988571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006" cy="1162050"/>
          </a:xfrm>
        </p:spPr>
        <p:txBody>
          <a:bodyPr anchor="b"/>
          <a:lstStyle>
            <a:lvl1pPr algn="l">
              <a:defRPr sz="1846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2972" y="273055"/>
            <a:ext cx="5537729" cy="5853113"/>
          </a:xfrm>
        </p:spPr>
        <p:txBody>
          <a:bodyPr/>
          <a:lstStyle>
            <a:lvl1pPr>
              <a:defRPr sz="2954"/>
            </a:lvl1pPr>
            <a:lvl2pPr>
              <a:defRPr sz="2585"/>
            </a:lvl2pPr>
            <a:lvl3pPr>
              <a:defRPr sz="2215"/>
            </a:lvl3pPr>
            <a:lvl4pPr>
              <a:defRPr sz="1846"/>
            </a:lvl4pPr>
            <a:lvl5pPr>
              <a:defRPr sz="1846"/>
            </a:lvl5pPr>
            <a:lvl6pPr>
              <a:defRPr sz="1846"/>
            </a:lvl6pPr>
            <a:lvl7pPr>
              <a:defRPr sz="1846"/>
            </a:lvl7pPr>
            <a:lvl8pPr>
              <a:defRPr sz="1846"/>
            </a:lvl8pPr>
            <a:lvl9pPr>
              <a:defRPr sz="1846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0" y="1435103"/>
            <a:ext cx="3259006" cy="4691063"/>
          </a:xfrm>
        </p:spPr>
        <p:txBody>
          <a:bodyPr/>
          <a:lstStyle>
            <a:lvl1pPr marL="0" indent="0">
              <a:buNone/>
              <a:defRPr sz="1292"/>
            </a:lvl1pPr>
            <a:lvl2pPr marL="422039" indent="0">
              <a:buNone/>
              <a:defRPr sz="1108"/>
            </a:lvl2pPr>
            <a:lvl3pPr marL="844078" indent="0">
              <a:buNone/>
              <a:defRPr sz="923"/>
            </a:lvl3pPr>
            <a:lvl4pPr marL="1266117" indent="0">
              <a:buNone/>
              <a:defRPr sz="831"/>
            </a:lvl4pPr>
            <a:lvl5pPr marL="1688155" indent="0">
              <a:buNone/>
              <a:defRPr sz="831"/>
            </a:lvl5pPr>
            <a:lvl6pPr marL="2110195" indent="0">
              <a:buNone/>
              <a:defRPr sz="831"/>
            </a:lvl6pPr>
            <a:lvl7pPr marL="2532233" indent="0">
              <a:buNone/>
              <a:defRPr sz="831"/>
            </a:lvl7pPr>
            <a:lvl8pPr marL="2954272" indent="0">
              <a:buNone/>
              <a:defRPr sz="831"/>
            </a:lvl8pPr>
            <a:lvl9pPr marL="3376311" indent="0">
              <a:buNone/>
              <a:defRPr sz="83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504175-86C1-4D49-BE45-170EB1184398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D12466-D369-4133-A394-FDE5160901D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583631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6027146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0314921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367717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본문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2"/>
          <p:cNvCxnSpPr>
            <a:cxnSpLocks noChangeShapeType="1"/>
          </p:cNvCxnSpPr>
          <p:nvPr userDrawn="1"/>
        </p:nvCxnSpPr>
        <p:spPr bwMode="auto">
          <a:xfrm>
            <a:off x="0" y="582613"/>
            <a:ext cx="9906000" cy="0"/>
          </a:xfrm>
          <a:prstGeom prst="line">
            <a:avLst/>
          </a:prstGeom>
          <a:noFill/>
          <a:ln w="9525" algn="ctr">
            <a:solidFill>
              <a:srgbClr val="808080"/>
            </a:solidFill>
            <a:round/>
            <a:headEnd/>
            <a:tailEnd/>
          </a:ln>
        </p:spPr>
      </p:cxnSp>
      <p:sp>
        <p:nvSpPr>
          <p:cNvPr id="3" name="직사각형 2"/>
          <p:cNvSpPr/>
          <p:nvPr userDrawn="1"/>
        </p:nvSpPr>
        <p:spPr>
          <a:xfrm>
            <a:off x="4346700" y="154823"/>
            <a:ext cx="1208963" cy="276987"/>
          </a:xfrm>
          <a:prstGeom prst="rect">
            <a:avLst/>
          </a:prstGeom>
          <a:ln>
            <a:solidFill>
              <a:srgbClr val="FFFFFF">
                <a:lumMod val="85000"/>
              </a:srgbClr>
            </a:solidFill>
          </a:ln>
        </p:spPr>
        <p:txBody>
          <a:bodyPr wrap="none" lIns="91429" tIns="45714" rIns="91429" bIns="45714">
            <a:sp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200" kern="0" dirty="0">
                <a:solidFill>
                  <a:srgbClr val="FFFFFF">
                    <a:lumMod val="75000"/>
                  </a:srgb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LGE Confidential</a:t>
            </a:r>
            <a:endParaRPr kumimoji="0" lang="ko-KR" altLang="en-US" sz="1200" kern="0" dirty="0">
              <a:solidFill>
                <a:srgbClr val="FFFFFF">
                  <a:lumMod val="75000"/>
                </a:srgb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4" name="Picture 3" descr="C:\Users\hyun\Desktop\비전로고_두줄.pn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09963" y="6386473"/>
            <a:ext cx="971368" cy="421758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25685310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1" y="274638"/>
            <a:ext cx="8915400" cy="1143000"/>
          </a:xfrm>
          <a:prstGeom prst="rect">
            <a:avLst/>
          </a:prstGeom>
        </p:spPr>
        <p:txBody>
          <a:bodyPr lIns="91405" tIns="45703" rIns="91405" bIns="45703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3440112" y="6526215"/>
            <a:ext cx="2311400" cy="28733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40293FC-C5D6-4CEB-9858-E5CF7FEFFD3F}" type="slidenum">
              <a:rPr lang="en-US" altLang="ko-KR">
                <a:solidFill>
                  <a:srgbClr val="000000"/>
                </a:solidFill>
                <a:latin typeface="맑은 고딕"/>
                <a:ea typeface="맑은 고딕" panose="020B0503020000020004" pitchFamily="50" charset="-127"/>
              </a:rPr>
              <a:pPr>
                <a:defRPr/>
              </a:pPr>
              <a:t>‹#›</a:t>
            </a:fld>
            <a:endParaRPr lang="en-US" altLang="ko-KR" dirty="0">
              <a:solidFill>
                <a:srgbClr val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69457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6856567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243233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E0FB6F-9586-450D-BC40-47B1E7DF9AF5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2351B-1BEB-419E-B5BF-E7E9409FDFC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9" name="Picture 2" descr="C:\ECM\TEMP\부서함\Brand담당\20년 연간업무계획\디지털 그래픽 모티브 개발★\★1st Manual Official Release\Graphic Asset_v1.0\1. Main motif - Solid color\png\Main_motif-LG_red_solid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8574" b="66436"/>
          <a:stretch/>
        </p:blipFill>
        <p:spPr bwMode="auto">
          <a:xfrm>
            <a:off x="1" y="0"/>
            <a:ext cx="735289" cy="21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2" descr="C:\ECM\TEMP\부서함\Brand담당\20년 연간업무계획\디지털 그래픽 모티브 개발★\★1st Manual Official Release\Graphic Asset_v1.0\1. Main motif - Solid color\png\Main_motif-LG_red_solid.png"/>
          <p:cNvPicPr>
            <a:picLocks noChangeAspect="1" noChangeArrowheads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355" t="77614"/>
          <a:stretch/>
        </p:blipFill>
        <p:spPr bwMode="auto">
          <a:xfrm>
            <a:off x="8449334" y="5418000"/>
            <a:ext cx="1456667" cy="144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E15704BB-E040-4FA2-D014-E6B71D3388F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2769" y="5229200"/>
            <a:ext cx="787183" cy="6115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491400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E0FB6F-9586-450D-BC40-47B1E7DF9AF5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2026-03-21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2351B-1BEB-419E-B5BF-E7E9409FDFC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3" descr="C:\Users\hyun\Desktop\비전로고_두줄.png"/>
          <p:cNvPicPr>
            <a:picLocks noChangeAspect="1" noChangeArrowheads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809963" y="6386473"/>
            <a:ext cx="971368" cy="421758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24986201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1122363"/>
            <a:ext cx="84201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9445609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51926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80" y="1709742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80" y="4589467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/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873895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913690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365129"/>
            <a:ext cx="8543925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30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30" y="2505075"/>
            <a:ext cx="4190702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95945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542803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4295066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1" y="987429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24095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1" y="987429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483002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344940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43965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77AAEB6-D342-4CBE-B074-A7872BDD0E7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968D5804-6F88-48B8-A885-D45E46D971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25FD5E-34C4-49DB-9B9A-C85B38ED8BB6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8B89D58-B776-4BA8-937D-EF9DF30F9A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22CD39D3-4F73-4225-AEB8-FAB8F4B8C1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55331-3EB5-4C6A-8559-F1AB8908132D}" type="slidenum">
              <a:rPr lang="ko-KR" altLang="en-US" smtClean="0"/>
              <a:t>‹#›</a:t>
            </a:fld>
            <a:endParaRPr lang="ko-KR" altLang="en-US"/>
          </a:p>
        </p:txBody>
      </p:sp>
      <p:pic>
        <p:nvPicPr>
          <p:cNvPr id="7" name="Picture 2" descr="C:\ECM\TEMP\부서함\Brand담당\20년 연간업무계획\디지털 그래픽 모티브 개발★\★1st Manual Official Release\Graphic Asset_v1.0\1. Main motif - Solid color\png\Main_motif-LG_red_solid.png">
            <a:extLst>
              <a:ext uri="{FF2B5EF4-FFF2-40B4-BE49-F238E27FC236}">
                <a16:creationId xmlns:a16="http://schemas.microsoft.com/office/drawing/2014/main" id="{3D556000-7E2F-4CA5-A9C0-3DA2B5237E66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355" t="77614"/>
          <a:stretch/>
        </p:blipFill>
        <p:spPr bwMode="auto">
          <a:xfrm>
            <a:off x="8366722" y="4981856"/>
            <a:ext cx="1537033" cy="18761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2" descr="C:\ECM\TEMP\부서함\Brand담당\20년 연간업무계획\디지털 그래픽 모티브 개발★\★1st Manual Official Release\Graphic Asset_v1.0\1. Main motif - Solid color\png\Main_motif-LG_red_solid.png">
            <a:extLst>
              <a:ext uri="{FF2B5EF4-FFF2-40B4-BE49-F238E27FC236}">
                <a16:creationId xmlns:a16="http://schemas.microsoft.com/office/drawing/2014/main" id="{135A7B69-EF46-41EC-9880-C2FEE98FECBE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8574" b="66436"/>
          <a:stretch/>
        </p:blipFill>
        <p:spPr bwMode="auto">
          <a:xfrm>
            <a:off x="1" y="-1"/>
            <a:ext cx="778050" cy="28038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AFE51A66-8A81-40DA-824E-891FAA7FC8B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49027" y="4656616"/>
            <a:ext cx="1040044" cy="8363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437797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e 14"/>
          <p:cNvSpPr>
            <a:spLocks noChangeShapeType="1"/>
          </p:cNvSpPr>
          <p:nvPr userDrawn="1"/>
        </p:nvSpPr>
        <p:spPr bwMode="auto">
          <a:xfrm>
            <a:off x="0" y="534988"/>
            <a:ext cx="990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ko-KR" altLang="en-US" sz="1463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51692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2130429"/>
            <a:ext cx="84201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4290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72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6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5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45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3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2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233B911-F20F-4FF7-83B5-887152F2A6E8}" type="datetimeFigureOut">
              <a:rPr kumimoji="1" lang="en-US" sz="1500" b="1" smtClean="0">
                <a:solidFill>
                  <a:prstClr val="black"/>
                </a:solidFill>
                <a:latin typeface="Trebuchet MS" pitchFamily="34" charset="0"/>
                <a:ea typeface="돋움" pitchFamily="50" charset="-127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3/21/2026</a:t>
            </a:fld>
            <a:endParaRPr kumimoji="1" lang="en-US" sz="1500" b="1">
              <a:solidFill>
                <a:prstClr val="black"/>
              </a:solidFill>
              <a:latin typeface="Trebuchet MS" pitchFamily="34" charset="0"/>
              <a:ea typeface="돋움" pitchFamily="50" charset="-127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kumimoji="1" lang="en-US" sz="1500" b="1">
              <a:solidFill>
                <a:prstClr val="black"/>
              </a:solidFill>
              <a:latin typeface="Trebuchet MS" pitchFamily="34" charset="0"/>
              <a:ea typeface="돋움" pitchFamily="50" charset="-127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C02E3246-9D2C-4383-A337-889C0314967A}" type="slidenum">
              <a:rPr kumimoji="1" lang="en-US" sz="1500" b="1" smtClean="0">
                <a:solidFill>
                  <a:prstClr val="black"/>
                </a:solidFill>
                <a:latin typeface="Trebuchet MS" pitchFamily="34" charset="0"/>
                <a:ea typeface="돋움" pitchFamily="50" charset="-127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sz="1500" b="1">
              <a:solidFill>
                <a:prstClr val="black"/>
              </a:solidFill>
              <a:latin typeface="Trebuchet MS" pitchFamily="34" charset="0"/>
              <a:ea typeface="돋움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608917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863A2C5-3220-4155-ADF9-B349377CC0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6747" y="280553"/>
            <a:ext cx="1764907" cy="202620"/>
          </a:xfrm>
        </p:spPr>
        <p:txBody>
          <a:bodyPr wrap="none" lIns="0" tIns="0" rIns="0" bIns="0">
            <a:spAutoFit/>
          </a:bodyPr>
          <a:lstStyle>
            <a:lvl1pPr>
              <a:defRPr sz="1463" b="1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ko-KR" altLang="en-US"/>
              <a:t>마스터 제목 스타일 편집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B0FF663-E9A0-451F-B93B-BD363EDA84D6}"/>
              </a:ext>
            </a:extLst>
          </p:cNvPr>
          <p:cNvCxnSpPr>
            <a:cxnSpLocks/>
          </p:cNvCxnSpPr>
          <p:nvPr userDrawn="1"/>
        </p:nvCxnSpPr>
        <p:spPr>
          <a:xfrm>
            <a:off x="162521" y="628209"/>
            <a:ext cx="9495830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2793732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.xml"/><Relationship Id="rId3" Type="http://schemas.openxmlformats.org/officeDocument/2006/relationships/slideLayout" Target="../slideLayouts/slideLayout7.xml"/><Relationship Id="rId7" Type="http://schemas.openxmlformats.org/officeDocument/2006/relationships/slideLayout" Target="../slideLayouts/slideLayout11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5" Type="http://schemas.openxmlformats.org/officeDocument/2006/relationships/slideLayout" Target="../slideLayouts/slideLayout9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8.xml"/><Relationship Id="rId9" Type="http://schemas.openxmlformats.org/officeDocument/2006/relationships/slideLayout" Target="../slideLayouts/slideLayout13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6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17.xml"/></Relationships>
</file>

<file path=ppt/slideMasters/_rels/slideMaster4.xml.rels><?xml version="1.0" encoding="UTF-8" standalone="yes"?>
<Relationships xmlns="http://schemas.openxmlformats.org/package/2006/relationships"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1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.xml"/><Relationship Id="rId13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4.xml"/><Relationship Id="rId11" Type="http://schemas.openxmlformats.org/officeDocument/2006/relationships/slideLayout" Target="../slideLayouts/slideLayout29.xml"/><Relationship Id="rId5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8.xml"/><Relationship Id="rId4" Type="http://schemas.openxmlformats.org/officeDocument/2006/relationships/slideLayout" Target="../slideLayouts/slideLayout22.xml"/><Relationship Id="rId9" Type="http://schemas.openxmlformats.org/officeDocument/2006/relationships/slideLayout" Target="../slideLayouts/slideLayout27.xml"/><Relationship Id="rId14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5.xml"/><Relationship Id="rId9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theme" Target="../theme/theme7.xml"/><Relationship Id="rId3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6.xml"/><Relationship Id="rId2" Type="http://schemas.openxmlformats.org/officeDocument/2006/relationships/slideLayout" Target="../slideLayouts/slideLayout41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5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3.xml"/><Relationship Id="rId9" Type="http://schemas.openxmlformats.org/officeDocument/2006/relationships/image" Target="../media/image1.png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theme" Target="../theme/theme8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3" Type="http://schemas.openxmlformats.org/officeDocument/2006/relationships/slideLayout" Target="../slideLayouts/slideLayout51.xml"/><Relationship Id="rId7" Type="http://schemas.openxmlformats.org/officeDocument/2006/relationships/slideLayout" Target="../slideLayouts/slideLayout5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5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2.xml"/><Relationship Id="rId2" Type="http://schemas.openxmlformats.org/officeDocument/2006/relationships/slideLayout" Target="../slideLayouts/slideLayout61.xml"/><Relationship Id="rId1" Type="http://schemas.openxmlformats.org/officeDocument/2006/relationships/slideLayout" Target="../slideLayouts/slideLayout60.xml"/><Relationship Id="rId5" Type="http://schemas.openxmlformats.org/officeDocument/2006/relationships/theme" Target="../theme/theme10.xml"/><Relationship Id="rId4" Type="http://schemas.openxmlformats.org/officeDocument/2006/relationships/slideLayout" Target="../slideLayouts/slideLayout6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3E82C93-8890-B13D-ADDB-D6359F41D617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20" r:id="rId1"/>
    <p:sldLayoutId id="2147483721" r:id="rId2"/>
    <p:sldLayoutId id="2147483722" r:id="rId3"/>
    <p:sldLayoutId id="2147483847" r:id="rId4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36213" algn="ctr" rtl="0" fontAlgn="base" latinLnBrk="1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872426" algn="ctr" rtl="0" fontAlgn="base" latinLnBrk="1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08635" algn="ctr" rtl="0" fontAlgn="base" latinLnBrk="1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744851" algn="ctr" rtl="0" fontAlgn="base" latinLnBrk="1">
        <a:spcBef>
          <a:spcPct val="0"/>
        </a:spcBef>
        <a:spcAft>
          <a:spcPct val="0"/>
        </a:spcAft>
        <a:defRPr kumimoji="1" sz="42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27160" indent="-32716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100">
          <a:solidFill>
            <a:schemeClr val="tx1"/>
          </a:solidFill>
          <a:latin typeface="+mn-lt"/>
          <a:ea typeface="+mn-ea"/>
          <a:cs typeface="+mn-cs"/>
        </a:defRPr>
      </a:lvl1pPr>
      <a:lvl2pPr marL="708844" indent="-271119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700">
          <a:solidFill>
            <a:schemeClr val="tx1"/>
          </a:solidFill>
          <a:latin typeface="+mn-lt"/>
          <a:ea typeface="+mn-ea"/>
        </a:defRPr>
      </a:lvl2pPr>
      <a:lvl3pPr marL="1090531" indent="-218105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300">
          <a:solidFill>
            <a:schemeClr val="tx1"/>
          </a:solidFill>
          <a:latin typeface="+mn-lt"/>
          <a:ea typeface="+mn-ea"/>
        </a:defRPr>
      </a:lvl3pPr>
      <a:lvl4pPr marL="1525230" indent="-215076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1900">
          <a:solidFill>
            <a:schemeClr val="tx1"/>
          </a:solidFill>
          <a:latin typeface="+mn-lt"/>
          <a:ea typeface="+mn-ea"/>
        </a:defRPr>
      </a:lvl4pPr>
      <a:lvl5pPr marL="1962956" indent="-218105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1900">
          <a:solidFill>
            <a:schemeClr val="tx1"/>
          </a:solidFill>
          <a:latin typeface="+mn-lt"/>
          <a:ea typeface="+mn-ea"/>
        </a:defRPr>
      </a:lvl5pPr>
      <a:lvl6pPr marL="2399166" indent="-218105" algn="l" rtl="0" fontAlgn="base" latinLnBrk="1">
        <a:spcBef>
          <a:spcPct val="20000"/>
        </a:spcBef>
        <a:spcAft>
          <a:spcPct val="0"/>
        </a:spcAft>
        <a:buChar char="»"/>
        <a:defRPr kumimoji="1" sz="1900">
          <a:solidFill>
            <a:schemeClr val="tx1"/>
          </a:solidFill>
          <a:latin typeface="+mn-lt"/>
          <a:ea typeface="+mn-ea"/>
        </a:defRPr>
      </a:lvl6pPr>
      <a:lvl7pPr marL="2835382" indent="-218105" algn="l" rtl="0" fontAlgn="base" latinLnBrk="1">
        <a:spcBef>
          <a:spcPct val="20000"/>
        </a:spcBef>
        <a:spcAft>
          <a:spcPct val="0"/>
        </a:spcAft>
        <a:buChar char="»"/>
        <a:defRPr kumimoji="1" sz="1900">
          <a:solidFill>
            <a:schemeClr val="tx1"/>
          </a:solidFill>
          <a:latin typeface="+mn-lt"/>
          <a:ea typeface="+mn-ea"/>
        </a:defRPr>
      </a:lvl7pPr>
      <a:lvl8pPr marL="3271594" indent="-218105" algn="l" rtl="0" fontAlgn="base" latinLnBrk="1">
        <a:spcBef>
          <a:spcPct val="20000"/>
        </a:spcBef>
        <a:spcAft>
          <a:spcPct val="0"/>
        </a:spcAft>
        <a:buChar char="»"/>
        <a:defRPr kumimoji="1" sz="1900">
          <a:solidFill>
            <a:schemeClr val="tx1"/>
          </a:solidFill>
          <a:latin typeface="+mn-lt"/>
          <a:ea typeface="+mn-ea"/>
        </a:defRPr>
      </a:lvl8pPr>
      <a:lvl9pPr marL="3707807" indent="-218105" algn="l" rtl="0" fontAlgn="base" latinLnBrk="1">
        <a:spcBef>
          <a:spcPct val="20000"/>
        </a:spcBef>
        <a:spcAft>
          <a:spcPct val="0"/>
        </a:spcAft>
        <a:buChar char="»"/>
        <a:defRPr kumimoji="1" sz="19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436213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2pPr>
      <a:lvl3pPr marL="872426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308635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4pPr>
      <a:lvl5pPr marL="1744851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5pPr>
      <a:lvl6pPr marL="2181061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6pPr>
      <a:lvl7pPr marL="2617275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7pPr>
      <a:lvl8pPr marL="3053486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8pPr>
      <a:lvl9pPr marL="3489699" algn="l" defTabSz="872426" rtl="0" eaLnBrk="1" latinLnBrk="1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600205"/>
            <a:ext cx="89154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5E504175-86C1-4D49-BE45-170EB1184398}" type="datetimeFigureOut">
              <a:rPr kumimoji="0" lang="ko-KR" altLang="en-US" b="0" smtClean="0">
                <a:solidFill>
                  <a:prstClr val="black">
                    <a:tint val="75000"/>
                  </a:prstClr>
                </a:solidFill>
                <a:latin typeface="맑은 고딕"/>
                <a:ea typeface="맑은 고딕" panose="020B0503020000020004" pitchFamily="50" charset="-127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2026-03-20</a:t>
            </a:fld>
            <a:endParaRPr kumimoji="0" lang="ko-KR" altLang="en-US" b="0">
              <a:solidFill>
                <a:prstClr val="black">
                  <a:tint val="75000"/>
                </a:prst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5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b="0">
              <a:solidFill>
                <a:prstClr val="black">
                  <a:tint val="75000"/>
                </a:prst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1FD12466-D369-4133-A394-FDE5160901D4}" type="slidenum">
              <a:rPr kumimoji="0" lang="ko-KR" altLang="en-US" b="0" smtClean="0">
                <a:solidFill>
                  <a:prstClr val="black">
                    <a:tint val="75000"/>
                  </a:prstClr>
                </a:solidFill>
                <a:latin typeface="맑은 고딕"/>
                <a:ea typeface="맑은 고딕" panose="020B0503020000020004" pitchFamily="50" charset="-127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kumimoji="0" lang="ko-KR" altLang="en-US" b="0">
              <a:solidFill>
                <a:prstClr val="black">
                  <a:tint val="75000"/>
                </a:prst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277F64-F053-672E-F586-82A4F3B236DD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3450446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0" r:id="rId1"/>
    <p:sldLayoutId id="2147483731" r:id="rId2"/>
    <p:sldLayoutId id="2147483732" r:id="rId3"/>
    <p:sldLayoutId id="2147483733" r:id="rId4"/>
    <p:sldLayoutId id="2147483734" r:id="rId5"/>
    <p:sldLayoutId id="2147483735" r:id="rId6"/>
    <p:sldLayoutId id="2147483736" r:id="rId7"/>
    <p:sldLayoutId id="2147483737" r:id="rId8"/>
    <p:sldLayoutId id="2147483849" r:id="rId9"/>
  </p:sldLayoutIdLst>
  <p:txStyles>
    <p:titleStyle>
      <a:lvl1pPr algn="ctr" defTabSz="844078" rtl="0" eaLnBrk="1" latinLnBrk="1" hangingPunct="1">
        <a:spcBef>
          <a:spcPct val="0"/>
        </a:spcBef>
        <a:buNone/>
        <a:defRPr sz="4062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16529" indent="-316529" algn="l" defTabSz="844078" rtl="0" eaLnBrk="1" latinLnBrk="1" hangingPunct="1">
        <a:spcBef>
          <a:spcPct val="20000"/>
        </a:spcBef>
        <a:buFont typeface="Arial" pitchFamily="34" charset="0"/>
        <a:buChar char="•"/>
        <a:defRPr sz="2954" kern="1200">
          <a:solidFill>
            <a:schemeClr val="tx1"/>
          </a:solidFill>
          <a:latin typeface="+mn-lt"/>
          <a:ea typeface="+mn-ea"/>
          <a:cs typeface="+mn-cs"/>
        </a:defRPr>
      </a:lvl1pPr>
      <a:lvl2pPr marL="685813" indent="-263775" algn="l" defTabSz="844078" rtl="0" eaLnBrk="1" latinLnBrk="1" hangingPunct="1">
        <a:spcBef>
          <a:spcPct val="20000"/>
        </a:spcBef>
        <a:buFont typeface="Arial" pitchFamily="34" charset="0"/>
        <a:buChar char="–"/>
        <a:defRPr sz="2585" kern="1200">
          <a:solidFill>
            <a:schemeClr val="tx1"/>
          </a:solidFill>
          <a:latin typeface="+mn-lt"/>
          <a:ea typeface="+mn-ea"/>
          <a:cs typeface="+mn-cs"/>
        </a:defRPr>
      </a:lvl2pPr>
      <a:lvl3pPr marL="1055097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2215" kern="1200">
          <a:solidFill>
            <a:schemeClr val="tx1"/>
          </a:solidFill>
          <a:latin typeface="+mn-lt"/>
          <a:ea typeface="+mn-ea"/>
          <a:cs typeface="+mn-cs"/>
        </a:defRPr>
      </a:lvl3pPr>
      <a:lvl4pPr marL="1477136" indent="-211020" algn="l" defTabSz="844078" rtl="0" eaLnBrk="1" latinLnBrk="1" hangingPunct="1">
        <a:spcBef>
          <a:spcPct val="20000"/>
        </a:spcBef>
        <a:buFont typeface="Arial" pitchFamily="34" charset="0"/>
        <a:buChar char="–"/>
        <a:defRPr sz="1846" kern="1200">
          <a:solidFill>
            <a:schemeClr val="tx1"/>
          </a:solidFill>
          <a:latin typeface="+mn-lt"/>
          <a:ea typeface="+mn-ea"/>
          <a:cs typeface="+mn-cs"/>
        </a:defRPr>
      </a:lvl4pPr>
      <a:lvl5pPr marL="1899175" indent="-211020" algn="l" defTabSz="844078" rtl="0" eaLnBrk="1" latinLnBrk="1" hangingPunct="1">
        <a:spcBef>
          <a:spcPct val="20000"/>
        </a:spcBef>
        <a:buFont typeface="Arial" pitchFamily="34" charset="0"/>
        <a:buChar char="»"/>
        <a:defRPr sz="1846" kern="1200">
          <a:solidFill>
            <a:schemeClr val="tx1"/>
          </a:solidFill>
          <a:latin typeface="+mn-lt"/>
          <a:ea typeface="+mn-ea"/>
          <a:cs typeface="+mn-cs"/>
        </a:defRPr>
      </a:lvl5pPr>
      <a:lvl6pPr marL="2321213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6pPr>
      <a:lvl7pPr marL="2743253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7pPr>
      <a:lvl8pPr marL="3165291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8pPr>
      <a:lvl9pPr marL="3587330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39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78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17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5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19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33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72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11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53CEF95-97C5-9CA6-F482-D37004A90E2D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37973580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9" r:id="rId1"/>
    <p:sldLayoutId id="2147483760" r:id="rId2"/>
    <p:sldLayoutId id="2147483761" r:id="rId3"/>
    <p:sldLayoutId id="2147483762" r:id="rId4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22039" algn="ctr" rtl="0" fontAlgn="base" latinLnBrk="1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844078" algn="ctr" rtl="0" fontAlgn="base" latinLnBrk="1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266117" algn="ctr" rtl="0" fontAlgn="base" latinLnBrk="1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688155" algn="ctr" rtl="0" fontAlgn="base" latinLnBrk="1">
        <a:spcBef>
          <a:spcPct val="0"/>
        </a:spcBef>
        <a:spcAft>
          <a:spcPct val="0"/>
        </a:spcAft>
        <a:defRPr kumimoji="1" sz="4062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16529" indent="-316529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954">
          <a:solidFill>
            <a:schemeClr val="tx1"/>
          </a:solidFill>
          <a:latin typeface="+mn-lt"/>
          <a:ea typeface="+mn-ea"/>
          <a:cs typeface="+mn-cs"/>
        </a:defRPr>
      </a:lvl1pPr>
      <a:lvl2pPr marL="685813" indent="-263775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585">
          <a:solidFill>
            <a:schemeClr val="tx1"/>
          </a:solidFill>
          <a:latin typeface="+mn-lt"/>
          <a:ea typeface="+mn-ea"/>
        </a:defRPr>
      </a:lvl2pPr>
      <a:lvl3pPr marL="1055097" indent="-21102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215">
          <a:solidFill>
            <a:schemeClr val="tx1"/>
          </a:solidFill>
          <a:latin typeface="+mn-lt"/>
          <a:ea typeface="+mn-ea"/>
        </a:defRPr>
      </a:lvl3pPr>
      <a:lvl4pPr marL="1477136" indent="-21102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1846">
          <a:solidFill>
            <a:schemeClr val="tx1"/>
          </a:solidFill>
          <a:latin typeface="+mn-lt"/>
          <a:ea typeface="+mn-ea"/>
        </a:defRPr>
      </a:lvl4pPr>
      <a:lvl5pPr marL="1899175" indent="-21102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1846">
          <a:solidFill>
            <a:schemeClr val="tx1"/>
          </a:solidFill>
          <a:latin typeface="+mn-lt"/>
          <a:ea typeface="+mn-ea"/>
        </a:defRPr>
      </a:lvl5pPr>
      <a:lvl6pPr marL="2321213" indent="-211020" algn="l" rtl="0" fontAlgn="base" latinLnBrk="1">
        <a:spcBef>
          <a:spcPct val="20000"/>
        </a:spcBef>
        <a:spcAft>
          <a:spcPct val="0"/>
        </a:spcAft>
        <a:buChar char="»"/>
        <a:defRPr kumimoji="1" sz="1846">
          <a:solidFill>
            <a:schemeClr val="tx1"/>
          </a:solidFill>
          <a:latin typeface="+mn-lt"/>
          <a:ea typeface="+mn-ea"/>
        </a:defRPr>
      </a:lvl6pPr>
      <a:lvl7pPr marL="2743253" indent="-211020" algn="l" rtl="0" fontAlgn="base" latinLnBrk="1">
        <a:spcBef>
          <a:spcPct val="20000"/>
        </a:spcBef>
        <a:spcAft>
          <a:spcPct val="0"/>
        </a:spcAft>
        <a:buChar char="»"/>
        <a:defRPr kumimoji="1" sz="1846">
          <a:solidFill>
            <a:schemeClr val="tx1"/>
          </a:solidFill>
          <a:latin typeface="+mn-lt"/>
          <a:ea typeface="+mn-ea"/>
        </a:defRPr>
      </a:lvl7pPr>
      <a:lvl8pPr marL="3165291" indent="-211020" algn="l" rtl="0" fontAlgn="base" latinLnBrk="1">
        <a:spcBef>
          <a:spcPct val="20000"/>
        </a:spcBef>
        <a:spcAft>
          <a:spcPct val="0"/>
        </a:spcAft>
        <a:buChar char="»"/>
        <a:defRPr kumimoji="1" sz="1846">
          <a:solidFill>
            <a:schemeClr val="tx1"/>
          </a:solidFill>
          <a:latin typeface="+mn-lt"/>
          <a:ea typeface="+mn-ea"/>
        </a:defRPr>
      </a:lvl8pPr>
      <a:lvl9pPr marL="3587330" indent="-211020" algn="l" rtl="0" fontAlgn="base" latinLnBrk="1">
        <a:spcBef>
          <a:spcPct val="20000"/>
        </a:spcBef>
        <a:spcAft>
          <a:spcPct val="0"/>
        </a:spcAft>
        <a:buChar char="»"/>
        <a:defRPr kumimoji="1" sz="1846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39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78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17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5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19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33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72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11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Line 39"/>
          <p:cNvSpPr>
            <a:spLocks noChangeShapeType="1"/>
          </p:cNvSpPr>
          <p:nvPr userDrawn="1"/>
        </p:nvSpPr>
        <p:spPr bwMode="auto">
          <a:xfrm>
            <a:off x="0" y="490930"/>
            <a:ext cx="9906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</p:spPr>
        <p:txBody>
          <a:bodyPr lIns="84374" tIns="42187" rIns="84374" bIns="42187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923" b="0" kern="0" dirty="0">
              <a:solidFill>
                <a:sysClr val="windowText" lastClr="000000"/>
              </a:solidFill>
            </a:endParaRPr>
          </a:p>
        </p:txBody>
      </p:sp>
      <p:sp>
        <p:nvSpPr>
          <p:cNvPr id="6" name="직사각형 5"/>
          <p:cNvSpPr/>
          <p:nvPr userDrawn="1"/>
        </p:nvSpPr>
        <p:spPr>
          <a:xfrm>
            <a:off x="4254351" y="125417"/>
            <a:ext cx="1606530" cy="262829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108" b="0" dirty="0">
                <a:solidFill>
                  <a:srgbClr val="FFFFFF">
                    <a:lumMod val="75000"/>
                  </a:srgbClr>
                </a:solidFill>
              </a:rPr>
              <a:t>LGE Internal Use Only</a:t>
            </a:r>
            <a:endParaRPr lang="ko-KR" altLang="en-US" sz="1108" b="0" dirty="0">
              <a:solidFill>
                <a:srgbClr val="FFFFFF">
                  <a:lumMod val="75000"/>
                </a:srgbClr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80DA42C-533F-9E59-185F-983BB19D7488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35686192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9" r:id="rId1"/>
  </p:sldLayoutIdLst>
  <p:hf sldNum="0" hdr="0" ftr="0" dt="0"/>
  <p:txStyles>
    <p:titleStyle>
      <a:lvl1pPr marL="422039" indent="-422039" algn="l" rtl="0" eaLnBrk="0" fontAlgn="base" latinLnBrk="1" hangingPunct="0">
        <a:spcBef>
          <a:spcPct val="0"/>
        </a:spcBef>
        <a:spcAft>
          <a:spcPct val="0"/>
        </a:spcAft>
        <a:defRPr kumimoji="1" sz="923" b="1">
          <a:solidFill>
            <a:schemeClr val="tx1"/>
          </a:solidFill>
          <a:latin typeface="+mj-lt"/>
          <a:ea typeface="+mj-ea"/>
          <a:cs typeface="+mj-cs"/>
        </a:defRPr>
      </a:lvl1pPr>
      <a:lvl2pPr marL="422039" indent="-422039" algn="l" rtl="0" eaLnBrk="0" fontAlgn="base" latinLnBrk="1" hangingPunct="0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2pPr>
      <a:lvl3pPr marL="422039" indent="-422039" algn="l" rtl="0" eaLnBrk="0" fontAlgn="base" latinLnBrk="1" hangingPunct="0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3pPr>
      <a:lvl4pPr marL="422039" indent="-422039" algn="l" rtl="0" eaLnBrk="0" fontAlgn="base" latinLnBrk="1" hangingPunct="0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4pPr>
      <a:lvl5pPr marL="422039" indent="-422039" algn="l" rtl="0" eaLnBrk="0" fontAlgn="base" latinLnBrk="1" hangingPunct="0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5pPr>
      <a:lvl6pPr marL="844078" indent="-422039" algn="l" rtl="0" fontAlgn="base" latinLnBrk="1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6pPr>
      <a:lvl7pPr marL="1266117" indent="-422039" algn="l" rtl="0" fontAlgn="base" latinLnBrk="1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7pPr>
      <a:lvl8pPr marL="1688155" indent="-422039" algn="l" rtl="0" fontAlgn="base" latinLnBrk="1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8pPr>
      <a:lvl9pPr marL="2110195" indent="-422039" algn="l" rtl="0" fontAlgn="base" latinLnBrk="1">
        <a:spcBef>
          <a:spcPct val="0"/>
        </a:spcBef>
        <a:spcAft>
          <a:spcPct val="0"/>
        </a:spcAft>
        <a:defRPr kumimoji="1" sz="2215" b="1">
          <a:solidFill>
            <a:schemeClr val="tx1"/>
          </a:solidFill>
          <a:latin typeface="굴림" pitchFamily="50" charset="-127"/>
          <a:ea typeface="굴림" pitchFamily="50" charset="-127"/>
        </a:defRPr>
      </a:lvl9pPr>
    </p:titleStyle>
    <p:bodyStyle>
      <a:lvl1pPr marL="316529" indent="-316529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1477" b="1">
          <a:solidFill>
            <a:schemeClr val="tx1"/>
          </a:solidFill>
          <a:latin typeface="+mn-lt"/>
          <a:ea typeface="+mn-ea"/>
          <a:cs typeface="+mn-cs"/>
        </a:defRPr>
      </a:lvl1pPr>
      <a:lvl2pPr marL="703398" indent="-281359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1477" b="1">
          <a:solidFill>
            <a:schemeClr val="tx1"/>
          </a:solidFill>
          <a:latin typeface="+mn-lt"/>
          <a:ea typeface="+mn-ea"/>
        </a:defRPr>
      </a:lvl2pPr>
      <a:lvl3pPr marL="1090267" indent="-24619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1292" b="1">
          <a:solidFill>
            <a:schemeClr val="tx1"/>
          </a:solidFill>
          <a:latin typeface="+mn-lt"/>
          <a:ea typeface="+mn-ea"/>
        </a:defRPr>
      </a:lvl3pPr>
      <a:lvl4pPr marL="1477136" indent="-21102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1108" b="1">
          <a:solidFill>
            <a:schemeClr val="tx1"/>
          </a:solidFill>
          <a:latin typeface="+mn-lt"/>
          <a:ea typeface="+mn-ea"/>
        </a:defRPr>
      </a:lvl4pPr>
      <a:lvl5pPr marL="1899175" indent="-21102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1108" b="1">
          <a:solidFill>
            <a:schemeClr val="tx1"/>
          </a:solidFill>
          <a:latin typeface="+mn-lt"/>
          <a:ea typeface="+mn-ea"/>
        </a:defRPr>
      </a:lvl5pPr>
      <a:lvl6pPr marL="2321213" indent="-211020" algn="l" rtl="0" fontAlgn="base" latinLnBrk="1">
        <a:spcBef>
          <a:spcPct val="20000"/>
        </a:spcBef>
        <a:spcAft>
          <a:spcPct val="0"/>
        </a:spcAft>
        <a:buChar char="»"/>
        <a:defRPr kumimoji="1" sz="1108" b="1">
          <a:solidFill>
            <a:schemeClr val="tx1"/>
          </a:solidFill>
          <a:latin typeface="+mn-lt"/>
          <a:ea typeface="+mn-ea"/>
        </a:defRPr>
      </a:lvl6pPr>
      <a:lvl7pPr marL="2743253" indent="-211020" algn="l" rtl="0" fontAlgn="base" latinLnBrk="1">
        <a:spcBef>
          <a:spcPct val="20000"/>
        </a:spcBef>
        <a:spcAft>
          <a:spcPct val="0"/>
        </a:spcAft>
        <a:buChar char="»"/>
        <a:defRPr kumimoji="1" sz="1108" b="1">
          <a:solidFill>
            <a:schemeClr val="tx1"/>
          </a:solidFill>
          <a:latin typeface="+mn-lt"/>
          <a:ea typeface="+mn-ea"/>
        </a:defRPr>
      </a:lvl7pPr>
      <a:lvl8pPr marL="3165291" indent="-211020" algn="l" rtl="0" fontAlgn="base" latinLnBrk="1">
        <a:spcBef>
          <a:spcPct val="20000"/>
        </a:spcBef>
        <a:spcAft>
          <a:spcPct val="0"/>
        </a:spcAft>
        <a:buChar char="»"/>
        <a:defRPr kumimoji="1" sz="1108" b="1">
          <a:solidFill>
            <a:schemeClr val="tx1"/>
          </a:solidFill>
          <a:latin typeface="+mn-lt"/>
          <a:ea typeface="+mn-ea"/>
        </a:defRPr>
      </a:lvl8pPr>
      <a:lvl9pPr marL="3587330" indent="-211020" algn="l" rtl="0" fontAlgn="base" latinLnBrk="1">
        <a:spcBef>
          <a:spcPct val="20000"/>
        </a:spcBef>
        <a:spcAft>
          <a:spcPct val="0"/>
        </a:spcAft>
        <a:buChar char="»"/>
        <a:defRPr kumimoji="1" sz="1108"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39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78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17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5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19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33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72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11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4" name="Text Box 14"/>
          <p:cNvSpPr txBox="1">
            <a:spLocks noChangeArrowheads="1"/>
          </p:cNvSpPr>
          <p:nvPr userDrawn="1"/>
        </p:nvSpPr>
        <p:spPr bwMode="auto">
          <a:xfrm>
            <a:off x="5280239" y="149227"/>
            <a:ext cx="1233060" cy="212999"/>
          </a:xfrm>
          <a:prstGeom prst="rect">
            <a:avLst/>
          </a:prstGeom>
          <a:noFill/>
          <a:ln w="9525" algn="ctr">
            <a:solidFill>
              <a:srgbClr val="B2B2B2"/>
            </a:solidFill>
            <a:miter lim="800000"/>
            <a:headEnd/>
            <a:tailEnd/>
          </a:ln>
        </p:spPr>
        <p:txBody>
          <a:bodyPr wrap="none" lIns="84311" tIns="42160" rIns="84311" bIns="42160">
            <a:spAutoFit/>
          </a:bodyPr>
          <a:lstStyle/>
          <a:p>
            <a:pPr algn="ctr" defTabSz="843935">
              <a:defRPr/>
            </a:pPr>
            <a:r>
              <a:rPr lang="en-US" altLang="ko-KR" sz="831" b="0" dirty="0">
                <a:solidFill>
                  <a:srgbClr val="B2B2B2"/>
                </a:solidFill>
                <a:latin typeface="Arial" pitchFamily="34" charset="0"/>
                <a:cs typeface="Arial" pitchFamily="34" charset="0"/>
              </a:rPr>
              <a:t>LGE Internal Use Only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3D7BD1-38D8-D4D6-3AF3-BE0D781332C4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18158791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1" r:id="rId1"/>
    <p:sldLayoutId id="2147483792" r:id="rId2"/>
    <p:sldLayoutId id="2147483793" r:id="rId3"/>
    <p:sldLayoutId id="2147483794" r:id="rId4"/>
    <p:sldLayoutId id="2147483795" r:id="rId5"/>
    <p:sldLayoutId id="2147483796" r:id="rId6"/>
    <p:sldLayoutId id="2147483797" r:id="rId7"/>
    <p:sldLayoutId id="2147483798" r:id="rId8"/>
    <p:sldLayoutId id="2147483799" r:id="rId9"/>
    <p:sldLayoutId id="2147483800" r:id="rId10"/>
    <p:sldLayoutId id="2147483801" r:id="rId11"/>
    <p:sldLayoutId id="2147483802" r:id="rId12"/>
    <p:sldLayoutId id="2147483803" r:id="rId13"/>
  </p:sldLayoutIdLst>
  <p:transition spd="slow"/>
  <p:txStyles>
    <p:titleStyle>
      <a:lvl1pPr algn="ctr" defTabSz="842613" rtl="0" eaLnBrk="0" fontAlgn="base" latinLnBrk="1" hangingPunct="0">
        <a:spcBef>
          <a:spcPct val="0"/>
        </a:spcBef>
        <a:spcAft>
          <a:spcPct val="0"/>
        </a:spcAft>
        <a:defRPr kumimoji="1" sz="3969">
          <a:solidFill>
            <a:schemeClr val="tx2"/>
          </a:solidFill>
          <a:latin typeface="+mj-lt"/>
          <a:ea typeface="+mj-ea"/>
          <a:cs typeface="+mj-cs"/>
        </a:defRPr>
      </a:lvl1pPr>
      <a:lvl2pPr algn="ctr" defTabSz="842613" rtl="0" eaLnBrk="0" fontAlgn="base" latinLnBrk="1" hangingPunct="0">
        <a:spcBef>
          <a:spcPct val="0"/>
        </a:spcBef>
        <a:spcAft>
          <a:spcPct val="0"/>
        </a:spcAft>
        <a:defRPr kumimoji="1" sz="3969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842613" rtl="0" eaLnBrk="0" fontAlgn="base" latinLnBrk="1" hangingPunct="0">
        <a:spcBef>
          <a:spcPct val="0"/>
        </a:spcBef>
        <a:spcAft>
          <a:spcPct val="0"/>
        </a:spcAft>
        <a:defRPr kumimoji="1" sz="3969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842613" rtl="0" eaLnBrk="0" fontAlgn="base" latinLnBrk="1" hangingPunct="0">
        <a:spcBef>
          <a:spcPct val="0"/>
        </a:spcBef>
        <a:spcAft>
          <a:spcPct val="0"/>
        </a:spcAft>
        <a:defRPr kumimoji="1" sz="3969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842613" rtl="0" eaLnBrk="0" fontAlgn="base" latinLnBrk="1" hangingPunct="0">
        <a:spcBef>
          <a:spcPct val="0"/>
        </a:spcBef>
        <a:spcAft>
          <a:spcPct val="0"/>
        </a:spcAft>
        <a:defRPr kumimoji="1" sz="3969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563929" algn="ctr" rtl="0" fontAlgn="base" latinLnBrk="1">
        <a:spcBef>
          <a:spcPct val="0"/>
        </a:spcBef>
        <a:spcAft>
          <a:spcPct val="0"/>
        </a:spcAft>
        <a:defRPr kumimoji="1" sz="5262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1127857" algn="ctr" rtl="0" fontAlgn="base" latinLnBrk="1">
        <a:spcBef>
          <a:spcPct val="0"/>
        </a:spcBef>
        <a:spcAft>
          <a:spcPct val="0"/>
        </a:spcAft>
        <a:defRPr kumimoji="1" sz="5262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691786" algn="ctr" rtl="0" fontAlgn="base" latinLnBrk="1">
        <a:spcBef>
          <a:spcPct val="0"/>
        </a:spcBef>
        <a:spcAft>
          <a:spcPct val="0"/>
        </a:spcAft>
        <a:defRPr kumimoji="1" sz="5262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2255714" algn="ctr" rtl="0" fontAlgn="base" latinLnBrk="1">
        <a:spcBef>
          <a:spcPct val="0"/>
        </a:spcBef>
        <a:spcAft>
          <a:spcPct val="0"/>
        </a:spcAft>
        <a:defRPr kumimoji="1" sz="5262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16529" indent="-316529" algn="l" defTabSz="842613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954">
          <a:solidFill>
            <a:schemeClr val="tx1"/>
          </a:solidFill>
          <a:latin typeface="+mn-lt"/>
          <a:ea typeface="+mn-ea"/>
          <a:cs typeface="+mn-cs"/>
        </a:defRPr>
      </a:lvl1pPr>
      <a:lvl2pPr marL="684348" indent="-262310" algn="l" defTabSz="842613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585">
          <a:solidFill>
            <a:schemeClr val="tx1"/>
          </a:solidFill>
          <a:latin typeface="+mn-lt"/>
          <a:ea typeface="+mn-ea"/>
        </a:defRPr>
      </a:lvl2pPr>
      <a:lvl3pPr marL="1052166" indent="-208089" algn="l" defTabSz="842613" rtl="0" eaLnBrk="0" fontAlgn="base" latinLnBrk="1" hangingPunct="0"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475671" indent="-211020" algn="l" defTabSz="842613" rtl="0" eaLnBrk="0" fontAlgn="base" latinLnBrk="1" hangingPunct="0">
        <a:spcBef>
          <a:spcPct val="20000"/>
        </a:spcBef>
        <a:spcAft>
          <a:spcPct val="0"/>
        </a:spcAft>
        <a:buChar char="–"/>
        <a:defRPr kumimoji="1" sz="1846">
          <a:solidFill>
            <a:schemeClr val="tx1"/>
          </a:solidFill>
          <a:latin typeface="+mn-lt"/>
          <a:ea typeface="+mn-ea"/>
        </a:defRPr>
      </a:lvl4pPr>
      <a:lvl5pPr marL="1899175" indent="-211020" algn="l" defTabSz="842613" rtl="0" eaLnBrk="0" fontAlgn="base" latinLnBrk="1" hangingPunct="0">
        <a:spcBef>
          <a:spcPct val="20000"/>
        </a:spcBef>
        <a:spcAft>
          <a:spcPct val="0"/>
        </a:spcAft>
        <a:buChar char="»"/>
        <a:defRPr kumimoji="1" sz="1846">
          <a:solidFill>
            <a:schemeClr val="tx1"/>
          </a:solidFill>
          <a:latin typeface="+mn-lt"/>
          <a:ea typeface="+mn-ea"/>
        </a:defRPr>
      </a:lvl5pPr>
      <a:lvl6pPr marL="3101606" indent="-281965" algn="l" rtl="0" fontAlgn="base" latinLnBrk="1">
        <a:spcBef>
          <a:spcPct val="20000"/>
        </a:spcBef>
        <a:spcAft>
          <a:spcPct val="0"/>
        </a:spcAft>
        <a:buChar char="»"/>
        <a:defRPr kumimoji="1" sz="2492">
          <a:solidFill>
            <a:schemeClr val="tx1"/>
          </a:solidFill>
          <a:latin typeface="+mn-lt"/>
          <a:ea typeface="+mn-ea"/>
        </a:defRPr>
      </a:lvl6pPr>
      <a:lvl7pPr marL="3665534" indent="-281965" algn="l" rtl="0" fontAlgn="base" latinLnBrk="1">
        <a:spcBef>
          <a:spcPct val="20000"/>
        </a:spcBef>
        <a:spcAft>
          <a:spcPct val="0"/>
        </a:spcAft>
        <a:buChar char="»"/>
        <a:defRPr kumimoji="1" sz="2492">
          <a:solidFill>
            <a:schemeClr val="tx1"/>
          </a:solidFill>
          <a:latin typeface="+mn-lt"/>
          <a:ea typeface="+mn-ea"/>
        </a:defRPr>
      </a:lvl7pPr>
      <a:lvl8pPr marL="4229462" indent="-281965" algn="l" rtl="0" fontAlgn="base" latinLnBrk="1">
        <a:spcBef>
          <a:spcPct val="20000"/>
        </a:spcBef>
        <a:spcAft>
          <a:spcPct val="0"/>
        </a:spcAft>
        <a:buChar char="»"/>
        <a:defRPr kumimoji="1" sz="2492">
          <a:solidFill>
            <a:schemeClr val="tx1"/>
          </a:solidFill>
          <a:latin typeface="+mn-lt"/>
          <a:ea typeface="+mn-ea"/>
        </a:defRPr>
      </a:lvl8pPr>
      <a:lvl9pPr marL="4793391" indent="-281965" algn="l" rtl="0" fontAlgn="base" latinLnBrk="1">
        <a:spcBef>
          <a:spcPct val="20000"/>
        </a:spcBef>
        <a:spcAft>
          <a:spcPct val="0"/>
        </a:spcAft>
        <a:buChar char="»"/>
        <a:defRPr kumimoji="1" sz="2492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1pPr>
      <a:lvl2pPr marL="563929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2pPr>
      <a:lvl3pPr marL="1127857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3pPr>
      <a:lvl4pPr marL="1691786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4pPr>
      <a:lvl5pPr marL="2255714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5pPr>
      <a:lvl6pPr marL="2819642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6pPr>
      <a:lvl7pPr marL="3383570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7pPr>
      <a:lvl8pPr marL="3947498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8pPr>
      <a:lvl9pPr marL="4511427" algn="l" defTabSz="1127857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600205"/>
            <a:ext cx="89154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5E504175-86C1-4D49-BE45-170EB1184398}" type="datetimeFigureOut">
              <a:rPr kumimoji="0" lang="ko-KR" altLang="en-US" b="0" smtClean="0">
                <a:solidFill>
                  <a:prstClr val="black">
                    <a:tint val="75000"/>
                  </a:prstClr>
                </a:solidFill>
                <a:latin typeface="맑은 고딕"/>
                <a:ea typeface="맑은 고딕" panose="020B0503020000020004" pitchFamily="50" charset="-127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2026-03-20</a:t>
            </a:fld>
            <a:endParaRPr kumimoji="0" lang="ko-KR" altLang="en-US" b="0">
              <a:solidFill>
                <a:prstClr val="black">
                  <a:tint val="75000"/>
                </a:prst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5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b="0">
              <a:solidFill>
                <a:prstClr val="black">
                  <a:tint val="75000"/>
                </a:prst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1FD12466-D369-4133-A394-FDE5160901D4}" type="slidenum">
              <a:rPr kumimoji="0" lang="ko-KR" altLang="en-US" b="0" smtClean="0">
                <a:solidFill>
                  <a:prstClr val="black">
                    <a:tint val="75000"/>
                  </a:prstClr>
                </a:solidFill>
                <a:latin typeface="맑은 고딕"/>
                <a:ea typeface="맑은 고딕" panose="020B0503020000020004" pitchFamily="50" charset="-127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kumimoji="0" lang="ko-KR" altLang="en-US" b="0">
              <a:solidFill>
                <a:prstClr val="black">
                  <a:tint val="75000"/>
                </a:prst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2220431-CA46-9291-36DE-2B6D73CFDECE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5178065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5" r:id="rId1"/>
    <p:sldLayoutId id="2147483806" r:id="rId2"/>
    <p:sldLayoutId id="2147483807" r:id="rId3"/>
    <p:sldLayoutId id="2147483808" r:id="rId4"/>
    <p:sldLayoutId id="2147483809" r:id="rId5"/>
    <p:sldLayoutId id="2147483810" r:id="rId6"/>
    <p:sldLayoutId id="2147483811" r:id="rId7"/>
    <p:sldLayoutId id="2147483812" r:id="rId8"/>
  </p:sldLayoutIdLst>
  <p:txStyles>
    <p:titleStyle>
      <a:lvl1pPr algn="ctr" defTabSz="844078" rtl="0" eaLnBrk="1" latinLnBrk="1" hangingPunct="1">
        <a:spcBef>
          <a:spcPct val="0"/>
        </a:spcBef>
        <a:buNone/>
        <a:defRPr sz="4062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16529" indent="-316529" algn="l" defTabSz="844078" rtl="0" eaLnBrk="1" latinLnBrk="1" hangingPunct="1">
        <a:spcBef>
          <a:spcPct val="20000"/>
        </a:spcBef>
        <a:buFont typeface="Arial" pitchFamily="34" charset="0"/>
        <a:buChar char="•"/>
        <a:defRPr sz="2954" kern="1200">
          <a:solidFill>
            <a:schemeClr val="tx1"/>
          </a:solidFill>
          <a:latin typeface="+mn-lt"/>
          <a:ea typeface="+mn-ea"/>
          <a:cs typeface="+mn-cs"/>
        </a:defRPr>
      </a:lvl1pPr>
      <a:lvl2pPr marL="685813" indent="-263775" algn="l" defTabSz="844078" rtl="0" eaLnBrk="1" latinLnBrk="1" hangingPunct="1">
        <a:spcBef>
          <a:spcPct val="20000"/>
        </a:spcBef>
        <a:buFont typeface="Arial" pitchFamily="34" charset="0"/>
        <a:buChar char="–"/>
        <a:defRPr sz="2585" kern="1200">
          <a:solidFill>
            <a:schemeClr val="tx1"/>
          </a:solidFill>
          <a:latin typeface="+mn-lt"/>
          <a:ea typeface="+mn-ea"/>
          <a:cs typeface="+mn-cs"/>
        </a:defRPr>
      </a:lvl2pPr>
      <a:lvl3pPr marL="1055097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2215" kern="1200">
          <a:solidFill>
            <a:schemeClr val="tx1"/>
          </a:solidFill>
          <a:latin typeface="+mn-lt"/>
          <a:ea typeface="+mn-ea"/>
          <a:cs typeface="+mn-cs"/>
        </a:defRPr>
      </a:lvl3pPr>
      <a:lvl4pPr marL="1477136" indent="-211020" algn="l" defTabSz="844078" rtl="0" eaLnBrk="1" latinLnBrk="1" hangingPunct="1">
        <a:spcBef>
          <a:spcPct val="20000"/>
        </a:spcBef>
        <a:buFont typeface="Arial" pitchFamily="34" charset="0"/>
        <a:buChar char="–"/>
        <a:defRPr sz="1846" kern="1200">
          <a:solidFill>
            <a:schemeClr val="tx1"/>
          </a:solidFill>
          <a:latin typeface="+mn-lt"/>
          <a:ea typeface="+mn-ea"/>
          <a:cs typeface="+mn-cs"/>
        </a:defRPr>
      </a:lvl4pPr>
      <a:lvl5pPr marL="1899175" indent="-211020" algn="l" defTabSz="844078" rtl="0" eaLnBrk="1" latinLnBrk="1" hangingPunct="1">
        <a:spcBef>
          <a:spcPct val="20000"/>
        </a:spcBef>
        <a:buFont typeface="Arial" pitchFamily="34" charset="0"/>
        <a:buChar char="»"/>
        <a:defRPr sz="1846" kern="1200">
          <a:solidFill>
            <a:schemeClr val="tx1"/>
          </a:solidFill>
          <a:latin typeface="+mn-lt"/>
          <a:ea typeface="+mn-ea"/>
          <a:cs typeface="+mn-cs"/>
        </a:defRPr>
      </a:lvl5pPr>
      <a:lvl6pPr marL="2321213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6pPr>
      <a:lvl7pPr marL="2743253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7pPr>
      <a:lvl8pPr marL="3165291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8pPr>
      <a:lvl9pPr marL="3587330" indent="-211020" algn="l" defTabSz="844078" rtl="0" eaLnBrk="1" latinLnBrk="1" hangingPunct="1">
        <a:spcBef>
          <a:spcPct val="20000"/>
        </a:spcBef>
        <a:buFont typeface="Arial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039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078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117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15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195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233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272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6311" algn="l" defTabSz="844078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346700" y="116723"/>
            <a:ext cx="1208963" cy="276987"/>
          </a:xfrm>
          <a:prstGeom prst="rect">
            <a:avLst/>
          </a:prstGeom>
          <a:ln>
            <a:solidFill>
              <a:srgbClr val="FFFFFF">
                <a:lumMod val="85000"/>
              </a:srgbClr>
            </a:solidFill>
          </a:ln>
        </p:spPr>
        <p:txBody>
          <a:bodyPr wrap="none" lIns="91429" tIns="45714" rIns="91429" bIns="45714">
            <a:sp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200" kern="0" dirty="0">
                <a:solidFill>
                  <a:srgbClr val="FFFFFF">
                    <a:lumMod val="75000"/>
                  </a:srgb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LGE Confidential</a:t>
            </a:r>
            <a:endParaRPr kumimoji="0" lang="ko-KR" altLang="en-US" sz="1200" kern="0" dirty="0">
              <a:solidFill>
                <a:srgbClr val="FFFFFF">
                  <a:lumMod val="75000"/>
                </a:srgb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4" name="Picture 3" descr="C:\Users\hyun\Desktop\비전로고_두줄.png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8809963" y="6386473"/>
            <a:ext cx="971368" cy="421758"/>
          </a:xfrm>
          <a:prstGeom prst="rect">
            <a:avLst/>
          </a:prstGeom>
          <a:noFill/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A4D14AF-0873-6BF1-5CDB-D9BFDCED72B1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281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27180865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8" r:id="rId1"/>
    <p:sldLayoutId id="2147483839" r:id="rId2"/>
    <p:sldLayoutId id="2147483840" r:id="rId3"/>
    <p:sldLayoutId id="2147483841" r:id="rId4"/>
    <p:sldLayoutId id="2147483843" r:id="rId5"/>
    <p:sldLayoutId id="2147483844" r:id="rId6"/>
    <p:sldLayoutId id="2147483845" r:id="rId7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Line 4"/>
          <p:cNvSpPr>
            <a:spLocks noChangeShapeType="1"/>
          </p:cNvSpPr>
          <p:nvPr userDrawn="1"/>
        </p:nvSpPr>
        <p:spPr bwMode="auto">
          <a:xfrm>
            <a:off x="0" y="521904"/>
            <a:ext cx="990600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>
              <a:defRPr/>
            </a:pPr>
            <a:endParaRPr lang="ko-KR" altLang="en-US" sz="1189">
              <a:solidFill>
                <a:prstClr val="black"/>
              </a:solidFill>
              <a:latin typeface="Arial Narrow" pitchFamily="34" charset="0"/>
              <a:ea typeface="LG스마트체 Regular" pitchFamily="50" charset="-127"/>
            </a:endParaRPr>
          </a:p>
        </p:txBody>
      </p:sp>
      <p:sp>
        <p:nvSpPr>
          <p:cNvPr id="2" name="MSIPCMContentMarking" descr="{&quot;HashCode&quot;:966751382,&quot;Placement&quot;:&quot;Header&quot;,&quot;Top&quot;:0.0,&quot;Left&quot;:413.954651,&quot;SlideWidth&quot;:960,&quot;SlideHeight&quot;:540}">
            <a:extLst>
              <a:ext uri="{FF2B5EF4-FFF2-40B4-BE49-F238E27FC236}">
                <a16:creationId xmlns:a16="http://schemas.microsoft.com/office/drawing/2014/main" id="{A15BBB25-BE2B-4FD1-AB8B-EA193470C466}"/>
              </a:ext>
            </a:extLst>
          </p:cNvPr>
          <p:cNvSpPr txBox="1"/>
          <p:nvPr userDrawn="1"/>
        </p:nvSpPr>
        <p:spPr>
          <a:xfrm>
            <a:off x="4271495" y="73243"/>
            <a:ext cx="1363010" cy="150041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en-US" altLang="ko-KR" sz="975">
                <a:solidFill>
                  <a:srgbClr val="000000"/>
                </a:solidFill>
                <a:latin typeface="Calibri" panose="020F0502020204030204" pitchFamily="34" charset="0"/>
              </a:rPr>
              <a:t>LGE Internal Use Only</a:t>
            </a:r>
            <a:endParaRPr lang="ko-KR" altLang="en-US" sz="975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55760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1" r:id="rId1"/>
    <p:sldLayoutId id="2147483852" r:id="rId2"/>
  </p:sldLayoutIdLst>
  <p:hf sldNum="0" hdr="0" ftr="0" dt="0"/>
  <p:txStyles>
    <p:titleStyle>
      <a:lvl1pPr algn="l" defTabSz="603647" rtl="0" eaLnBrk="1" latinLnBrk="1" hangingPunct="1">
        <a:lnSpc>
          <a:spcPct val="90000"/>
        </a:lnSpc>
        <a:spcBef>
          <a:spcPct val="0"/>
        </a:spcBef>
        <a:buNone/>
        <a:defRPr sz="290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0912" indent="-150912" algn="l" defTabSz="603647" rtl="0" eaLnBrk="1" latinLnBrk="1" hangingPunct="1">
        <a:lnSpc>
          <a:spcPct val="90000"/>
        </a:lnSpc>
        <a:spcBef>
          <a:spcPts val="661"/>
        </a:spcBef>
        <a:buFont typeface="Arial" panose="020B0604020202020204" pitchFamily="34" charset="0"/>
        <a:buChar char="•"/>
        <a:defRPr sz="1848" kern="1200">
          <a:solidFill>
            <a:schemeClr val="tx1"/>
          </a:solidFill>
          <a:latin typeface="+mn-lt"/>
          <a:ea typeface="+mn-ea"/>
          <a:cs typeface="+mn-cs"/>
        </a:defRPr>
      </a:lvl1pPr>
      <a:lvl2pPr marL="452736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584" kern="1200">
          <a:solidFill>
            <a:schemeClr val="tx1"/>
          </a:solidFill>
          <a:latin typeface="+mn-lt"/>
          <a:ea typeface="+mn-ea"/>
          <a:cs typeface="+mn-cs"/>
        </a:defRPr>
      </a:lvl2pPr>
      <a:lvl3pPr marL="754559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320" kern="1200">
          <a:solidFill>
            <a:schemeClr val="tx1"/>
          </a:solidFill>
          <a:latin typeface="+mn-lt"/>
          <a:ea typeface="+mn-ea"/>
          <a:cs typeface="+mn-cs"/>
        </a:defRPr>
      </a:lvl3pPr>
      <a:lvl4pPr marL="1056382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189" kern="1200">
          <a:solidFill>
            <a:schemeClr val="tx1"/>
          </a:solidFill>
          <a:latin typeface="+mn-lt"/>
          <a:ea typeface="+mn-ea"/>
          <a:cs typeface="+mn-cs"/>
        </a:defRPr>
      </a:lvl4pPr>
      <a:lvl5pPr marL="1358206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189" kern="1200">
          <a:solidFill>
            <a:schemeClr val="tx1"/>
          </a:solidFill>
          <a:latin typeface="+mn-lt"/>
          <a:ea typeface="+mn-ea"/>
          <a:cs typeface="+mn-cs"/>
        </a:defRPr>
      </a:lvl5pPr>
      <a:lvl6pPr marL="1660029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189" kern="1200">
          <a:solidFill>
            <a:schemeClr val="tx1"/>
          </a:solidFill>
          <a:latin typeface="+mn-lt"/>
          <a:ea typeface="+mn-ea"/>
          <a:cs typeface="+mn-cs"/>
        </a:defRPr>
      </a:lvl6pPr>
      <a:lvl7pPr marL="1961853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189" kern="1200">
          <a:solidFill>
            <a:schemeClr val="tx1"/>
          </a:solidFill>
          <a:latin typeface="+mn-lt"/>
          <a:ea typeface="+mn-ea"/>
          <a:cs typeface="+mn-cs"/>
        </a:defRPr>
      </a:lvl7pPr>
      <a:lvl8pPr marL="2263676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189" kern="1200">
          <a:solidFill>
            <a:schemeClr val="tx1"/>
          </a:solidFill>
          <a:latin typeface="+mn-lt"/>
          <a:ea typeface="+mn-ea"/>
          <a:cs typeface="+mn-cs"/>
        </a:defRPr>
      </a:lvl8pPr>
      <a:lvl9pPr marL="2565500" indent="-150912" algn="l" defTabSz="603647" rtl="0" eaLnBrk="1" latinLnBrk="1" hangingPunct="1">
        <a:lnSpc>
          <a:spcPct val="90000"/>
        </a:lnSpc>
        <a:spcBef>
          <a:spcPts val="330"/>
        </a:spcBef>
        <a:buFont typeface="Arial" panose="020B0604020202020204" pitchFamily="34" charset="0"/>
        <a:buChar char="•"/>
        <a:defRPr sz="118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1pPr>
      <a:lvl2pPr marL="301823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2pPr>
      <a:lvl3pPr marL="603647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3pPr>
      <a:lvl4pPr marL="905470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4pPr>
      <a:lvl5pPr marL="1207294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5pPr>
      <a:lvl6pPr marL="1509117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6pPr>
      <a:lvl7pPr marL="1810941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7pPr>
      <a:lvl8pPr marL="2112764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8pPr>
      <a:lvl9pPr marL="2414588" algn="l" defTabSz="603647" rtl="0" eaLnBrk="1" latinLnBrk="1" hangingPunct="1">
        <a:defRPr sz="118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4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490B811-E9BF-4091-9FAF-B6CBB6CE44F2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4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4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48615B6-7E0F-4317-BA1D-1F8E9F8B5BC3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FF947DD-A631-F0EC-D10E-47A6A424D878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407397" y="63501"/>
            <a:ext cx="1119584" cy="150041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975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40965021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4" r:id="rId1"/>
    <p:sldLayoutId id="2147483855" r:id="rId2"/>
    <p:sldLayoutId id="2147483856" r:id="rId3"/>
    <p:sldLayoutId id="2147483857" r:id="rId4"/>
    <p:sldLayoutId id="2147483858" r:id="rId5"/>
    <p:sldLayoutId id="2147483859" r:id="rId6"/>
    <p:sldLayoutId id="2147483860" r:id="rId7"/>
    <p:sldLayoutId id="2147483861" r:id="rId8"/>
    <p:sldLayoutId id="2147483862" r:id="rId9"/>
    <p:sldLayoutId id="2147483863" r:id="rId10"/>
    <p:sldLayoutId id="2147483864" r:id="rId11"/>
  </p:sldLayoutIdLst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A0443705-9A3C-4E3E-B59A-F771752356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A4B8F6B-C480-4728-B66C-A974423ECC4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AC9E0C61-3524-4F51-BEB8-E807546A4E8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B25FD5E-34C4-49DB-9B9A-C85B38ED8BB6}" type="datetimeFigureOut">
              <a:rPr lang="ko-KR" altLang="en-US" smtClean="0"/>
              <a:t>2026-03-21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FD264FA-BEBA-4EF0-A036-4FB09BD38B7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64978FF1-48A4-46B5-8EAC-E247BF021F4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E155331-3EB5-4C6A-8559-F1AB8908132D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FAB9B3B-9DDB-4662-B95D-634D691984F5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4407397" y="63501"/>
            <a:ext cx="1119584" cy="150041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975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5472587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6" r:id="rId1"/>
    <p:sldLayoutId id="2147483867" r:id="rId2"/>
    <p:sldLayoutId id="2147483868" r:id="rId3"/>
    <p:sldLayoutId id="2147483869" r:id="rId4"/>
  </p:sldLayoutIdLst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29.xml"/><Relationship Id="rId7" Type="http://schemas.openxmlformats.org/officeDocument/2006/relationships/slide" Target="slide24.xml"/><Relationship Id="rId2" Type="http://schemas.openxmlformats.org/officeDocument/2006/relationships/slide" Target="slide26.xml"/><Relationship Id="rId1" Type="http://schemas.openxmlformats.org/officeDocument/2006/relationships/slideLayout" Target="../slideLayouts/slideLayout4.xml"/><Relationship Id="rId6" Type="http://schemas.openxmlformats.org/officeDocument/2006/relationships/slide" Target="slide4.xml"/><Relationship Id="rId5" Type="http://schemas.openxmlformats.org/officeDocument/2006/relationships/slide" Target="slide31.xml"/><Relationship Id="rId4" Type="http://schemas.openxmlformats.org/officeDocument/2006/relationships/slide" Target="slide3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tags" Target="../tags/tag3.xml"/><Relationship Id="rId7" Type="http://schemas.openxmlformats.org/officeDocument/2006/relationships/notesSlide" Target="../notesSlides/notesSlide1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slideLayout" Target="../slideLayouts/slideLayout18.xml"/><Relationship Id="rId11" Type="http://schemas.openxmlformats.org/officeDocument/2006/relationships/chart" Target="../charts/chart1.xml"/><Relationship Id="rId5" Type="http://schemas.openxmlformats.org/officeDocument/2006/relationships/tags" Target="../tags/tag5.xml"/><Relationship Id="rId10" Type="http://schemas.openxmlformats.org/officeDocument/2006/relationships/image" Target="../media/image8.png"/><Relationship Id="rId4" Type="http://schemas.openxmlformats.org/officeDocument/2006/relationships/tags" Target="../tags/tag4.xml"/><Relationship Id="rId9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6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slide" Target="slide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slide" Target="slide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8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slide" Target="slide3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10.xml"/><Relationship Id="rId3" Type="http://schemas.openxmlformats.org/officeDocument/2006/relationships/notesSlide" Target="../notesSlides/notesSlide5.xml"/><Relationship Id="rId7" Type="http://schemas.openxmlformats.org/officeDocument/2006/relationships/image" Target="../media/image15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10" Type="http://schemas.openxmlformats.org/officeDocument/2006/relationships/image" Target="../media/image17.png"/><Relationship Id="rId4" Type="http://schemas.openxmlformats.org/officeDocument/2006/relationships/slide" Target="slide2.xml"/><Relationship Id="rId9" Type="http://schemas.openxmlformats.org/officeDocument/2006/relationships/image" Target="../media/image16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10.xml"/><Relationship Id="rId3" Type="http://schemas.openxmlformats.org/officeDocument/2006/relationships/notesSlide" Target="../notesSlides/notesSlide6.xml"/><Relationship Id="rId7" Type="http://schemas.openxmlformats.org/officeDocument/2006/relationships/image" Target="../media/image20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0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slide" Target="slide2.xml"/><Relationship Id="rId9" Type="http://schemas.openxmlformats.org/officeDocument/2006/relationships/image" Target="../media/image2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notesSlide" Target="../notesSlides/notesSlide7.xml"/><Relationship Id="rId7" Type="http://schemas.openxmlformats.org/officeDocument/2006/relationships/image" Target="../media/image24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1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10" Type="http://schemas.openxmlformats.org/officeDocument/2006/relationships/image" Target="../media/image27.png"/><Relationship Id="rId4" Type="http://schemas.openxmlformats.org/officeDocument/2006/relationships/slide" Target="slide8.xml"/><Relationship Id="rId9" Type="http://schemas.openxmlformats.org/officeDocument/2006/relationships/image" Target="../media/image2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12.xml"/><Relationship Id="rId3" Type="http://schemas.openxmlformats.org/officeDocument/2006/relationships/notesSlide" Target="../notesSlides/notesSlide8.xml"/><Relationship Id="rId7" Type="http://schemas.openxmlformats.org/officeDocument/2006/relationships/slide" Target="slide16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2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slide" Target="slide2.xml"/><Relationship Id="rId9" Type="http://schemas.openxmlformats.org/officeDocument/2006/relationships/image" Target="../media/image30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13" Type="http://schemas.openxmlformats.org/officeDocument/2006/relationships/image" Target="../media/image39.png"/><Relationship Id="rId3" Type="http://schemas.openxmlformats.org/officeDocument/2006/relationships/notesSlide" Target="../notesSlides/notesSlide9.xml"/><Relationship Id="rId7" Type="http://schemas.openxmlformats.org/officeDocument/2006/relationships/image" Target="../media/image33.jpeg"/><Relationship Id="rId12" Type="http://schemas.openxmlformats.org/officeDocument/2006/relationships/image" Target="../media/image38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42.png"/><Relationship Id="rId1" Type="http://schemas.openxmlformats.org/officeDocument/2006/relationships/tags" Target="../tags/tag13.xml"/><Relationship Id="rId6" Type="http://schemas.openxmlformats.org/officeDocument/2006/relationships/image" Target="../media/image32.jpeg"/><Relationship Id="rId11" Type="http://schemas.openxmlformats.org/officeDocument/2006/relationships/image" Target="../media/image37.png"/><Relationship Id="rId5" Type="http://schemas.openxmlformats.org/officeDocument/2006/relationships/image" Target="../media/image31.gif"/><Relationship Id="rId15" Type="http://schemas.openxmlformats.org/officeDocument/2006/relationships/image" Target="../media/image41.png"/><Relationship Id="rId10" Type="http://schemas.openxmlformats.org/officeDocument/2006/relationships/image" Target="../media/image36.png"/><Relationship Id="rId4" Type="http://schemas.openxmlformats.org/officeDocument/2006/relationships/slide" Target="slide11.xml"/><Relationship Id="rId9" Type="http://schemas.openxmlformats.org/officeDocument/2006/relationships/image" Target="../media/image35.png"/><Relationship Id="rId14" Type="http://schemas.openxmlformats.org/officeDocument/2006/relationships/image" Target="../media/image4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4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4" Type="http://schemas.openxmlformats.org/officeDocument/2006/relationships/slide" Target="slide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47.jpe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5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slide" Target="slide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6.xml"/><Relationship Id="rId6" Type="http://schemas.openxmlformats.org/officeDocument/2006/relationships/slide" Target="slide10.xml"/><Relationship Id="rId5" Type="http://schemas.openxmlformats.org/officeDocument/2006/relationships/image" Target="../media/image48.png"/><Relationship Id="rId4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13" Type="http://schemas.openxmlformats.org/officeDocument/2006/relationships/image" Target="../media/image57.png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51.png"/><Relationship Id="rId12" Type="http://schemas.openxmlformats.org/officeDocument/2006/relationships/image" Target="../media/image56.png"/><Relationship Id="rId17" Type="http://schemas.openxmlformats.org/officeDocument/2006/relationships/image" Target="../media/image61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1" Type="http://schemas.openxmlformats.org/officeDocument/2006/relationships/tags" Target="../tags/tag17.xml"/><Relationship Id="rId6" Type="http://schemas.openxmlformats.org/officeDocument/2006/relationships/image" Target="../media/image50.png"/><Relationship Id="rId11" Type="http://schemas.openxmlformats.org/officeDocument/2006/relationships/image" Target="../media/image55.png"/><Relationship Id="rId5" Type="http://schemas.openxmlformats.org/officeDocument/2006/relationships/image" Target="../media/image49.png"/><Relationship Id="rId15" Type="http://schemas.openxmlformats.org/officeDocument/2006/relationships/image" Target="../media/image59.png"/><Relationship Id="rId10" Type="http://schemas.openxmlformats.org/officeDocument/2006/relationships/image" Target="../media/image54.png"/><Relationship Id="rId4" Type="http://schemas.openxmlformats.org/officeDocument/2006/relationships/slide" Target="slide11.xml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8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slide" Target="slide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7" Type="http://schemas.openxmlformats.org/officeDocument/2006/relationships/image" Target="../media/image47.jpe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9.xml"/><Relationship Id="rId6" Type="http://schemas.openxmlformats.org/officeDocument/2006/relationships/image" Target="../media/image65.png"/><Relationship Id="rId5" Type="http://schemas.openxmlformats.org/officeDocument/2006/relationships/image" Target="../media/image64.png"/><Relationship Id="rId4" Type="http://schemas.openxmlformats.org/officeDocument/2006/relationships/slide" Target="slide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34.png"/><Relationship Id="rId3" Type="http://schemas.openxmlformats.org/officeDocument/2006/relationships/notesSlide" Target="../notesSlides/notesSlide16.xml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0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slide" Target="slide2.xml"/><Relationship Id="rId9" Type="http://schemas.openxmlformats.org/officeDocument/2006/relationships/image" Target="../media/image70.png"/><Relationship Id="rId14" Type="http://schemas.openxmlformats.org/officeDocument/2006/relationships/image" Target="../media/image3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png"/><Relationship Id="rId3" Type="http://schemas.openxmlformats.org/officeDocument/2006/relationships/notesSlide" Target="../notesSlides/notesSlide17.xml"/><Relationship Id="rId7" Type="http://schemas.openxmlformats.org/officeDocument/2006/relationships/image" Target="../media/image75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1.xml"/><Relationship Id="rId6" Type="http://schemas.openxmlformats.org/officeDocument/2006/relationships/image" Target="../media/image74.png"/><Relationship Id="rId5" Type="http://schemas.openxmlformats.org/officeDocument/2006/relationships/image" Target="../media/image18.png"/><Relationship Id="rId4" Type="http://schemas.openxmlformats.org/officeDocument/2006/relationships/slide" Target="slide2.xml"/><Relationship Id="rId9" Type="http://schemas.openxmlformats.org/officeDocument/2006/relationships/image" Target="../media/image77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.png"/><Relationship Id="rId3" Type="http://schemas.openxmlformats.org/officeDocument/2006/relationships/notesSlide" Target="../notesSlides/notesSlide18.xml"/><Relationship Id="rId7" Type="http://schemas.openxmlformats.org/officeDocument/2006/relationships/image" Target="../media/image11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10" Type="http://schemas.openxmlformats.org/officeDocument/2006/relationships/image" Target="../media/image82.png"/><Relationship Id="rId4" Type="http://schemas.openxmlformats.org/officeDocument/2006/relationships/slide" Target="slide2.xml"/><Relationship Id="rId9" Type="http://schemas.openxmlformats.org/officeDocument/2006/relationships/image" Target="../media/image8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3.xml"/><Relationship Id="rId4" Type="http://schemas.openxmlformats.org/officeDocument/2006/relationships/slide" Target="slide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5" Type="http://schemas.openxmlformats.org/officeDocument/2006/relationships/slide" Target="slide2.xml"/><Relationship Id="rId4" Type="http://schemas.openxmlformats.org/officeDocument/2006/relationships/notesSlide" Target="../notesSlides/notesSlide2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6.xml"/><Relationship Id="rId4" Type="http://schemas.openxmlformats.org/officeDocument/2006/relationships/slide" Target="slide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tags" Target="../tags/tag29.xml"/><Relationship Id="rId7" Type="http://schemas.openxmlformats.org/officeDocument/2006/relationships/slide" Target="slide2.xml"/><Relationship Id="rId2" Type="http://schemas.openxmlformats.org/officeDocument/2006/relationships/tags" Target="../tags/tag28.xml"/><Relationship Id="rId1" Type="http://schemas.openxmlformats.org/officeDocument/2006/relationships/tags" Target="../tags/tag27.xml"/><Relationship Id="rId6" Type="http://schemas.openxmlformats.org/officeDocument/2006/relationships/notesSlide" Target="../notesSlides/notesSlide22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30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1.xml"/><Relationship Id="rId6" Type="http://schemas.openxmlformats.org/officeDocument/2006/relationships/slide" Target="slide2.xml"/><Relationship Id="rId5" Type="http://schemas.openxmlformats.org/officeDocument/2006/relationships/image" Target="../media/image83.wmf"/><Relationship Id="rId4" Type="http://schemas.openxmlformats.org/officeDocument/2006/relationships/package" Target="../embeddings/Microsoft_Excel_Worksheet1.xlsx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4.xml"/><Relationship Id="rId6" Type="http://schemas.openxmlformats.org/officeDocument/2006/relationships/slide" Target="slide2.xml"/><Relationship Id="rId5" Type="http://schemas.openxmlformats.org/officeDocument/2006/relationships/image" Target="../media/image84.png"/><Relationship Id="rId4" Type="http://schemas.openxmlformats.org/officeDocument/2006/relationships/slide" Target="slide3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5.xml"/><Relationship Id="rId4" Type="http://schemas.openxmlformats.org/officeDocument/2006/relationships/slide" Target="slide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" Target="slide29.xml"/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1.xml"/><Relationship Id="rId1" Type="http://schemas.openxmlformats.org/officeDocument/2006/relationships/tags" Target="../tags/tag3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38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39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40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4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7" Type="http://schemas.openxmlformats.org/officeDocument/2006/relationships/image" Target="../media/image88.png"/><Relationship Id="rId2" Type="http://schemas.openxmlformats.org/officeDocument/2006/relationships/slide" Target="slide2.xml"/><Relationship Id="rId1" Type="http://schemas.openxmlformats.org/officeDocument/2006/relationships/slideLayout" Target="../slideLayouts/slideLayout48.xml"/><Relationship Id="rId6" Type="http://schemas.openxmlformats.org/officeDocument/2006/relationships/image" Target="../media/image87.png"/><Relationship Id="rId5" Type="http://schemas.openxmlformats.org/officeDocument/2006/relationships/slide" Target="slide17.xml"/><Relationship Id="rId4" Type="http://schemas.openxmlformats.org/officeDocument/2006/relationships/slide" Target="slide2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9.xml"/><Relationship Id="rId5" Type="http://schemas.openxmlformats.org/officeDocument/2006/relationships/slide" Target="slide2.xml"/><Relationship Id="rId4" Type="http://schemas.openxmlformats.org/officeDocument/2006/relationships/image" Target="../media/image9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slide" Target="slide47.xml"/><Relationship Id="rId2" Type="http://schemas.openxmlformats.org/officeDocument/2006/relationships/slide" Target="slide46.xml"/><Relationship Id="rId1" Type="http://schemas.openxmlformats.org/officeDocument/2006/relationships/slideLayout" Target="../slideLayouts/slideLayout6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C1DCD8-6BB1-EE69-0AF6-128C740273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92E0D5D6-724A-F75B-79AD-88F885AA43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4200942"/>
              </p:ext>
            </p:extLst>
          </p:nvPr>
        </p:nvGraphicFramePr>
        <p:xfrm>
          <a:off x="86691" y="3038561"/>
          <a:ext cx="9748801" cy="3586279"/>
        </p:xfrm>
        <a:graphic>
          <a:graphicData uri="http://schemas.openxmlformats.org/drawingml/2006/table">
            <a:tbl>
              <a:tblPr/>
              <a:tblGrid>
                <a:gridCol w="376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930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80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3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479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8262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No.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Comment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F/up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일정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Owner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49325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 등급은 아래와 같이 확정함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(Best) A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급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Platform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개발임</a:t>
                      </a:r>
                    </a:p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(Better) Ca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→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B_</a:t>
                      </a:r>
                      <a:r>
                        <a:rPr kumimoji="1" lang="en-US" altLang="ko-KR" sz="9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HW/SW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급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(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쿡탑 시스템 변경에 따른 성능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Modify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개발임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                                          (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주 성능에 영향을 주는 신규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UI/UX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변경으로 제어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(SW)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개발등급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임</a:t>
                      </a:r>
                      <a:endParaRPr kumimoji="1" lang="en-US" altLang="ko-KR" sz="9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          * Better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모델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DV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제작은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Best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모델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DV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품평회 완료 이후에 진행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ctr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ctr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8996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-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퀵존 오븐의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USP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또는 고객가치 내용으로 경쟁사의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Air Fryer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와 비교하여 청소성 관련해서도 점검해 볼 것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 트레이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캐비티 청소성 관련 역기능 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개선 예정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PT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검토시험시 청소성 관련 비교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 예정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ctr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5/8</a:t>
                      </a:r>
                    </a:p>
                    <a:p>
                      <a:pPr marL="0" indent="0" algn="ctr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5/8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제품개발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제품개발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DQA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36104"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3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- (Better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2.4” LCD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는 양산 하고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있는것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대비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HW/SW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어떤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변경점이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있는지 확인하고 등급 확정 할 것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쿡탑 시스템 변경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급에 해당됨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(HW) : Base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대비 품번 추가개발로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급에 해당됨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(SW) :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UI/UX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개발로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급에 해당됨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☞ 최종 개발등급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</a:t>
                      </a:r>
                      <a:r>
                        <a:rPr lang="en-US" altLang="ko-KR" sz="900" b="0" i="0" u="none" strike="noStrike" baseline="-25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_HW/SW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급으로 진행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*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개발등급 분류 기준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(B</a:t>
                      </a:r>
                      <a:r>
                        <a:rPr lang="en-US" altLang="ko-KR" sz="800" b="0" i="0" u="none" strike="noStrike" baseline="-250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_HW/SW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제어 변경점은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등급 변경</a:t>
                      </a:r>
                      <a:endParaRPr lang="en-US" altLang="ko-KR" sz="800" b="0" i="0" u="none" strike="noStrike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수준이며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 외 변경점은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등급 이하 변경 일 때</a:t>
                      </a:r>
                      <a:endParaRPr lang="en-US" altLang="ko-KR" sz="800" b="0" i="0" u="none" strike="noStrike" dirty="0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ctr" font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3/9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제품개발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제어개발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2952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4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fontAlgn="ctr"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(Better) 2.4" LCD + Glass Touch + Back Lighting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조합의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6.8" LCD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대비 재료비 이점이 적을 것으로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l" fontAlgn="ctr"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예상되므로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6.8” LCD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적용에 대해서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검토해 볼 것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l" fontAlgn="ctr"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Display LCD Spec.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검토 예정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Q/C/D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관점에서 검토 예정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indent="0" algn="ctr" fontAlgn="ctr"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4/10</a:t>
                      </a:r>
                    </a:p>
                    <a:p>
                      <a:pPr marL="0" indent="0" algn="ctr" fontAlgn="ctr">
                        <a:lnSpc>
                          <a:spcPct val="100000"/>
                        </a:lnSpc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4/10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상품기획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제어개발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5862"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5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CMR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성능 명시 할 것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CMR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수립 완료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CMR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전략 모델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하방대응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(Better)</a:t>
                      </a:r>
                    </a:p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PT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검토시험시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CMR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성능평가 예정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12/16</a:t>
                      </a:r>
                    </a:p>
                    <a:p>
                      <a:pPr marL="0" marR="0" lvl="0" indent="0" algn="ctr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5/8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제품개발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DQA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제품개발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DQA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650"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6</a:t>
                      </a: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경쟁사 비교 평가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USP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명확화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계획 수립 할 것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경쟁사 분석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지속 업데이트 진행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USP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 명확화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검증 진행 중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5/8</a:t>
                      </a:r>
                    </a:p>
                    <a:p>
                      <a:pPr marL="0" marR="0" lvl="0" indent="0" algn="ctr" defTabSz="872426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5/8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제품개발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DQA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QO Project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42E620BD-9465-2F44-BD16-500FF2749B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5612467"/>
              </p:ext>
            </p:extLst>
          </p:nvPr>
        </p:nvGraphicFramePr>
        <p:xfrm>
          <a:off x="86691" y="577065"/>
          <a:ext cx="9730980" cy="2305419"/>
        </p:xfrm>
        <a:graphic>
          <a:graphicData uri="http://schemas.openxmlformats.org/drawingml/2006/table">
            <a:tbl>
              <a:tblPr/>
              <a:tblGrid>
                <a:gridCol w="6410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573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30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56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7387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7560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PJT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SI_QO_I30K_LG_Best_STS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nb-NO" altLang="ko-KR" sz="100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SI_QO_E30K_LG_Better_STS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Model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LQIN7137XE.ARSLLGA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LQEN7135XE.ARSLLGA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Grade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1" u="none" strike="sng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Ca</a:t>
                      </a:r>
                      <a:r>
                        <a:rPr kumimoji="1" lang="en-US" altLang="ko-KR" sz="1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→ </a:t>
                      </a:r>
                      <a:r>
                        <a:rPr kumimoji="1" lang="en-US" altLang="ko-KR" sz="1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1" lang="en-US" altLang="ko-KR" sz="10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_HW/SW</a:t>
                      </a:r>
                      <a:endParaRPr kumimoji="1" lang="en-US" altLang="ko-KR" sz="1000" b="0" i="1" u="none" strike="noStrike" cap="none" normalizeH="0" baseline="-25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Event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■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CP □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DV □ PV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□ MP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■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CP □ DV □ PV □ MP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69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Date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'26.3.9 / 10:00~12:00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Attendant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 rowSpan="2" gridSpan="3"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황근재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STC,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박원경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STC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정의수팀장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이종현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최시영팀장</a:t>
                      </a: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최나겸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김채헌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배재원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전수환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신장모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조봉진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사공준수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이경률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신동천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송유진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정재용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이재혁팀장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신성훈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강덕은팀장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유지훈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양성진파트장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이태경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이은정팀장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김형주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P,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주동균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Main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 유형 및 등급 확정 심의회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97722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Place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R&amp;D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센터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16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층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NPI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회의실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Recorder</a:t>
                      </a: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1pPr>
                      <a:lvl2pPr marL="61091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2pPr>
                      <a:lvl3pPr marL="1221821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3pPr>
                      <a:lvl4pPr marL="1832732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4pPr>
                      <a:lvl5pPr marL="244364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5pPr>
                      <a:lvl6pPr marL="3054553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6pPr>
                      <a:lvl7pPr marL="366546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7pPr>
                      <a:lvl8pPr marL="4276374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8pPr>
                      <a:lvl9pPr marL="4887285" algn="l" defTabSz="1221821" rtl="0" eaLnBrk="1" latinLnBrk="1" hangingPunct="1">
                        <a:defRPr sz="2400" kern="1200">
                          <a:solidFill>
                            <a:schemeClr val="tx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최나겸 선임</a:t>
                      </a: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이종현 선임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89989" marR="89989" marT="53993" marB="53993" anchor="ctr" horzOverflow="overflow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1" name="Text Box 2">
            <a:extLst>
              <a:ext uri="{FF2B5EF4-FFF2-40B4-BE49-F238E27FC236}">
                <a16:creationId xmlns:a16="http://schemas.microsoft.com/office/drawing/2014/main" id="{85E0E224-BA4F-A9F9-3542-3D6B7DBCD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89" y="121970"/>
            <a:ext cx="4066783" cy="35456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2057" tIns="46029" rIns="92057" bIns="46029">
            <a:spAutoFit/>
          </a:bodyPr>
          <a:lstStyle>
            <a:defPPr>
              <a:defRPr lang="ko-KR"/>
            </a:defPPr>
            <a:lvl1pPr marL="0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082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163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244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325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407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489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199570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6651" algn="l" defTabSz="914163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912813"/>
            <a:r>
              <a:rPr lang="en-US" altLang="ko-KR" sz="1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30</a:t>
            </a:r>
            <a:r>
              <a:rPr lang="ko-KR" altLang="en-US" sz="1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인치</a:t>
            </a:r>
            <a:r>
              <a:rPr lang="en-US" altLang="ko-KR" sz="1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ko-KR" altLang="en-US" sz="1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오븐 퀵존레인지 개발 등급심의 회의록</a:t>
            </a:r>
            <a:endParaRPr lang="en-US" altLang="ko-KR" sz="170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8451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 Box 2"/>
          <p:cNvSpPr txBox="1">
            <a:spLocks noChangeArrowheads="1"/>
          </p:cNvSpPr>
          <p:nvPr/>
        </p:nvSpPr>
        <p:spPr bwMode="auto">
          <a:xfrm>
            <a:off x="3656856" y="615539"/>
            <a:ext cx="2502216" cy="2503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ko-KR" altLang="en-US" sz="1200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등급 심의회 및 변경점 검토 결과 </a:t>
            </a:r>
          </a:p>
        </p:txBody>
      </p:sp>
      <p:graphicFrame>
        <p:nvGraphicFramePr>
          <p:cNvPr id="21" name="Group 14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4368186"/>
              </p:ext>
            </p:extLst>
          </p:nvPr>
        </p:nvGraphicFramePr>
        <p:xfrm>
          <a:off x="203167" y="999221"/>
          <a:ext cx="2290280" cy="2228760"/>
        </p:xfrm>
        <a:graphic>
          <a:graphicData uri="http://schemas.openxmlformats.org/drawingml/2006/table">
            <a:tbl>
              <a:tblPr/>
              <a:tblGrid>
                <a:gridCol w="8362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심의일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2026.03.09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작성자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이종현 선임연구원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생산지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창원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(LGEHQ)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부서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30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인치오븐개발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Project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제품군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30" S/In Double IH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PJT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명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SI_QO_I30K_LG_Best_STS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출시 국가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미국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Base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모델</a:t>
                      </a:r>
                      <a:endParaRPr kumimoji="1" lang="ko-KR" altLang="en-US" sz="900" b="1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LTIS7338XE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정격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240V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60Hz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용량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7.1 Cu.Ft (U2.0 / L5.1)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22" name="Group 20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004971"/>
              </p:ext>
            </p:extLst>
          </p:nvPr>
        </p:nvGraphicFramePr>
        <p:xfrm>
          <a:off x="197795" y="3292935"/>
          <a:ext cx="2292096" cy="832893"/>
        </p:xfrm>
        <a:graphic>
          <a:graphicData uri="http://schemas.openxmlformats.org/drawingml/2006/table">
            <a:tbl>
              <a:tblPr/>
              <a:tblGrid>
                <a:gridCol w="2292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 발 목 적</a:t>
                      </a:r>
                    </a:p>
                  </a:txBody>
                  <a:tcPr marL="132325" marR="132325" marT="61073" marB="61073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587"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오븐 사용 빈도를 높이는 더블레인지 형태의 신규 플랫폼 제안</a:t>
                      </a:r>
                    </a:p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개발모델 물량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(Y)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: 8.9K/Y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2325" marR="132325" marT="61073" marB="61073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2716712" y="774280"/>
            <a:ext cx="565861" cy="16889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1. </a:t>
            </a:r>
            <a:r>
              <a:rPr lang="ko-KR" altLang="en-US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참석자 </a:t>
            </a: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:</a:t>
            </a:r>
          </a:p>
        </p:txBody>
      </p:sp>
      <p:graphicFrame>
        <p:nvGraphicFramePr>
          <p:cNvPr id="25" name="Group 149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2472120"/>
              </p:ext>
            </p:extLst>
          </p:nvPr>
        </p:nvGraphicFramePr>
        <p:xfrm>
          <a:off x="2720755" y="943469"/>
          <a:ext cx="5273999" cy="540000"/>
        </p:xfrm>
        <a:graphic>
          <a:graphicData uri="http://schemas.openxmlformats.org/drawingml/2006/table">
            <a:tbl>
              <a:tblPr/>
              <a:tblGrid>
                <a:gridCol w="5815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val="390566022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참석자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STC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DQA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시작기술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신뢰성 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상품기획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QE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HW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팀장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황근재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STC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박원경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STC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정의수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이재혁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양성진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강덕은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이은정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최시영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정석진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임재남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담당자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이종현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신성훈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이태경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유지훈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김형주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이경률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김주형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A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2716712" y="1572414"/>
            <a:ext cx="657231" cy="17953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2. </a:t>
            </a:r>
            <a:r>
              <a:rPr lang="ko-KR" altLang="en-US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심의 결과</a:t>
            </a:r>
            <a:endParaRPr lang="en-US" altLang="ko-KR" sz="1050" b="1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27" name="Group 149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3168260"/>
              </p:ext>
            </p:extLst>
          </p:nvPr>
        </p:nvGraphicFramePr>
        <p:xfrm>
          <a:off x="2728750" y="2916681"/>
          <a:ext cx="6040671" cy="617803"/>
        </p:xfrm>
        <a:graphic>
          <a:graphicData uri="http://schemas.openxmlformats.org/drawingml/2006/table">
            <a:tbl>
              <a:tblPr/>
              <a:tblGrid>
                <a:gridCol w="86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898430036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16051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금형품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고객경험평가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실사용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고객경험평가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M+6 Task 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Superset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CXR-P </a:t>
                      </a:r>
                      <a:r>
                        <a:rPr kumimoji="1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대상</a:t>
                      </a:r>
                      <a:endParaRPr kumimoji="1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(Ca</a:t>
                      </a: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급 이상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한국향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언어 표기 </a:t>
                      </a: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규제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대상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FMEA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실시 대상</a:t>
                      </a: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(Cb Only)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758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기구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HW: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 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8" name="Text Box 2"/>
          <p:cNvSpPr txBox="1">
            <a:spLocks noChangeArrowheads="1"/>
          </p:cNvSpPr>
          <p:nvPr/>
        </p:nvSpPr>
        <p:spPr bwMode="auto">
          <a:xfrm>
            <a:off x="2648750" y="3548455"/>
            <a:ext cx="7337605" cy="8689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65052" tIns="32528" rIns="65052" bIns="32528">
            <a:spAutoFit/>
          </a:bodyPr>
          <a:lstStyle/>
          <a:p>
            <a:pPr marL="0" marR="0" lvl="0" indent="0" algn="l" defTabSz="646862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CXR-P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대상의 경우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CXR-P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최신 결과보고서 및 연간 개선대책서를 바탕으로 해당 모델의 개선 적용안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목표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을 검토하고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제품에 반영되도록 한다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</a:t>
            </a:r>
            <a:endParaRPr lang="en-US" altLang="ko-KR" sz="900" b="0">
              <a:latin typeface="LG스마트체 Regular" pitchFamily="50" charset="-127"/>
              <a:ea typeface="LG스마트체 Regular" pitchFamily="50" charset="-127"/>
            </a:endParaRP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신규제품군 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Non-Wifi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제품 혹은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 Wifi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→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Non-Wifi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로 변경되는 개발의 경우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상품기획 또는 제품개발팀에서 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ThinQ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앱 개발팀으로 앱 개발 의뢰를 진행한다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.</a:t>
            </a: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각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 Event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의 필수 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Activity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조정 있을 시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첨부 장표에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상세 명기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,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  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Pre-MP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단계에 양산 신뢰성 검증강화 필요 시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첨부 장표에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상세 명기</a:t>
            </a:r>
            <a:endParaRPr lang="en-US" altLang="ko-KR" sz="900" b="0" dirty="0">
              <a:latin typeface="LG스마트체 Regular" pitchFamily="50" charset="-127"/>
              <a:ea typeface="LG스마트체 Regular" pitchFamily="50" charset="-127"/>
            </a:endParaRP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※ Superset :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고객의 사용패턴 파악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및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품질 서비스제공을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위하여 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WI-FI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를 통하여 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ThinQ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서버에 수집되는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데이터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 </a:t>
            </a: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※ Cb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급의 경우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제어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HW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담당자는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HW FMEA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실시여부에 대한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STC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합의 결과 및 제어변경점을 개발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P/L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에 전달하고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개발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P/L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는 등급심의회 자료에 포함한다</a:t>
            </a:r>
            <a:endParaRPr lang="en-US" altLang="ko-KR" sz="900" b="0" dirty="0"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29" name="Group 149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9011370"/>
              </p:ext>
            </p:extLst>
          </p:nvPr>
        </p:nvGraphicFramePr>
        <p:xfrm>
          <a:off x="197286" y="4207178"/>
          <a:ext cx="2471214" cy="1835413"/>
        </p:xfrm>
        <a:graphic>
          <a:graphicData uri="http://schemas.openxmlformats.org/drawingml/2006/table">
            <a:tbl>
              <a:tblPr/>
              <a:tblGrid>
                <a:gridCol w="526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55655">
                <a:tc gridSpan="8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개발일정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1146"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Event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Pre-CP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CP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DV1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DV2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PV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Pre-MP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914"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PJT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일정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3/9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3/13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7/15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8/23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9/24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1146">
                <a:tc rowSpan="3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Pre-CP 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~ 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Pre-MP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등록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311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</a:t>
                      </a: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1146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표준 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440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</a:t>
                      </a: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1146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표준 대비 단축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129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(29.3%)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표준일정기간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–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등록기간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1146"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규격 취득 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소요 기간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63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</a:t>
                      </a: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0" name="TextBox 29"/>
          <p:cNvSpPr txBox="1"/>
          <p:nvPr/>
        </p:nvSpPr>
        <p:spPr>
          <a:xfrm>
            <a:off x="1038988" y="764704"/>
            <a:ext cx="807913" cy="170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ko-KR" altLang="en-US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</a:t>
            </a:r>
            <a:r>
              <a:rPr lang="en-US" altLang="ko-KR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PJT </a:t>
            </a:r>
            <a:r>
              <a:rPr lang="ko-KR" altLang="en-US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개요</a:t>
            </a:r>
            <a:r>
              <a:rPr lang="en-US" altLang="ko-KR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:</a:t>
            </a: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8677033"/>
              </p:ext>
            </p:extLst>
          </p:nvPr>
        </p:nvGraphicFramePr>
        <p:xfrm>
          <a:off x="2779886" y="5268684"/>
          <a:ext cx="2897323" cy="1298748"/>
        </p:xfrm>
        <a:graphic>
          <a:graphicData uri="http://schemas.openxmlformats.org/drawingml/2006/table">
            <a:tbl>
              <a:tblPr/>
              <a:tblGrid>
                <a:gridCol w="3274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7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19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N0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자료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44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1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 변경점 상세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작성 내용</a:t>
                      </a: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급의 경우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개발부품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Master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작성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1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개발 예상 우려점 검토 결과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  <a:cs typeface="Arial" charset="0"/>
                        </a:rPr>
                        <a:t>개발 </a:t>
                      </a:r>
                      <a:r>
                        <a:rPr lang="en-US" altLang="ko-KR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  <a:cs typeface="Arial" charset="0"/>
                        </a:rPr>
                        <a:t>PJT </a:t>
                      </a:r>
                      <a:r>
                        <a:rPr lang="ko-KR" altLang="en-US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  <a:cs typeface="Arial" charset="0"/>
                        </a:rPr>
                        <a:t>역량 점검 결과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2" action="ppaction://hlinksldjump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2" action="ppaction://hlinksldjump"/>
                        </a:rPr>
                        <a:t>3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LG스마트체 Regular" pitchFamily="50" charset="-127"/>
                          <a:ea typeface="LG스마트체 Regular" pitchFamily="50" charset="-127"/>
                        </a:rPr>
                        <a:t>단계별 실행 </a:t>
                      </a:r>
                      <a:r>
                        <a:rPr lang="en-US" altLang="ko-KR" sz="900" b="1" dirty="0">
                          <a:latin typeface="LG스마트체 Regular" pitchFamily="50" charset="-127"/>
                          <a:ea typeface="LG스마트체 Regular" pitchFamily="50" charset="-127"/>
                        </a:rPr>
                        <a:t>Activity </a:t>
                      </a:r>
                      <a:r>
                        <a:rPr lang="ko-KR" altLang="en-US" sz="900" b="1" dirty="0">
                          <a:latin typeface="LG스마트체 Regular" pitchFamily="50" charset="-127"/>
                          <a:ea typeface="LG스마트체 Regular" pitchFamily="50" charset="-127"/>
                        </a:rPr>
                        <a:t>조정 결과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3" action="ppaction://hlinksldjump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3" action="ppaction://hlinksldjump"/>
                        </a:rPr>
                        <a:t>4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5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파생 모델 개발 계통도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4" action="ppaction://hlinksldjump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4" action="ppaction://hlinksldjump"/>
                        </a:rPr>
                        <a:t>5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6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Field Worst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불량 개선항목 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(B↑)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5" action="ppaction://hlinksldjump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  <a:hlinkClick r:id="rId5" action="ppaction://hlinksldjump"/>
                        </a:rPr>
                        <a:t>6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9558888"/>
                  </a:ext>
                </a:extLst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2790974" y="5055816"/>
            <a:ext cx="968214" cy="17953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3. </a:t>
            </a:r>
            <a:r>
              <a:rPr lang="ko-KR" altLang="en-US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필수 작성 자료 </a:t>
            </a:r>
            <a:endParaRPr lang="en-US" altLang="ko-KR" sz="1050" b="1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74018A5E-9351-8DF7-B85B-F10C759F0FB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37068" y="100156"/>
            <a:ext cx="9625675" cy="484188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rot="10800000" wrap="none" lIns="95763" tIns="47881" rIns="95763" bIns="47881" anchor="ctr"/>
          <a:lstStyle>
            <a:lvl1pPr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algn="ctr"/>
            <a:endParaRPr lang="ko-KR" altLang="ko-KR" sz="22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Rectangle 1442">
            <a:extLst>
              <a:ext uri="{FF2B5EF4-FFF2-40B4-BE49-F238E27FC236}">
                <a16:creationId xmlns:a16="http://schemas.microsoft.com/office/drawing/2014/main" id="{CC1E711A-18BE-2DA1-144B-1B1C26A01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6866" y="181461"/>
            <a:ext cx="3132268" cy="323165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5pPr>
            <a:lvl6pPr marL="436213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6pPr>
            <a:lvl7pPr marL="872426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7pPr>
            <a:lvl8pPr marL="1308635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8pPr>
            <a:lvl9pPr marL="1744851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defRPr/>
            </a:pPr>
            <a:r>
              <a:rPr lang="ko-KR" altLang="en-US" sz="2100" b="1" kern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개발 유형 및 등급 확정 심의회</a:t>
            </a:r>
            <a:endParaRPr lang="ko-KR" altLang="en-US" sz="2100" b="1" kern="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0A2A820-3D5F-03C6-2BE6-6B508DB3B6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875514"/>
              </p:ext>
            </p:extLst>
          </p:nvPr>
        </p:nvGraphicFramePr>
        <p:xfrm>
          <a:off x="2754138" y="4453363"/>
          <a:ext cx="2222621" cy="513835"/>
        </p:xfrm>
        <a:graphic>
          <a:graphicData uri="http://schemas.openxmlformats.org/drawingml/2006/table">
            <a:tbl>
              <a:tblPr/>
              <a:tblGrid>
                <a:gridCol w="8105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6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1833">
                <a:tc gridSpan="3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ThinQ App</a:t>
                      </a:r>
                      <a:endParaRPr kumimoji="1" lang="ko-KR" altLang="en-US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851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서비스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적용 여부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적용 국가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03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Scan to Cook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O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미국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1CE0CAF-BCC0-0BAC-6BA2-052C4979DF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6825676"/>
              </p:ext>
            </p:extLst>
          </p:nvPr>
        </p:nvGraphicFramePr>
        <p:xfrm>
          <a:off x="2725971" y="1751949"/>
          <a:ext cx="6907549" cy="989774"/>
        </p:xfrm>
        <a:graphic>
          <a:graphicData uri="http://schemas.openxmlformats.org/drawingml/2006/table">
            <a:tbl>
              <a:tblPr/>
              <a:tblGrid>
                <a:gridCol w="5708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5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226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5116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확정 등급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적용프로세스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결정 사유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3818">
                <a:tc rowSpan="5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A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NXI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등급 분류기준 근거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 해당사항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NXI 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법인독자 개발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lang="ko-KR" altLang="en-US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등급분류기준에서 해당 등급으로 결정하는 근거에 해당하는 기준 내용 기재</a:t>
                      </a:r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>
                        <a:solidFill>
                          <a:srgbClr val="0066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Platform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개발임</a:t>
                      </a:r>
                    </a:p>
                  </a:txBody>
                  <a:tcPr marL="39000" marR="39000" marT="0" marB="0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lang="ko-KR" altLang="en-US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내용에서 등급 결정근거에 해당하는 내용 기재</a:t>
                      </a:r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>
                        <a:solidFill>
                          <a:srgbClr val="0066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Upper, Lower Cavity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모두 신규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Platform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개발에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해당되며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Lower Cavity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추후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Next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월오븐과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공용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Cavity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 계획으로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A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등급으로 결정함</a:t>
                      </a:r>
                    </a:p>
                  </a:txBody>
                  <a:tcPr marL="39000" marR="39000" marT="0" marB="0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해외라인업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-Case1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해외라인업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-Case2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생산지 이관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15242A8E-992D-788C-875B-7D1F84BA5FB6}"/>
              </a:ext>
            </a:extLst>
          </p:cNvPr>
          <p:cNvSpPr/>
          <p:nvPr/>
        </p:nvSpPr>
        <p:spPr>
          <a:xfrm>
            <a:off x="69886" y="6234108"/>
            <a:ext cx="1697581" cy="3026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※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표준일정 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대비 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30%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이상 단축되는 경우 </a:t>
            </a:r>
            <a:endParaRPr lang="en-US" altLang="ko-KR" sz="800" b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r>
              <a:rPr lang="en-US" altLang="ko-KR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사업부장 승인 필요 </a:t>
            </a:r>
            <a:r>
              <a:rPr lang="en-US" altLang="ko-KR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(B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이상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5F9651-7DFA-A98C-9189-4A9AAA4AB240}"/>
              </a:ext>
            </a:extLst>
          </p:cNvPr>
          <p:cNvSpPr/>
          <p:nvPr/>
        </p:nvSpPr>
        <p:spPr>
          <a:xfrm>
            <a:off x="69886" y="6096699"/>
            <a:ext cx="2673809" cy="17953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※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발의를 진행하지 않는 경우 등급심의회 기준으로 개발기간 산출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2F39776-C519-EF9E-12AC-3D410FCBE2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7353534"/>
              </p:ext>
            </p:extLst>
          </p:nvPr>
        </p:nvGraphicFramePr>
        <p:xfrm>
          <a:off x="6788664" y="4461147"/>
          <a:ext cx="1876259" cy="548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60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1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적용여부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Base</a:t>
                      </a:r>
                    </a:p>
                    <a:p>
                      <a:pPr algn="ctr" latinLnBrk="1"/>
                      <a:r>
                        <a:rPr lang="en-US" altLang="ko-KR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Model</a:t>
                      </a:r>
                      <a:endParaRPr lang="ko-KR" altLang="en-US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872431" rtl="0" eaLnBrk="1" latinLnBrk="1" hangingPunct="1"/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New</a:t>
                      </a:r>
                    </a:p>
                    <a:p>
                      <a:pPr marL="0" algn="ctr" defTabSz="872431" rtl="0" eaLnBrk="1" latinLnBrk="1" hangingPunct="1"/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Model</a:t>
                      </a:r>
                      <a:endParaRPr lang="ko-KR" altLang="en-US" sz="900" b="1" kern="12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과전압</a:t>
                      </a:r>
                      <a:endParaRPr lang="en-US" altLang="ko-KR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지역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60CF9D03-A8FE-AAA4-8674-E77E501A46A7}"/>
              </a:ext>
            </a:extLst>
          </p:cNvPr>
          <p:cNvSpPr/>
          <p:nvPr/>
        </p:nvSpPr>
        <p:spPr>
          <a:xfrm>
            <a:off x="6801731" y="5084246"/>
            <a:ext cx="2285882" cy="5416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출시 국가가 과전압 대상인 경우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제어팀장 결재 득할 것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과전압 대상 국가 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</a:p>
          <a:p>
            <a:pPr>
              <a:lnSpc>
                <a:spcPct val="110000"/>
              </a:lnSpc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인도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스리랑카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방글라데시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파키스탄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네팔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베트남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</a:p>
          <a:p>
            <a:pPr>
              <a:lnSpc>
                <a:spcPct val="110000"/>
              </a:lnSpc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미얀마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캄보디아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라오스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인도네시아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나이지리아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1392CDA-B5CF-C51C-166C-1D76B425F9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273243"/>
              </p:ext>
            </p:extLst>
          </p:nvPr>
        </p:nvGraphicFramePr>
        <p:xfrm>
          <a:off x="5064498" y="4468314"/>
          <a:ext cx="1584176" cy="551270"/>
        </p:xfrm>
        <a:graphic>
          <a:graphicData uri="http://schemas.openxmlformats.org/drawingml/2006/table">
            <a:tbl>
              <a:tblPr/>
              <a:tblGrid>
                <a:gridCol w="792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4818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신뢰성 심사제 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대상 여부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별매악세사리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 유무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599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1E0060FA-AFAA-03A3-0057-60BD81D979B6}"/>
              </a:ext>
            </a:extLst>
          </p:cNvPr>
          <p:cNvSpPr/>
          <p:nvPr/>
        </p:nvSpPr>
        <p:spPr>
          <a:xfrm>
            <a:off x="2987320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758A4FD-C077-6209-1A52-61E626748BE8}"/>
              </a:ext>
            </a:extLst>
          </p:cNvPr>
          <p:cNvSpPr/>
          <p:nvPr/>
        </p:nvSpPr>
        <p:spPr>
          <a:xfrm>
            <a:off x="3847292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4257F582-50D0-3FCC-036D-EC643EC55D32}"/>
              </a:ext>
            </a:extLst>
          </p:cNvPr>
          <p:cNvSpPr/>
          <p:nvPr/>
        </p:nvSpPr>
        <p:spPr>
          <a:xfrm>
            <a:off x="471306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F6F0C08C-0CA0-A7A4-C143-403FB63AC99A}"/>
              </a:ext>
            </a:extLst>
          </p:cNvPr>
          <p:cNvSpPr/>
          <p:nvPr/>
        </p:nvSpPr>
        <p:spPr>
          <a:xfrm>
            <a:off x="557158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30524F8-2D92-CE39-82D4-75923C5FB08A}"/>
              </a:ext>
            </a:extLst>
          </p:cNvPr>
          <p:cNvSpPr/>
          <p:nvPr/>
        </p:nvSpPr>
        <p:spPr>
          <a:xfrm>
            <a:off x="663330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C36F741-F24F-E376-10DE-31D7956A4504}"/>
              </a:ext>
            </a:extLst>
          </p:cNvPr>
          <p:cNvSpPr/>
          <p:nvPr/>
        </p:nvSpPr>
        <p:spPr>
          <a:xfrm>
            <a:off x="749690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D32EDC35-9D43-73CE-97FD-66D9F04A3FC7}"/>
              </a:ext>
            </a:extLst>
          </p:cNvPr>
          <p:cNvSpPr/>
          <p:nvPr/>
        </p:nvSpPr>
        <p:spPr>
          <a:xfrm>
            <a:off x="8289389" y="321720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A54564A9-39F1-095D-82B8-A9D063093388}"/>
              </a:ext>
            </a:extLst>
          </p:cNvPr>
          <p:cNvSpPr/>
          <p:nvPr/>
        </p:nvSpPr>
        <p:spPr>
          <a:xfrm>
            <a:off x="8385909" y="33797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296B34F-0F2B-7CDD-726C-1FE7D3A59263}"/>
              </a:ext>
            </a:extLst>
          </p:cNvPr>
          <p:cNvSpPr/>
          <p:nvPr/>
        </p:nvSpPr>
        <p:spPr>
          <a:xfrm>
            <a:off x="6279256" y="4830217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59C4C49B-4205-9929-A83A-585724AA9565}"/>
              </a:ext>
            </a:extLst>
          </p:cNvPr>
          <p:cNvSpPr/>
          <p:nvPr/>
        </p:nvSpPr>
        <p:spPr>
          <a:xfrm>
            <a:off x="5301245" y="4830217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47E33C7-2FDE-0FE7-A71B-9C987D40200A}"/>
              </a:ext>
            </a:extLst>
          </p:cNvPr>
          <p:cNvSpPr/>
          <p:nvPr/>
        </p:nvSpPr>
        <p:spPr>
          <a:xfrm>
            <a:off x="7678685" y="4790461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37095156-BDF1-EF61-9EA0-8DE767E992BF}"/>
              </a:ext>
            </a:extLst>
          </p:cNvPr>
          <p:cNvSpPr/>
          <p:nvPr/>
        </p:nvSpPr>
        <p:spPr>
          <a:xfrm>
            <a:off x="8346595" y="4790461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실행 단추: 끝으로 이동 33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82390CB9-D57A-D19D-3D8E-D87205D54A19}"/>
              </a:ext>
            </a:extLst>
          </p:cNvPr>
          <p:cNvSpPr/>
          <p:nvPr/>
        </p:nvSpPr>
        <p:spPr>
          <a:xfrm>
            <a:off x="5757988" y="5503350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실행 단추: 끝으로 이동 34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D725C612-E45D-213C-28F3-E53341FE4EA3}"/>
              </a:ext>
            </a:extLst>
          </p:cNvPr>
          <p:cNvSpPr/>
          <p:nvPr/>
        </p:nvSpPr>
        <p:spPr>
          <a:xfrm>
            <a:off x="5757988" y="5764969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21230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2AD0A92-ACC8-8304-D8FF-85E8BD81E7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 Box 2">
            <a:extLst>
              <a:ext uri="{FF2B5EF4-FFF2-40B4-BE49-F238E27FC236}">
                <a16:creationId xmlns:a16="http://schemas.microsoft.com/office/drawing/2014/main" id="{3CC4E6CA-B935-D3A4-89DC-243125DB0B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6856" y="615539"/>
            <a:ext cx="2502216" cy="2503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ko-KR" altLang="en-US" sz="1200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등급 심의회 및 변경점 검토 결과 </a:t>
            </a:r>
          </a:p>
        </p:txBody>
      </p:sp>
      <p:graphicFrame>
        <p:nvGraphicFramePr>
          <p:cNvPr id="21" name="Group 1478">
            <a:extLst>
              <a:ext uri="{FF2B5EF4-FFF2-40B4-BE49-F238E27FC236}">
                <a16:creationId xmlns:a16="http://schemas.microsoft.com/office/drawing/2014/main" id="{34DEA6A6-5133-720C-9928-D07254D03E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336834"/>
              </p:ext>
            </p:extLst>
          </p:nvPr>
        </p:nvGraphicFramePr>
        <p:xfrm>
          <a:off x="203167" y="999221"/>
          <a:ext cx="2290280" cy="2228760"/>
        </p:xfrm>
        <a:graphic>
          <a:graphicData uri="http://schemas.openxmlformats.org/drawingml/2006/table">
            <a:tbl>
              <a:tblPr/>
              <a:tblGrid>
                <a:gridCol w="8362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심의일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2026.03.09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작성자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이종현 선임연구원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생산지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창원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(LGEHQ)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부서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30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인치오븐개발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Project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제품군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30" S/In Double Elec.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PJT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명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SI_QO_E30K_LG_Better_STS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출시 국가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미국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Base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모델</a:t>
                      </a:r>
                      <a:endParaRPr kumimoji="1" lang="ko-KR" altLang="en-US" sz="900" b="1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LQIN7137XE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정격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240V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60Hz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919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용량</a:t>
                      </a: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7.1 Cu.Ft (U2.0 / L5.1)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4284" marR="134284" marT="36000" marB="3600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22" name="Group 205">
            <a:extLst>
              <a:ext uri="{FF2B5EF4-FFF2-40B4-BE49-F238E27FC236}">
                <a16:creationId xmlns:a16="http://schemas.microsoft.com/office/drawing/2014/main" id="{89ECFCD6-58B7-CE94-77F4-EBF5BB7387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4449878"/>
              </p:ext>
            </p:extLst>
          </p:nvPr>
        </p:nvGraphicFramePr>
        <p:xfrm>
          <a:off x="197795" y="3292935"/>
          <a:ext cx="2292096" cy="832893"/>
        </p:xfrm>
        <a:graphic>
          <a:graphicData uri="http://schemas.openxmlformats.org/drawingml/2006/table">
            <a:tbl>
              <a:tblPr/>
              <a:tblGrid>
                <a:gridCol w="2292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 발 목 적</a:t>
                      </a:r>
                    </a:p>
                  </a:txBody>
                  <a:tcPr marL="132325" marR="132325" marT="61073" marB="61073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587"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오븐 사용 빈도를 높이는 더블레인지 형태의 신규 플랫폼 제안</a:t>
                      </a:r>
                    </a:p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개발모델 물량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(Y)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: 7.7K/Y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132325" marR="132325" marT="61073" marB="61073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631DE62F-1F9A-123E-19CB-998BB8C47F4F}"/>
              </a:ext>
            </a:extLst>
          </p:cNvPr>
          <p:cNvSpPr txBox="1"/>
          <p:nvPr/>
        </p:nvSpPr>
        <p:spPr>
          <a:xfrm>
            <a:off x="2716712" y="774280"/>
            <a:ext cx="565861" cy="16889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1. </a:t>
            </a:r>
            <a:r>
              <a:rPr lang="ko-KR" altLang="en-US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참석자 </a:t>
            </a: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:</a:t>
            </a:r>
          </a:p>
        </p:txBody>
      </p:sp>
      <p:graphicFrame>
        <p:nvGraphicFramePr>
          <p:cNvPr id="25" name="Group 1490">
            <a:extLst>
              <a:ext uri="{FF2B5EF4-FFF2-40B4-BE49-F238E27FC236}">
                <a16:creationId xmlns:a16="http://schemas.microsoft.com/office/drawing/2014/main" id="{BDD1D062-3807-6012-C4CC-3398D4438FCA}"/>
              </a:ext>
            </a:extLst>
          </p:cNvPr>
          <p:cNvGraphicFramePr>
            <a:graphicFrameLocks noGrp="1"/>
          </p:cNvGraphicFramePr>
          <p:nvPr/>
        </p:nvGraphicFramePr>
        <p:xfrm>
          <a:off x="2720755" y="943469"/>
          <a:ext cx="5273999" cy="540000"/>
        </p:xfrm>
        <a:graphic>
          <a:graphicData uri="http://schemas.openxmlformats.org/drawingml/2006/table">
            <a:tbl>
              <a:tblPr/>
              <a:tblGrid>
                <a:gridCol w="5815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12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val="390566022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참석자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STC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DQA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시작기술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신뢰성 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상품기획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QE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HW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팀장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황근재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STC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박원경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STC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정의수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이재혁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양성진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강덕은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이은정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최시영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정석진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임재남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TL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담당자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이종현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신성훈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이태경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유지훈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김형주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이경률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김주형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A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D98CF600-98D8-CF60-D3BB-02CAE883748A}"/>
              </a:ext>
            </a:extLst>
          </p:cNvPr>
          <p:cNvSpPr txBox="1"/>
          <p:nvPr/>
        </p:nvSpPr>
        <p:spPr>
          <a:xfrm>
            <a:off x="2716712" y="1572414"/>
            <a:ext cx="657231" cy="17953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2. </a:t>
            </a:r>
            <a:r>
              <a:rPr lang="ko-KR" altLang="en-US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심의 결과</a:t>
            </a:r>
            <a:endParaRPr lang="en-US" altLang="ko-KR" sz="1050" b="1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27" name="Group 1490">
            <a:extLst>
              <a:ext uri="{FF2B5EF4-FFF2-40B4-BE49-F238E27FC236}">
                <a16:creationId xmlns:a16="http://schemas.microsoft.com/office/drawing/2014/main" id="{05EA2636-D339-0E0C-9AA6-EFF94FAEEE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1348522"/>
              </p:ext>
            </p:extLst>
          </p:nvPr>
        </p:nvGraphicFramePr>
        <p:xfrm>
          <a:off x="2728750" y="2916681"/>
          <a:ext cx="6040671" cy="617803"/>
        </p:xfrm>
        <a:graphic>
          <a:graphicData uri="http://schemas.openxmlformats.org/drawingml/2006/table">
            <a:tbl>
              <a:tblPr/>
              <a:tblGrid>
                <a:gridCol w="86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898430036"/>
                    </a:ext>
                  </a:extLst>
                </a:gridCol>
                <a:gridCol w="86295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16051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금형품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고객경험평가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실사용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고객경험평가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M+6 Task 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Superset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CXR-P </a:t>
                      </a:r>
                      <a:r>
                        <a:rPr kumimoji="1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대상</a:t>
                      </a:r>
                      <a:endParaRPr kumimoji="1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(Ca</a:t>
                      </a: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급 이상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한국향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언어 표기 </a:t>
                      </a: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규제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대상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FMEA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실시 대상</a:t>
                      </a: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ts val="8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(Cb Only)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758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  <a:endParaRPr kumimoji="1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기구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HW: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 X 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8" name="Text Box 2">
            <a:extLst>
              <a:ext uri="{FF2B5EF4-FFF2-40B4-BE49-F238E27FC236}">
                <a16:creationId xmlns:a16="http://schemas.microsoft.com/office/drawing/2014/main" id="{5760C735-2EAB-90CB-9ABB-1F5395D58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8750" y="3548455"/>
            <a:ext cx="7337605" cy="8689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65052" tIns="32528" rIns="65052" bIns="32528">
            <a:spAutoFit/>
          </a:bodyPr>
          <a:lstStyle/>
          <a:p>
            <a:pPr marL="0" marR="0" lvl="0" indent="0" algn="l" defTabSz="646862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CXR-P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대상의 경우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CXR-P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최신 결과보고서 및 연간 개선대책서를 바탕으로 해당 모델의 개선 적용안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목표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을 검토하고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제품에 반영되도록 한다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</a:t>
            </a:r>
            <a:endParaRPr lang="en-US" altLang="ko-KR" sz="900" b="0">
              <a:latin typeface="LG스마트체 Regular" pitchFamily="50" charset="-127"/>
              <a:ea typeface="LG스마트체 Regular" pitchFamily="50" charset="-127"/>
            </a:endParaRP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신규제품군 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Non-Wifi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제품 혹은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 Wifi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→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Non-Wifi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로 변경되는 개발의 경우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상품기획 또는 제품개발팀에서 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ThinQ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앱 개발팀으로 앱 개발 의뢰를 진행한다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.</a:t>
            </a: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각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 Event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의 필수 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Activity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조정 있을 시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첨부 장표에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상세 명기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,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  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Pre-MP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단계에 양산 신뢰성 검증강화 필요 시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첨부 장표에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상세 명기</a:t>
            </a:r>
            <a:endParaRPr lang="en-US" altLang="ko-KR" sz="900" b="0" dirty="0">
              <a:latin typeface="LG스마트체 Regular" pitchFamily="50" charset="-127"/>
              <a:ea typeface="LG스마트체 Regular" pitchFamily="50" charset="-127"/>
            </a:endParaRP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※ Superset :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고객의 사용패턴 파악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및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품질 서비스제공을 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위하여 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WI-FI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를 통하여 </a:t>
            </a:r>
            <a:r>
              <a:rPr lang="en-US" altLang="ko-KR" sz="900" b="0" dirty="0">
                <a:latin typeface="LG스마트체 Regular" pitchFamily="50" charset="-127"/>
                <a:ea typeface="LG스마트체 Regular" pitchFamily="50" charset="-127"/>
              </a:rPr>
              <a:t>ThinQ</a:t>
            </a:r>
            <a:r>
              <a:rPr lang="ko-KR" altLang="en-US" sz="900" b="0" dirty="0">
                <a:latin typeface="LG스마트체 Regular" pitchFamily="50" charset="-127"/>
                <a:ea typeface="LG스마트체 Regular" pitchFamily="50" charset="-127"/>
              </a:rPr>
              <a:t>서버에 수집되는 </a:t>
            </a:r>
            <a:r>
              <a:rPr lang="ko-KR" altLang="en-US" sz="900" b="0">
                <a:latin typeface="LG스마트체 Regular" pitchFamily="50" charset="-127"/>
                <a:ea typeface="LG스마트체 Regular" pitchFamily="50" charset="-127"/>
              </a:rPr>
              <a:t>데이터</a:t>
            </a:r>
            <a:r>
              <a:rPr lang="en-US" altLang="ko-KR" sz="900" b="0">
                <a:latin typeface="LG스마트체 Regular" pitchFamily="50" charset="-127"/>
                <a:ea typeface="LG스마트체 Regular" pitchFamily="50" charset="-127"/>
              </a:rPr>
              <a:t> </a:t>
            </a:r>
          </a:p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※ Cb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급의 경우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제어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HW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담당자는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HW FMEA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실시여부에 대한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STC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합의 결과 및 제어변경점을 개발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P/L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에 전달하고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개발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P/L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는 등급심의회 자료에 포함한다</a:t>
            </a:r>
            <a:endParaRPr lang="en-US" altLang="ko-KR" sz="900" b="0" dirty="0"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29" name="Group 1490">
            <a:extLst>
              <a:ext uri="{FF2B5EF4-FFF2-40B4-BE49-F238E27FC236}">
                <a16:creationId xmlns:a16="http://schemas.microsoft.com/office/drawing/2014/main" id="{B9EC6B09-A73B-70D3-3024-48640BB514BF}"/>
              </a:ext>
            </a:extLst>
          </p:cNvPr>
          <p:cNvGraphicFramePr>
            <a:graphicFrameLocks noGrp="1"/>
          </p:cNvGraphicFramePr>
          <p:nvPr/>
        </p:nvGraphicFramePr>
        <p:xfrm>
          <a:off x="197286" y="4207178"/>
          <a:ext cx="2471214" cy="1835413"/>
        </p:xfrm>
        <a:graphic>
          <a:graphicData uri="http://schemas.openxmlformats.org/drawingml/2006/table">
            <a:tbl>
              <a:tblPr/>
              <a:tblGrid>
                <a:gridCol w="526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786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55655">
                <a:tc gridSpan="8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개발일정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1146"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Event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Pre-CP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CP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DV1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DV2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PV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Pre-MP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914"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PJT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일정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3/9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3/13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7/15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8/23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9/24</a:t>
                      </a: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1146">
                <a:tc rowSpan="3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Pre-CP 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~ 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Pre-MP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등록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311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</a:t>
                      </a: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1146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표준 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440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</a:t>
                      </a: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1146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표준 대비 단축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129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(29.3%)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표준일정기간 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–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등록기간</a:t>
                      </a: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1146"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규격 취득 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소요 기간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63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일</a:t>
                      </a: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9D08A621-D253-36AC-DCB2-22F84D11D9C2}"/>
              </a:ext>
            </a:extLst>
          </p:cNvPr>
          <p:cNvSpPr txBox="1"/>
          <p:nvPr/>
        </p:nvSpPr>
        <p:spPr>
          <a:xfrm>
            <a:off x="1038988" y="764704"/>
            <a:ext cx="807913" cy="170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ko-KR" altLang="en-US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</a:t>
            </a:r>
            <a:r>
              <a:rPr lang="en-US" altLang="ko-KR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PJT </a:t>
            </a:r>
            <a:r>
              <a:rPr lang="ko-KR" altLang="en-US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개요</a:t>
            </a:r>
            <a:r>
              <a:rPr lang="en-US" altLang="ko-KR" b="1" u="sng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: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38297FB1-6C05-19E3-0E53-D93B6FADD870}"/>
              </a:ext>
            </a:extLst>
          </p:cNvPr>
          <p:cNvGraphicFramePr>
            <a:graphicFrameLocks noGrp="1"/>
          </p:cNvGraphicFramePr>
          <p:nvPr/>
        </p:nvGraphicFramePr>
        <p:xfrm>
          <a:off x="2779886" y="5268684"/>
          <a:ext cx="2897323" cy="1298748"/>
        </p:xfrm>
        <a:graphic>
          <a:graphicData uri="http://schemas.openxmlformats.org/drawingml/2006/table">
            <a:tbl>
              <a:tblPr/>
              <a:tblGrid>
                <a:gridCol w="3274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7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19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N0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자료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44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1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 변경점 상세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작성 내용</a:t>
                      </a: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급의 경우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개발부품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Master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작성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1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개발 예상 우려점 검토 결과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2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  <a:cs typeface="Arial" charset="0"/>
                        </a:rPr>
                        <a:t>개발 </a:t>
                      </a:r>
                      <a:r>
                        <a:rPr lang="en-US" altLang="ko-KR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  <a:cs typeface="Arial" charset="0"/>
                        </a:rPr>
                        <a:t>PJT </a:t>
                      </a:r>
                      <a:r>
                        <a:rPr lang="ko-KR" altLang="en-US" sz="900" b="1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  <a:cs typeface="Arial" charset="0"/>
                        </a:rPr>
                        <a:t>역량 점검 결과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3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LG스마트체 Regular" pitchFamily="50" charset="-127"/>
                          <a:ea typeface="LG스마트체 Regular" pitchFamily="50" charset="-127"/>
                        </a:rPr>
                        <a:t>단계별 실행 </a:t>
                      </a:r>
                      <a:r>
                        <a:rPr lang="en-US" altLang="ko-KR" sz="900" b="1" dirty="0">
                          <a:latin typeface="LG스마트체 Regular" pitchFamily="50" charset="-127"/>
                          <a:ea typeface="LG스마트체 Regular" pitchFamily="50" charset="-127"/>
                        </a:rPr>
                        <a:t>Activity </a:t>
                      </a:r>
                      <a:r>
                        <a:rPr lang="ko-KR" altLang="en-US" sz="900" b="1" dirty="0">
                          <a:latin typeface="LG스마트체 Regular" pitchFamily="50" charset="-127"/>
                          <a:ea typeface="LG스마트체 Regular" pitchFamily="50" charset="-127"/>
                        </a:rPr>
                        <a:t>조정 결과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5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파생 모델 개발 계통도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5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838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6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Field Worst 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불량 개선항목 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(B↑)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유첨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6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9558888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9F6A9211-32A8-F53A-9F08-51D3071088C0}"/>
              </a:ext>
            </a:extLst>
          </p:cNvPr>
          <p:cNvSpPr txBox="1"/>
          <p:nvPr/>
        </p:nvSpPr>
        <p:spPr>
          <a:xfrm>
            <a:off x="2790974" y="5055816"/>
            <a:ext cx="968214" cy="17953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3. </a:t>
            </a:r>
            <a:r>
              <a:rPr lang="ko-KR" altLang="en-US" sz="1050" b="1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필수 작성 자료 </a:t>
            </a:r>
            <a:endParaRPr lang="en-US" altLang="ko-KR" sz="1050" b="1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CE3DE4F4-86C3-1E7F-D048-D01CD42CD31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37068" y="100156"/>
            <a:ext cx="9625675" cy="484188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rot="10800000" wrap="none" lIns="95763" tIns="47881" rIns="95763" bIns="47881" anchor="ctr"/>
          <a:lstStyle>
            <a:lvl1pPr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 defTabSz="960438"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defTabSz="960438" eaLnBrk="0" fontAlgn="base" hangingPunct="0">
              <a:spcBef>
                <a:spcPct val="0"/>
              </a:spcBef>
              <a:spcAft>
                <a:spcPct val="0"/>
              </a:spcAft>
              <a:defRPr kumimoji="1" sz="13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algn="ctr"/>
            <a:endParaRPr lang="ko-KR" altLang="ko-KR" sz="22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Rectangle 1442">
            <a:extLst>
              <a:ext uri="{FF2B5EF4-FFF2-40B4-BE49-F238E27FC236}">
                <a16:creationId xmlns:a16="http://schemas.microsoft.com/office/drawing/2014/main" id="{1834DD5B-07B3-210A-3FA1-0AFB9F7C1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6866" y="181461"/>
            <a:ext cx="3132268" cy="323165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5pPr>
            <a:lvl6pPr marL="436213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6pPr>
            <a:lvl7pPr marL="872426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7pPr>
            <a:lvl8pPr marL="1308635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8pPr>
            <a:lvl9pPr marL="1744851" algn="ctr" rtl="0" fontAlgn="base" latinLnBrk="1">
              <a:spcBef>
                <a:spcPct val="0"/>
              </a:spcBef>
              <a:spcAft>
                <a:spcPct val="0"/>
              </a:spcAft>
              <a:defRPr kumimoji="1" sz="42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 eaLnBrk="1" hangingPunct="1">
              <a:defRPr/>
            </a:pPr>
            <a:r>
              <a:rPr lang="ko-KR" altLang="en-US" sz="2100" b="1" kern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개발 유형 및 등급 확정 심의회</a:t>
            </a:r>
            <a:endParaRPr lang="ko-KR" altLang="en-US" sz="2100" b="1" kern="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D8974A-0405-6D04-D27A-251B1AD4A37B}"/>
              </a:ext>
            </a:extLst>
          </p:cNvPr>
          <p:cNvGraphicFramePr>
            <a:graphicFrameLocks noGrp="1"/>
          </p:cNvGraphicFramePr>
          <p:nvPr/>
        </p:nvGraphicFramePr>
        <p:xfrm>
          <a:off x="2754138" y="4453363"/>
          <a:ext cx="2222621" cy="513835"/>
        </p:xfrm>
        <a:graphic>
          <a:graphicData uri="http://schemas.openxmlformats.org/drawingml/2006/table">
            <a:tbl>
              <a:tblPr/>
              <a:tblGrid>
                <a:gridCol w="8105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6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1833">
                <a:tc gridSpan="3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ThinQ App</a:t>
                      </a:r>
                      <a:endParaRPr kumimoji="1" lang="ko-KR" altLang="en-US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851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서비스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적용 여부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적용 국가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03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kern="12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Scan to Cook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O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미국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BCB8EFA-B1D2-BF3D-2312-A2E1929CA7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9177104"/>
              </p:ext>
            </p:extLst>
          </p:nvPr>
        </p:nvGraphicFramePr>
        <p:xfrm>
          <a:off x="2725971" y="1751949"/>
          <a:ext cx="6907549" cy="989774"/>
        </p:xfrm>
        <a:graphic>
          <a:graphicData uri="http://schemas.openxmlformats.org/drawingml/2006/table">
            <a:tbl>
              <a:tblPr/>
              <a:tblGrid>
                <a:gridCol w="5708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5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226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5116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확정 등급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적용프로세스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결정 사유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3818">
                <a:tc rowSpan="5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B_</a:t>
                      </a:r>
                      <a:r>
                        <a:rPr kumimoji="1" lang="en-US" altLang="ko-KR" sz="9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HW/SW</a:t>
                      </a:r>
                      <a:endParaRPr kumimoji="1" lang="en-US" altLang="ko-KR" sz="900" b="0" i="0" u="none" strike="noStrike" cap="none" normalizeH="0" baseline="-25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NXI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○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등급 분류기준 근거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개발 해당사항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NXI (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법인독자 개발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lang="ko-KR" altLang="en-US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등급분류기준에서 해당 등급으로 결정하는 근거에 해당하는 기준 내용 기재</a:t>
                      </a:r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>
                        <a:solidFill>
                          <a:srgbClr val="0066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쿡탑 시스템 변경에 따른 성능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Modify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(SW)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UI/UX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개발임</a:t>
                      </a:r>
                    </a:p>
                  </a:txBody>
                  <a:tcPr marL="39000" marR="39000" marT="0" marB="0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lang="ko-KR" altLang="en-US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내용에서 등급 결정근거에 해당하는 내용 기재</a:t>
                      </a:r>
                      <a:r>
                        <a:rPr lang="en-US" altLang="ko-KR" sz="80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>
                        <a:solidFill>
                          <a:srgbClr val="0066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Base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급 개발모델에서 쿡탑 시스템 변경되므로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Ca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등급에 해당되나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(SW)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점검결과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 개발이 필요하여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  <a:r>
                        <a:rPr lang="en-US" altLang="ko-KR" sz="800" baseline="-25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_HW/SW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등급으로 결정함</a:t>
                      </a:r>
                    </a:p>
                  </a:txBody>
                  <a:tcPr marL="39000" marR="39000" marT="0" marB="0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해외라인업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-Case1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해외라인업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-Case2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99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생산지 이관 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×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6614718-8A14-EBC7-2D0B-4A1E832ACF6B}"/>
              </a:ext>
            </a:extLst>
          </p:cNvPr>
          <p:cNvSpPr/>
          <p:nvPr/>
        </p:nvSpPr>
        <p:spPr>
          <a:xfrm>
            <a:off x="69886" y="6234108"/>
            <a:ext cx="1697581" cy="3026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※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표준일정 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대비 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30%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이상 단축되는 경우 </a:t>
            </a:r>
            <a:endParaRPr lang="en-US" altLang="ko-KR" sz="800" b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r>
              <a:rPr lang="en-US" altLang="ko-KR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사업부장 승인 필요 </a:t>
            </a:r>
            <a:r>
              <a:rPr lang="en-US" altLang="ko-KR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(B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이상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F77A12E-3073-AF6F-6FF2-E37FCED48380}"/>
              </a:ext>
            </a:extLst>
          </p:cNvPr>
          <p:cNvSpPr/>
          <p:nvPr/>
        </p:nvSpPr>
        <p:spPr>
          <a:xfrm>
            <a:off x="69886" y="6096699"/>
            <a:ext cx="2673809" cy="17953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※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발의를 진행하지 않는 경우 등급심의회 기준으로 개발기간 산출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1C8F2FC1-8038-CD2C-55A2-81B75F53C60B}"/>
              </a:ext>
            </a:extLst>
          </p:cNvPr>
          <p:cNvGraphicFramePr>
            <a:graphicFrameLocks noGrp="1"/>
          </p:cNvGraphicFramePr>
          <p:nvPr/>
        </p:nvGraphicFramePr>
        <p:xfrm>
          <a:off x="6788664" y="4461147"/>
          <a:ext cx="1876259" cy="548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60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1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적용여부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Base</a:t>
                      </a:r>
                    </a:p>
                    <a:p>
                      <a:pPr algn="ctr" latinLnBrk="1"/>
                      <a:r>
                        <a:rPr lang="en-US" altLang="ko-KR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Model</a:t>
                      </a:r>
                      <a:endParaRPr lang="ko-KR" altLang="en-US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872431" rtl="0" eaLnBrk="1" latinLnBrk="1" hangingPunct="1"/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New</a:t>
                      </a:r>
                    </a:p>
                    <a:p>
                      <a:pPr marL="0" algn="ctr" defTabSz="872431" rtl="0" eaLnBrk="1" latinLnBrk="1" hangingPunct="1"/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Model</a:t>
                      </a:r>
                      <a:endParaRPr lang="ko-KR" altLang="en-US" sz="900" b="1" kern="12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과전압</a:t>
                      </a:r>
                      <a:endParaRPr lang="en-US" altLang="ko-KR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="1" dirty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지역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373040E4-70E5-6B75-B973-7855E82B1BD4}"/>
              </a:ext>
            </a:extLst>
          </p:cNvPr>
          <p:cNvSpPr/>
          <p:nvPr/>
        </p:nvSpPr>
        <p:spPr>
          <a:xfrm>
            <a:off x="6801731" y="5084246"/>
            <a:ext cx="2285882" cy="5416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출시 국가가 과전압 대상인 경우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제어팀장 결재 득할 것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과전압 대상 국가 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</a:p>
          <a:p>
            <a:pPr>
              <a:lnSpc>
                <a:spcPct val="110000"/>
              </a:lnSpc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인도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스리랑카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방글라데시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파키스탄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네팔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베트남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</a:p>
          <a:p>
            <a:pPr>
              <a:lnSpc>
                <a:spcPct val="110000"/>
              </a:lnSpc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미얀마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캄보디아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라오스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인도네시아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나이지리아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65E13A8-97AA-4485-FC60-E056A9FC98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662055"/>
              </p:ext>
            </p:extLst>
          </p:nvPr>
        </p:nvGraphicFramePr>
        <p:xfrm>
          <a:off x="5064498" y="4468314"/>
          <a:ext cx="1584176" cy="551270"/>
        </p:xfrm>
        <a:graphic>
          <a:graphicData uri="http://schemas.openxmlformats.org/drawingml/2006/table">
            <a:tbl>
              <a:tblPr/>
              <a:tblGrid>
                <a:gridCol w="792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4818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신뢰성 심사제 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대상 여부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별매악세사리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 유무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599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○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/ X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492DC29C-0D93-42B8-0BF2-D89287D802D1}"/>
              </a:ext>
            </a:extLst>
          </p:cNvPr>
          <p:cNvSpPr/>
          <p:nvPr/>
        </p:nvSpPr>
        <p:spPr>
          <a:xfrm>
            <a:off x="317890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03C0B7E-C1E0-2E21-B753-7DF6066019F3}"/>
              </a:ext>
            </a:extLst>
          </p:cNvPr>
          <p:cNvSpPr/>
          <p:nvPr/>
        </p:nvSpPr>
        <p:spPr>
          <a:xfrm>
            <a:off x="404758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5DA730F0-9FD9-B6CD-6FA4-6961207BEDBC}"/>
              </a:ext>
            </a:extLst>
          </p:cNvPr>
          <p:cNvSpPr/>
          <p:nvPr/>
        </p:nvSpPr>
        <p:spPr>
          <a:xfrm>
            <a:off x="4904658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CCD4679E-5575-8975-6777-1EEE5F591249}"/>
              </a:ext>
            </a:extLst>
          </p:cNvPr>
          <p:cNvSpPr/>
          <p:nvPr/>
        </p:nvSpPr>
        <p:spPr>
          <a:xfrm>
            <a:off x="557158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AF8A9BE-2952-5B73-3A08-721FAF890295}"/>
              </a:ext>
            </a:extLst>
          </p:cNvPr>
          <p:cNvSpPr/>
          <p:nvPr/>
        </p:nvSpPr>
        <p:spPr>
          <a:xfrm>
            <a:off x="663330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F6FB9325-5838-BF38-0F84-52AB86017122}"/>
              </a:ext>
            </a:extLst>
          </p:cNvPr>
          <p:cNvSpPr/>
          <p:nvPr/>
        </p:nvSpPr>
        <p:spPr>
          <a:xfrm>
            <a:off x="7496909" y="33035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805875C3-FF63-B4A2-BC58-2C2B3ED089F7}"/>
              </a:ext>
            </a:extLst>
          </p:cNvPr>
          <p:cNvSpPr/>
          <p:nvPr/>
        </p:nvSpPr>
        <p:spPr>
          <a:xfrm>
            <a:off x="8289389" y="321720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536C890-86C3-6FCF-E3E6-3A8025AEEABA}"/>
              </a:ext>
            </a:extLst>
          </p:cNvPr>
          <p:cNvSpPr/>
          <p:nvPr/>
        </p:nvSpPr>
        <p:spPr>
          <a:xfrm>
            <a:off x="8385909" y="3379766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FD61BC3-F868-9F4A-1A9E-2B6B937B5530}"/>
              </a:ext>
            </a:extLst>
          </p:cNvPr>
          <p:cNvSpPr/>
          <p:nvPr/>
        </p:nvSpPr>
        <p:spPr>
          <a:xfrm>
            <a:off x="6279256" y="4830217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788C3A1-9375-A656-E5FB-EA56C51CFD9D}"/>
              </a:ext>
            </a:extLst>
          </p:cNvPr>
          <p:cNvSpPr/>
          <p:nvPr/>
        </p:nvSpPr>
        <p:spPr>
          <a:xfrm>
            <a:off x="5301245" y="4830217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A22830A0-46AF-F7E8-715B-A60D250185B1}"/>
              </a:ext>
            </a:extLst>
          </p:cNvPr>
          <p:cNvSpPr/>
          <p:nvPr/>
        </p:nvSpPr>
        <p:spPr>
          <a:xfrm>
            <a:off x="7678685" y="4790461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4554E486-CC16-6BC9-FD1B-21881B5258C9}"/>
              </a:ext>
            </a:extLst>
          </p:cNvPr>
          <p:cNvSpPr/>
          <p:nvPr/>
        </p:nvSpPr>
        <p:spPr>
          <a:xfrm>
            <a:off x="8346595" y="4790461"/>
            <a:ext cx="163204" cy="163204"/>
          </a:xfrm>
          <a:prstGeom prst="ellipse">
            <a:avLst/>
          </a:prstGeom>
          <a:noFill/>
          <a:ln w="158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804E880-2096-D041-1C5D-E2BD38E1B03B}"/>
              </a:ext>
            </a:extLst>
          </p:cNvPr>
          <p:cNvSpPr/>
          <p:nvPr/>
        </p:nvSpPr>
        <p:spPr>
          <a:xfrm>
            <a:off x="1203633" y="4659247"/>
            <a:ext cx="1284006" cy="160108"/>
          </a:xfrm>
          <a:prstGeom prst="rect">
            <a:avLst/>
          </a:prstGeom>
          <a:solidFill>
            <a:srgbClr val="FFFF00"/>
          </a:solidFill>
        </p:spPr>
        <p:txBody>
          <a:bodyPr wrap="none" lIns="0" tIns="0" rIns="0" bIns="0">
            <a:spAutoFit/>
          </a:bodyPr>
          <a:lstStyle/>
          <a:p>
            <a:pPr algn="ctr">
              <a:lnSpc>
                <a:spcPts val="1400"/>
              </a:lnSpc>
            </a:pP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하방 모델 개발등록시 업데이트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0C1E7BE-E30A-E199-8786-31D947A770F4}"/>
              </a:ext>
            </a:extLst>
          </p:cNvPr>
          <p:cNvSpPr/>
          <p:nvPr/>
        </p:nvSpPr>
        <p:spPr>
          <a:xfrm>
            <a:off x="3656856" y="5882483"/>
            <a:ext cx="1259960" cy="160108"/>
          </a:xfrm>
          <a:prstGeom prst="rect">
            <a:avLst/>
          </a:prstGeom>
          <a:solidFill>
            <a:srgbClr val="FFFF00"/>
          </a:solidFill>
        </p:spPr>
        <p:txBody>
          <a:bodyPr wrap="none" lIns="0" tIns="0" rIns="0" bIns="0">
            <a:spAutoFit/>
          </a:bodyPr>
          <a:lstStyle/>
          <a:p>
            <a:pPr algn="ctr">
              <a:lnSpc>
                <a:spcPts val="1400"/>
              </a:lnSpc>
            </a:pPr>
            <a:r>
              <a:rPr lang="ko-KR" altLang="en-US" sz="8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하방 모델 개발등록시 업데이트</a:t>
            </a: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36" name="실행 단추: 끝으로 이동 35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C4FE8D5-412C-E63E-76E1-77CE7A385D36}"/>
              </a:ext>
            </a:extLst>
          </p:cNvPr>
          <p:cNvSpPr/>
          <p:nvPr/>
        </p:nvSpPr>
        <p:spPr>
          <a:xfrm>
            <a:off x="5757988" y="5503350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574950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D6770B-6BFD-0551-4CD3-F45F7B6E0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CE7A60EB-545F-A62C-8C4F-08661D038810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32675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1413A95A-09EA-1241-2A8C-E703BF0A14F0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CFD3EACC-0D39-808F-5232-CBA53CBA61EE}"/>
              </a:ext>
            </a:extLst>
          </p:cNvPr>
          <p:cNvGrpSpPr>
            <a:grpSpLocks noChangeAspect="1"/>
          </p:cNvGrpSpPr>
          <p:nvPr/>
        </p:nvGrpSpPr>
        <p:grpSpPr>
          <a:xfrm>
            <a:off x="5643517" y="2953566"/>
            <a:ext cx="4024116" cy="1862941"/>
            <a:chOff x="335360" y="2130315"/>
            <a:chExt cx="8696553" cy="4026020"/>
          </a:xfrm>
        </p:grpSpPr>
        <p:pic>
          <p:nvPicPr>
            <p:cNvPr id="52" name="그림 51">
              <a:extLst>
                <a:ext uri="{FF2B5EF4-FFF2-40B4-BE49-F238E27FC236}">
                  <a16:creationId xmlns:a16="http://schemas.microsoft.com/office/drawing/2014/main" id="{9114DB8E-F581-CFA5-3F78-3F4EDD3325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5360" y="2130315"/>
              <a:ext cx="8696553" cy="4026020"/>
            </a:xfrm>
            <a:prstGeom prst="rect">
              <a:avLst/>
            </a:prstGeom>
          </p:spPr>
        </p:pic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47FEF7E2-CE6E-7A06-2F25-4902FC4F8B0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25347" t="29327" r="50263" b="55950"/>
            <a:stretch/>
          </p:blipFill>
          <p:spPr>
            <a:xfrm>
              <a:off x="3491912" y="3405954"/>
              <a:ext cx="2248572" cy="734977"/>
            </a:xfrm>
            <a:prstGeom prst="rect">
              <a:avLst/>
            </a:prstGeom>
          </p:spPr>
        </p:pic>
        <p:pic>
          <p:nvPicPr>
            <p:cNvPr id="54" name="그림 53">
              <a:extLst>
                <a:ext uri="{FF2B5EF4-FFF2-40B4-BE49-F238E27FC236}">
                  <a16:creationId xmlns:a16="http://schemas.microsoft.com/office/drawing/2014/main" id="{3785A514-C775-9B41-2920-85BEC40CD65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72547" t="29327" r="24052" b="55950"/>
            <a:stretch/>
          </p:blipFill>
          <p:spPr>
            <a:xfrm>
              <a:off x="5563617" y="3405955"/>
              <a:ext cx="207598" cy="723315"/>
            </a:xfrm>
            <a:prstGeom prst="rect">
              <a:avLst/>
            </a:prstGeom>
          </p:spPr>
        </p:pic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AEAD6D6D-6762-55AF-DF33-B6B474E29463}"/>
                </a:ext>
              </a:extLst>
            </p:cNvPr>
            <p:cNvSpPr/>
            <p:nvPr/>
          </p:nvSpPr>
          <p:spPr>
            <a:xfrm>
              <a:off x="3572421" y="3647260"/>
              <a:ext cx="2082544" cy="482009"/>
            </a:xfrm>
            <a:prstGeom prst="rect">
              <a:avLst/>
            </a:prstGeom>
            <a:solidFill>
              <a:srgbClr val="24232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6" name="그림 55">
              <a:extLst>
                <a:ext uri="{FF2B5EF4-FFF2-40B4-BE49-F238E27FC236}">
                  <a16:creationId xmlns:a16="http://schemas.microsoft.com/office/drawing/2014/main" id="{E6A17030-A97B-3BC4-FCD9-40C3A1489A3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29588" t="35745" r="52534" b="56827"/>
            <a:stretch/>
          </p:blipFill>
          <p:spPr>
            <a:xfrm>
              <a:off x="3729800" y="3736660"/>
              <a:ext cx="866837" cy="392603"/>
            </a:xfrm>
            <a:prstGeom prst="rect">
              <a:avLst/>
            </a:prstGeom>
          </p:spPr>
        </p:pic>
        <p:pic>
          <p:nvPicPr>
            <p:cNvPr id="57" name="그림 56">
              <a:extLst>
                <a:ext uri="{FF2B5EF4-FFF2-40B4-BE49-F238E27FC236}">
                  <a16:creationId xmlns:a16="http://schemas.microsoft.com/office/drawing/2014/main" id="{201554EA-B0EE-CF5F-3458-7BFD2B85C6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29588" t="35745" r="52534" b="56827"/>
            <a:stretch/>
          </p:blipFill>
          <p:spPr>
            <a:xfrm>
              <a:off x="4656707" y="3736665"/>
              <a:ext cx="866837" cy="392603"/>
            </a:xfrm>
            <a:prstGeom prst="rect">
              <a:avLst/>
            </a:prstGeom>
          </p:spPr>
        </p:pic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26AC3DF8-7530-ECB2-9167-2DC5CD238841}"/>
              </a:ext>
            </a:extLst>
          </p:cNvPr>
          <p:cNvSpPr txBox="1"/>
          <p:nvPr/>
        </p:nvSpPr>
        <p:spPr>
          <a:xfrm>
            <a:off x="200472" y="630526"/>
            <a:ext cx="9193062" cy="64055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정통적인 오븐조리의 기능을 살리면서</a:t>
            </a:r>
            <a:r>
              <a:rPr kumimoji="0"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0"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높은 효율로 쾌속 조리가 가능한 </a:t>
            </a:r>
            <a:r>
              <a:rPr kumimoji="0"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 Useable </a:t>
            </a:r>
            <a:r>
              <a:rPr kumimoji="0"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주방 가전을 개발하고자 함</a:t>
            </a:r>
            <a:endParaRPr kumimoji="0" lang="en-US" altLang="ko-KR" sz="16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더블 오븐레인지 신규 플랫폼 설계로 </a:t>
            </a:r>
            <a:r>
              <a:rPr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Next </a:t>
            </a:r>
            <a:r>
              <a:rPr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슬라이드인의 디자인</a:t>
            </a:r>
            <a:r>
              <a:rPr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월오븐 신규 플랫폼까지 고려된 공용화설계 진행</a:t>
            </a:r>
            <a:endParaRPr lang="en-US" altLang="ko-KR" sz="16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885741D5-7A69-8B95-2C69-EBE5F3F314B4}"/>
              </a:ext>
            </a:extLst>
          </p:cNvPr>
          <p:cNvCxnSpPr/>
          <p:nvPr/>
        </p:nvCxnSpPr>
        <p:spPr>
          <a:xfrm>
            <a:off x="200472" y="6305545"/>
            <a:ext cx="2194681" cy="0"/>
          </a:xfrm>
          <a:prstGeom prst="line">
            <a:avLst/>
          </a:prstGeom>
          <a:noFill/>
          <a:ln w="9525" cap="flat" cmpd="sng" algn="ctr">
            <a:solidFill>
              <a:sysClr val="window" lastClr="FFFFFF">
                <a:lumMod val="65000"/>
              </a:sysClr>
            </a:solidFill>
            <a:prstDash val="solid"/>
          </a:ln>
          <a:effectLst/>
        </p:spPr>
      </p:cxnSp>
      <p:sp>
        <p:nvSpPr>
          <p:cNvPr id="60" name="Text Box 14">
            <a:hlinkClick r:id="" action="ppaction://noaction"/>
            <a:extLst>
              <a:ext uri="{FF2B5EF4-FFF2-40B4-BE49-F238E27FC236}">
                <a16:creationId xmlns:a16="http://schemas.microsoft.com/office/drawing/2014/main" id="{64496F92-2713-418E-6577-541069777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0790" y="6591454"/>
            <a:ext cx="224420" cy="1692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eaLnBrk="0" fontAlgn="auto" hangingPunct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q"/>
              <a:defRPr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</a:lstStyle>
          <a:p>
            <a:pPr marL="0" marR="0" lvl="0" indent="0" algn="ctr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 / 7</a:t>
            </a:r>
          </a:p>
        </p:txBody>
      </p:sp>
      <p:sp>
        <p:nvSpPr>
          <p:cNvPr id="61" name="Text Box 41">
            <a:extLst>
              <a:ext uri="{FF2B5EF4-FFF2-40B4-BE49-F238E27FC236}">
                <a16:creationId xmlns:a16="http://schemas.microsoft.com/office/drawing/2014/main" id="{4E4B084B-4EC7-29BC-5CB3-D8AC852B5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82" y="1397293"/>
            <a:ext cx="76463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fontAlgn="auto" hangingPunct="1">
              <a:spcAft>
                <a:spcPts val="0"/>
              </a:spcAft>
              <a:buFont typeface="Wingdings" pitchFamily="2" charset="2"/>
              <a:buNone/>
            </a:pPr>
            <a:r>
              <a:rPr lang="ko-KR" altLang="en-US" sz="16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고객 가치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856656AE-C961-520F-CBEB-23D63F4E109C}"/>
              </a:ext>
            </a:extLst>
          </p:cNvPr>
          <p:cNvCxnSpPr/>
          <p:nvPr/>
        </p:nvCxnSpPr>
        <p:spPr bwMode="auto">
          <a:xfrm>
            <a:off x="2065674" y="1643512"/>
            <a:ext cx="1491049" cy="0"/>
          </a:xfrm>
          <a:prstGeom prst="line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9BCA2CBB-CF75-30F9-C1D3-6E26231265F5}"/>
              </a:ext>
            </a:extLst>
          </p:cNvPr>
          <p:cNvSpPr txBox="1"/>
          <p:nvPr/>
        </p:nvSpPr>
        <p:spPr>
          <a:xfrm>
            <a:off x="203448" y="1728849"/>
            <a:ext cx="5215500" cy="49865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대용량 오븐레인지와 빠르고 편리한 조리의 소물가전의 장점을 가진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오븐으로서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b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소물가전 대체하여 쾌적한 주방환경을 제공하고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오븐 사용 빈도 높임</a:t>
            </a:r>
          </a:p>
        </p:txBody>
      </p:sp>
      <p:sp>
        <p:nvSpPr>
          <p:cNvPr id="64" name="Text Box 41">
            <a:extLst>
              <a:ext uri="{FF2B5EF4-FFF2-40B4-BE49-F238E27FC236}">
                <a16:creationId xmlns:a16="http://schemas.microsoft.com/office/drawing/2014/main" id="{00F3F509-30BE-4176-F328-5610BA67FC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198" y="1397293"/>
            <a:ext cx="71814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fontAlgn="auto" hangingPunct="1">
              <a:spcAft>
                <a:spcPts val="0"/>
              </a:spcAft>
              <a:buFont typeface="Wingdings" pitchFamily="2" charset="2"/>
              <a:buNone/>
            </a:pPr>
            <a:r>
              <a:rPr lang="ko-KR" altLang="en-US" sz="16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대응방안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A0D339B9-B520-FAA7-FEBF-DA4C94267AD5}"/>
              </a:ext>
            </a:extLst>
          </p:cNvPr>
          <p:cNvCxnSpPr/>
          <p:nvPr/>
        </p:nvCxnSpPr>
        <p:spPr bwMode="auto">
          <a:xfrm>
            <a:off x="6925745" y="1643512"/>
            <a:ext cx="1491049" cy="0"/>
          </a:xfrm>
          <a:prstGeom prst="line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81B8F5E3-FB86-A366-1A18-AC83D8F2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4784554"/>
              </p:ext>
            </p:extLst>
          </p:nvPr>
        </p:nvGraphicFramePr>
        <p:xfrm>
          <a:off x="236985" y="5160767"/>
          <a:ext cx="2440599" cy="930960"/>
        </p:xfrm>
        <a:graphic>
          <a:graphicData uri="http://schemas.openxmlformats.org/drawingml/2006/table">
            <a:tbl>
              <a:tblPr/>
              <a:tblGrid>
                <a:gridCol w="834000">
                  <a:extLst>
                    <a:ext uri="{9D8B030D-6E8A-4147-A177-3AD203B41FA5}">
                      <a16:colId xmlns:a16="http://schemas.microsoft.com/office/drawing/2014/main" val="3165948292"/>
                    </a:ext>
                  </a:extLst>
                </a:gridCol>
                <a:gridCol w="528125">
                  <a:extLst>
                    <a:ext uri="{9D8B030D-6E8A-4147-A177-3AD203B41FA5}">
                      <a16:colId xmlns:a16="http://schemas.microsoft.com/office/drawing/2014/main" val="4277727144"/>
                    </a:ext>
                  </a:extLst>
                </a:gridCol>
                <a:gridCol w="561462">
                  <a:extLst>
                    <a:ext uri="{9D8B030D-6E8A-4147-A177-3AD203B41FA5}">
                      <a16:colId xmlns:a16="http://schemas.microsoft.com/office/drawing/2014/main" val="2883795042"/>
                    </a:ext>
                  </a:extLst>
                </a:gridCol>
                <a:gridCol w="517012">
                  <a:extLst>
                    <a:ext uri="{9D8B030D-6E8A-4147-A177-3AD203B41FA5}">
                      <a16:colId xmlns:a16="http://schemas.microsoft.com/office/drawing/2014/main" val="3867945662"/>
                    </a:ext>
                  </a:extLst>
                </a:gridCol>
              </a:tblGrid>
              <a:tr h="74706"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auto"/>
                      <a:r>
                        <a:rPr lang="ko-KR" altLang="en-US" sz="900" b="0" i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조리시간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ko-KR" altLang="en-US" sz="900" b="0" i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 오븐​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>
                        <a:lnSpc>
                          <a:spcPct val="90000"/>
                        </a:lnSpc>
                      </a:pPr>
                      <a:r>
                        <a:rPr lang="ko-KR" altLang="en-US" sz="900" b="1" i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퀵존드로어</a:t>
                      </a:r>
                      <a:endParaRPr lang="en-US" altLang="ko-KR" sz="900" b="1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ko-KR" altLang="en-US" sz="900" b="0" i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소물가전</a:t>
                      </a:r>
                      <a:r>
                        <a:rPr lang="ko-KR" altLang="en-US" sz="900" b="0" i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​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9604719"/>
                  </a:ext>
                </a:extLst>
              </a:tr>
              <a:tr h="74706"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감자튀김</a:t>
                      </a:r>
                      <a:endParaRPr lang="ko-KR" altLang="en-US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 ​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1" i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</a:t>
                      </a:r>
                      <a:r>
                        <a:rPr lang="ko-KR" altLang="en-US" sz="900" b="1" i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분​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분​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2461367"/>
                  </a:ext>
                </a:extLst>
              </a:tr>
              <a:tr h="133881"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냉동피자</a:t>
                      </a:r>
                      <a:endParaRPr lang="en-US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분​</a:t>
                      </a:r>
                      <a:endParaRPr lang="en-US" altLang="ko-KR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  <a:r>
                        <a:rPr lang="ko-KR" altLang="en-US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분​</a:t>
                      </a:r>
                      <a:endParaRPr lang="ko-KR" altLang="en-US" sz="900" b="1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14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290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433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578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5722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2867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011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155" algn="l" defTabSz="914290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분​</a:t>
                      </a:r>
                      <a:endParaRPr lang="ko-KR" altLang="en-US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1016827"/>
                  </a:ext>
                </a:extLst>
              </a:tr>
              <a:tr h="13388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토스트 </a:t>
                      </a: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장</a:t>
                      </a: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 </a:t>
                      </a: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초</a:t>
                      </a:r>
                      <a:endParaRPr lang="en-US" altLang="ko-KR" sz="900" b="0" i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뒤집기 </a:t>
                      </a: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O)</a:t>
                      </a:r>
                      <a:endParaRPr lang="en-US" altLang="ko-KR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 </a:t>
                      </a:r>
                      <a:r>
                        <a:rPr lang="en-US" altLang="ko-KR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초</a:t>
                      </a:r>
                      <a:endParaRPr lang="en-US" altLang="ko-KR" sz="900" b="1" i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ase"/>
                      <a:r>
                        <a:rPr lang="en-US" altLang="ko-KR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뒤집기 </a:t>
                      </a:r>
                      <a:r>
                        <a:rPr lang="en-US" altLang="ko-KR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X)</a:t>
                      </a:r>
                      <a:endParaRPr lang="ko-KR" altLang="en-US" sz="900" b="1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 </a:t>
                      </a: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초</a:t>
                      </a:r>
                      <a:endParaRPr lang="en-US" altLang="ko-KR" sz="900" b="0" i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뒤집기 </a:t>
                      </a:r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O)</a:t>
                      </a: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0023008"/>
                  </a:ext>
                </a:extLst>
              </a:tr>
              <a:tr h="13388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닭다리</a:t>
                      </a:r>
                      <a:endParaRPr lang="en-US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endParaRPr lang="en-US" altLang="ko-KR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900" b="1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endParaRPr lang="ko-KR" altLang="en-US" sz="900" b="1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/>
                      <a:r>
                        <a:rPr lang="en-US" altLang="ko-KR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900" b="0" i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</a:t>
                      </a:r>
                      <a:endParaRPr lang="ko-KR" altLang="en-US" sz="900" b="0" i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3445549"/>
                  </a:ext>
                </a:extLst>
              </a:tr>
            </a:tbl>
          </a:graphicData>
        </a:graphic>
      </p:graphicFrame>
      <p:sp>
        <p:nvSpPr>
          <p:cNvPr id="67" name="TextBox 66">
            <a:extLst>
              <a:ext uri="{FF2B5EF4-FFF2-40B4-BE49-F238E27FC236}">
                <a16:creationId xmlns:a16="http://schemas.microsoft.com/office/drawing/2014/main" id="{3552E802-F328-4243-FE11-E62FD21AE192}"/>
              </a:ext>
            </a:extLst>
          </p:cNvPr>
          <p:cNvSpPr txBox="1"/>
          <p:nvPr/>
        </p:nvSpPr>
        <p:spPr>
          <a:xfrm>
            <a:off x="203443" y="4997605"/>
            <a:ext cx="879408" cy="14273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10000"/>
              </a:lnSpc>
              <a:defRPr kumimoji="1" sz="900" spc="-40">
                <a:solidFill>
                  <a:srgbClr val="006600"/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0">
                <a:solidFill>
                  <a:prstClr val="black"/>
                </a:solidFill>
                <a:latin typeface="Arial Narrow"/>
                <a:ea typeface="LG스마트체 Regular"/>
                <a:cs typeface="+mn-cs"/>
              </a:rPr>
              <a:t>※ 1</a:t>
            </a:r>
            <a:r>
              <a:rPr lang="ko-KR" altLang="en-US" b="0">
                <a:solidFill>
                  <a:prstClr val="black"/>
                </a:solidFill>
                <a:latin typeface="Arial Narrow"/>
                <a:ea typeface="LG스마트체 Regular"/>
                <a:cs typeface="+mn-cs"/>
              </a:rPr>
              <a:t>차 조리실험 결과</a:t>
            </a:r>
            <a:endParaRPr lang="en-US" altLang="ko-KR" b="0">
              <a:solidFill>
                <a:prstClr val="black"/>
              </a:solidFill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DC54ADFC-284E-C941-391D-6FEC12960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920233"/>
              </p:ext>
            </p:extLst>
          </p:nvPr>
        </p:nvGraphicFramePr>
        <p:xfrm>
          <a:off x="200472" y="2261824"/>
          <a:ext cx="5218475" cy="2674680"/>
        </p:xfrm>
        <a:graphic>
          <a:graphicData uri="http://schemas.openxmlformats.org/drawingml/2006/table">
            <a:tbl>
              <a:tblPr firstRow="1" bandRow="1"/>
              <a:tblGrid>
                <a:gridCol w="297825">
                  <a:extLst>
                    <a:ext uri="{9D8B030D-6E8A-4147-A177-3AD203B41FA5}">
                      <a16:colId xmlns:a16="http://schemas.microsoft.com/office/drawing/2014/main" val="39829256"/>
                    </a:ext>
                  </a:extLst>
                </a:gridCol>
                <a:gridCol w="2310775">
                  <a:extLst>
                    <a:ext uri="{9D8B030D-6E8A-4147-A177-3AD203B41FA5}">
                      <a16:colId xmlns:a16="http://schemas.microsoft.com/office/drawing/2014/main" val="857517250"/>
                    </a:ext>
                  </a:extLst>
                </a:gridCol>
                <a:gridCol w="453400">
                  <a:extLst>
                    <a:ext uri="{9D8B030D-6E8A-4147-A177-3AD203B41FA5}">
                      <a16:colId xmlns:a16="http://schemas.microsoft.com/office/drawing/2014/main" val="2715273962"/>
                    </a:ext>
                  </a:extLst>
                </a:gridCol>
                <a:gridCol w="453600">
                  <a:extLst>
                    <a:ext uri="{9D8B030D-6E8A-4147-A177-3AD203B41FA5}">
                      <a16:colId xmlns:a16="http://schemas.microsoft.com/office/drawing/2014/main" val="3325679929"/>
                    </a:ext>
                  </a:extLst>
                </a:gridCol>
                <a:gridCol w="1702875">
                  <a:extLst>
                    <a:ext uri="{9D8B030D-6E8A-4147-A177-3AD203B41FA5}">
                      <a16:colId xmlns:a16="http://schemas.microsoft.com/office/drawing/2014/main" val="1446007104"/>
                    </a:ext>
                  </a:extLst>
                </a:gridCol>
              </a:tblGrid>
              <a:tr h="13931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</a:t>
                      </a:r>
                      <a:r>
                        <a:rPr lang="en-US" altLang="ko-KR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상오븐</a:t>
                      </a:r>
                      <a:r>
                        <a:rPr lang="en-US" altLang="ko-KR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 가치 및 목표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오븐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소물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가전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Enabler</a:t>
                      </a:r>
                      <a:endParaRPr lang="ko-KR" altLang="en-US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515429"/>
                  </a:ext>
                </a:extLst>
              </a:tr>
              <a:tr h="509540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성능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쾌속 조리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레인지 대비 조리속도 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20%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단축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소물가전 동등 이상 조리속도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FFFF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Cavity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사이즈 축소 최적화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Fan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컨벡션 가열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3800W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고출력 히터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ko-KR" altLang="en-US" sz="9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소물가전 </a:t>
                      </a:r>
                      <a:r>
                        <a:rPr lang="en-US" altLang="ko-KR" sz="9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1800W</a:t>
                      </a:r>
                      <a:endParaRPr lang="ko-KR" altLang="en-US" sz="1100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2889785"/>
                  </a:ext>
                </a:extLst>
              </a:tr>
              <a:tr h="273939">
                <a:tc rowSpan="3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편의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뒤집기 없는 직화</a:t>
                      </a:r>
                      <a:r>
                        <a:rPr lang="en-US" altLang="ko-KR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(Grill)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요리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10800" marR="10800" marT="10800" marB="10800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FFFF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1400">
                        <a:ln>
                          <a:solidFill>
                            <a:schemeClr val="bg1">
                              <a:lumMod val="65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Breville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10800" marR="10800" marT="10800" marB="10800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 히터간 거리 축소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9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217 </a:t>
                      </a:r>
                      <a:r>
                        <a:rPr lang="ko-KR" altLang="en-US" sz="9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140mm</a:t>
                      </a:r>
                      <a:endParaRPr lang="ko-KR" altLang="en-US" sz="900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6401648"/>
                  </a:ext>
                </a:extLst>
              </a:tr>
              <a:tr h="273939">
                <a:tc vMerge="1">
                  <a:txBody>
                    <a:bodyPr/>
                    <a:lstStyle/>
                    <a:p>
                      <a:pPr latinLnBrk="1"/>
                      <a:endParaRPr lang="ko-KR" altLang="en-US" sz="12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이종 동시 조리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Cavity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좌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우 구역별 개별 온도 설정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10800" marR="10800" marT="10800" marB="10800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FFFF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1400">
                        <a:ln>
                          <a:solidFill>
                            <a:schemeClr val="bg1">
                              <a:lumMod val="65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큐커</a:t>
                      </a:r>
                    </a:p>
                  </a:txBody>
                  <a:tcPr marL="10800" marR="10800" marT="10800" marB="10800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히터 분할 및 개별 제어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90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1900W x 4ea</a:t>
                      </a:r>
                      <a:endParaRPr lang="ko-KR" altLang="en-US" sz="900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5241917"/>
                  </a:ext>
                </a:extLst>
              </a:tr>
              <a:tr h="38613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대용량 조리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- 14” Pizza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Daily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요리 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종 커버리지 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 </a:t>
                      </a:r>
                      <a:r>
                        <a:rPr lang="en-US" altLang="ko-KR" sz="1100" baseline="300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1)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FFFF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1400">
                        <a:ln>
                          <a:solidFill>
                            <a:schemeClr val="bg1">
                              <a:lumMod val="65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n>
                            <a:noFill/>
                          </a:ln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요리면적</a:t>
                      </a:r>
                      <a:endParaRPr lang="en-US" altLang="ko-KR" sz="900">
                        <a:ln>
                          <a:noFill/>
                        </a:ln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n>
                            <a:noFill/>
                          </a:ln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</a:t>
                      </a:r>
                      <a:endParaRPr lang="en-US" altLang="ko-KR" sz="900">
                        <a:ln>
                          <a:noFill/>
                        </a:ln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prstClr val="white">
                                <a:lumMod val="65000"/>
                              </a:prstClr>
                            </a:solidFill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10800" marR="10800" marT="10800" marB="10800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오븐 레인지 플랫폼 활용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7634427"/>
                  </a:ext>
                </a:extLst>
              </a:tr>
              <a:tr h="262720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편의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100" b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식재료 인출입 및 중간 확인 편리</a:t>
                      </a:r>
                      <a:endParaRPr lang="en-US" altLang="ko-KR" sz="11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도어 연동 랙 인출 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or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드로워 인출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prstClr val="white">
                                <a:lumMod val="65000"/>
                              </a:prstClr>
                            </a:solidFill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n>
                            <a:solidFill>
                              <a:schemeClr val="bg1">
                                <a:lumMod val="65000"/>
                              </a:schemeClr>
                            </a:solidFill>
                          </a:ln>
                          <a:solidFill>
                            <a:srgbClr val="FFFF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1400">
                        <a:ln>
                          <a:solidFill>
                            <a:schemeClr val="bg1">
                              <a:lumMod val="65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indent="0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1-Link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연동</a:t>
                      </a:r>
                      <a:r>
                        <a:rPr lang="en-US" altLang="ko-KR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or </a:t>
                      </a:r>
                      <a:r>
                        <a:rPr lang="ko-KR" altLang="en-US" sz="11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드로워 구조</a:t>
                      </a:r>
                      <a:endParaRPr lang="en-US" altLang="ko-KR" sz="11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0800" marR="10800" marT="10800" marB="10800" anchor="ctr">
                    <a:lnL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2795688"/>
                  </a:ext>
                </a:extLst>
              </a:tr>
            </a:tbl>
          </a:graphicData>
        </a:graphic>
      </p:graphicFrame>
      <p:sp>
        <p:nvSpPr>
          <p:cNvPr id="69" name="TextBox 68">
            <a:extLst>
              <a:ext uri="{FF2B5EF4-FFF2-40B4-BE49-F238E27FC236}">
                <a16:creationId xmlns:a16="http://schemas.microsoft.com/office/drawing/2014/main" id="{0C49DA2E-DF79-A26D-3CE8-672161086BFE}"/>
              </a:ext>
            </a:extLst>
          </p:cNvPr>
          <p:cNvSpPr txBox="1"/>
          <p:nvPr/>
        </p:nvSpPr>
        <p:spPr>
          <a:xfrm>
            <a:off x="232604" y="6090911"/>
            <a:ext cx="1873270" cy="1428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10000"/>
              </a:lnSpc>
              <a:defRPr kumimoji="1" sz="900" spc="-40">
                <a:solidFill>
                  <a:srgbClr val="006600"/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0">
                <a:latin typeface="Arial Narrow"/>
                <a:ea typeface="LG스마트체 Regular"/>
                <a:cs typeface="+mn-cs"/>
              </a:rPr>
              <a:t> </a:t>
            </a:r>
            <a:r>
              <a:rPr lang="en-US" altLang="ko-KR" b="0">
                <a:latin typeface="Arial Narrow"/>
                <a:ea typeface="LG스마트체 Regular"/>
                <a:cs typeface="+mn-cs"/>
              </a:rPr>
              <a:t>*</a:t>
            </a:r>
            <a:r>
              <a:rPr lang="ko-KR" altLang="en-US" b="0">
                <a:latin typeface="Arial Narrow"/>
                <a:ea typeface="LG스마트체 Regular"/>
                <a:cs typeface="+mn-cs"/>
              </a:rPr>
              <a:t> 컨벡션 유동 및 가열 알고리즘 개선 진행 중</a:t>
            </a:r>
            <a:endParaRPr lang="en-US" altLang="ko-KR" b="0"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B2E388A-6277-F419-461B-A3F308F45312}"/>
              </a:ext>
            </a:extLst>
          </p:cNvPr>
          <p:cNvSpPr txBox="1"/>
          <p:nvPr/>
        </p:nvSpPr>
        <p:spPr>
          <a:xfrm>
            <a:off x="5674773" y="1728849"/>
            <a:ext cx="3992993" cy="115960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고객의 오븐 사용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Trend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반영한 신규 오븐 레인지 플랫폼 개발</a:t>
            </a:r>
            <a:endParaRPr kumimoji="0" lang="en-US" altLang="ko-KR" sz="120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하여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Daily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메뉴 특화된 신규오븐 카테고리를 선점하겠음</a:t>
            </a:r>
            <a:endParaRPr kumimoji="0" lang="en-US" altLang="ko-KR" sz="120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빠른 시장변화를 감지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대응하기 위한 개발일정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30%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단축</a:t>
            </a:r>
            <a:endParaRPr kumimoji="0" lang="en-US" altLang="ko-KR" sz="120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-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빠른 요리를 위해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20%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더 빠른 조리성능 구현</a:t>
            </a:r>
            <a:endParaRPr kumimoji="0" lang="en-US" altLang="ko-KR" sz="120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-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원가 경쟁력을 갖추기 위한 싱글 수준의 재료비 달성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 28%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↓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5411DD04-081D-83CE-A3AD-B6F1CB5E8DC4}"/>
              </a:ext>
            </a:extLst>
          </p:cNvPr>
          <p:cNvSpPr txBox="1"/>
          <p:nvPr/>
        </p:nvSpPr>
        <p:spPr>
          <a:xfrm>
            <a:off x="7367391" y="5662987"/>
            <a:ext cx="2114635" cy="72018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상단 오븐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퀵존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]</a:t>
            </a: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효율적인 가열과 접근성으로</a:t>
            </a:r>
            <a:endParaRPr kumimoji="0" lang="en-US" altLang="ko-KR" sz="120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0" lang="ko-KR" altLang="en-US" sz="1200" u="sng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빠르고 편리한 </a:t>
            </a:r>
            <a:r>
              <a:rPr kumimoji="0" lang="en-US" altLang="ko-KR" sz="1200" u="sng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조리 공간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A789E2D-0C43-4B1B-ACD3-27F4C7F110E2}"/>
              </a:ext>
            </a:extLst>
          </p:cNvPr>
          <p:cNvSpPr txBox="1"/>
          <p:nvPr/>
        </p:nvSpPr>
        <p:spPr>
          <a:xfrm>
            <a:off x="7367391" y="4906709"/>
            <a:ext cx="2318136" cy="72018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[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하단 오븐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]</a:t>
            </a: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Home Party, Holiday 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등 주요 </a:t>
            </a:r>
            <a:r>
              <a:rPr kumimoji="0"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Event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</a:t>
            </a:r>
            <a:endParaRPr kumimoji="0" lang="en-US" altLang="ko-KR" sz="120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대응하는 </a:t>
            </a:r>
            <a:r>
              <a:rPr kumimoji="0" lang="ko-KR" altLang="en-US" sz="1200" u="sng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대용량 조리</a:t>
            </a:r>
            <a:r>
              <a:rPr kumimoji="0"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공간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889FDAF-A0E8-D5A8-AFD2-5552A3A1A1A7}"/>
              </a:ext>
            </a:extLst>
          </p:cNvPr>
          <p:cNvSpPr/>
          <p:nvPr/>
        </p:nvSpPr>
        <p:spPr>
          <a:xfrm>
            <a:off x="7147962" y="4166301"/>
            <a:ext cx="46150" cy="4615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74" name="연결선: 꺾임 73">
            <a:extLst>
              <a:ext uri="{FF2B5EF4-FFF2-40B4-BE49-F238E27FC236}">
                <a16:creationId xmlns:a16="http://schemas.microsoft.com/office/drawing/2014/main" id="{DF4EB5FF-D0D8-9472-5E7C-0C3B0C52FAC4}"/>
              </a:ext>
            </a:extLst>
          </p:cNvPr>
          <p:cNvCxnSpPr>
            <a:cxnSpLocks/>
            <a:stCxn id="76" idx="1"/>
            <a:endCxn id="71" idx="1"/>
          </p:cNvCxnSpPr>
          <p:nvPr/>
        </p:nvCxnSpPr>
        <p:spPr>
          <a:xfrm rot="10800000" flipH="1" flipV="1">
            <a:off x="7185247" y="3772937"/>
            <a:ext cx="182143" cy="2250144"/>
          </a:xfrm>
          <a:prstGeom prst="bentConnector3">
            <a:avLst>
              <a:gd name="adj1" fmla="val -125506"/>
            </a:avLst>
          </a:prstGeom>
          <a:noFill/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  <a:headEnd type="oval" w="sm" len="sm"/>
            <a:tailEnd type="triangle"/>
          </a:ln>
          <a:effectLst>
            <a:glow rad="25400">
              <a:sysClr val="window" lastClr="FFFFFF"/>
            </a:glow>
          </a:effectLst>
        </p:spPr>
      </p:cxnSp>
      <p:cxnSp>
        <p:nvCxnSpPr>
          <p:cNvPr id="75" name="연결선: 꺾임 74">
            <a:extLst>
              <a:ext uri="{FF2B5EF4-FFF2-40B4-BE49-F238E27FC236}">
                <a16:creationId xmlns:a16="http://schemas.microsoft.com/office/drawing/2014/main" id="{F50F83ED-8B51-8E02-B30C-6713078C4670}"/>
              </a:ext>
            </a:extLst>
          </p:cNvPr>
          <p:cNvCxnSpPr>
            <a:cxnSpLocks/>
            <a:stCxn id="73" idx="2"/>
            <a:endCxn id="72" idx="1"/>
          </p:cNvCxnSpPr>
          <p:nvPr/>
        </p:nvCxnSpPr>
        <p:spPr>
          <a:xfrm rot="16200000" flipH="1">
            <a:off x="6742038" y="4641450"/>
            <a:ext cx="1054352" cy="196354"/>
          </a:xfrm>
          <a:prstGeom prst="bentConnector2">
            <a:avLst/>
          </a:prstGeom>
          <a:noFill/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  <a:headEnd type="oval" w="sm" len="sm"/>
            <a:tailEnd type="triangle"/>
          </a:ln>
          <a:effectLst>
            <a:glow rad="25400">
              <a:sysClr val="window" lastClr="FFFFFF"/>
            </a:glow>
          </a:effectLst>
        </p:spPr>
      </p:cxn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AE7E1098-B4E3-606D-0CD0-DBB51B0A39C8}"/>
              </a:ext>
            </a:extLst>
          </p:cNvPr>
          <p:cNvSpPr/>
          <p:nvPr/>
        </p:nvSpPr>
        <p:spPr>
          <a:xfrm>
            <a:off x="7185248" y="3749862"/>
            <a:ext cx="46150" cy="4615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C4C1A4D-8FAB-E962-890F-49129B245EEF}"/>
              </a:ext>
            </a:extLst>
          </p:cNvPr>
          <p:cNvSpPr/>
          <p:nvPr/>
        </p:nvSpPr>
        <p:spPr>
          <a:xfrm>
            <a:off x="117524" y="6305545"/>
            <a:ext cx="6629187" cy="369332"/>
          </a:xfrm>
          <a:prstGeom prst="rect">
            <a:avLst/>
          </a:prstGeom>
        </p:spPr>
        <p:txBody>
          <a:bodyPr wrap="square" anchor="t" anchorCtr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1) 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소형 조리 기기 메뉴 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68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가지 기준 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시카고 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Lab, Food science task)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2) US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시카고 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Lab 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오븐레인지 보유 임직원 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Survey (5/22~, n=103</a:t>
            </a:r>
            <a:r>
              <a:rPr kumimoji="0" lang="ko-KR" altLang="en-US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900" b="0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789253E-60B9-6478-C0D4-32FD82F6FED2}"/>
              </a:ext>
            </a:extLst>
          </p:cNvPr>
          <p:cNvSpPr txBox="1"/>
          <p:nvPr/>
        </p:nvSpPr>
        <p:spPr>
          <a:xfrm>
            <a:off x="2930063" y="5058708"/>
            <a:ext cx="603691" cy="13760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342651" marR="0" lvl="0" indent="-342651" defTabSz="913739" eaLnBrk="0" fontAlgn="auto" latinLnBrk="1" hangingPunct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72231" marR="0" lvl="0" indent="-72231" defTabSz="742413" eaLnBrk="0" fontAlgn="auto" latinLnBrk="1" hangingPunct="0">
              <a:lnSpc>
                <a:spcPct val="100000"/>
              </a:lnSpc>
              <a:spcBef>
                <a:spcPts val="244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894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기능 선호도</a:t>
            </a:r>
            <a:endParaRPr kumimoji="0" lang="ko-KR" altLang="en-US" sz="894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79" name="차트 78">
            <a:extLst>
              <a:ext uri="{FF2B5EF4-FFF2-40B4-BE49-F238E27FC236}">
                <a16:creationId xmlns:a16="http://schemas.microsoft.com/office/drawing/2014/main" id="{5C19DD9E-970A-8E04-C182-DD9B44BDD99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24283512"/>
              </p:ext>
            </p:extLst>
          </p:nvPr>
        </p:nvGraphicFramePr>
        <p:xfrm>
          <a:off x="2895413" y="5352034"/>
          <a:ext cx="1810225" cy="9172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5C8B0D8B-2318-C811-3D0D-2BFB38D3D042}"/>
              </a:ext>
            </a:extLst>
          </p:cNvPr>
          <p:cNvSpPr txBox="1"/>
          <p:nvPr/>
        </p:nvSpPr>
        <p:spPr>
          <a:xfrm>
            <a:off x="2965811" y="5259566"/>
            <a:ext cx="1210268" cy="13760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R="0" lvl="0" indent="0" defTabSz="914400" fontAlgn="base" latin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defTabSz="74295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94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1" lang="ko-KR" altLang="en-US" sz="894" b="0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퀵존</a:t>
            </a:r>
            <a:r>
              <a:rPr kumimoji="1" lang="ko-KR" altLang="en-US" sz="894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1" lang="ko-KR" altLang="en-US" sz="894" b="0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드로워</a:t>
            </a:r>
            <a:r>
              <a:rPr kumimoji="1" lang="ko-KR" altLang="en-US" sz="894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기능 선호도</a:t>
            </a:r>
            <a:r>
              <a:rPr kumimoji="1" lang="en-US" altLang="ko-KR" sz="894" b="0" i="0" u="none" strike="noStrike" kern="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2)</a:t>
            </a:r>
            <a:r>
              <a:rPr kumimoji="1" lang="en-US" altLang="ko-KR" sz="894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1" lang="ko-KR" altLang="en-US" sz="894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5CC513B-A578-B41A-89AC-6DA4DDAF0F30}"/>
              </a:ext>
            </a:extLst>
          </p:cNvPr>
          <p:cNvSpPr txBox="1"/>
          <p:nvPr/>
        </p:nvSpPr>
        <p:spPr>
          <a:xfrm>
            <a:off x="4656498" y="5320640"/>
            <a:ext cx="328616" cy="125099"/>
          </a:xfrm>
          <a:prstGeom prst="rect">
            <a:avLst/>
          </a:prstGeom>
          <a:solidFill>
            <a:sysClr val="window" lastClr="FFFFFF"/>
          </a:solidFill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defTabSz="7429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13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재료비</a:t>
            </a:r>
            <a:r>
              <a:rPr kumimoji="1" lang="en-US" altLang="ko-KR" sz="813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+</a:t>
            </a:r>
            <a:endParaRPr kumimoji="1" lang="ko-KR" altLang="en-US" sz="813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89EAD2D-FE8D-8FC1-AC5B-B8F9E2845CE6}"/>
              </a:ext>
            </a:extLst>
          </p:cNvPr>
          <p:cNvSpPr txBox="1"/>
          <p:nvPr/>
        </p:nvSpPr>
        <p:spPr>
          <a:xfrm>
            <a:off x="4722054" y="5499570"/>
            <a:ext cx="168316" cy="125099"/>
          </a:xfrm>
          <a:prstGeom prst="rect">
            <a:avLst/>
          </a:prstGeom>
          <a:solidFill>
            <a:sysClr val="window" lastClr="FFFFFF"/>
          </a:solidFill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defTabSz="7429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13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$7.1</a:t>
            </a:r>
            <a:endParaRPr kumimoji="1" lang="ko-KR" altLang="en-US" sz="813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AAE9B14D-FC0D-0535-602C-27C2582DE4EE}"/>
              </a:ext>
            </a:extLst>
          </p:cNvPr>
          <p:cNvSpPr txBox="1"/>
          <p:nvPr/>
        </p:nvSpPr>
        <p:spPr>
          <a:xfrm>
            <a:off x="4722054" y="5659987"/>
            <a:ext cx="216406" cy="125099"/>
          </a:xfrm>
          <a:prstGeom prst="rect">
            <a:avLst/>
          </a:prstGeom>
          <a:solidFill>
            <a:sysClr val="window" lastClr="FFFFFF"/>
          </a:solidFill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defTabSz="7429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13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$27.5</a:t>
            </a:r>
            <a:endParaRPr kumimoji="1" lang="ko-KR" altLang="en-US" sz="813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6AAD51C-F6D3-3BF2-4F65-A0AF02678136}"/>
              </a:ext>
            </a:extLst>
          </p:cNvPr>
          <p:cNvSpPr txBox="1"/>
          <p:nvPr/>
        </p:nvSpPr>
        <p:spPr>
          <a:xfrm>
            <a:off x="4722055" y="5815866"/>
            <a:ext cx="144270" cy="125099"/>
          </a:xfrm>
          <a:prstGeom prst="rect">
            <a:avLst/>
          </a:prstGeom>
          <a:solidFill>
            <a:sysClr val="window" lastClr="FFFFFF"/>
          </a:solidFill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defTabSz="7429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13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$15</a:t>
            </a:r>
            <a:endParaRPr kumimoji="1" lang="ko-KR" altLang="en-US" sz="813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" name="Text Box 66">
            <a:extLst>
              <a:ext uri="{FF2B5EF4-FFF2-40B4-BE49-F238E27FC236}">
                <a16:creationId xmlns:a16="http://schemas.microsoft.com/office/drawing/2014/main" id="{97AB91AE-1265-8303-D308-42E75081208A}"/>
              </a:ext>
            </a:extLst>
          </p:cNvPr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066247" y="5319847"/>
            <a:ext cx="399148" cy="112467"/>
          </a:xfrm>
          <a:prstGeom prst="rect">
            <a:avLst/>
          </a:prstGeom>
          <a:solidFill>
            <a:sysClr val="window" lastClr="FFFFFF"/>
          </a:solidFill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50" latinLnBrk="0">
              <a:defRPr/>
            </a:pPr>
            <a:r>
              <a:rPr kumimoji="0" lang="ko-KR" altLang="en-US" sz="731" b="0" kern="0">
                <a:solidFill>
                  <a:srgbClr val="006600"/>
                </a:solidFill>
                <a:latin typeface="Arial Narrow" pitchFamily="34" charset="0"/>
                <a:ea typeface="LG스마트체 Regular" pitchFamily="50" charset="-127"/>
              </a:rPr>
              <a:t>제품 가격</a:t>
            </a:r>
            <a:r>
              <a:rPr kumimoji="0" lang="en-US" altLang="ko-KR" sz="731" b="0" kern="0">
                <a:solidFill>
                  <a:srgbClr val="006600"/>
                </a:solidFill>
                <a:latin typeface="Arial Narrow" pitchFamily="34" charset="0"/>
                <a:ea typeface="LG스마트체 Regular" pitchFamily="50" charset="-127"/>
              </a:rPr>
              <a:t>+</a:t>
            </a:r>
            <a:endParaRPr kumimoji="0" lang="en-US" altLang="en-US" sz="731" b="0" kern="0">
              <a:solidFill>
                <a:srgbClr val="006600"/>
              </a:solidFill>
              <a:latin typeface="Arial Narrow" pitchFamily="34" charset="0"/>
              <a:ea typeface="LG스마트체 Regular" pitchFamily="50" charset="-127"/>
            </a:endParaRPr>
          </a:p>
        </p:txBody>
      </p:sp>
      <p:sp>
        <p:nvSpPr>
          <p:cNvPr id="86" name="Text Box 66">
            <a:extLst>
              <a:ext uri="{FF2B5EF4-FFF2-40B4-BE49-F238E27FC236}">
                <a16:creationId xmlns:a16="http://schemas.microsoft.com/office/drawing/2014/main" id="{0A3E426D-23FC-7020-E8FB-7C35122AFFE0}"/>
              </a:ext>
            </a:extLst>
          </p:cNvPr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5081877" y="5503710"/>
            <a:ext cx="304571" cy="112467"/>
          </a:xfrm>
          <a:prstGeom prst="rect">
            <a:avLst/>
          </a:prstGeom>
          <a:solidFill>
            <a:sysClr val="window" lastClr="FFFFFF"/>
          </a:solidFill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50" latinLnBrk="0">
              <a:defRPr/>
            </a:pPr>
            <a:r>
              <a:rPr kumimoji="0" lang="en-US" altLang="ko-KR" sz="731" b="0" kern="0">
                <a:solidFill>
                  <a:srgbClr val="006600"/>
                </a:solidFill>
                <a:latin typeface="Arial Narrow" pitchFamily="34" charset="0"/>
                <a:ea typeface="LG스마트체 Regular" pitchFamily="50" charset="-127"/>
              </a:rPr>
              <a:t>$80~200</a:t>
            </a:r>
            <a:endParaRPr kumimoji="0" lang="en-US" altLang="en-US" sz="731" b="0" kern="0">
              <a:solidFill>
                <a:srgbClr val="006600"/>
              </a:solidFill>
              <a:latin typeface="Arial Narrow" pitchFamily="34" charset="0"/>
              <a:ea typeface="LG스마트체 Regular" pitchFamily="50" charset="-127"/>
            </a:endParaRPr>
          </a:p>
        </p:txBody>
      </p:sp>
      <p:sp>
        <p:nvSpPr>
          <p:cNvPr id="87" name="Text Box 66">
            <a:extLst>
              <a:ext uri="{FF2B5EF4-FFF2-40B4-BE49-F238E27FC236}">
                <a16:creationId xmlns:a16="http://schemas.microsoft.com/office/drawing/2014/main" id="{DE6BBFA2-878C-F198-89E9-356C6BB8EB10}"/>
              </a:ext>
            </a:extLst>
          </p:cNvPr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060386" y="5663161"/>
            <a:ext cx="347852" cy="112467"/>
          </a:xfrm>
          <a:prstGeom prst="rect">
            <a:avLst/>
          </a:prstGeom>
          <a:solidFill>
            <a:sysClr val="window" lastClr="FFFFFF"/>
          </a:solidFill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50" latinLnBrk="0">
              <a:defRPr/>
            </a:pPr>
            <a:r>
              <a:rPr kumimoji="0" lang="en-US" altLang="ko-KR" sz="731" b="0" kern="0">
                <a:solidFill>
                  <a:srgbClr val="006600"/>
                </a:solidFill>
                <a:latin typeface="Arial Narrow" pitchFamily="34" charset="0"/>
                <a:ea typeface="LG스마트체 Regular" pitchFamily="50" charset="-127"/>
              </a:rPr>
              <a:t>$100~400</a:t>
            </a:r>
            <a:endParaRPr kumimoji="0" lang="en-US" altLang="en-US" sz="731" b="0" kern="0">
              <a:solidFill>
                <a:srgbClr val="006600"/>
              </a:solidFill>
              <a:latin typeface="Arial Narrow" pitchFamily="34" charset="0"/>
              <a:ea typeface="LG스마트체 Regular" pitchFamily="50" charset="-127"/>
            </a:endParaRPr>
          </a:p>
        </p:txBody>
      </p:sp>
      <p:sp>
        <p:nvSpPr>
          <p:cNvPr id="88" name="Text Box 66">
            <a:extLst>
              <a:ext uri="{FF2B5EF4-FFF2-40B4-BE49-F238E27FC236}">
                <a16:creationId xmlns:a16="http://schemas.microsoft.com/office/drawing/2014/main" id="{1DF1C756-6463-671C-C099-A328D2BB88F3}"/>
              </a:ext>
            </a:extLst>
          </p:cNvPr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060386" y="5822924"/>
            <a:ext cx="347852" cy="112467"/>
          </a:xfrm>
          <a:prstGeom prst="rect">
            <a:avLst/>
          </a:prstGeom>
          <a:solidFill>
            <a:sysClr val="window" lastClr="FFFFFF"/>
          </a:solidFill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50" latinLnBrk="0">
              <a:defRPr/>
            </a:pPr>
            <a:r>
              <a:rPr kumimoji="0" lang="en-US" altLang="ko-KR" sz="731" b="0" kern="0">
                <a:solidFill>
                  <a:srgbClr val="006600"/>
                </a:solidFill>
                <a:latin typeface="Arial Narrow" pitchFamily="34" charset="0"/>
                <a:ea typeface="LG스마트체 Regular" pitchFamily="50" charset="-127"/>
              </a:rPr>
              <a:t>$300~600</a:t>
            </a:r>
            <a:endParaRPr kumimoji="0" lang="en-US" altLang="en-US" sz="731" b="0" kern="0">
              <a:solidFill>
                <a:srgbClr val="006600"/>
              </a:solidFill>
              <a:latin typeface="Arial Narrow" pitchFamily="34" charset="0"/>
              <a:ea typeface="LG스마트체 Regular" pitchFamily="50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67771C3-0D4F-F71E-3F1D-644E2909DC87}"/>
              </a:ext>
            </a:extLst>
          </p:cNvPr>
          <p:cNvSpPr txBox="1"/>
          <p:nvPr/>
        </p:nvSpPr>
        <p:spPr>
          <a:xfrm>
            <a:off x="59021" y="2553356"/>
            <a:ext cx="290538" cy="340020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171450" indent="-171450"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ü"/>
              <a:defRPr/>
            </a:pPr>
            <a:r>
              <a:rPr kumimoji="0" lang="en-US" altLang="ko-KR" sz="1600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kumimoji="0" lang="ko-KR" altLang="en-US" sz="1600" b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58E0BE0-8A08-0301-1AA4-F2844D620877}"/>
              </a:ext>
            </a:extLst>
          </p:cNvPr>
          <p:cNvSpPr txBox="1"/>
          <p:nvPr/>
        </p:nvSpPr>
        <p:spPr>
          <a:xfrm>
            <a:off x="59021" y="3252603"/>
            <a:ext cx="290538" cy="340020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171450" indent="-171450"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ü"/>
              <a:defRPr/>
            </a:pPr>
            <a:r>
              <a:rPr kumimoji="0" lang="en-US" altLang="ko-KR" sz="1600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kumimoji="0" lang="ko-KR" altLang="en-US" sz="1600" b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865760F-E0D4-5FAE-D704-B628656EFA80}"/>
              </a:ext>
            </a:extLst>
          </p:cNvPr>
          <p:cNvSpPr txBox="1"/>
          <p:nvPr/>
        </p:nvSpPr>
        <p:spPr>
          <a:xfrm>
            <a:off x="59021" y="4466680"/>
            <a:ext cx="290538" cy="340020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171450" indent="-171450"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ü"/>
              <a:defRPr/>
            </a:pPr>
            <a:r>
              <a:rPr kumimoji="0" lang="en-US" altLang="ko-KR" sz="1600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kumimoji="0" lang="ko-KR" altLang="en-US" sz="1600" b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6891071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97F445-DB48-00D8-9020-34BBC28092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8ABB4B28-90B6-3BC4-AAD5-5D41A72F5B53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32675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6C8DE1C-FBD1-5A33-2F4A-CAB3A0D208CB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98684AE-71D0-7441-BAE3-0C0C52A733F1}"/>
              </a:ext>
            </a:extLst>
          </p:cNvPr>
          <p:cNvSpPr txBox="1"/>
          <p:nvPr/>
        </p:nvSpPr>
        <p:spPr>
          <a:xfrm>
            <a:off x="200472" y="630526"/>
            <a:ext cx="9193062" cy="64055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kumimoji="0"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정통적인 오븐조리의 기능을 살리면서</a:t>
            </a:r>
            <a:r>
              <a:rPr kumimoji="0"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0"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높은 효율로 쾌속 조리가 가능한 </a:t>
            </a:r>
            <a:r>
              <a:rPr kumimoji="0"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 Useable </a:t>
            </a:r>
            <a:r>
              <a:rPr kumimoji="0"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주방 가전을 개발하고자 함</a:t>
            </a:r>
            <a:endParaRPr kumimoji="0" lang="en-US" altLang="ko-KR" sz="16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>
              <a:lnSpc>
                <a:spcPct val="120000"/>
              </a:lnSpc>
              <a:spcBef>
                <a:spcPts val="0"/>
              </a:spcBef>
              <a:defRPr/>
            </a:pPr>
            <a:r>
              <a:rPr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더블 오븐레인지 신규 플랫폼 설계로 </a:t>
            </a:r>
            <a:r>
              <a:rPr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Next </a:t>
            </a:r>
            <a:r>
              <a:rPr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슬라이드인의 디자인</a:t>
            </a:r>
            <a:r>
              <a:rPr lang="en-US" altLang="ko-KR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lang="ko-KR" altLang="en-US" sz="16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월오븐 신규 플랫폼까지 고려된 공용화설계 진행</a:t>
            </a:r>
            <a:endParaRPr lang="en-US" altLang="ko-KR" sz="16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22" name="Text Box 41">
            <a:extLst>
              <a:ext uri="{FF2B5EF4-FFF2-40B4-BE49-F238E27FC236}">
                <a16:creationId xmlns:a16="http://schemas.microsoft.com/office/drawing/2014/main" id="{2AC317EB-E466-F696-75D3-703EE66B1C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33740" y="1769677"/>
            <a:ext cx="194284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fontAlgn="auto" hangingPunct="1">
              <a:spcAft>
                <a:spcPts val="0"/>
              </a:spcAft>
              <a:buFont typeface="Wingdings" pitchFamily="2" charset="2"/>
              <a:buNone/>
            </a:pPr>
            <a:r>
              <a:rPr lang="ko-KR" altLang="en-US" sz="16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차별화 </a:t>
            </a:r>
            <a:r>
              <a:rPr lang="en-US" altLang="ko-KR" sz="16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Point / Door </a:t>
            </a:r>
            <a:r>
              <a:rPr lang="ko-KR" altLang="en-US" sz="16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비율</a:t>
            </a:r>
          </a:p>
        </p:txBody>
      </p: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D046702D-18AB-2242-89DA-1D98991F95D2}"/>
              </a:ext>
            </a:extLst>
          </p:cNvPr>
          <p:cNvCxnSpPr>
            <a:cxnSpLocks/>
          </p:cNvCxnSpPr>
          <p:nvPr/>
        </p:nvCxnSpPr>
        <p:spPr bwMode="auto">
          <a:xfrm>
            <a:off x="3729217" y="2015896"/>
            <a:ext cx="2187201" cy="0"/>
          </a:xfrm>
          <a:prstGeom prst="line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124" name="그림 123">
            <a:extLst>
              <a:ext uri="{FF2B5EF4-FFF2-40B4-BE49-F238E27FC236}">
                <a16:creationId xmlns:a16="http://schemas.microsoft.com/office/drawing/2014/main" id="{6090446C-1DAF-F922-BEA1-6D3F0E031CB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90500" y="2769607"/>
            <a:ext cx="2560046" cy="3151581"/>
          </a:xfrm>
          <a:prstGeom prst="rect">
            <a:avLst/>
          </a:prstGeom>
        </p:spPr>
      </p:pic>
      <p:pic>
        <p:nvPicPr>
          <p:cNvPr id="125" name="그림 124">
            <a:extLst>
              <a:ext uri="{FF2B5EF4-FFF2-40B4-BE49-F238E27FC236}">
                <a16:creationId xmlns:a16="http://schemas.microsoft.com/office/drawing/2014/main" id="{B3817F67-DC37-B991-B1AC-CAE4B5B6FFE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68139" y="2778495"/>
            <a:ext cx="2580260" cy="3112274"/>
          </a:xfrm>
          <a:prstGeom prst="rect">
            <a:avLst/>
          </a:prstGeom>
        </p:spPr>
      </p:pic>
      <p:sp>
        <p:nvSpPr>
          <p:cNvPr id="126" name="TextBox 125">
            <a:extLst>
              <a:ext uri="{FF2B5EF4-FFF2-40B4-BE49-F238E27FC236}">
                <a16:creationId xmlns:a16="http://schemas.microsoft.com/office/drawing/2014/main" id="{A0F5C6D6-45FC-EAFE-D091-2DBBA830F71A}"/>
              </a:ext>
            </a:extLst>
          </p:cNvPr>
          <p:cNvSpPr txBox="1"/>
          <p:nvPr/>
        </p:nvSpPr>
        <p:spPr>
          <a:xfrm>
            <a:off x="2715254" y="2425962"/>
            <a:ext cx="1075936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ko-KR" altLang="en-US" sz="1200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기존</a:t>
            </a:r>
            <a:r>
              <a:rPr lang="en-US" altLang="ko-KR" sz="1200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ko-KR" altLang="en-US" sz="1200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양산 구조</a:t>
            </a:r>
            <a:endParaRPr lang="ko-KR" altLang="en-US" sz="1200" u="sng" dirty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C1A2CF88-BC78-D4E0-A89E-89FEB676A27A}"/>
              </a:ext>
            </a:extLst>
          </p:cNvPr>
          <p:cNvSpPr txBox="1"/>
          <p:nvPr/>
        </p:nvSpPr>
        <p:spPr>
          <a:xfrm>
            <a:off x="6162263" y="2425962"/>
            <a:ext cx="63030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ko-KR" altLang="en-US" sz="1200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개선 안</a:t>
            </a:r>
            <a:endParaRPr lang="ko-KR" altLang="en-US" sz="1200" u="sng" dirty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28" name="직선 화살표 연결선 127">
            <a:extLst>
              <a:ext uri="{FF2B5EF4-FFF2-40B4-BE49-F238E27FC236}">
                <a16:creationId xmlns:a16="http://schemas.microsoft.com/office/drawing/2014/main" id="{16A33537-FB5E-0B06-3ADB-2666C656C010}"/>
              </a:ext>
            </a:extLst>
          </p:cNvPr>
          <p:cNvCxnSpPr>
            <a:cxnSpLocks/>
          </p:cNvCxnSpPr>
          <p:nvPr/>
        </p:nvCxnSpPr>
        <p:spPr bwMode="auto">
          <a:xfrm>
            <a:off x="4400264" y="4313115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129" name="직선 화살표 연결선 128">
            <a:extLst>
              <a:ext uri="{FF2B5EF4-FFF2-40B4-BE49-F238E27FC236}">
                <a16:creationId xmlns:a16="http://schemas.microsoft.com/office/drawing/2014/main" id="{191ACFDD-9F72-E827-DF24-ED6A6801CFA7}"/>
              </a:ext>
            </a:extLst>
          </p:cNvPr>
          <p:cNvCxnSpPr>
            <a:cxnSpLocks/>
          </p:cNvCxnSpPr>
          <p:nvPr/>
        </p:nvCxnSpPr>
        <p:spPr bwMode="auto">
          <a:xfrm>
            <a:off x="4400264" y="3259015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130" name="직선 화살표 연결선 129">
            <a:extLst>
              <a:ext uri="{FF2B5EF4-FFF2-40B4-BE49-F238E27FC236}">
                <a16:creationId xmlns:a16="http://schemas.microsoft.com/office/drawing/2014/main" id="{D33EB6A6-36CC-A753-4CCA-872F778A6841}"/>
              </a:ext>
            </a:extLst>
          </p:cNvPr>
          <p:cNvCxnSpPr>
            <a:cxnSpLocks/>
          </p:cNvCxnSpPr>
          <p:nvPr/>
        </p:nvCxnSpPr>
        <p:spPr bwMode="auto">
          <a:xfrm>
            <a:off x="4594853" y="3279103"/>
            <a:ext cx="0" cy="1015287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triangle"/>
            <a:tailEnd type="triangle"/>
          </a:ln>
          <a:effectLst/>
        </p:spPr>
      </p:cxn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C8556DCC-EEAB-A414-CADB-07A0D66FF1A5}"/>
              </a:ext>
            </a:extLst>
          </p:cNvPr>
          <p:cNvCxnSpPr>
            <a:cxnSpLocks/>
          </p:cNvCxnSpPr>
          <p:nvPr/>
        </p:nvCxnSpPr>
        <p:spPr bwMode="auto">
          <a:xfrm>
            <a:off x="4594853" y="4349282"/>
            <a:ext cx="0" cy="1392037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2F33204F-2537-92A6-57F5-8CEC20AF1B68}"/>
              </a:ext>
            </a:extLst>
          </p:cNvPr>
          <p:cNvSpPr txBox="1"/>
          <p:nvPr/>
        </p:nvSpPr>
        <p:spPr>
          <a:xfrm>
            <a:off x="3872072" y="3703042"/>
            <a:ext cx="493095" cy="237255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0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316.6</a:t>
            </a:r>
            <a:endParaRPr lang="ko-KR" altLang="en-US" sz="1400" dirty="0">
              <a:solidFill>
                <a:srgbClr val="FF0000"/>
              </a:solidFill>
              <a:effectLst>
                <a:glow rad="76200">
                  <a:prstClr val="white"/>
                </a:glo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761775B3-14DE-B3CF-D5CE-5DC753D01833}"/>
              </a:ext>
            </a:extLst>
          </p:cNvPr>
          <p:cNvCxnSpPr>
            <a:cxnSpLocks/>
          </p:cNvCxnSpPr>
          <p:nvPr/>
        </p:nvCxnSpPr>
        <p:spPr bwMode="auto">
          <a:xfrm>
            <a:off x="4400264" y="5754565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A84222A1-ED66-0EC8-1239-00EAB7227353}"/>
              </a:ext>
            </a:extLst>
          </p:cNvPr>
          <p:cNvCxnSpPr>
            <a:cxnSpLocks/>
          </p:cNvCxnSpPr>
          <p:nvPr/>
        </p:nvCxnSpPr>
        <p:spPr bwMode="auto">
          <a:xfrm>
            <a:off x="4400264" y="4340103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sp>
        <p:nvSpPr>
          <p:cNvPr id="135" name="TextBox 134">
            <a:extLst>
              <a:ext uri="{FF2B5EF4-FFF2-40B4-BE49-F238E27FC236}">
                <a16:creationId xmlns:a16="http://schemas.microsoft.com/office/drawing/2014/main" id="{2A3524A5-03B4-5F2C-6DF0-1174A85D2877}"/>
              </a:ext>
            </a:extLst>
          </p:cNvPr>
          <p:cNvSpPr txBox="1"/>
          <p:nvPr/>
        </p:nvSpPr>
        <p:spPr>
          <a:xfrm>
            <a:off x="3872073" y="4988378"/>
            <a:ext cx="493095" cy="237255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0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425.2</a:t>
            </a:r>
            <a:endParaRPr lang="ko-KR" altLang="en-US" sz="1400" dirty="0">
              <a:solidFill>
                <a:srgbClr val="FF0000"/>
              </a:solidFill>
              <a:effectLst>
                <a:glow rad="76200">
                  <a:prstClr val="white"/>
                </a:glo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48B6A33C-3501-6242-38D8-23F236B25CF1}"/>
              </a:ext>
            </a:extLst>
          </p:cNvPr>
          <p:cNvSpPr txBox="1"/>
          <p:nvPr/>
        </p:nvSpPr>
        <p:spPr>
          <a:xfrm>
            <a:off x="2875781" y="3694416"/>
            <a:ext cx="744766" cy="465522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3.0 Cu.ft</a:t>
            </a:r>
          </a:p>
          <a:p>
            <a:pPr algn="ctr">
              <a:spcBef>
                <a:spcPts val="100"/>
              </a:spcBef>
            </a:pPr>
            <a:r>
              <a:rPr lang="ko-KR" altLang="en-US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높이 </a:t>
            </a: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43%</a:t>
            </a:r>
            <a:endParaRPr lang="ko-KR" altLang="en-US" sz="1400" dirty="0">
              <a:solidFill>
                <a:srgbClr val="FFFF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89BE7BC4-3CD4-62D5-60C4-3D2FCD3BA330}"/>
              </a:ext>
            </a:extLst>
          </p:cNvPr>
          <p:cNvSpPr txBox="1"/>
          <p:nvPr/>
        </p:nvSpPr>
        <p:spPr>
          <a:xfrm>
            <a:off x="2875781" y="4798597"/>
            <a:ext cx="744766" cy="465522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4.3 Cu.ft</a:t>
            </a:r>
          </a:p>
          <a:p>
            <a:pPr algn="ctr">
              <a:spcBef>
                <a:spcPts val="100"/>
              </a:spcBef>
            </a:pPr>
            <a:r>
              <a:rPr lang="ko-KR" altLang="en-US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높이 </a:t>
            </a: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57%</a:t>
            </a:r>
            <a:endParaRPr lang="ko-KR" altLang="en-US" sz="1400" dirty="0">
              <a:solidFill>
                <a:srgbClr val="FFFF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38" name="직선 화살표 연결선 137">
            <a:extLst>
              <a:ext uri="{FF2B5EF4-FFF2-40B4-BE49-F238E27FC236}">
                <a16:creationId xmlns:a16="http://schemas.microsoft.com/office/drawing/2014/main" id="{8C72F22E-1B8B-BF25-CD99-27A348F9C610}"/>
              </a:ext>
            </a:extLst>
          </p:cNvPr>
          <p:cNvCxnSpPr>
            <a:cxnSpLocks/>
          </p:cNvCxnSpPr>
          <p:nvPr/>
        </p:nvCxnSpPr>
        <p:spPr bwMode="auto">
          <a:xfrm>
            <a:off x="7675544" y="4001965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139" name="직선 화살표 연결선 138">
            <a:extLst>
              <a:ext uri="{FF2B5EF4-FFF2-40B4-BE49-F238E27FC236}">
                <a16:creationId xmlns:a16="http://schemas.microsoft.com/office/drawing/2014/main" id="{841714A2-083E-12C9-5F95-EC8EAC4E904C}"/>
              </a:ext>
            </a:extLst>
          </p:cNvPr>
          <p:cNvCxnSpPr>
            <a:cxnSpLocks/>
          </p:cNvCxnSpPr>
          <p:nvPr/>
        </p:nvCxnSpPr>
        <p:spPr bwMode="auto">
          <a:xfrm>
            <a:off x="7675544" y="3259015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140" name="직선 화살표 연결선 139">
            <a:extLst>
              <a:ext uri="{FF2B5EF4-FFF2-40B4-BE49-F238E27FC236}">
                <a16:creationId xmlns:a16="http://schemas.microsoft.com/office/drawing/2014/main" id="{2FB03E49-B42E-0E97-EF4F-D435C04715F1}"/>
              </a:ext>
            </a:extLst>
          </p:cNvPr>
          <p:cNvCxnSpPr>
            <a:cxnSpLocks/>
          </p:cNvCxnSpPr>
          <p:nvPr/>
        </p:nvCxnSpPr>
        <p:spPr bwMode="auto">
          <a:xfrm>
            <a:off x="7870133" y="3279103"/>
            <a:ext cx="0" cy="701675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triangle"/>
            <a:tailEnd type="triangle"/>
          </a:ln>
          <a:effectLst/>
        </p:spPr>
      </p:cxnSp>
      <p:cxnSp>
        <p:nvCxnSpPr>
          <p:cNvPr id="141" name="직선 화살표 연결선 140">
            <a:extLst>
              <a:ext uri="{FF2B5EF4-FFF2-40B4-BE49-F238E27FC236}">
                <a16:creationId xmlns:a16="http://schemas.microsoft.com/office/drawing/2014/main" id="{F6EED6FB-268F-5A93-57FC-984DEDECFDAB}"/>
              </a:ext>
            </a:extLst>
          </p:cNvPr>
          <p:cNvCxnSpPr>
            <a:cxnSpLocks/>
          </p:cNvCxnSpPr>
          <p:nvPr/>
        </p:nvCxnSpPr>
        <p:spPr bwMode="auto">
          <a:xfrm>
            <a:off x="7870133" y="4050628"/>
            <a:ext cx="0" cy="1690691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84AD03E3-40B1-C8A0-113D-4E9E670DD644}"/>
              </a:ext>
            </a:extLst>
          </p:cNvPr>
          <p:cNvSpPr txBox="1"/>
          <p:nvPr/>
        </p:nvSpPr>
        <p:spPr>
          <a:xfrm>
            <a:off x="7147354" y="3513336"/>
            <a:ext cx="493095" cy="237255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0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222.4</a:t>
            </a:r>
            <a:endParaRPr lang="ko-KR" altLang="en-US" sz="1400" dirty="0">
              <a:solidFill>
                <a:srgbClr val="FF0000"/>
              </a:solidFill>
              <a:effectLst>
                <a:glow rad="76200">
                  <a:prstClr val="white"/>
                </a:glo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43" name="직선 화살표 연결선 142">
            <a:extLst>
              <a:ext uri="{FF2B5EF4-FFF2-40B4-BE49-F238E27FC236}">
                <a16:creationId xmlns:a16="http://schemas.microsoft.com/office/drawing/2014/main" id="{5927E5B8-4F9F-73C5-BDC6-11D18E262D61}"/>
              </a:ext>
            </a:extLst>
          </p:cNvPr>
          <p:cNvCxnSpPr>
            <a:cxnSpLocks/>
          </p:cNvCxnSpPr>
          <p:nvPr/>
        </p:nvCxnSpPr>
        <p:spPr bwMode="auto">
          <a:xfrm>
            <a:off x="7675544" y="5754565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144" name="직선 화살표 연결선 143">
            <a:extLst>
              <a:ext uri="{FF2B5EF4-FFF2-40B4-BE49-F238E27FC236}">
                <a16:creationId xmlns:a16="http://schemas.microsoft.com/office/drawing/2014/main" id="{B0B120F8-2275-B3F6-57DC-2AC11F250289}"/>
              </a:ext>
            </a:extLst>
          </p:cNvPr>
          <p:cNvCxnSpPr>
            <a:cxnSpLocks/>
          </p:cNvCxnSpPr>
          <p:nvPr/>
        </p:nvCxnSpPr>
        <p:spPr bwMode="auto">
          <a:xfrm>
            <a:off x="7675544" y="4028953"/>
            <a:ext cx="236135" cy="0"/>
          </a:xfrm>
          <a:prstGeom prst="straightConnector1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/>
            <a:tailEnd type="none"/>
          </a:ln>
          <a:effectLst/>
        </p:spPr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7D00A4A3-9A04-C5BE-EB2E-FD2DAB4E7EF6}"/>
              </a:ext>
            </a:extLst>
          </p:cNvPr>
          <p:cNvSpPr txBox="1"/>
          <p:nvPr/>
        </p:nvSpPr>
        <p:spPr>
          <a:xfrm>
            <a:off x="7147355" y="4740728"/>
            <a:ext cx="493095" cy="237255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0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519.4</a:t>
            </a:r>
            <a:endParaRPr lang="ko-KR" altLang="en-US" sz="1400" dirty="0">
              <a:solidFill>
                <a:srgbClr val="FF0000"/>
              </a:solidFill>
              <a:effectLst>
                <a:glow rad="76200">
                  <a:prstClr val="white"/>
                </a:glo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BA12406-CF8B-2EBC-01CA-B3BEE242B69E}"/>
              </a:ext>
            </a:extLst>
          </p:cNvPr>
          <p:cNvSpPr txBox="1"/>
          <p:nvPr/>
        </p:nvSpPr>
        <p:spPr>
          <a:xfrm>
            <a:off x="6073422" y="3448009"/>
            <a:ext cx="744766" cy="465522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2.0 Cu.ft</a:t>
            </a:r>
          </a:p>
          <a:p>
            <a:pPr algn="ctr">
              <a:spcBef>
                <a:spcPts val="100"/>
              </a:spcBef>
            </a:pPr>
            <a:r>
              <a:rPr lang="ko-KR" altLang="en-US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높이 </a:t>
            </a: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30%</a:t>
            </a:r>
            <a:endParaRPr lang="ko-KR" altLang="en-US" sz="1400" dirty="0">
              <a:solidFill>
                <a:srgbClr val="FFFF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660990B8-0535-22EB-E176-B910BB47CEBE}"/>
              </a:ext>
            </a:extLst>
          </p:cNvPr>
          <p:cNvSpPr txBox="1"/>
          <p:nvPr/>
        </p:nvSpPr>
        <p:spPr>
          <a:xfrm>
            <a:off x="6073422" y="4660576"/>
            <a:ext cx="744766" cy="465522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5.1 Cu.ft</a:t>
            </a:r>
          </a:p>
          <a:p>
            <a:pPr algn="ctr">
              <a:spcBef>
                <a:spcPts val="100"/>
              </a:spcBef>
            </a:pPr>
            <a:r>
              <a:rPr lang="ko-KR" altLang="en-US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높이 </a:t>
            </a:r>
            <a:r>
              <a:rPr lang="en-US" altLang="ko-KR" sz="1400">
                <a:solidFill>
                  <a:srgbClr val="FFFF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70%</a:t>
            </a:r>
            <a:endParaRPr lang="ko-KR" altLang="en-US" sz="1400" dirty="0">
              <a:solidFill>
                <a:srgbClr val="FFFF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8" name="화살표: 오른쪽 147">
            <a:extLst>
              <a:ext uri="{FF2B5EF4-FFF2-40B4-BE49-F238E27FC236}">
                <a16:creationId xmlns:a16="http://schemas.microsoft.com/office/drawing/2014/main" id="{768E1A6E-3029-BACC-C92E-F3435B685C17}"/>
              </a:ext>
            </a:extLst>
          </p:cNvPr>
          <p:cNvSpPr/>
          <p:nvPr/>
        </p:nvSpPr>
        <p:spPr>
          <a:xfrm>
            <a:off x="4718816" y="4077072"/>
            <a:ext cx="401872" cy="456541"/>
          </a:xfrm>
          <a:prstGeom prst="rightArrow">
            <a:avLst/>
          </a:prstGeom>
          <a:solidFill>
            <a:sysClr val="window" lastClr="FFFFFF">
              <a:lumMod val="75000"/>
            </a:sysClr>
          </a:solidFill>
          <a:ln w="1270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800" b="0" kern="0">
              <a:solidFill>
                <a:prstClr val="white"/>
              </a:solidFill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3D22A7A6-1384-DC28-31BB-7CCF296A2B2B}"/>
              </a:ext>
            </a:extLst>
          </p:cNvPr>
          <p:cNvSpPr txBox="1"/>
          <p:nvPr/>
        </p:nvSpPr>
        <p:spPr>
          <a:xfrm>
            <a:off x="6875569" y="3720057"/>
            <a:ext cx="804076" cy="160310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ko-KR" altLang="en-US" sz="900" b="0">
                <a:solidFill>
                  <a:srgbClr val="008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양산대비 </a:t>
            </a:r>
            <a:r>
              <a:rPr lang="en-US" altLang="ko-KR" sz="900" b="0">
                <a:solidFill>
                  <a:srgbClr val="008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-94.2</a:t>
            </a:r>
            <a:endParaRPr lang="ko-KR" altLang="en-US" sz="900" b="0" dirty="0">
              <a:solidFill>
                <a:srgbClr val="008000"/>
              </a:solidFill>
              <a:effectLst>
                <a:glow rad="76200">
                  <a:prstClr val="white"/>
                </a:glo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1994502-EDAE-6789-E448-0A760EB0E68B}"/>
              </a:ext>
            </a:extLst>
          </p:cNvPr>
          <p:cNvSpPr txBox="1"/>
          <p:nvPr/>
        </p:nvSpPr>
        <p:spPr>
          <a:xfrm>
            <a:off x="6862745" y="4957187"/>
            <a:ext cx="829724" cy="160310"/>
          </a:xfrm>
          <a:prstGeom prst="rect">
            <a:avLst/>
          </a:prstGeom>
          <a:noFill/>
        </p:spPr>
        <p:txBody>
          <a:bodyPr wrap="none" lIns="10800" tIns="10800" rIns="10800" bIns="1080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lang="ko-KR" altLang="en-US" sz="900" b="0">
                <a:solidFill>
                  <a:srgbClr val="008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양산대비 </a:t>
            </a:r>
            <a:r>
              <a:rPr lang="en-US" altLang="ko-KR" sz="900" b="0">
                <a:solidFill>
                  <a:srgbClr val="008000"/>
                </a:solidFill>
                <a:effectLst>
                  <a:glow rad="76200">
                    <a:prstClr val="white"/>
                  </a:glo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+94.2</a:t>
            </a:r>
            <a:endParaRPr lang="ko-KR" altLang="en-US" sz="900" b="0" dirty="0">
              <a:solidFill>
                <a:srgbClr val="008000"/>
              </a:solidFill>
              <a:effectLst>
                <a:glow rad="76200">
                  <a:prstClr val="white"/>
                </a:glo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151" name="그림 150">
            <a:extLst>
              <a:ext uri="{FF2B5EF4-FFF2-40B4-BE49-F238E27FC236}">
                <a16:creationId xmlns:a16="http://schemas.microsoft.com/office/drawing/2014/main" id="{C97C654E-A2A9-E769-DF20-F6AE56CA6413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t="42523" b="53757"/>
          <a:stretch/>
        </p:blipFill>
        <p:spPr>
          <a:xfrm>
            <a:off x="5190500" y="3313875"/>
            <a:ext cx="2560046" cy="1172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5819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975443-2BE1-D3FE-99B0-12D34BB52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BD139599-B430-DDA5-2F84-50D2934905B8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32675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6B55715-A330-017F-87C9-4D9999403A55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1D05939-7EEF-8D2B-5644-90D868D772A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35801" y="1412776"/>
            <a:ext cx="3038541" cy="3774621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5DF780BC-0091-7BF9-545F-858CBD5308BC}"/>
              </a:ext>
            </a:extLst>
          </p:cNvPr>
          <p:cNvSpPr/>
          <p:nvPr/>
        </p:nvSpPr>
        <p:spPr>
          <a:xfrm>
            <a:off x="342463" y="591464"/>
            <a:ext cx="345840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Base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모델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</a:t>
            </a:r>
            <a:r>
              <a:rPr lang="en-US" altLang="ko-KR" sz="12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Double Slide In IH STUDIO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LTIS7338XE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0CC5599-D74D-E071-BC66-D156FB4EB772}"/>
              </a:ext>
            </a:extLst>
          </p:cNvPr>
          <p:cNvSpPr/>
          <p:nvPr/>
        </p:nvSpPr>
        <p:spPr>
          <a:xfrm>
            <a:off x="3835801" y="587186"/>
            <a:ext cx="17203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개발 모델 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Quick </a:t>
            </a:r>
            <a: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Zone Oven (Best) </a:t>
            </a:r>
            <a:endParaRPr kumimoji="1" lang="en-US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</a:t>
            </a:r>
            <a:r>
              <a:rPr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LQIN7137XE</a:t>
            </a:r>
            <a:endParaRPr kumimoji="1" lang="en-US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D6A3961-325B-59B8-CD85-77D99DD3C2F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1809" y="1601806"/>
            <a:ext cx="2919998" cy="3436725"/>
          </a:xfrm>
          <a:prstGeom prst="rect">
            <a:avLst/>
          </a:prstGeom>
        </p:spPr>
      </p:pic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1669A583-58A3-E7D5-405E-8986ABC527C7}"/>
              </a:ext>
            </a:extLst>
          </p:cNvPr>
          <p:cNvSpPr/>
          <p:nvPr/>
        </p:nvSpPr>
        <p:spPr>
          <a:xfrm flipV="1">
            <a:off x="5194075" y="3322622"/>
            <a:ext cx="3070252" cy="437613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9733D0A-9BB4-B848-BD98-0CA273A674CC}"/>
              </a:ext>
            </a:extLst>
          </p:cNvPr>
          <p:cNvSpPr txBox="1"/>
          <p:nvPr/>
        </p:nvSpPr>
        <p:spPr>
          <a:xfrm>
            <a:off x="6939379" y="3550154"/>
            <a:ext cx="2683222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③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Upper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Oven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Cavity : 3.0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2.0 </a:t>
            </a:r>
            <a:r>
              <a:rPr lang="en-US" altLang="ko-KR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Cu.ft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  4 Heater, 2 Convection Fan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  Gliding Rack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 인출 구조 적용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Door : </a:t>
            </a:r>
            <a:r>
              <a:rPr lang="ko-KR" altLang="en-US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InstaView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® &amp; </a:t>
            </a:r>
            <a:r>
              <a:rPr lang="ko-KR" altLang="en-US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WideView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™ </a:t>
            </a:r>
            <a:r>
              <a:rPr lang="ko-KR" altLang="en-US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Window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Fixed Dimple Handle</a:t>
            </a: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깊이 방향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8mm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축소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Full Inner Glass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BO24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유사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676BB8C6-8051-DC9E-BE8C-2DF85A047977}"/>
              </a:ext>
            </a:extLst>
          </p:cNvPr>
          <p:cNvSpPr/>
          <p:nvPr/>
        </p:nvSpPr>
        <p:spPr>
          <a:xfrm flipV="1">
            <a:off x="4843912" y="4414305"/>
            <a:ext cx="3420415" cy="1214969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B053CFC-DA0C-E1F8-3EC5-7F80A11DB9A9}"/>
              </a:ext>
            </a:extLst>
          </p:cNvPr>
          <p:cNvSpPr txBox="1"/>
          <p:nvPr/>
        </p:nvSpPr>
        <p:spPr>
          <a:xfrm>
            <a:off x="6872779" y="5421037"/>
            <a:ext cx="2339802" cy="9002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④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Lower Oven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Cavity : 4.3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5.1 </a:t>
            </a:r>
            <a:r>
              <a:rPr lang="en-US" altLang="ko-KR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Cu</a:t>
            </a:r>
            <a:r>
              <a:rPr lang="en-US" altLang="ko-KR" sz="1050" b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ft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Door : </a:t>
            </a:r>
            <a:r>
              <a:rPr lang="ko-KR" altLang="en-US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InstaView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® &amp; </a:t>
            </a:r>
            <a:r>
              <a:rPr lang="ko-KR" altLang="en-US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WideView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™ </a:t>
            </a:r>
            <a:r>
              <a:rPr lang="ko-KR" altLang="en-US" sz="1050" b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Window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Fixed Dimple Handle</a:t>
            </a:r>
          </a:p>
          <a:p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깊이 방향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8mm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축소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3F045735-88E5-051D-1BC8-E9C8C8469288}"/>
              </a:ext>
            </a:extLst>
          </p:cNvPr>
          <p:cNvSpPr/>
          <p:nvPr/>
        </p:nvSpPr>
        <p:spPr>
          <a:xfrm>
            <a:off x="5371357" y="2631233"/>
            <a:ext cx="2892970" cy="224861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797A7A1-44D3-DBE8-62DA-7FD44020920A}"/>
              </a:ext>
            </a:extLst>
          </p:cNvPr>
          <p:cNvSpPr txBox="1"/>
          <p:nvPr/>
        </p:nvSpPr>
        <p:spPr>
          <a:xfrm>
            <a:off x="6939379" y="2430479"/>
            <a:ext cx="2683222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②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Controller Assembly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전면 경사각 삭제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88º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90º (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직각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Type)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6.8” 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LCD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en-US" altLang="ko-KR" sz="1050" b="0" baseline="30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nd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Signature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Mode Knob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형상 변경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DB9AA1FA-C131-5362-2504-F54E221625B5}"/>
              </a:ext>
            </a:extLst>
          </p:cNvPr>
          <p:cNvSpPr/>
          <p:nvPr/>
        </p:nvSpPr>
        <p:spPr>
          <a:xfrm>
            <a:off x="5626676" y="1390262"/>
            <a:ext cx="2544344" cy="718457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0A2E7A5-D562-7568-9BAC-BC48FEBA184D}"/>
              </a:ext>
            </a:extLst>
          </p:cNvPr>
          <p:cNvSpPr txBox="1"/>
          <p:nvPr/>
        </p:nvSpPr>
        <p:spPr>
          <a:xfrm>
            <a:off x="6939379" y="1180176"/>
            <a:ext cx="2339802" cy="9002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Cooktop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Nova Design 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endParaRPr lang="en-US" altLang="ko-KR" sz="1050" b="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Cooktop 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Glass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최대화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Edge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to</a:t>
            </a:r>
            <a:r>
              <a:rPr lang="ko-KR" altLang="en-US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edge)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en-US" altLang="ko-KR" sz="105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Vent Grille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높이 최소화</a:t>
            </a:r>
            <a:endParaRPr lang="en-US" altLang="ko-KR" sz="1050" b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IH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원형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Coil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(Better+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2275149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AA71A8D-94D3-C729-C08A-A4ED15734C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2E1E6A1A-FA75-EA19-C2B3-6A94ECE28B6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32675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A4AFCFEE-B970-DA75-3800-7845BFB26798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FEDE0C3-8C85-5E60-4AA8-DE8234BA14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35801" y="1412776"/>
            <a:ext cx="3038541" cy="3774621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CB97DFD-7144-D09F-DE6F-6E15B63BABC0}"/>
              </a:ext>
            </a:extLst>
          </p:cNvPr>
          <p:cNvSpPr/>
          <p:nvPr/>
        </p:nvSpPr>
        <p:spPr>
          <a:xfrm>
            <a:off x="342463" y="591464"/>
            <a:ext cx="345840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Base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모델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</a:t>
            </a:r>
            <a:r>
              <a:rPr lang="en-US" altLang="ko-KR" sz="1200" b="0" dirty="0">
                <a:solidFill>
                  <a:schemeClr val="bg1">
                    <a:lumMod val="75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Double Slide In IH STUDIO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LTIS7338XE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C9D0ABE-377B-FC0F-06AC-CB8B7EB7AB89}"/>
              </a:ext>
            </a:extLst>
          </p:cNvPr>
          <p:cNvSpPr/>
          <p:nvPr/>
        </p:nvSpPr>
        <p:spPr>
          <a:xfrm>
            <a:off x="3835801" y="587186"/>
            <a:ext cx="182934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개발 모델 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Quick </a:t>
            </a:r>
            <a: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Zone Oven (</a:t>
            </a:r>
            <a:r>
              <a:rPr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Better)</a:t>
            </a:r>
            <a: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kumimoji="1" lang="en-US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</a:t>
            </a:r>
            <a:r>
              <a:rPr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LQEN7135XE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 </a:t>
            </a:r>
            <a:r>
              <a:rPr lang="en-US" altLang="ko-KR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Best </a:t>
            </a:r>
            <a:r>
              <a:rPr lang="ko-KR" altLang="en-US" sz="12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개발모델 대비 변경</a:t>
            </a:r>
            <a:endParaRPr kumimoji="1" lang="en-US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8C3DA4C2-ECA5-0E98-E8FC-DDF75585E9EB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01809" y="1601806"/>
            <a:ext cx="2919998" cy="3436725"/>
          </a:xfrm>
          <a:prstGeom prst="rect">
            <a:avLst/>
          </a:prstGeom>
        </p:spPr>
      </p:pic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3254CC17-F5E4-8D1C-075D-0D086350CB75}"/>
              </a:ext>
            </a:extLst>
          </p:cNvPr>
          <p:cNvSpPr/>
          <p:nvPr/>
        </p:nvSpPr>
        <p:spPr>
          <a:xfrm flipV="1">
            <a:off x="5194075" y="3322622"/>
            <a:ext cx="3070252" cy="437613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25E70CA-2F5D-340D-AB1C-84CAC916CE0A}"/>
              </a:ext>
            </a:extLst>
          </p:cNvPr>
          <p:cNvSpPr txBox="1"/>
          <p:nvPr/>
        </p:nvSpPr>
        <p:spPr>
          <a:xfrm>
            <a:off x="6939379" y="3550154"/>
            <a:ext cx="2683222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③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Upper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Oven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동일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5003DF24-11C1-B9E8-FA21-A42ABADFD1D5}"/>
              </a:ext>
            </a:extLst>
          </p:cNvPr>
          <p:cNvSpPr/>
          <p:nvPr/>
        </p:nvSpPr>
        <p:spPr>
          <a:xfrm flipV="1">
            <a:off x="4843912" y="4414305"/>
            <a:ext cx="3420415" cy="1214969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54DE55B-86EB-143A-B8C7-550874272F4D}"/>
              </a:ext>
            </a:extLst>
          </p:cNvPr>
          <p:cNvSpPr txBox="1"/>
          <p:nvPr/>
        </p:nvSpPr>
        <p:spPr>
          <a:xfrm>
            <a:off x="6872779" y="5421037"/>
            <a:ext cx="2339802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④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Lower Oven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Meat Probe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삭제</a:t>
            </a:r>
            <a:endParaRPr lang="en-US" altLang="ko-KR" sz="105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40A2499F-821B-DF23-9ED1-6A06C742DEA9}"/>
              </a:ext>
            </a:extLst>
          </p:cNvPr>
          <p:cNvSpPr/>
          <p:nvPr/>
        </p:nvSpPr>
        <p:spPr>
          <a:xfrm>
            <a:off x="5371357" y="2631233"/>
            <a:ext cx="2892970" cy="224861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AA6B65F-2C81-9806-9904-B3C3757CC0E2}"/>
              </a:ext>
            </a:extLst>
          </p:cNvPr>
          <p:cNvSpPr txBox="1"/>
          <p:nvPr/>
        </p:nvSpPr>
        <p:spPr>
          <a:xfrm>
            <a:off x="6939379" y="2430479"/>
            <a:ext cx="2683222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②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Controller Assembly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- 2.4” LCD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광파오븐 공용 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LCD)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Glass Touch + Back Lighting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적용</a:t>
            </a:r>
            <a:endParaRPr lang="en-US" altLang="ko-KR" sz="1050" b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687DDA97-056C-9C1F-C807-1E655AF3D362}"/>
              </a:ext>
            </a:extLst>
          </p:cNvPr>
          <p:cNvSpPr/>
          <p:nvPr/>
        </p:nvSpPr>
        <p:spPr>
          <a:xfrm>
            <a:off x="5626676" y="1390262"/>
            <a:ext cx="2544344" cy="718457"/>
          </a:xfrm>
          <a:custGeom>
            <a:avLst/>
            <a:gdLst>
              <a:gd name="connsiteX0" fmla="*/ 0 w 1630680"/>
              <a:gd name="connsiteY0" fmla="*/ 586740 h 586740"/>
              <a:gd name="connsiteX1" fmla="*/ 449580 w 1630680"/>
              <a:gd name="connsiteY1" fmla="*/ 0 h 586740"/>
              <a:gd name="connsiteX2" fmla="*/ 1630680 w 1630680"/>
              <a:gd name="connsiteY2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586740">
                <a:moveTo>
                  <a:pt x="0" y="586740"/>
                </a:moveTo>
                <a:lnTo>
                  <a:pt x="449580" y="0"/>
                </a:lnTo>
                <a:lnTo>
                  <a:pt x="1630680" y="0"/>
                </a:lnTo>
              </a:path>
            </a:pathLst>
          </a:custGeom>
          <a:noFill/>
          <a:ln>
            <a:solidFill>
              <a:schemeClr val="tx1"/>
            </a:solidFill>
            <a:headEnd type="oval"/>
          </a:ln>
          <a:effectLst>
            <a:glow rad="63500">
              <a:schemeClr val="bg1">
                <a:alpha val="80000"/>
              </a:schemeClr>
            </a:glow>
          </a:effectLst>
        </p:spPr>
        <p:txBody>
          <a:bodyPr vert="horz" wrap="non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75B37D4-6EF7-E55D-71D1-093494C571E9}"/>
              </a:ext>
            </a:extLst>
          </p:cNvPr>
          <p:cNvSpPr txBox="1"/>
          <p:nvPr/>
        </p:nvSpPr>
        <p:spPr>
          <a:xfrm>
            <a:off x="6939378" y="1180176"/>
            <a:ext cx="2544343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lang="en-US" altLang="ko-KR" sz="105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Cooktop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- IH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원형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Coil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(Better+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 RA Heater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체결구조 적용</a:t>
            </a:r>
            <a:r>
              <a:rPr lang="en-US" altLang="ko-KR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 b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하네스 변경</a:t>
            </a:r>
            <a:endParaRPr lang="en-US" altLang="ko-KR" sz="1050" b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739427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12194F-6863-4FB9-CE5E-54C67D39B4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61C51CFF-9F76-609A-C3C0-01A7B4C73028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5662328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Plate Assembly,Upper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2D2A5D3C-A868-A1F3-C4AF-2C16DACBEE27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9D691FE-499F-700C-B86F-0BE321B27C95}"/>
              </a:ext>
            </a:extLst>
          </p:cNvPr>
          <p:cNvGrpSpPr/>
          <p:nvPr/>
        </p:nvGrpSpPr>
        <p:grpSpPr>
          <a:xfrm>
            <a:off x="799513" y="1041920"/>
            <a:ext cx="3052096" cy="1972772"/>
            <a:chOff x="920767" y="1023938"/>
            <a:chExt cx="3350460" cy="2165624"/>
          </a:xfrm>
        </p:grpSpPr>
        <p:pic>
          <p:nvPicPr>
            <p:cNvPr id="3" name="그림 2">
              <a:extLst>
                <a:ext uri="{FF2B5EF4-FFF2-40B4-BE49-F238E27FC236}">
                  <a16:creationId xmlns:a16="http://schemas.microsoft.com/office/drawing/2014/main" id="{211CF830-C523-88F0-DE67-494181D7677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50888" y="1023938"/>
              <a:ext cx="3156236" cy="2165624"/>
            </a:xfrm>
            <a:prstGeom prst="rect">
              <a:avLst/>
            </a:prstGeom>
          </p:spPr>
        </p:pic>
        <p:cxnSp>
          <p:nvCxnSpPr>
            <p:cNvPr id="4" name="직선 화살표 연결선 3">
              <a:extLst>
                <a:ext uri="{FF2B5EF4-FFF2-40B4-BE49-F238E27FC236}">
                  <a16:creationId xmlns:a16="http://schemas.microsoft.com/office/drawing/2014/main" id="{3B191868-4DE8-86F1-2C38-8D11FF66BBC0}"/>
                </a:ext>
              </a:extLst>
            </p:cNvPr>
            <p:cNvCxnSpPr>
              <a:cxnSpLocks/>
              <a:stCxn id="20" idx="5"/>
            </p:cNvCxnSpPr>
            <p:nvPr/>
          </p:nvCxnSpPr>
          <p:spPr>
            <a:xfrm>
              <a:off x="1419253" y="1225608"/>
              <a:ext cx="162092" cy="215065"/>
            </a:xfrm>
            <a:prstGeom prst="straightConnector1">
              <a:avLst/>
            </a:prstGeom>
            <a:ln>
              <a:solidFill>
                <a:srgbClr val="008000"/>
              </a:solidFill>
              <a:tailEnd type="oval"/>
            </a:ln>
            <a:effectLst>
              <a:glow rad="38100">
                <a:schemeClr val="bg1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855E7E37-77A3-AE39-FE89-EA17067B80A2}"/>
                </a:ext>
              </a:extLst>
            </p:cNvPr>
            <p:cNvGrpSpPr/>
            <p:nvPr/>
          </p:nvGrpSpPr>
          <p:grpSpPr>
            <a:xfrm>
              <a:off x="1234971" y="1041326"/>
              <a:ext cx="215900" cy="215900"/>
              <a:chOff x="1615966" y="1932178"/>
              <a:chExt cx="215900" cy="215900"/>
            </a:xfrm>
          </p:grpSpPr>
          <p:sp>
            <p:nvSpPr>
              <p:cNvPr id="20" name="타원 19">
                <a:extLst>
                  <a:ext uri="{FF2B5EF4-FFF2-40B4-BE49-F238E27FC236}">
                    <a16:creationId xmlns:a16="http://schemas.microsoft.com/office/drawing/2014/main" id="{523F4816-DE01-9F16-A2FA-6FA9D6638461}"/>
                  </a:ext>
                </a:extLst>
              </p:cNvPr>
              <p:cNvSpPr/>
              <p:nvPr/>
            </p:nvSpPr>
            <p:spPr>
              <a:xfrm>
                <a:off x="1615966" y="1932178"/>
                <a:ext cx="215900" cy="2159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DED720D-9E51-A267-F54E-8A35951AFDD2}"/>
                  </a:ext>
                </a:extLst>
              </p:cNvPr>
              <p:cNvSpPr txBox="1"/>
              <p:nvPr/>
            </p:nvSpPr>
            <p:spPr>
              <a:xfrm>
                <a:off x="1696839" y="1965564"/>
                <a:ext cx="57708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돋움" pitchFamily="50" charset="-127"/>
                    <a:cs typeface="Arial" charset="0"/>
                  </a:rPr>
                  <a:t>8</a:t>
                </a: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endParaRPr>
              </a:p>
            </p:txBody>
          </p:sp>
        </p:grpSp>
        <p:cxnSp>
          <p:nvCxnSpPr>
            <p:cNvPr id="6" name="직선 화살표 연결선 5">
              <a:extLst>
                <a:ext uri="{FF2B5EF4-FFF2-40B4-BE49-F238E27FC236}">
                  <a16:creationId xmlns:a16="http://schemas.microsoft.com/office/drawing/2014/main" id="{3706CA93-86BF-8119-E110-05612832B631}"/>
                </a:ext>
              </a:extLst>
            </p:cNvPr>
            <p:cNvCxnSpPr>
              <a:cxnSpLocks/>
              <a:stCxn id="18" idx="7"/>
            </p:cNvCxnSpPr>
            <p:nvPr/>
          </p:nvCxnSpPr>
          <p:spPr>
            <a:xfrm flipV="1">
              <a:off x="1105049" y="2410480"/>
              <a:ext cx="160553" cy="218912"/>
            </a:xfrm>
            <a:prstGeom prst="straightConnector1">
              <a:avLst/>
            </a:prstGeom>
            <a:ln>
              <a:solidFill>
                <a:srgbClr val="008000"/>
              </a:solidFill>
              <a:tailEnd type="oval"/>
            </a:ln>
            <a:effectLst>
              <a:glow rad="38100">
                <a:schemeClr val="bg1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5A6C5AB-5313-BFFB-ADD1-5E7D04E94278}"/>
                </a:ext>
              </a:extLst>
            </p:cNvPr>
            <p:cNvGrpSpPr/>
            <p:nvPr/>
          </p:nvGrpSpPr>
          <p:grpSpPr>
            <a:xfrm>
              <a:off x="920767" y="2597774"/>
              <a:ext cx="215900" cy="215900"/>
              <a:chOff x="1615966" y="1932178"/>
              <a:chExt cx="215900" cy="215900"/>
            </a:xfrm>
          </p:grpSpPr>
          <p:sp>
            <p:nvSpPr>
              <p:cNvPr id="18" name="타원 17">
                <a:extLst>
                  <a:ext uri="{FF2B5EF4-FFF2-40B4-BE49-F238E27FC236}">
                    <a16:creationId xmlns:a16="http://schemas.microsoft.com/office/drawing/2014/main" id="{16DD86C5-DCF8-D213-E5BD-2024EDE61242}"/>
                  </a:ext>
                </a:extLst>
              </p:cNvPr>
              <p:cNvSpPr/>
              <p:nvPr/>
            </p:nvSpPr>
            <p:spPr>
              <a:xfrm>
                <a:off x="1615966" y="1932178"/>
                <a:ext cx="215900" cy="2159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3F283B1-6481-0A6E-C8CC-ABCF2CD92441}"/>
                  </a:ext>
                </a:extLst>
              </p:cNvPr>
              <p:cNvSpPr txBox="1"/>
              <p:nvPr/>
            </p:nvSpPr>
            <p:spPr>
              <a:xfrm>
                <a:off x="1696839" y="1965564"/>
                <a:ext cx="57708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돋움" pitchFamily="50" charset="-127"/>
                    <a:cs typeface="Arial" charset="0"/>
                  </a:rPr>
                  <a:t>3</a:t>
                </a: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endParaRPr>
              </a:p>
            </p:txBody>
          </p:sp>
        </p:grpSp>
        <p:cxnSp>
          <p:nvCxnSpPr>
            <p:cNvPr id="9" name="직선 화살표 연결선 8">
              <a:extLst>
                <a:ext uri="{FF2B5EF4-FFF2-40B4-BE49-F238E27FC236}">
                  <a16:creationId xmlns:a16="http://schemas.microsoft.com/office/drawing/2014/main" id="{91459E51-79C2-5E9C-70E1-5675D04876FF}"/>
                </a:ext>
              </a:extLst>
            </p:cNvPr>
            <p:cNvCxnSpPr>
              <a:cxnSpLocks/>
              <a:stCxn id="16" idx="3"/>
            </p:cNvCxnSpPr>
            <p:nvPr/>
          </p:nvCxnSpPr>
          <p:spPr>
            <a:xfrm flipH="1">
              <a:off x="3823006" y="2009669"/>
              <a:ext cx="167577" cy="196409"/>
            </a:xfrm>
            <a:prstGeom prst="straightConnector1">
              <a:avLst/>
            </a:prstGeom>
            <a:ln>
              <a:solidFill>
                <a:srgbClr val="008000"/>
              </a:solidFill>
              <a:tailEnd type="oval"/>
            </a:ln>
            <a:effectLst>
              <a:glow rad="38100">
                <a:schemeClr val="bg1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E91A6785-3BAC-BBB3-A987-7E4B2B2C2173}"/>
                </a:ext>
              </a:extLst>
            </p:cNvPr>
            <p:cNvGrpSpPr/>
            <p:nvPr/>
          </p:nvGrpSpPr>
          <p:grpSpPr>
            <a:xfrm>
              <a:off x="3958965" y="1825387"/>
              <a:ext cx="215900" cy="215900"/>
              <a:chOff x="1615966" y="1932178"/>
              <a:chExt cx="215900" cy="215900"/>
            </a:xfrm>
          </p:grpSpPr>
          <p:sp>
            <p:nvSpPr>
              <p:cNvPr id="16" name="타원 15">
                <a:extLst>
                  <a:ext uri="{FF2B5EF4-FFF2-40B4-BE49-F238E27FC236}">
                    <a16:creationId xmlns:a16="http://schemas.microsoft.com/office/drawing/2014/main" id="{81B5D31B-07A0-D567-E320-1D6B1F922EAE}"/>
                  </a:ext>
                </a:extLst>
              </p:cNvPr>
              <p:cNvSpPr/>
              <p:nvPr/>
            </p:nvSpPr>
            <p:spPr>
              <a:xfrm>
                <a:off x="1615966" y="1932178"/>
                <a:ext cx="215900" cy="2159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CBA3E8E-7D9A-BE93-43FC-EF4D28C31F1F}"/>
                  </a:ext>
                </a:extLst>
              </p:cNvPr>
              <p:cNvSpPr txBox="1"/>
              <p:nvPr/>
            </p:nvSpPr>
            <p:spPr>
              <a:xfrm>
                <a:off x="1669131" y="1965564"/>
                <a:ext cx="115416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돋움" pitchFamily="50" charset="-127"/>
                    <a:cs typeface="Arial" charset="0"/>
                  </a:rPr>
                  <a:t>11</a:t>
                </a: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endParaRPr>
              </a:p>
            </p:txBody>
          </p:sp>
        </p:grpSp>
        <p:cxnSp>
          <p:nvCxnSpPr>
            <p:cNvPr id="11" name="직선 화살표 연결선 10">
              <a:extLst>
                <a:ext uri="{FF2B5EF4-FFF2-40B4-BE49-F238E27FC236}">
                  <a16:creationId xmlns:a16="http://schemas.microsoft.com/office/drawing/2014/main" id="{28DD25B5-1082-6740-B356-6A545775FEC6}"/>
                </a:ext>
              </a:extLst>
            </p:cNvPr>
            <p:cNvCxnSpPr>
              <a:cxnSpLocks/>
              <a:stCxn id="14" idx="1"/>
            </p:cNvCxnSpPr>
            <p:nvPr/>
          </p:nvCxnSpPr>
          <p:spPr>
            <a:xfrm flipH="1" flipV="1">
              <a:off x="3931636" y="2491194"/>
              <a:ext cx="155309" cy="197088"/>
            </a:xfrm>
            <a:prstGeom prst="straightConnector1">
              <a:avLst/>
            </a:prstGeom>
            <a:ln>
              <a:solidFill>
                <a:srgbClr val="008000"/>
              </a:solidFill>
              <a:tailEnd type="oval"/>
            </a:ln>
            <a:effectLst>
              <a:glow rad="38100">
                <a:schemeClr val="bg1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CFB9456C-EB5C-0AAA-5327-785690679F1B}"/>
                </a:ext>
              </a:extLst>
            </p:cNvPr>
            <p:cNvGrpSpPr/>
            <p:nvPr/>
          </p:nvGrpSpPr>
          <p:grpSpPr>
            <a:xfrm>
              <a:off x="4055327" y="2656664"/>
              <a:ext cx="215900" cy="215900"/>
              <a:chOff x="1615966" y="1932178"/>
              <a:chExt cx="215900" cy="215900"/>
            </a:xfrm>
            <a:solidFill>
              <a:srgbClr val="006600"/>
            </a:solidFill>
          </p:grpSpPr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C6129CA7-0955-7E6A-F9DF-B92415007A81}"/>
                  </a:ext>
                </a:extLst>
              </p:cNvPr>
              <p:cNvSpPr/>
              <p:nvPr/>
            </p:nvSpPr>
            <p:spPr>
              <a:xfrm>
                <a:off x="1615966" y="1932178"/>
                <a:ext cx="215900" cy="215900"/>
              </a:xfrm>
              <a:prstGeom prst="ellipse">
                <a:avLst/>
              </a:prstGeom>
              <a:grpFill/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202BF62-EB65-9151-31A1-ABE8D09EA0B1}"/>
                  </a:ext>
                </a:extLst>
              </p:cNvPr>
              <p:cNvSpPr txBox="1"/>
              <p:nvPr/>
            </p:nvSpPr>
            <p:spPr>
              <a:xfrm>
                <a:off x="1687792" y="1965564"/>
                <a:ext cx="57708" cy="153888"/>
              </a:xfrm>
              <a:prstGeom prst="rect">
                <a:avLst/>
              </a:prstGeom>
              <a:grp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돋움" pitchFamily="50" charset="-127"/>
                    <a:cs typeface="Arial" charset="0"/>
                  </a:rPr>
                  <a:t>7</a:t>
                </a:r>
                <a:endPara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endParaRPr>
              </a:p>
            </p:txBody>
          </p:sp>
        </p:grpSp>
      </p:grpSp>
      <p:pic>
        <p:nvPicPr>
          <p:cNvPr id="22" name="그림 21" descr="전자제품, 전자 공학, 회로 구성요소, 회로이(가) 표시된 사진&#10;&#10;자동 생성된 설명">
            <a:extLst>
              <a:ext uri="{FF2B5EF4-FFF2-40B4-BE49-F238E27FC236}">
                <a16:creationId xmlns:a16="http://schemas.microsoft.com/office/drawing/2014/main" id="{8D3E9B26-68AE-AE0C-7DD9-8CB2820AC61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8144" y="2806582"/>
            <a:ext cx="2471047" cy="1209236"/>
          </a:xfrm>
          <a:prstGeom prst="rect">
            <a:avLst/>
          </a:prstGeom>
        </p:spPr>
      </p:pic>
      <p:sp>
        <p:nvSpPr>
          <p:cNvPr id="23" name="Text Box 4">
            <a:extLst>
              <a:ext uri="{FF2B5EF4-FFF2-40B4-BE49-F238E27FC236}">
                <a16:creationId xmlns:a16="http://schemas.microsoft.com/office/drawing/2014/main" id="{ECE28044-7D73-5F5E-679A-D0033BA92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24" name="Rectangle 6">
            <a:extLst>
              <a:ext uri="{FF2B5EF4-FFF2-40B4-BE49-F238E27FC236}">
                <a16:creationId xmlns:a16="http://schemas.microsoft.com/office/drawing/2014/main" id="{C9C385A5-28C1-D4E6-4ED0-E33A5B9A8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5" name="Text Box 9">
            <a:extLst>
              <a:ext uri="{FF2B5EF4-FFF2-40B4-BE49-F238E27FC236}">
                <a16:creationId xmlns:a16="http://schemas.microsoft.com/office/drawing/2014/main" id="{A85FA6D2-689B-96E6-8E56-BABE5ACC92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26" name="Text Box 10">
            <a:extLst>
              <a:ext uri="{FF2B5EF4-FFF2-40B4-BE49-F238E27FC236}">
                <a16:creationId xmlns:a16="http://schemas.microsoft.com/office/drawing/2014/main" id="{D506340C-C71D-07EB-B672-F47FA45EE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27" name="Line 11">
            <a:extLst>
              <a:ext uri="{FF2B5EF4-FFF2-40B4-BE49-F238E27FC236}">
                <a16:creationId xmlns:a16="http://schemas.microsoft.com/office/drawing/2014/main" id="{85AF1C09-AC25-E8B3-4164-6E1F4D89AC1B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96287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8" name="Line 52">
            <a:extLst>
              <a:ext uri="{FF2B5EF4-FFF2-40B4-BE49-F238E27FC236}">
                <a16:creationId xmlns:a16="http://schemas.microsoft.com/office/drawing/2014/main" id="{F6D18075-17DC-8489-C7AD-A195827BC1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2DA36C8C-9201-0DA8-BDEF-4F7E22E00F86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0" name="Text Box 4">
            <a:extLst>
              <a:ext uri="{FF2B5EF4-FFF2-40B4-BE49-F238E27FC236}">
                <a16:creationId xmlns:a16="http://schemas.microsoft.com/office/drawing/2014/main" id="{E928E3AB-B895-FA12-5CD7-0E63F45B0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CF881C25-E451-30AC-E641-83ED6BED353D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2" name="Text Box 4">
            <a:extLst>
              <a:ext uri="{FF2B5EF4-FFF2-40B4-BE49-F238E27FC236}">
                <a16:creationId xmlns:a16="http://schemas.microsoft.com/office/drawing/2014/main" id="{3C99E37D-4E2E-FCAC-7E4C-72E60EE731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36BB0FA0-6E52-FA67-ACE8-59006E5889D5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4" name="Text Box 4">
            <a:extLst>
              <a:ext uri="{FF2B5EF4-FFF2-40B4-BE49-F238E27FC236}">
                <a16:creationId xmlns:a16="http://schemas.microsoft.com/office/drawing/2014/main" id="{452BB0F0-5A2F-65E9-FE78-EC57CC3890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323ED273-04B6-D15B-3C1E-7DBC4B2D1E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9079091"/>
              </p:ext>
            </p:extLst>
          </p:nvPr>
        </p:nvGraphicFramePr>
        <p:xfrm>
          <a:off x="4672478" y="1368913"/>
          <a:ext cx="4889031" cy="1933932"/>
        </p:xfrm>
        <a:graphic>
          <a:graphicData uri="http://schemas.openxmlformats.org/drawingml/2006/table">
            <a:tbl>
              <a:tblPr/>
              <a:tblGrid>
                <a:gridCol w="219032">
                  <a:extLst>
                    <a:ext uri="{9D8B030D-6E8A-4147-A177-3AD203B41FA5}">
                      <a16:colId xmlns:a16="http://schemas.microsoft.com/office/drawing/2014/main" val="239948534"/>
                    </a:ext>
                  </a:extLst>
                </a:gridCol>
                <a:gridCol w="251483">
                  <a:extLst>
                    <a:ext uri="{9D8B030D-6E8A-4147-A177-3AD203B41FA5}">
                      <a16:colId xmlns:a16="http://schemas.microsoft.com/office/drawing/2014/main" val="460869446"/>
                    </a:ext>
                  </a:extLst>
                </a:gridCol>
                <a:gridCol w="584088">
                  <a:extLst>
                    <a:ext uri="{9D8B030D-6E8A-4147-A177-3AD203B41FA5}">
                      <a16:colId xmlns:a16="http://schemas.microsoft.com/office/drawing/2014/main" val="3444661845"/>
                    </a:ext>
                  </a:extLst>
                </a:gridCol>
                <a:gridCol w="584088">
                  <a:extLst>
                    <a:ext uri="{9D8B030D-6E8A-4147-A177-3AD203B41FA5}">
                      <a16:colId xmlns:a16="http://schemas.microsoft.com/office/drawing/2014/main" val="3251456085"/>
                    </a:ext>
                  </a:extLst>
                </a:gridCol>
                <a:gridCol w="1005929">
                  <a:extLst>
                    <a:ext uri="{9D8B030D-6E8A-4147-A177-3AD203B41FA5}">
                      <a16:colId xmlns:a16="http://schemas.microsoft.com/office/drawing/2014/main" val="2707439604"/>
                    </a:ext>
                  </a:extLst>
                </a:gridCol>
                <a:gridCol w="281227">
                  <a:extLst>
                    <a:ext uri="{9D8B030D-6E8A-4147-A177-3AD203B41FA5}">
                      <a16:colId xmlns:a16="http://schemas.microsoft.com/office/drawing/2014/main" val="544171884"/>
                    </a:ext>
                  </a:extLst>
                </a:gridCol>
                <a:gridCol w="219032">
                  <a:extLst>
                    <a:ext uri="{9D8B030D-6E8A-4147-A177-3AD203B41FA5}">
                      <a16:colId xmlns:a16="http://schemas.microsoft.com/office/drawing/2014/main" val="3419573896"/>
                    </a:ext>
                  </a:extLst>
                </a:gridCol>
                <a:gridCol w="1744152">
                  <a:extLst>
                    <a:ext uri="{9D8B030D-6E8A-4147-A177-3AD203B41FA5}">
                      <a16:colId xmlns:a16="http://schemas.microsoft.com/office/drawing/2014/main" val="8842990"/>
                    </a:ext>
                  </a:extLst>
                </a:gridCol>
              </a:tblGrid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No.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Lev.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Base P/No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New P/No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 Name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UOM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Qty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 변경점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546770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AGU74969449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Assembly,Upper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 부품 변경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(Nova Type)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66909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AGU75049047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 Assembly,Upper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 부품 변경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(Nova Type)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7100614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MGJ67703002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Plate,Top</a:t>
                      </a:r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(Center)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 Pcs.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 Pcs.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구조 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0705886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Plate,Top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 Pcs.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 Pcs.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구조 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9813513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Plate,Top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 Pcs.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 Pcs.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구조 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3842753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Plate,Top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(Back)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 Pcs.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 Pcs.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구조 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890956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MFZ67585201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Packing,Gasket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12239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MKC65339691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Window,Glass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인쇄 및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Size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0692620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RAC32697304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Sealant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kg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4434678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ABQ75783329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ABQ75783327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Case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Assembly,Sub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IH Better+ Spec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5557707"/>
                  </a:ext>
                </a:extLst>
              </a:tr>
              <a:tr h="161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MDX65456106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Grille,Vent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디자인 변경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0366437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734EE3A5-0D1A-2B18-4C93-97A51E9F7692}"/>
              </a:ext>
            </a:extLst>
          </p:cNvPr>
          <p:cNvSpPr/>
          <p:nvPr/>
        </p:nvSpPr>
        <p:spPr>
          <a:xfrm>
            <a:off x="578313" y="3768321"/>
            <a:ext cx="13588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IH Better+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공용 적용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8FFC8ACA-B894-613D-EAAF-A4145DF51988}"/>
              </a:ext>
            </a:extLst>
          </p:cNvPr>
          <p:cNvCxnSpPr>
            <a:cxnSpLocks/>
            <a:stCxn id="39" idx="7"/>
          </p:cNvCxnSpPr>
          <p:nvPr/>
        </p:nvCxnSpPr>
        <p:spPr>
          <a:xfrm flipV="1">
            <a:off x="1142471" y="3353964"/>
            <a:ext cx="219883" cy="23854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78D6498-9EB8-4085-3F3B-E81418A76377}"/>
              </a:ext>
            </a:extLst>
          </p:cNvPr>
          <p:cNvGrpSpPr/>
          <p:nvPr/>
        </p:nvGrpSpPr>
        <p:grpSpPr>
          <a:xfrm>
            <a:off x="958189" y="3560892"/>
            <a:ext cx="215900" cy="215900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977990F9-2108-3F4E-B75E-9683BEC248BC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F5C156C-F818-8BF6-65D4-E0A86C004B5E}"/>
                </a:ext>
              </a:extLst>
            </p:cNvPr>
            <p:cNvSpPr txBox="1"/>
            <p:nvPr/>
          </p:nvSpPr>
          <p:spPr>
            <a:xfrm>
              <a:off x="1669131" y="1965564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pic>
        <p:nvPicPr>
          <p:cNvPr id="41" name="그림 40" descr="스케치, 디자인, 일러스트레이션이(가) 표시된 사진&#10;&#10;자동 생성된 설명">
            <a:extLst>
              <a:ext uri="{FF2B5EF4-FFF2-40B4-BE49-F238E27FC236}">
                <a16:creationId xmlns:a16="http://schemas.microsoft.com/office/drawing/2014/main" id="{26C723F5-38F4-44D5-DE19-4456A04E9B8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8558" y="4232436"/>
            <a:ext cx="4029637" cy="2305372"/>
          </a:xfrm>
          <a:prstGeom prst="rect">
            <a:avLst/>
          </a:prstGeom>
        </p:spPr>
      </p:pic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A033AF65-E3C2-4292-75FD-D5A3D5842420}"/>
              </a:ext>
            </a:extLst>
          </p:cNvPr>
          <p:cNvCxnSpPr>
            <a:cxnSpLocks/>
            <a:stCxn id="44" idx="7"/>
          </p:cNvCxnSpPr>
          <p:nvPr/>
        </p:nvCxnSpPr>
        <p:spPr>
          <a:xfrm flipV="1">
            <a:off x="596829" y="5432395"/>
            <a:ext cx="160553" cy="21891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67E82983-1BF7-3CB1-5A94-62F1A32094A5}"/>
              </a:ext>
            </a:extLst>
          </p:cNvPr>
          <p:cNvGrpSpPr/>
          <p:nvPr/>
        </p:nvGrpSpPr>
        <p:grpSpPr>
          <a:xfrm>
            <a:off x="412547" y="5619689"/>
            <a:ext cx="215900" cy="215900"/>
            <a:chOff x="1615966" y="1932178"/>
            <a:chExt cx="215900" cy="215900"/>
          </a:xfrm>
        </p:grpSpPr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E563B494-8FC2-FA55-50C0-8BF0E62ED379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4B5F6030-4A80-6C3D-FD9C-CBBF2EE1AC3F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875089C0-4342-7754-412D-59370447C466}"/>
              </a:ext>
            </a:extLst>
          </p:cNvPr>
          <p:cNvCxnSpPr>
            <a:cxnSpLocks/>
            <a:stCxn id="48" idx="1"/>
          </p:cNvCxnSpPr>
          <p:nvPr/>
        </p:nvCxnSpPr>
        <p:spPr>
          <a:xfrm flipH="1" flipV="1">
            <a:off x="3796145" y="6106650"/>
            <a:ext cx="127463" cy="22802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620AC6E6-9D02-C2F5-EA98-FBD090831C9F}"/>
              </a:ext>
            </a:extLst>
          </p:cNvPr>
          <p:cNvGrpSpPr/>
          <p:nvPr/>
        </p:nvGrpSpPr>
        <p:grpSpPr>
          <a:xfrm>
            <a:off x="3891990" y="6303059"/>
            <a:ext cx="215900" cy="215900"/>
            <a:chOff x="1615966" y="1932178"/>
            <a:chExt cx="215900" cy="215900"/>
          </a:xfrm>
        </p:grpSpPr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31454F3B-F152-87CB-029D-C7BA47490D7E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C596E97-0766-2337-9483-FCD7C75C7E51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F0EEC749-EB8D-4BA2-A01B-052A65C2EE5E}"/>
              </a:ext>
            </a:extLst>
          </p:cNvPr>
          <p:cNvCxnSpPr>
            <a:cxnSpLocks/>
            <a:stCxn id="52" idx="7"/>
          </p:cNvCxnSpPr>
          <p:nvPr/>
        </p:nvCxnSpPr>
        <p:spPr>
          <a:xfrm flipV="1">
            <a:off x="1074418" y="5741580"/>
            <a:ext cx="160553" cy="21891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509D1B8C-C1AC-B5DC-7CAD-E911D08B9286}"/>
              </a:ext>
            </a:extLst>
          </p:cNvPr>
          <p:cNvGrpSpPr/>
          <p:nvPr/>
        </p:nvGrpSpPr>
        <p:grpSpPr>
          <a:xfrm>
            <a:off x="890136" y="5928874"/>
            <a:ext cx="215900" cy="215900"/>
            <a:chOff x="1615966" y="1932178"/>
            <a:chExt cx="215900" cy="215900"/>
          </a:xfrm>
        </p:grpSpPr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46727AB6-F5F0-E391-AA70-46A2ECA2B2B3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58D9EEA-C720-AF75-7F1C-36A68C8095AB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0CFCF9FB-209E-24E9-E5E5-803DC9F7750C}"/>
              </a:ext>
            </a:extLst>
          </p:cNvPr>
          <p:cNvCxnSpPr>
            <a:cxnSpLocks/>
            <a:stCxn id="56" idx="1"/>
          </p:cNvCxnSpPr>
          <p:nvPr/>
        </p:nvCxnSpPr>
        <p:spPr>
          <a:xfrm flipH="1" flipV="1">
            <a:off x="4193751" y="5639180"/>
            <a:ext cx="127463" cy="22802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47DD8B3-EF98-7EEB-6E9B-D8EBBD52C898}"/>
              </a:ext>
            </a:extLst>
          </p:cNvPr>
          <p:cNvGrpSpPr/>
          <p:nvPr/>
        </p:nvGrpSpPr>
        <p:grpSpPr>
          <a:xfrm>
            <a:off x="4289596" y="5835589"/>
            <a:ext cx="215900" cy="215900"/>
            <a:chOff x="1615966" y="1932178"/>
            <a:chExt cx="215900" cy="215900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C17C755-CFAB-B7AB-5B28-0D37E99B5511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8C59B5A-453B-A8FA-A2B5-AB0AE2D2DA17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76B3542-745A-B720-CC15-800042D83FDC}"/>
              </a:ext>
            </a:extLst>
          </p:cNvPr>
          <p:cNvCxnSpPr>
            <a:cxnSpLocks/>
            <a:stCxn id="60" idx="3"/>
          </p:cNvCxnSpPr>
          <p:nvPr/>
        </p:nvCxnSpPr>
        <p:spPr>
          <a:xfrm flipH="1">
            <a:off x="3931636" y="5076853"/>
            <a:ext cx="167577" cy="19640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B139BDFC-9EA5-B7F1-BC5B-054A41DFA57B}"/>
              </a:ext>
            </a:extLst>
          </p:cNvPr>
          <p:cNvGrpSpPr/>
          <p:nvPr/>
        </p:nvGrpSpPr>
        <p:grpSpPr>
          <a:xfrm>
            <a:off x="4067595" y="4892571"/>
            <a:ext cx="215900" cy="215900"/>
            <a:chOff x="1615966" y="1932178"/>
            <a:chExt cx="215900" cy="215900"/>
          </a:xfrm>
        </p:grpSpPr>
        <p:sp>
          <p:nvSpPr>
            <p:cNvPr id="60" name="타원 59">
              <a:extLst>
                <a:ext uri="{FF2B5EF4-FFF2-40B4-BE49-F238E27FC236}">
                  <a16:creationId xmlns:a16="http://schemas.microsoft.com/office/drawing/2014/main" id="{7A6E41E7-8DC1-B9F8-73E8-2CA0F9BF6054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A85DADB-C697-2040-E9DC-DC4357FAABB6}"/>
                </a:ext>
              </a:extLst>
            </p:cNvPr>
            <p:cNvSpPr txBox="1"/>
            <p:nvPr/>
          </p:nvSpPr>
          <p:spPr>
            <a:xfrm>
              <a:off x="1669131" y="1965564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73991D99-4747-2DF3-8DB3-712F9EC52CE1}"/>
              </a:ext>
            </a:extLst>
          </p:cNvPr>
          <p:cNvCxnSpPr>
            <a:cxnSpLocks/>
            <a:stCxn id="64" idx="5"/>
          </p:cNvCxnSpPr>
          <p:nvPr/>
        </p:nvCxnSpPr>
        <p:spPr>
          <a:xfrm>
            <a:off x="1405571" y="4508615"/>
            <a:ext cx="162092" cy="21506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D229F88-437C-1971-50B2-D42517AC050D}"/>
              </a:ext>
            </a:extLst>
          </p:cNvPr>
          <p:cNvGrpSpPr/>
          <p:nvPr/>
        </p:nvGrpSpPr>
        <p:grpSpPr>
          <a:xfrm>
            <a:off x="1221289" y="4324333"/>
            <a:ext cx="215900" cy="215900"/>
            <a:chOff x="1615966" y="1932178"/>
            <a:chExt cx="215900" cy="215900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C2618AB5-F02B-6FA4-8732-7E12E32BE791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E8F65DE-4036-1054-963C-B502C1F53C79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66" name="이등변 삼각형 65">
            <a:extLst>
              <a:ext uri="{FF2B5EF4-FFF2-40B4-BE49-F238E27FC236}">
                <a16:creationId xmlns:a16="http://schemas.microsoft.com/office/drawing/2014/main" id="{9124AFEC-ADAA-5634-BF89-998D148C6CD1}"/>
              </a:ext>
            </a:extLst>
          </p:cNvPr>
          <p:cNvSpPr/>
          <p:nvPr/>
        </p:nvSpPr>
        <p:spPr bwMode="auto">
          <a:xfrm flipV="1">
            <a:off x="735782" y="4076589"/>
            <a:ext cx="3385533" cy="204403"/>
          </a:xfrm>
          <a:prstGeom prst="triangl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67" name="실행 단추: 끝으로 이동 66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2745732F-E3AC-51B3-29C8-B65BDE555EDB}"/>
              </a:ext>
            </a:extLst>
          </p:cNvPr>
          <p:cNvSpPr/>
          <p:nvPr/>
        </p:nvSpPr>
        <p:spPr>
          <a:xfrm>
            <a:off x="9606420" y="1683810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실행 단추: 끝으로 이동 67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89E2F9C4-3EBF-E55F-4DF5-B8C32D1846BA}"/>
              </a:ext>
            </a:extLst>
          </p:cNvPr>
          <p:cNvSpPr/>
          <p:nvPr/>
        </p:nvSpPr>
        <p:spPr>
          <a:xfrm>
            <a:off x="9606420" y="3126111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14956E13-BDD7-7A7C-4CCD-9E0B408AD31F}"/>
              </a:ext>
            </a:extLst>
          </p:cNvPr>
          <p:cNvSpPr/>
          <p:nvPr/>
        </p:nvSpPr>
        <p:spPr bwMode="auto">
          <a:xfrm>
            <a:off x="4642809" y="5980917"/>
            <a:ext cx="1930264" cy="557811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Top Plate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Nova Design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 Pcs.</a:t>
            </a: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②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Vent Grille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높이 축소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(Design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pic>
        <p:nvPicPr>
          <p:cNvPr id="70" name="그림 69">
            <a:extLst>
              <a:ext uri="{FF2B5EF4-FFF2-40B4-BE49-F238E27FC236}">
                <a16:creationId xmlns:a16="http://schemas.microsoft.com/office/drawing/2014/main" id="{9E25E3C5-893F-FD27-9DF1-08BF577A35E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23658" y="4061388"/>
            <a:ext cx="2185341" cy="1478614"/>
          </a:xfrm>
          <a:prstGeom prst="rect">
            <a:avLst/>
          </a:prstGeom>
        </p:spPr>
      </p:pic>
      <p:pic>
        <p:nvPicPr>
          <p:cNvPr id="71" name="그림 70">
            <a:extLst>
              <a:ext uri="{FF2B5EF4-FFF2-40B4-BE49-F238E27FC236}">
                <a16:creationId xmlns:a16="http://schemas.microsoft.com/office/drawing/2014/main" id="{7E02FA80-66F5-FF94-FEEB-27904F67EBE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42809" y="4101635"/>
            <a:ext cx="2091932" cy="1438367"/>
          </a:xfrm>
          <a:prstGeom prst="rect">
            <a:avLst/>
          </a:prstGeom>
        </p:spPr>
      </p:pic>
      <p:sp>
        <p:nvSpPr>
          <p:cNvPr id="72" name="화살표: 오른쪽 71">
            <a:extLst>
              <a:ext uri="{FF2B5EF4-FFF2-40B4-BE49-F238E27FC236}">
                <a16:creationId xmlns:a16="http://schemas.microsoft.com/office/drawing/2014/main" id="{DFF98AAF-B9A8-3EA8-1A85-391A731E50DD}"/>
              </a:ext>
            </a:extLst>
          </p:cNvPr>
          <p:cNvSpPr/>
          <p:nvPr/>
        </p:nvSpPr>
        <p:spPr bwMode="auto">
          <a:xfrm>
            <a:off x="6904745" y="4599455"/>
            <a:ext cx="239005" cy="523892"/>
          </a:xfrm>
          <a:prstGeom prst="rightArrow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27BE9CF-00A1-08C1-2457-C32058B9E557}"/>
              </a:ext>
            </a:extLst>
          </p:cNvPr>
          <p:cNvSpPr txBox="1"/>
          <p:nvPr/>
        </p:nvSpPr>
        <p:spPr>
          <a:xfrm>
            <a:off x="4708316" y="3885097"/>
            <a:ext cx="140936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Arial Narrow" panose="020B0606020202030204" pitchFamily="34" charset="0"/>
              </a:rPr>
              <a:t>IH</a:t>
            </a:r>
            <a:r>
              <a:rPr lang="ko-KR" altLang="en-US" sz="1100" dirty="0">
                <a:latin typeface="Arial Narrow" panose="020B0606020202030204" pitchFamily="34" charset="0"/>
              </a:rPr>
              <a:t> </a:t>
            </a:r>
            <a:r>
              <a:rPr lang="en-US" altLang="ko-KR" sz="1100" dirty="0">
                <a:latin typeface="Arial Narrow" panose="020B0606020202030204" pitchFamily="34" charset="0"/>
              </a:rPr>
              <a:t>STUDIO</a:t>
            </a:r>
            <a:r>
              <a:rPr lang="ko-KR" altLang="en-US" sz="1100" dirty="0">
                <a:latin typeface="Arial Narrow" panose="020B0606020202030204" pitchFamily="34" charset="0"/>
              </a:rPr>
              <a:t> </a:t>
            </a:r>
            <a:r>
              <a:rPr lang="en-US" altLang="ko-KR" sz="1100" dirty="0">
                <a:latin typeface="Arial Narrow" panose="020B0606020202030204" pitchFamily="34" charset="0"/>
              </a:rPr>
              <a:t>(Flex Type)</a:t>
            </a:r>
            <a:endParaRPr lang="ko-KR" altLang="en-US" sz="1100" dirty="0">
              <a:latin typeface="Arial Narrow" panose="020B0606020202030204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6352CCE-09A2-4A1D-5016-AFD1D41C3ABE}"/>
              </a:ext>
            </a:extLst>
          </p:cNvPr>
          <p:cNvSpPr txBox="1"/>
          <p:nvPr/>
        </p:nvSpPr>
        <p:spPr>
          <a:xfrm>
            <a:off x="7251491" y="3875572"/>
            <a:ext cx="154080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Arial Narrow" panose="020B0606020202030204" pitchFamily="34" charset="0"/>
              </a:rPr>
              <a:t>IH</a:t>
            </a:r>
            <a:r>
              <a:rPr lang="ko-KR" altLang="en-US" sz="1100" dirty="0">
                <a:latin typeface="Arial Narrow" panose="020B0606020202030204" pitchFamily="34" charset="0"/>
              </a:rPr>
              <a:t> </a:t>
            </a:r>
            <a:r>
              <a:rPr lang="en-US" altLang="ko-KR" sz="1100" dirty="0">
                <a:latin typeface="Arial Narrow" panose="020B0606020202030204" pitchFamily="34" charset="0"/>
              </a:rPr>
              <a:t>Better+ (Normal Type)</a:t>
            </a:r>
            <a:endParaRPr lang="ko-KR" altLang="en-US" sz="1100" dirty="0">
              <a:latin typeface="Arial Narrow" panose="020B0606020202030204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081C251C-B301-738F-66FB-9B15F4D6897E}"/>
              </a:ext>
            </a:extLst>
          </p:cNvPr>
          <p:cNvGrpSpPr/>
          <p:nvPr/>
        </p:nvGrpSpPr>
        <p:grpSpPr>
          <a:xfrm>
            <a:off x="4663414" y="3675192"/>
            <a:ext cx="215900" cy="215900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8E2071D2-70EB-13C2-7F53-D5B5C1D44D78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FBE9FA5-B05E-F011-95D8-2BD9BB5563BE}"/>
                </a:ext>
              </a:extLst>
            </p:cNvPr>
            <p:cNvSpPr txBox="1"/>
            <p:nvPr/>
          </p:nvSpPr>
          <p:spPr>
            <a:xfrm>
              <a:off x="1669131" y="1965564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629694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456392-59AB-90BA-31F0-5662EC5100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4269670C-E24B-307C-5A2B-E81B9281D56B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449053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Controller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32F334F2-EAD7-E271-0ED7-44DD18C7BC0D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96FCE530-B713-D95D-DEB1-6AD2A4E4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67038FA7-0387-C4E7-9427-6A18B3F29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" name="Text Box 9">
            <a:extLst>
              <a:ext uri="{FF2B5EF4-FFF2-40B4-BE49-F238E27FC236}">
                <a16:creationId xmlns:a16="http://schemas.microsoft.com/office/drawing/2014/main" id="{C4FC677A-8DBC-4DF9-A87D-83AEB4CE6F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5" name="Text Box 10">
            <a:extLst>
              <a:ext uri="{FF2B5EF4-FFF2-40B4-BE49-F238E27FC236}">
                <a16:creationId xmlns:a16="http://schemas.microsoft.com/office/drawing/2014/main" id="{E6338114-E835-6D29-7652-8C18FCB48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56BAC573-437D-B23C-030A-DDF9F51E1A6E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96287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" name="Line 52">
            <a:extLst>
              <a:ext uri="{FF2B5EF4-FFF2-40B4-BE49-F238E27FC236}">
                <a16:creationId xmlns:a16="http://schemas.microsoft.com/office/drawing/2014/main" id="{951D78E5-BA09-6374-53F7-AB39DA568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0CBF7EF0-83C0-DCE0-B4E4-FEE0C9AF6512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3933ADC6-2599-3911-D7E0-CE542CCCA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B4BEBEB-038B-630A-92EC-A84502CE92DC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Text Box 4">
            <a:extLst>
              <a:ext uri="{FF2B5EF4-FFF2-40B4-BE49-F238E27FC236}">
                <a16:creationId xmlns:a16="http://schemas.microsoft.com/office/drawing/2014/main" id="{CEF7CDD9-8FB9-8618-BCDD-AA39930C3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697D966-A550-FF2D-84CA-80C052E34CED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Text Box 4">
            <a:extLst>
              <a:ext uri="{FF2B5EF4-FFF2-40B4-BE49-F238E27FC236}">
                <a16:creationId xmlns:a16="http://schemas.microsoft.com/office/drawing/2014/main" id="{63F9ED36-D3A5-1923-7E9F-AC7F1825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4C5E2042-11AF-1B45-B940-2E4DF5C4969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7221" y="1038723"/>
            <a:ext cx="3334858" cy="1786192"/>
          </a:xfrm>
          <a:prstGeom prst="rect">
            <a:avLst/>
          </a:prstGeom>
          <a:ln>
            <a:noFill/>
          </a:ln>
        </p:spPr>
      </p:pic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67C6B970-7313-002B-3256-170CE90BB07E}"/>
              </a:ext>
            </a:extLst>
          </p:cNvPr>
          <p:cNvCxnSpPr>
            <a:cxnSpLocks/>
          </p:cNvCxnSpPr>
          <p:nvPr/>
        </p:nvCxnSpPr>
        <p:spPr>
          <a:xfrm>
            <a:off x="1727205" y="1248077"/>
            <a:ext cx="673130" cy="19197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4903CCF8-F045-601F-8F31-1D8E7F84C216}"/>
              </a:ext>
            </a:extLst>
          </p:cNvPr>
          <p:cNvGrpSpPr/>
          <p:nvPr/>
        </p:nvGrpSpPr>
        <p:grpSpPr>
          <a:xfrm>
            <a:off x="1527147" y="1141068"/>
            <a:ext cx="215900" cy="215900"/>
            <a:chOff x="1615966" y="1932178"/>
            <a:chExt cx="215900" cy="2159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C4AADB9-46FC-224E-6EA2-E4D4BE641E7C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DF9D219-9613-48DD-33AC-562BE232DE93}"/>
                </a:ext>
              </a:extLst>
            </p:cNvPr>
            <p:cNvSpPr txBox="1"/>
            <p:nvPr/>
          </p:nvSpPr>
          <p:spPr>
            <a:xfrm>
              <a:off x="1694549" y="195197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9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545ADA38-CA24-618B-6F8D-5F4F878BABEE}"/>
              </a:ext>
            </a:extLst>
          </p:cNvPr>
          <p:cNvCxnSpPr>
            <a:cxnSpLocks/>
          </p:cNvCxnSpPr>
          <p:nvPr/>
        </p:nvCxnSpPr>
        <p:spPr>
          <a:xfrm flipH="1" flipV="1">
            <a:off x="3084073" y="1226817"/>
            <a:ext cx="1179471" cy="1536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5A6CD2B2-F53C-FC8D-2ED2-6351E5460AFB}"/>
              </a:ext>
            </a:extLst>
          </p:cNvPr>
          <p:cNvCxnSpPr>
            <a:cxnSpLocks/>
          </p:cNvCxnSpPr>
          <p:nvPr/>
        </p:nvCxnSpPr>
        <p:spPr>
          <a:xfrm flipH="1">
            <a:off x="3228975" y="1242183"/>
            <a:ext cx="1034569" cy="9131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8878F335-3454-F9A3-9F26-C7401C076DEB}"/>
              </a:ext>
            </a:extLst>
          </p:cNvPr>
          <p:cNvCxnSpPr>
            <a:cxnSpLocks/>
          </p:cNvCxnSpPr>
          <p:nvPr/>
        </p:nvCxnSpPr>
        <p:spPr>
          <a:xfrm flipH="1">
            <a:off x="3381375" y="1270089"/>
            <a:ext cx="851338" cy="18723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E9B7026B-D3E8-B891-4472-3EEFBC3DEEA5}"/>
              </a:ext>
            </a:extLst>
          </p:cNvPr>
          <p:cNvCxnSpPr>
            <a:cxnSpLocks/>
          </p:cNvCxnSpPr>
          <p:nvPr/>
        </p:nvCxnSpPr>
        <p:spPr>
          <a:xfrm>
            <a:off x="4248128" y="1262243"/>
            <a:ext cx="95272" cy="73800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D29F1AA6-D5F8-5AC6-4860-DD5E0EF79D36}"/>
              </a:ext>
            </a:extLst>
          </p:cNvPr>
          <p:cNvGrpSpPr/>
          <p:nvPr/>
        </p:nvGrpSpPr>
        <p:grpSpPr>
          <a:xfrm>
            <a:off x="4145978" y="108886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A3FB9530-C0AD-FD05-9A93-1DEE6F3ADDD8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480CC12-BF28-8A78-7D41-B5639776C633}"/>
                </a:ext>
              </a:extLst>
            </p:cNvPr>
            <p:cNvSpPr txBox="1"/>
            <p:nvPr/>
          </p:nvSpPr>
          <p:spPr>
            <a:xfrm>
              <a:off x="1667283" y="1951664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A1872F08-BD4D-91C1-482A-4AFCB952BA00}"/>
              </a:ext>
            </a:extLst>
          </p:cNvPr>
          <p:cNvCxnSpPr>
            <a:cxnSpLocks/>
            <a:stCxn id="30" idx="0"/>
          </p:cNvCxnSpPr>
          <p:nvPr/>
        </p:nvCxnSpPr>
        <p:spPr>
          <a:xfrm flipH="1" flipV="1">
            <a:off x="4029075" y="1943100"/>
            <a:ext cx="68213" cy="47526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0F3EB5B-21F3-00EF-254E-DEE2263B579B}"/>
              </a:ext>
            </a:extLst>
          </p:cNvPr>
          <p:cNvGrpSpPr/>
          <p:nvPr/>
        </p:nvGrpSpPr>
        <p:grpSpPr>
          <a:xfrm>
            <a:off x="3989338" y="2418360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A10DFB20-6560-5AE4-07D5-1F9A99636107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9A48DAF-01FC-B39A-6E5F-3FF4AA8914F4}"/>
                </a:ext>
              </a:extLst>
            </p:cNvPr>
            <p:cNvSpPr txBox="1"/>
            <p:nvPr/>
          </p:nvSpPr>
          <p:spPr>
            <a:xfrm>
              <a:off x="1667283" y="1951664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9E557E3E-A99C-5142-F47E-BF4FF1B0E60F}"/>
              </a:ext>
            </a:extLst>
          </p:cNvPr>
          <p:cNvCxnSpPr>
            <a:cxnSpLocks/>
            <a:stCxn id="35" idx="0"/>
          </p:cNvCxnSpPr>
          <p:nvPr/>
        </p:nvCxnSpPr>
        <p:spPr>
          <a:xfrm flipH="1" flipV="1">
            <a:off x="4162425" y="2009775"/>
            <a:ext cx="131228" cy="62287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32AC55C8-DC1D-78D9-C0C3-CEA765C95A63}"/>
              </a:ext>
            </a:extLst>
          </p:cNvPr>
          <p:cNvGrpSpPr/>
          <p:nvPr/>
        </p:nvGrpSpPr>
        <p:grpSpPr>
          <a:xfrm>
            <a:off x="4184628" y="2613161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8523DFA2-6F2F-B616-476A-CE0D9923A26E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D977E1C-A7F2-8E69-AFAE-BC941709EFD6}"/>
                </a:ext>
              </a:extLst>
            </p:cNvPr>
            <p:cNvSpPr txBox="1"/>
            <p:nvPr/>
          </p:nvSpPr>
          <p:spPr>
            <a:xfrm>
              <a:off x="1667283" y="1951664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3A28317D-C33C-8823-C3F2-288497E03C45}"/>
              </a:ext>
            </a:extLst>
          </p:cNvPr>
          <p:cNvCxnSpPr>
            <a:cxnSpLocks/>
            <a:stCxn id="39" idx="1"/>
          </p:cNvCxnSpPr>
          <p:nvPr/>
        </p:nvCxnSpPr>
        <p:spPr>
          <a:xfrm flipH="1" flipV="1">
            <a:off x="3072241" y="2603137"/>
            <a:ext cx="172641" cy="18740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EAD639B0-176D-7454-6DF3-851905957D94}"/>
              </a:ext>
            </a:extLst>
          </p:cNvPr>
          <p:cNvGrpSpPr/>
          <p:nvPr/>
        </p:nvGrpSpPr>
        <p:grpSpPr>
          <a:xfrm>
            <a:off x="3194640" y="2697584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8B6B13ED-9EE4-61F9-E6A5-B5D71284AFAC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9B1081C5-41CD-47AF-FAD6-F32272C9A8B5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65ECF20B-C912-6DB1-B535-47E4493BD5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869620"/>
              </p:ext>
            </p:extLst>
          </p:nvPr>
        </p:nvGraphicFramePr>
        <p:xfrm>
          <a:off x="4736976" y="1268760"/>
          <a:ext cx="4841910" cy="4726843"/>
        </p:xfrm>
        <a:graphic>
          <a:graphicData uri="http://schemas.openxmlformats.org/drawingml/2006/table">
            <a:tbl>
              <a:tblPr/>
              <a:tblGrid>
                <a:gridCol w="131461">
                  <a:extLst>
                    <a:ext uri="{9D8B030D-6E8A-4147-A177-3AD203B41FA5}">
                      <a16:colId xmlns:a16="http://schemas.microsoft.com/office/drawing/2014/main" val="3734595182"/>
                    </a:ext>
                  </a:extLst>
                </a:gridCol>
                <a:gridCol w="208032">
                  <a:extLst>
                    <a:ext uri="{9D8B030D-6E8A-4147-A177-3AD203B41FA5}">
                      <a16:colId xmlns:a16="http://schemas.microsoft.com/office/drawing/2014/main" val="913618969"/>
                    </a:ext>
                  </a:extLst>
                </a:gridCol>
                <a:gridCol w="638957">
                  <a:extLst>
                    <a:ext uri="{9D8B030D-6E8A-4147-A177-3AD203B41FA5}">
                      <a16:colId xmlns:a16="http://schemas.microsoft.com/office/drawing/2014/main" val="3101917421"/>
                    </a:ext>
                  </a:extLst>
                </a:gridCol>
                <a:gridCol w="759459">
                  <a:extLst>
                    <a:ext uri="{9D8B030D-6E8A-4147-A177-3AD203B41FA5}">
                      <a16:colId xmlns:a16="http://schemas.microsoft.com/office/drawing/2014/main" val="4197828920"/>
                    </a:ext>
                  </a:extLst>
                </a:gridCol>
                <a:gridCol w="1308390">
                  <a:extLst>
                    <a:ext uri="{9D8B030D-6E8A-4147-A177-3AD203B41FA5}">
                      <a16:colId xmlns:a16="http://schemas.microsoft.com/office/drawing/2014/main" val="4078216626"/>
                    </a:ext>
                  </a:extLst>
                </a:gridCol>
                <a:gridCol w="416306">
                  <a:extLst>
                    <a:ext uri="{9D8B030D-6E8A-4147-A177-3AD203B41FA5}">
                      <a16:colId xmlns:a16="http://schemas.microsoft.com/office/drawing/2014/main" val="3252822615"/>
                    </a:ext>
                  </a:extLst>
                </a:gridCol>
                <a:gridCol w="237889">
                  <a:extLst>
                    <a:ext uri="{9D8B030D-6E8A-4147-A177-3AD203B41FA5}">
                      <a16:colId xmlns:a16="http://schemas.microsoft.com/office/drawing/2014/main" val="1459417515"/>
                    </a:ext>
                  </a:extLst>
                </a:gridCol>
                <a:gridCol w="1141416">
                  <a:extLst>
                    <a:ext uri="{9D8B030D-6E8A-4147-A177-3AD203B41FA5}">
                      <a16:colId xmlns:a16="http://schemas.microsoft.com/office/drawing/2014/main" val="3470336565"/>
                    </a:ext>
                  </a:extLst>
                </a:gridCol>
              </a:tblGrid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BFBFBF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7250783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ACM76191721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Controller Assembly,Mechanical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 부품 변경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2815888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ACM76199004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Controller Assembly,Sub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 Sig. Type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(6.8” LCD)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1513485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….4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MKC65459137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MKC65459134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 Assembly,Glass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Control Glass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인쇄 변경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7699622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MFM64499201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EAJ30079201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Membrane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LCD Touch Panel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6.8” LCD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5346628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…3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MJH30028901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MJH66465801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Supporter,PCB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 Sig.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공용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762625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…3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EAV65008503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Delete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LED Display Module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Back Lighting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4990746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…3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MJH66299501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MJH66465901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Supporter,PCB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 Sig.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공용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009400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EAV65028001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AJJ30042702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LED Display Module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 Sig.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공용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(6.8” LCD)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9375309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MGC66401818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Panel,Control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전면 </a:t>
                      </a:r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88º → 90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º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7787013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EAD62349837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QZ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Drawer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반영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신규 개발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2402890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EBR42389115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Assembly,Main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QZ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Drawer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반영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신규 개발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628981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AJJ76599404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Assembly,PCB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9681963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MCK62028003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Cover,Lamp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2856297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EAQ60658303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Lamp,Neon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706108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EBF62174908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Switch,Rotary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5485538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EBF63054502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Switch,Rotary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3669155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EBF63054503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Switch,Rotary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0730956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EAD63828112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1768337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EAD63828113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4852503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EAD64146506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7674360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EBR31629601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Assembly,Option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6884987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EAD62349836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7379534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EAD65883502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1134759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EAD65883503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Harness,Single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4692483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AHH73270007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Ring Assembly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0549919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  <a:endParaRPr lang="ko-KR" altLang="en-US" sz="8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AEZ30167010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Knob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7474644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  <a:endParaRPr lang="ko-KR" altLang="en-US" sz="8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AEZ30167009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Knob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214417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  <a:endParaRPr lang="ko-KR" altLang="en-US" sz="8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AEZ30167001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Knob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0534313"/>
                  </a:ext>
                </a:extLst>
              </a:tr>
              <a:tr h="154324"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endParaRPr lang="ko-KR" altLang="en-US" sz="8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AEZ30166905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Knob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7335550"/>
                  </a:ext>
                </a:extLst>
              </a:tr>
            </a:tbl>
          </a:graphicData>
        </a:graphic>
      </p:graphicFrame>
      <p:pic>
        <p:nvPicPr>
          <p:cNvPr id="41" name="그림 40">
            <a:extLst>
              <a:ext uri="{FF2B5EF4-FFF2-40B4-BE49-F238E27FC236}">
                <a16:creationId xmlns:a16="http://schemas.microsoft.com/office/drawing/2014/main" id="{0617CF37-4D26-65EE-E8F1-48C6196D7DA3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12509"/>
          <a:stretch/>
        </p:blipFill>
        <p:spPr>
          <a:xfrm>
            <a:off x="546265" y="4635471"/>
            <a:ext cx="3603416" cy="1972986"/>
          </a:xfrm>
          <a:prstGeom prst="rect">
            <a:avLst/>
          </a:prstGeom>
          <a:ln>
            <a:solidFill>
              <a:srgbClr val="FF0000"/>
            </a:solidFill>
            <a:prstDash val="sysDash"/>
          </a:ln>
        </p:spPr>
      </p:pic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FD6B56FF-9123-883E-1ECB-83742F53BB02}"/>
              </a:ext>
            </a:extLst>
          </p:cNvPr>
          <p:cNvCxnSpPr>
            <a:cxnSpLocks/>
          </p:cNvCxnSpPr>
          <p:nvPr/>
        </p:nvCxnSpPr>
        <p:spPr>
          <a:xfrm>
            <a:off x="1033429" y="5041058"/>
            <a:ext cx="116610" cy="23302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E36734E1-B1F9-2B3A-D24D-C7FBC3000CD0}"/>
              </a:ext>
            </a:extLst>
          </p:cNvPr>
          <p:cNvGrpSpPr/>
          <p:nvPr/>
        </p:nvGrpSpPr>
        <p:grpSpPr>
          <a:xfrm>
            <a:off x="889386" y="4838339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F322462E-DB86-1880-CCFC-AE29FB3C2E4A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D504D7D-7378-13FA-ED2C-14E93AAF437D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E84A6E06-B2F8-70F2-E999-A9E9DDD05A0A}"/>
              </a:ext>
            </a:extLst>
          </p:cNvPr>
          <p:cNvCxnSpPr>
            <a:cxnSpLocks/>
            <a:stCxn id="48" idx="5"/>
          </p:cNvCxnSpPr>
          <p:nvPr/>
        </p:nvCxnSpPr>
        <p:spPr>
          <a:xfrm>
            <a:off x="2299050" y="4817046"/>
            <a:ext cx="108487" cy="24042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C4B1E435-8E7B-EEA1-3DC8-8FE0A8617B20}"/>
              </a:ext>
            </a:extLst>
          </p:cNvPr>
          <p:cNvGrpSpPr/>
          <p:nvPr/>
        </p:nvGrpSpPr>
        <p:grpSpPr>
          <a:xfrm>
            <a:off x="2137220" y="4655216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664F3EE8-8CDE-A23F-F8B1-A724DB20211E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0363313-4C2E-7494-F8D4-047ED8DA115C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1068384D-D8AB-6ABB-2FD0-D1B848C05EB8}"/>
              </a:ext>
            </a:extLst>
          </p:cNvPr>
          <p:cNvGrpSpPr/>
          <p:nvPr/>
        </p:nvGrpSpPr>
        <p:grpSpPr>
          <a:xfrm>
            <a:off x="561563" y="4410644"/>
            <a:ext cx="189595" cy="189595"/>
            <a:chOff x="1615966" y="1932178"/>
            <a:chExt cx="215900" cy="215900"/>
          </a:xfrm>
        </p:grpSpPr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869963F3-C29B-0984-B91A-87AB62797919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116F7B6-1FEB-0B43-D849-23AC819F08BA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5B2731C0-794C-5CE7-3F51-5C413CD582C4}"/>
              </a:ext>
            </a:extLst>
          </p:cNvPr>
          <p:cNvCxnSpPr>
            <a:cxnSpLocks/>
          </p:cNvCxnSpPr>
          <p:nvPr/>
        </p:nvCxnSpPr>
        <p:spPr>
          <a:xfrm flipV="1">
            <a:off x="889386" y="6125773"/>
            <a:ext cx="158476" cy="17031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249342E4-3413-E244-2A2F-676F4226D24A}"/>
              </a:ext>
            </a:extLst>
          </p:cNvPr>
          <p:cNvGrpSpPr/>
          <p:nvPr/>
        </p:nvGrpSpPr>
        <p:grpSpPr>
          <a:xfrm>
            <a:off x="745690" y="6203247"/>
            <a:ext cx="189595" cy="189595"/>
            <a:chOff x="1615966" y="1932178"/>
            <a:chExt cx="215900" cy="215900"/>
          </a:xfrm>
        </p:grpSpPr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8306BD80-001F-7B3B-EEA9-174226C10921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22E1F44-C4A4-97E6-684D-52F8449D70FB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A64E08B2-A293-6193-A816-BE7F2F9E48BA}"/>
              </a:ext>
            </a:extLst>
          </p:cNvPr>
          <p:cNvSpPr/>
          <p:nvPr/>
        </p:nvSpPr>
        <p:spPr>
          <a:xfrm>
            <a:off x="1481101" y="4788535"/>
            <a:ext cx="1193266" cy="2973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6.8” LCD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적용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(LG Sig.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004D56D0-4894-A10B-8DF8-1315A5552EF8}"/>
              </a:ext>
            </a:extLst>
          </p:cNvPr>
          <p:cNvCxnSpPr>
            <a:cxnSpLocks/>
            <a:stCxn id="60" idx="5"/>
          </p:cNvCxnSpPr>
          <p:nvPr/>
        </p:nvCxnSpPr>
        <p:spPr>
          <a:xfrm>
            <a:off x="1498149" y="5000169"/>
            <a:ext cx="352822" cy="25266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FA5012F-32E8-AD6D-3883-CFEC1644E7FD}"/>
              </a:ext>
            </a:extLst>
          </p:cNvPr>
          <p:cNvGrpSpPr/>
          <p:nvPr/>
        </p:nvGrpSpPr>
        <p:grpSpPr>
          <a:xfrm>
            <a:off x="1336320" y="4838339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60" name="타원 59">
              <a:extLst>
                <a:ext uri="{FF2B5EF4-FFF2-40B4-BE49-F238E27FC236}">
                  <a16:creationId xmlns:a16="http://schemas.microsoft.com/office/drawing/2014/main" id="{153795DB-7D7E-17AB-496A-89997C6EDE38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A1C8B7B-C7CF-53C5-3789-CF86BAF1D46E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62" name="이등변 삼각형 61">
            <a:extLst>
              <a:ext uri="{FF2B5EF4-FFF2-40B4-BE49-F238E27FC236}">
                <a16:creationId xmlns:a16="http://schemas.microsoft.com/office/drawing/2014/main" id="{DEA113E7-009A-3AC9-AFDA-FF7EA504B39D}"/>
              </a:ext>
            </a:extLst>
          </p:cNvPr>
          <p:cNvSpPr/>
          <p:nvPr/>
        </p:nvSpPr>
        <p:spPr bwMode="auto">
          <a:xfrm flipV="1">
            <a:off x="669794" y="4077630"/>
            <a:ext cx="3385533" cy="204403"/>
          </a:xfrm>
          <a:prstGeom prst="triangl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41D53271-A815-5701-FE0A-FA7D80B075C3}"/>
              </a:ext>
            </a:extLst>
          </p:cNvPr>
          <p:cNvGrpSpPr/>
          <p:nvPr/>
        </p:nvGrpSpPr>
        <p:grpSpPr>
          <a:xfrm>
            <a:off x="331568" y="2425807"/>
            <a:ext cx="189595" cy="189595"/>
            <a:chOff x="1615966" y="1932178"/>
            <a:chExt cx="215900" cy="215900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2ADC90C9-7357-DA0D-0391-01A4B648168F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B740299-B607-437F-BFA2-66AE7736CC64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pic>
        <p:nvPicPr>
          <p:cNvPr id="66" name="그림 65">
            <a:extLst>
              <a:ext uri="{FF2B5EF4-FFF2-40B4-BE49-F238E27FC236}">
                <a16:creationId xmlns:a16="http://schemas.microsoft.com/office/drawing/2014/main" id="{2B5413D5-74E3-091D-CC3F-75E3803A73A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1568" y="2678905"/>
            <a:ext cx="1906629" cy="1070696"/>
          </a:xfrm>
          <a:prstGeom prst="rect">
            <a:avLst/>
          </a:prstGeom>
        </p:spPr>
      </p:pic>
      <p:sp>
        <p:nvSpPr>
          <p:cNvPr id="67" name="직사각형 66">
            <a:extLst>
              <a:ext uri="{FF2B5EF4-FFF2-40B4-BE49-F238E27FC236}">
                <a16:creationId xmlns:a16="http://schemas.microsoft.com/office/drawing/2014/main" id="{8FBDA595-24A7-D6FC-E461-61B3943B1D33}"/>
              </a:ext>
            </a:extLst>
          </p:cNvPr>
          <p:cNvSpPr/>
          <p:nvPr/>
        </p:nvSpPr>
        <p:spPr bwMode="auto">
          <a:xfrm>
            <a:off x="317241" y="2631233"/>
            <a:ext cx="1707502" cy="1240971"/>
          </a:xfrm>
          <a:prstGeom prst="rect">
            <a:avLst/>
          </a:prstGeom>
          <a:noFill/>
          <a:ln w="12700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돋움" pitchFamily="50" charset="-127"/>
              <a:cs typeface="Arial" charset="0"/>
            </a:endParaRPr>
          </a:p>
        </p:txBody>
      </p: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A4456C6F-7DA1-5D97-97A4-ADFD917A26F7}"/>
              </a:ext>
            </a:extLst>
          </p:cNvPr>
          <p:cNvCxnSpPr>
            <a:cxnSpLocks/>
          </p:cNvCxnSpPr>
          <p:nvPr/>
        </p:nvCxnSpPr>
        <p:spPr>
          <a:xfrm flipV="1">
            <a:off x="500366" y="3559906"/>
            <a:ext cx="158476" cy="17031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9A90D5F7-7913-768B-A596-BD4076B0737B}"/>
              </a:ext>
            </a:extLst>
          </p:cNvPr>
          <p:cNvGrpSpPr/>
          <p:nvPr/>
        </p:nvGrpSpPr>
        <p:grpSpPr>
          <a:xfrm>
            <a:off x="356670" y="3637380"/>
            <a:ext cx="189595" cy="189595"/>
            <a:chOff x="1615966" y="1932178"/>
            <a:chExt cx="215900" cy="215900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FCB52165-845C-1F3C-C1A5-C53C18EC4E91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65DE8B9F-F269-DE95-7BD1-D3F4C50987C2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ECEA12EA-36E6-AC5C-2582-2148FACD0C94}"/>
              </a:ext>
            </a:extLst>
          </p:cNvPr>
          <p:cNvCxnSpPr>
            <a:cxnSpLocks/>
          </p:cNvCxnSpPr>
          <p:nvPr/>
        </p:nvCxnSpPr>
        <p:spPr>
          <a:xfrm>
            <a:off x="708087" y="2895150"/>
            <a:ext cx="116610" cy="23302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07927D1D-AA5A-0AB0-C0FE-902D7F86FAEB}"/>
              </a:ext>
            </a:extLst>
          </p:cNvPr>
          <p:cNvGrpSpPr/>
          <p:nvPr/>
        </p:nvGrpSpPr>
        <p:grpSpPr>
          <a:xfrm>
            <a:off x="564044" y="2692431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312E0CDC-6C04-5B3D-611D-329A98F34C9C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7A04EB-7D1A-4F18-2C4D-AF994BEA35D6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9C301E4D-559F-5E95-4791-BCF8B3671B77}"/>
              </a:ext>
            </a:extLst>
          </p:cNvPr>
          <p:cNvCxnSpPr>
            <a:cxnSpLocks/>
            <a:stCxn id="78" idx="1"/>
          </p:cNvCxnSpPr>
          <p:nvPr/>
        </p:nvCxnSpPr>
        <p:spPr>
          <a:xfrm flipH="1" flipV="1">
            <a:off x="1810139" y="3051110"/>
            <a:ext cx="478400" cy="44293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455B7818-EB62-2B18-2DEC-9B1CF33A99EE}"/>
              </a:ext>
            </a:extLst>
          </p:cNvPr>
          <p:cNvGrpSpPr/>
          <p:nvPr/>
        </p:nvGrpSpPr>
        <p:grpSpPr>
          <a:xfrm>
            <a:off x="2260773" y="3466277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D179A837-A629-B030-0043-E4306C34FD82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37D36FD6-F499-C5FA-7F84-D2CFDFB67FA9}"/>
                </a:ext>
              </a:extLst>
            </p:cNvPr>
            <p:cNvSpPr txBox="1"/>
            <p:nvPr/>
          </p:nvSpPr>
          <p:spPr>
            <a:xfrm>
              <a:off x="1696839" y="19655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003E7507-D4C0-803E-0CDA-0EA1F4201946}"/>
              </a:ext>
            </a:extLst>
          </p:cNvPr>
          <p:cNvCxnSpPr>
            <a:cxnSpLocks/>
            <a:stCxn id="82" idx="1"/>
          </p:cNvCxnSpPr>
          <p:nvPr/>
        </p:nvCxnSpPr>
        <p:spPr>
          <a:xfrm flipH="1" flipV="1">
            <a:off x="1541411" y="3424301"/>
            <a:ext cx="478400" cy="44293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0EBFBA2F-200B-8827-7AEC-38E838EBCC62}"/>
              </a:ext>
            </a:extLst>
          </p:cNvPr>
          <p:cNvGrpSpPr/>
          <p:nvPr/>
        </p:nvGrpSpPr>
        <p:grpSpPr>
          <a:xfrm>
            <a:off x="1992045" y="3839468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82" name="타원 81">
              <a:extLst>
                <a:ext uri="{FF2B5EF4-FFF2-40B4-BE49-F238E27FC236}">
                  <a16:creationId xmlns:a16="http://schemas.microsoft.com/office/drawing/2014/main" id="{08A0247D-7C89-301D-9DFB-BE17064688D4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7997714-7C9A-8277-1783-74DCA3BC01E1}"/>
                </a:ext>
              </a:extLst>
            </p:cNvPr>
            <p:cNvSpPr txBox="1"/>
            <p:nvPr/>
          </p:nvSpPr>
          <p:spPr>
            <a:xfrm>
              <a:off x="1696838" y="1965564"/>
              <a:ext cx="65715" cy="17523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6A711DBB-3775-91C0-BAEB-6F6FA2DDDF22}"/>
              </a:ext>
            </a:extLst>
          </p:cNvPr>
          <p:cNvGrpSpPr/>
          <p:nvPr/>
        </p:nvGrpSpPr>
        <p:grpSpPr>
          <a:xfrm>
            <a:off x="567105" y="3641348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262656BE-4033-6270-87FB-497F1C230AB3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D3AC8D0-5016-8959-9D44-96BB373651C5}"/>
                </a:ext>
              </a:extLst>
            </p:cNvPr>
            <p:cNvSpPr txBox="1"/>
            <p:nvPr/>
          </p:nvSpPr>
          <p:spPr>
            <a:xfrm>
              <a:off x="1696838" y="1965564"/>
              <a:ext cx="65715" cy="17523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87" name="실행 단추: 끝으로 이동 86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9A6FF7C0-9498-F4F5-2628-000E6F9C6793}"/>
              </a:ext>
            </a:extLst>
          </p:cNvPr>
          <p:cNvSpPr/>
          <p:nvPr/>
        </p:nvSpPr>
        <p:spPr>
          <a:xfrm>
            <a:off x="9606420" y="2760150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DFA3C8E-DE11-D399-1923-3B44200AD5AD}"/>
              </a:ext>
            </a:extLst>
          </p:cNvPr>
          <p:cNvSpPr/>
          <p:nvPr/>
        </p:nvSpPr>
        <p:spPr bwMode="auto">
          <a:xfrm>
            <a:off x="4642809" y="6068042"/>
            <a:ext cx="2409561" cy="557811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Panel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Control Tilt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Angle 90º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Nova Design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②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Controller 2</a:t>
            </a:r>
            <a:r>
              <a:rPr lang="en-US" altLang="ko-KR" sz="800" baseline="300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nd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LG Signature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구조 반영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(6.8” LCD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pic>
        <p:nvPicPr>
          <p:cNvPr id="89" name="그림 88" descr="스케치, 그림, 공구, 렌치이(가) 표시된 사진&#10;&#10;자동 생성된 설명">
            <a:extLst>
              <a:ext uri="{FF2B5EF4-FFF2-40B4-BE49-F238E27FC236}">
                <a16:creationId xmlns:a16="http://schemas.microsoft.com/office/drawing/2014/main" id="{2C081EA9-66FA-70CC-09E7-DBC65FC1089E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66840">
            <a:off x="1194329" y="1866382"/>
            <a:ext cx="1700188" cy="937310"/>
          </a:xfrm>
          <a:prstGeom prst="rect">
            <a:avLst/>
          </a:prstGeom>
        </p:spPr>
      </p:pic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2619791B-18F0-D780-7B83-70B6E7D21139}"/>
              </a:ext>
            </a:extLst>
          </p:cNvPr>
          <p:cNvCxnSpPr>
            <a:cxnSpLocks/>
            <a:stCxn id="92" idx="7"/>
          </p:cNvCxnSpPr>
          <p:nvPr/>
        </p:nvCxnSpPr>
        <p:spPr>
          <a:xfrm flipV="1">
            <a:off x="1208082" y="1988379"/>
            <a:ext cx="71114" cy="24189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09058641-F703-AB65-3307-6F3A5B09D2E4}"/>
              </a:ext>
            </a:extLst>
          </p:cNvPr>
          <p:cNvGrpSpPr/>
          <p:nvPr/>
        </p:nvGrpSpPr>
        <p:grpSpPr>
          <a:xfrm>
            <a:off x="1023800" y="2198658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05556D0-F492-C62F-4D5C-BAA11C3E725F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E01DE-F3DC-3A03-0CF6-0049FDAA4FBE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8B5019CF-E5CD-0C45-4249-8CDA5C13489F}"/>
              </a:ext>
            </a:extLst>
          </p:cNvPr>
          <p:cNvCxnSpPr>
            <a:cxnSpLocks/>
            <a:stCxn id="96" idx="7"/>
          </p:cNvCxnSpPr>
          <p:nvPr/>
        </p:nvCxnSpPr>
        <p:spPr>
          <a:xfrm flipV="1">
            <a:off x="2318095" y="2580950"/>
            <a:ext cx="71114" cy="24189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59CE4F0B-0322-4047-5E13-B9B323EE85A0}"/>
              </a:ext>
            </a:extLst>
          </p:cNvPr>
          <p:cNvGrpSpPr/>
          <p:nvPr/>
        </p:nvGrpSpPr>
        <p:grpSpPr>
          <a:xfrm>
            <a:off x="2133813" y="279122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87C5B955-5A2D-951E-92E0-87E6F704E82A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B21696C-9CF4-138C-EAF5-CD94958FB20D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29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id="{148F97E8-ACA1-B63C-BD2F-8F509063320D}"/>
              </a:ext>
            </a:extLst>
          </p:cNvPr>
          <p:cNvCxnSpPr>
            <a:cxnSpLocks/>
            <a:stCxn id="100" idx="7"/>
          </p:cNvCxnSpPr>
          <p:nvPr/>
        </p:nvCxnSpPr>
        <p:spPr>
          <a:xfrm flipV="1">
            <a:off x="1556873" y="2186342"/>
            <a:ext cx="71114" cy="24189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4298AF21-9557-F7B5-7EFE-749B9C61F82C}"/>
              </a:ext>
            </a:extLst>
          </p:cNvPr>
          <p:cNvGrpSpPr/>
          <p:nvPr/>
        </p:nvGrpSpPr>
        <p:grpSpPr>
          <a:xfrm>
            <a:off x="1372591" y="2396621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100" name="타원 99">
              <a:extLst>
                <a:ext uri="{FF2B5EF4-FFF2-40B4-BE49-F238E27FC236}">
                  <a16:creationId xmlns:a16="http://schemas.microsoft.com/office/drawing/2014/main" id="{21A9D9AB-91C9-02CC-DD38-B4CF4D4A7ED9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2068D2E-BB3A-5E4B-D195-DADEC2C99958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44143747-3E26-54AC-B54F-8685A65A3548}"/>
              </a:ext>
            </a:extLst>
          </p:cNvPr>
          <p:cNvCxnSpPr>
            <a:cxnSpLocks/>
            <a:stCxn id="104" idx="7"/>
          </p:cNvCxnSpPr>
          <p:nvPr/>
        </p:nvCxnSpPr>
        <p:spPr>
          <a:xfrm flipV="1">
            <a:off x="2659810" y="2836792"/>
            <a:ext cx="71114" cy="24189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8632544-239E-23C2-51FD-C5894743E0F5}"/>
              </a:ext>
            </a:extLst>
          </p:cNvPr>
          <p:cNvGrpSpPr/>
          <p:nvPr/>
        </p:nvGrpSpPr>
        <p:grpSpPr>
          <a:xfrm>
            <a:off x="2475528" y="3047071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A4CDD5EB-5790-31B3-397E-1DA3F863B365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D4E6553F-93FE-7C54-789A-02163A26D4AC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3DF25A0-E306-0B18-B783-79CE7D6E62A6}"/>
              </a:ext>
            </a:extLst>
          </p:cNvPr>
          <p:cNvCxnSpPr>
            <a:cxnSpLocks/>
            <a:stCxn id="108" idx="7"/>
          </p:cNvCxnSpPr>
          <p:nvPr/>
        </p:nvCxnSpPr>
        <p:spPr>
          <a:xfrm flipV="1">
            <a:off x="2461847" y="2723670"/>
            <a:ext cx="71114" cy="24189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27DA12B8-CF65-6978-823A-CB6B09256419}"/>
              </a:ext>
            </a:extLst>
          </p:cNvPr>
          <p:cNvGrpSpPr/>
          <p:nvPr/>
        </p:nvGrpSpPr>
        <p:grpSpPr>
          <a:xfrm>
            <a:off x="2277565" y="293394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D4101645-B9FB-6399-2071-891AE2C24E3E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45CDDE9-6470-692C-3FAD-53EC741B13CF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3B7F2CEB-5092-5310-3531-309B42FA8DC6}"/>
              </a:ext>
            </a:extLst>
          </p:cNvPr>
          <p:cNvCxnSpPr>
            <a:cxnSpLocks/>
            <a:stCxn id="112" idx="7"/>
          </p:cNvCxnSpPr>
          <p:nvPr/>
        </p:nvCxnSpPr>
        <p:spPr>
          <a:xfrm flipV="1">
            <a:off x="1378100" y="2091999"/>
            <a:ext cx="71114" cy="24189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0549935E-A88A-85AD-A640-6B3291153F08}"/>
              </a:ext>
            </a:extLst>
          </p:cNvPr>
          <p:cNvGrpSpPr/>
          <p:nvPr/>
        </p:nvGrpSpPr>
        <p:grpSpPr>
          <a:xfrm>
            <a:off x="1193818" y="2302278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6854BFDA-44DC-14A1-DD05-DBA1EB95D79D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A470C38-C662-B0E1-A4F7-B45C173FA762}"/>
                </a:ext>
              </a:extLst>
            </p:cNvPr>
            <p:cNvSpPr txBox="1"/>
            <p:nvPr/>
          </p:nvSpPr>
          <p:spPr>
            <a:xfrm>
              <a:off x="1666208" y="1948189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9E3FB7E6-95D5-C480-CCEA-0A942ECC4B2D}"/>
              </a:ext>
            </a:extLst>
          </p:cNvPr>
          <p:cNvGrpSpPr/>
          <p:nvPr/>
        </p:nvGrpSpPr>
        <p:grpSpPr>
          <a:xfrm>
            <a:off x="938580" y="6213098"/>
            <a:ext cx="189595" cy="189595"/>
            <a:chOff x="1615966" y="1932178"/>
            <a:chExt cx="215900" cy="215900"/>
          </a:xfrm>
          <a:solidFill>
            <a:srgbClr val="FFFF00"/>
          </a:solidFill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EA182BC9-81CC-44FE-669F-FF155F12CF4C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245C450-1058-24A7-BDC0-790D32EE2CB6}"/>
                </a:ext>
              </a:extLst>
            </p:cNvPr>
            <p:cNvSpPr txBox="1"/>
            <p:nvPr/>
          </p:nvSpPr>
          <p:spPr>
            <a:xfrm>
              <a:off x="1696838" y="1965564"/>
              <a:ext cx="65715" cy="17523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433261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54F0B3C-1E4B-AE5F-6FD3-691B522B99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C810EE22-3D12-BA9A-D180-44CFBA15E3C1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5021127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Appendix.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Controller &amp; Plate Assembly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디자인 변경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D1C8355-80E8-3AB0-D871-000D18321FF6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45B7B82-D81F-B044-352B-A3BBF2F8E5E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4267" y="1585391"/>
            <a:ext cx="2407138" cy="1695653"/>
          </a:xfrm>
          <a:prstGeom prst="rect">
            <a:avLst/>
          </a:prstGeom>
        </p:spPr>
      </p:pic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F1D7631A-47DB-BD0C-1B44-F162FD8CF524}"/>
              </a:ext>
            </a:extLst>
          </p:cNvPr>
          <p:cNvCxnSpPr>
            <a:cxnSpLocks/>
          </p:cNvCxnSpPr>
          <p:nvPr/>
        </p:nvCxnSpPr>
        <p:spPr bwMode="auto">
          <a:xfrm>
            <a:off x="4448944" y="935463"/>
            <a:ext cx="0" cy="5652000"/>
          </a:xfrm>
          <a:prstGeom prst="line">
            <a:avLst/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" name="Text Box 4">
            <a:extLst>
              <a:ext uri="{FF2B5EF4-FFF2-40B4-BE49-F238E27FC236}">
                <a16:creationId xmlns:a16="http://schemas.microsoft.com/office/drawing/2014/main" id="{65B0B96C-4308-79B2-24CB-DE98134DE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4149" y="930084"/>
            <a:ext cx="19091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ctr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&lt; STUDIO IH Double &gt;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F079A66-2128-CA74-FE8D-FD3C87FA1E35}"/>
              </a:ext>
            </a:extLst>
          </p:cNvPr>
          <p:cNvCxnSpPr>
            <a:cxnSpLocks/>
          </p:cNvCxnSpPr>
          <p:nvPr/>
        </p:nvCxnSpPr>
        <p:spPr bwMode="auto">
          <a:xfrm flipV="1">
            <a:off x="1760756" y="1511943"/>
            <a:ext cx="55081" cy="1744925"/>
          </a:xfrm>
          <a:prstGeom prst="line">
            <a:avLst/>
          </a:prstGeom>
          <a:solidFill>
            <a:srgbClr val="006600"/>
          </a:solidFill>
          <a:ln w="12700" cap="flat" cmpd="sng" algn="ctr">
            <a:solidFill>
              <a:srgbClr val="0066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F2F32A47-D659-DF92-3BBF-0F3F23DC8FAD}"/>
              </a:ext>
            </a:extLst>
          </p:cNvPr>
          <p:cNvCxnSpPr>
            <a:cxnSpLocks/>
          </p:cNvCxnSpPr>
          <p:nvPr/>
        </p:nvCxnSpPr>
        <p:spPr bwMode="auto">
          <a:xfrm flipV="1">
            <a:off x="1747789" y="1511943"/>
            <a:ext cx="0" cy="1744546"/>
          </a:xfrm>
          <a:prstGeom prst="line">
            <a:avLst/>
          </a:prstGeom>
          <a:solidFill>
            <a:srgbClr val="006600"/>
          </a:solidFill>
          <a:ln w="12700" cap="flat" cmpd="sng" algn="ctr">
            <a:solidFill>
              <a:srgbClr val="0066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17D9AF2E-ACC4-AB76-1357-38CF80E17D35}"/>
              </a:ext>
            </a:extLst>
          </p:cNvPr>
          <p:cNvCxnSpPr/>
          <p:nvPr/>
        </p:nvCxnSpPr>
        <p:spPr bwMode="auto">
          <a:xfrm>
            <a:off x="1535634" y="1464630"/>
            <a:ext cx="203421" cy="216024"/>
          </a:xfrm>
          <a:prstGeom prst="straightConnector1">
            <a:avLst/>
          </a:prstGeom>
          <a:noFill/>
          <a:ln w="12700" cap="flat" cmpd="sng" algn="ctr">
            <a:solidFill>
              <a:srgbClr val="0066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9" name="Text Box 4">
            <a:extLst>
              <a:ext uri="{FF2B5EF4-FFF2-40B4-BE49-F238E27FC236}">
                <a16:creationId xmlns:a16="http://schemas.microsoft.com/office/drawing/2014/main" id="{A0AEF716-A768-085D-53F9-FE3FD82E6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6379" y="1246070"/>
            <a:ext cx="57905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88º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F7BC0B14-6304-CF57-3D5C-2D4AEB12E719}"/>
              </a:ext>
            </a:extLst>
          </p:cNvPr>
          <p:cNvCxnSpPr>
            <a:cxnSpLocks/>
          </p:cNvCxnSpPr>
          <p:nvPr/>
        </p:nvCxnSpPr>
        <p:spPr bwMode="auto">
          <a:xfrm>
            <a:off x="1228477" y="935463"/>
            <a:ext cx="0" cy="5652000"/>
          </a:xfrm>
          <a:prstGeom prst="line">
            <a:avLst/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11" name="그림 10">
            <a:extLst>
              <a:ext uri="{FF2B5EF4-FFF2-40B4-BE49-F238E27FC236}">
                <a16:creationId xmlns:a16="http://schemas.microsoft.com/office/drawing/2014/main" id="{F1E40109-A704-894A-D4D3-4C053AC0E8D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12640" y="5379318"/>
            <a:ext cx="2251132" cy="994587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B42BC2D4-AACE-9A32-5C6A-235FE13A03C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953000" y="5223228"/>
            <a:ext cx="2836643" cy="1307476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E12441B1-F62F-61B3-D579-2A4056AA3E7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25085" y="1555817"/>
            <a:ext cx="2325796" cy="1756424"/>
          </a:xfrm>
          <a:prstGeom prst="rect">
            <a:avLst/>
          </a:prstGeom>
        </p:spPr>
      </p:pic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A59C429F-A732-37D9-F745-42A4E241F40A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295249" y="1488073"/>
            <a:ext cx="0" cy="1944000"/>
          </a:xfrm>
          <a:prstGeom prst="line">
            <a:avLst/>
          </a:prstGeom>
          <a:noFill/>
          <a:ln w="12700" cap="flat" cmpd="sng" algn="ctr">
            <a:solidFill>
              <a:srgbClr val="0066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" name="Text Box 4">
            <a:extLst>
              <a:ext uri="{FF2B5EF4-FFF2-40B4-BE49-F238E27FC236}">
                <a16:creationId xmlns:a16="http://schemas.microsoft.com/office/drawing/2014/main" id="{F31C15A2-6821-B950-070C-91A9E2C18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8359" y="1308392"/>
            <a:ext cx="57905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90º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18C684B2-42C0-B24F-23B5-5ED4D60515F8}"/>
              </a:ext>
            </a:extLst>
          </p:cNvPr>
          <p:cNvSpPr/>
          <p:nvPr/>
        </p:nvSpPr>
        <p:spPr bwMode="auto">
          <a:xfrm>
            <a:off x="5359779" y="1511943"/>
            <a:ext cx="811406" cy="316983"/>
          </a:xfrm>
          <a:prstGeom prst="ellipse">
            <a:avLst/>
          </a:prstGeom>
          <a:noFill/>
          <a:ln w="12700" cap="flat" cmpd="sng" algn="ctr">
            <a:solidFill>
              <a:srgbClr val="006600"/>
            </a:solidFill>
            <a:prstDash val="solid"/>
            <a:round/>
            <a:headEnd type="none" w="med" len="med"/>
            <a:tailEnd type="none" w="med" len="med"/>
          </a:ln>
          <a:effectLst>
            <a:glow rad="63500">
              <a:schemeClr val="bg1"/>
            </a:glow>
          </a:effectLst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18" name="Text Box 4">
            <a:extLst>
              <a:ext uri="{FF2B5EF4-FFF2-40B4-BE49-F238E27FC236}">
                <a16:creationId xmlns:a16="http://schemas.microsoft.com/office/drawing/2014/main" id="{F9FC366C-5682-AE1C-18DD-CD4FE51E0C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1312" y="1657239"/>
            <a:ext cx="1929761" cy="4801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1)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전면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90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도 변경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2) NOVA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디자인 적용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9" name="Text Box 4">
            <a:extLst>
              <a:ext uri="{FF2B5EF4-FFF2-40B4-BE49-F238E27FC236}">
                <a16:creationId xmlns:a16="http://schemas.microsoft.com/office/drawing/2014/main" id="{DA732353-6550-F140-DD93-21D753D4C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1312" y="5291754"/>
            <a:ext cx="192976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kumimoji="1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NOVA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구조 적용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(4 Pcs.)</a:t>
            </a: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36CC7890-7717-1043-CD93-F677C7FAC7C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80399" y="3567460"/>
            <a:ext cx="2309110" cy="1154339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E2777AF0-9EDC-9FD1-572E-1CB3BFE83CB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708482" y="3734173"/>
            <a:ext cx="2407138" cy="999455"/>
          </a:xfrm>
          <a:prstGeom prst="rect">
            <a:avLst/>
          </a:prstGeom>
        </p:spPr>
      </p:pic>
      <p:sp>
        <p:nvSpPr>
          <p:cNvPr id="22" name="Text Box 4">
            <a:extLst>
              <a:ext uri="{FF2B5EF4-FFF2-40B4-BE49-F238E27FC236}">
                <a16:creationId xmlns:a16="http://schemas.microsoft.com/office/drawing/2014/main" id="{F229AF75-60D3-4576-8087-7BF2F3683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1312" y="3903929"/>
            <a:ext cx="1929761" cy="6832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3) Vent Grille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높이 최소화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-. 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현수준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15mm</a:t>
            </a:r>
          </a:p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-. </a:t>
            </a:r>
            <a:r>
              <a:rPr lang="ko-KR" altLang="en-US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신규 </a:t>
            </a:r>
            <a:r>
              <a:rPr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lang="en-US" altLang="ko-KR" sz="120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9mm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3" name="Text Box 4">
            <a:extLst>
              <a:ext uri="{FF2B5EF4-FFF2-40B4-BE49-F238E27FC236}">
                <a16:creationId xmlns:a16="http://schemas.microsoft.com/office/drawing/2014/main" id="{CB814762-BE65-CAE2-B174-9629EBA95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8663" y="930084"/>
            <a:ext cx="143711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ctr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&lt; Quick Zone &gt;</a:t>
            </a:r>
          </a:p>
        </p:txBody>
      </p:sp>
      <p:sp>
        <p:nvSpPr>
          <p:cNvPr id="24" name="Text Box 4">
            <a:extLst>
              <a:ext uri="{FF2B5EF4-FFF2-40B4-BE49-F238E27FC236}">
                <a16:creationId xmlns:a16="http://schemas.microsoft.com/office/drawing/2014/main" id="{ABA25875-0FF0-1751-A253-AFF8CAAA9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4238" y="1375901"/>
            <a:ext cx="283664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NOVA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와 동일하게 전면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Glass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덮는 디자인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EC5A9A05-D6D7-546F-6A06-93590DB92116}"/>
              </a:ext>
            </a:extLst>
          </p:cNvPr>
          <p:cNvCxnSpPr>
            <a:cxnSpLocks/>
          </p:cNvCxnSpPr>
          <p:nvPr/>
        </p:nvCxnSpPr>
        <p:spPr bwMode="auto">
          <a:xfrm flipV="1">
            <a:off x="254374" y="1226576"/>
            <a:ext cx="9324000" cy="0"/>
          </a:xfrm>
          <a:prstGeom prst="line">
            <a:avLst/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81253E64-EB69-95DB-B062-3F5179E7D6E7}"/>
              </a:ext>
            </a:extLst>
          </p:cNvPr>
          <p:cNvSpPr txBox="1"/>
          <p:nvPr/>
        </p:nvSpPr>
        <p:spPr>
          <a:xfrm>
            <a:off x="123566" y="647431"/>
            <a:ext cx="2363147" cy="2548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43173" marR="0" lvl="0" indent="-143173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ko-KR" altLang="en-US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변경목적 </a:t>
            </a:r>
            <a:r>
              <a:rPr kumimoji="1" lang="en-US" altLang="ko-KR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</a:t>
            </a:r>
            <a:r>
              <a:rPr kumimoji="1" lang="ko-KR" altLang="en-US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en-US" altLang="ko-KR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NOVA</a:t>
            </a:r>
            <a:r>
              <a:rPr kumimoji="1" lang="ko-KR" altLang="en-US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디자인 및 구조 반영</a:t>
            </a:r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3EDF82A8-6371-916F-7FF0-9B1DDBD1D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344" y="4499786"/>
            <a:ext cx="201328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금형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내구성 문제로 최소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9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mm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이상 확보 필요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B9F4B4DB-5E91-04A7-05C3-9739CC86D54B}"/>
              </a:ext>
            </a:extLst>
          </p:cNvPr>
          <p:cNvCxnSpPr/>
          <p:nvPr/>
        </p:nvCxnSpPr>
        <p:spPr bwMode="auto">
          <a:xfrm>
            <a:off x="7010400" y="3905250"/>
            <a:ext cx="628650" cy="0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F0867F57-F486-74E3-54CA-E781F6824EF8}"/>
              </a:ext>
            </a:extLst>
          </p:cNvPr>
          <p:cNvCxnSpPr/>
          <p:nvPr/>
        </p:nvCxnSpPr>
        <p:spPr bwMode="auto">
          <a:xfrm>
            <a:off x="7010400" y="4086225"/>
            <a:ext cx="628650" cy="0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CCF12720-38D6-50AE-6B5A-6DBC8BA781B5}"/>
              </a:ext>
            </a:extLst>
          </p:cNvPr>
          <p:cNvCxnSpPr/>
          <p:nvPr/>
        </p:nvCxnSpPr>
        <p:spPr bwMode="auto">
          <a:xfrm>
            <a:off x="7610475" y="3895725"/>
            <a:ext cx="0" cy="190500"/>
          </a:xfrm>
          <a:prstGeom prst="straightConnector1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triangle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132967619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47AB7D-F06F-D8A9-F77B-A47324BF03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525F31EF-6879-CCE8-B18D-0A9BB500BB3B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4662055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Upper Oven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94E47F04-02BB-D657-857F-0C7214AABB02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B0740869-B28D-FCA4-EDE6-084CF6CAB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6C21E33F-2A2E-58A1-E881-2703DDA5E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60833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" name="Text Box 9">
            <a:extLst>
              <a:ext uri="{FF2B5EF4-FFF2-40B4-BE49-F238E27FC236}">
                <a16:creationId xmlns:a16="http://schemas.microsoft.com/office/drawing/2014/main" id="{C035C4C5-E721-AC19-7A83-8161E66F37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5" name="Text Box 10">
            <a:extLst>
              <a:ext uri="{FF2B5EF4-FFF2-40B4-BE49-F238E27FC236}">
                <a16:creationId xmlns:a16="http://schemas.microsoft.com/office/drawing/2014/main" id="{453DD84C-967B-F1DE-F69A-1187E8329F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63119822-2980-8293-F486-5CACA9B4CF75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36357" y="3758857"/>
            <a:ext cx="607128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" name="Line 52">
            <a:extLst>
              <a:ext uri="{FF2B5EF4-FFF2-40B4-BE49-F238E27FC236}">
                <a16:creationId xmlns:a16="http://schemas.microsoft.com/office/drawing/2014/main" id="{52A05290-BD17-6A89-73A9-C3CEBC97727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965ECA77-F27A-51FB-87BB-6EEBCD33D72D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0961F9D1-3A65-829A-405D-EA77E6CFB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BD97988-5E3E-9B3D-6706-E6EF2FF8DB39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Text Box 4">
            <a:extLst>
              <a:ext uri="{FF2B5EF4-FFF2-40B4-BE49-F238E27FC236}">
                <a16:creationId xmlns:a16="http://schemas.microsoft.com/office/drawing/2014/main" id="{F9724335-1B6A-0FB4-44E1-046ED4D00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83BA00F-E542-81BE-9E88-38CFABB2ED7D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Text Box 4">
            <a:extLst>
              <a:ext uri="{FF2B5EF4-FFF2-40B4-BE49-F238E27FC236}">
                <a16:creationId xmlns:a16="http://schemas.microsoft.com/office/drawing/2014/main" id="{60A81B1A-5E12-1CBB-93A9-0D8EBB541D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94B0727E-65EE-7D8C-F5DA-0D0D9C0F9A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2819" y="1191420"/>
            <a:ext cx="4159412" cy="2641895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5B6F8B0-9621-2300-1088-E80A0FDED9A3}"/>
              </a:ext>
            </a:extLst>
          </p:cNvPr>
          <p:cNvSpPr txBox="1"/>
          <p:nvPr/>
        </p:nvSpPr>
        <p:spPr>
          <a:xfrm>
            <a:off x="251732" y="994673"/>
            <a:ext cx="1354730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Upper</a:t>
            </a:r>
            <a:r>
              <a:rPr kumimoji="1" lang="ko-KR" alt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 </a:t>
            </a: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Oven </a:t>
            </a:r>
            <a:r>
              <a:rPr kumimoji="1" lang="en-US" altLang="ko-K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Ass’y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돋움" pitchFamily="50" charset="-127"/>
              <a:cs typeface="Arial" charset="0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43494A3-4290-FD81-4A48-5C3D8F1E1B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289530"/>
              </p:ext>
            </p:extLst>
          </p:nvPr>
        </p:nvGraphicFramePr>
        <p:xfrm>
          <a:off x="4641768" y="1258917"/>
          <a:ext cx="4921411" cy="5486400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AGE72969010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Oven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794287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ABU74573408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Cavity Assembly,Full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44111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ABU73873316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Cavity Assembly,welding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749918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ABU73873315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Cavity Assembly,welding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(3.0 cu.ft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cu.ft)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3039346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MGJ64584101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Plate,U Bending(Lower)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86888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MGJ64429901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Plate,Flat(Lower)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cu.ft Cavity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0.7t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동일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3559945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MGJ64429304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Plate,Upper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0.7t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0.6t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249529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MGJ64430210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Plate,Front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cu.ft Cavity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0.8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0.7t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572346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MGJ64430004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Plate,Rear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cu.ft Cavity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0.7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0.6t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302740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4810W1N019A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Bracket,Mount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808089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RAB33372905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Paint,Powder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0.6113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쾌속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셀프클린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법랑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05074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MFZ64539602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Packing,Gasket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Cavity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용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Packing, Gasket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345500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EAQ62881201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Lamp,Halogen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16804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MJH63776501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Supporter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122319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MEE62864903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Bake HTR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2ea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7179005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MCZ63532001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Duct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276115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MAZ64764301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Bracket,Mount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95623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MEE61945105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Broil HTR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2ea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932273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MAZ64548501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Bracket,Heater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Broil HTR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지지구조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88219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EBF60663403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EBF60663404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Switch,Tact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동난전자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Tact S/W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980244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EAD61076101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Harness,Single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735064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EBG61305805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Thermistor,PTC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469811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AEV73269603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Insulator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신규개발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 Cavity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6847626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MEV65115103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Insulator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신규개발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 Cavity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793947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AGL30246205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Panel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Assembly,Rear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별도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980708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MAK61907202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Self-Clean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미적용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 검토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617526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ABA75389602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Self-Clean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미적용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 검토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1455514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MAZ64568803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20045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MAZ64568804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55673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AJV73149902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5651091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MJZ62162902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 Grille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높이 축소에 따른 신작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80209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MJZ62163002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 Grille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높이 축소에 따른 신작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965811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ABQ30466614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Case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Assembly,Sub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565284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ADJ74172315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Duct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369993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MBN63845017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Case,Upper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53400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MBN63845104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Case,Lower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6661016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MEV65897614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Insulator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Self Clean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기능 없음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676656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MAZ63548101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Bracket,Hinge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Self Clean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기능 없음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6723015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4B72510F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Holder,Wire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2004214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MEG66672701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Holder,Wire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794811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MAL64330703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Barrier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IH Cooling Duct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검토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500301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MAL64330704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Barrier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IH Cooling Duct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검토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854522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AEH74656201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Hinge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Assembly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113561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Quick Zone Drawer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별도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6732615"/>
                  </a:ext>
                </a:extLst>
              </a:tr>
            </a:tbl>
          </a:graphicData>
        </a:graphic>
      </p:graphicFrame>
      <p:sp>
        <p:nvSpPr>
          <p:cNvPr id="19" name="타원 18">
            <a:extLst>
              <a:ext uri="{FF2B5EF4-FFF2-40B4-BE49-F238E27FC236}">
                <a16:creationId xmlns:a16="http://schemas.microsoft.com/office/drawing/2014/main" id="{5E49F677-2690-F14A-781E-636899476845}"/>
              </a:ext>
            </a:extLst>
          </p:cNvPr>
          <p:cNvSpPr/>
          <p:nvPr/>
        </p:nvSpPr>
        <p:spPr>
          <a:xfrm>
            <a:off x="2852738" y="3119790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B100C530-6C2A-8C62-0FAE-82D81757D2EC}"/>
              </a:ext>
            </a:extLst>
          </p:cNvPr>
          <p:cNvCxnSpPr>
            <a:cxnSpLocks/>
            <a:stCxn id="19" idx="2"/>
          </p:cNvCxnSpPr>
          <p:nvPr/>
        </p:nvCxnSpPr>
        <p:spPr>
          <a:xfrm flipH="1" flipV="1">
            <a:off x="2526935" y="3165582"/>
            <a:ext cx="325803" cy="6215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AC44F2D5-9080-2DB8-2382-0B6E60F6E49E}"/>
              </a:ext>
            </a:extLst>
          </p:cNvPr>
          <p:cNvGrpSpPr/>
          <p:nvPr/>
        </p:nvGrpSpPr>
        <p:grpSpPr>
          <a:xfrm>
            <a:off x="340243" y="3392517"/>
            <a:ext cx="325730" cy="246221"/>
            <a:chOff x="606573" y="4366745"/>
            <a:chExt cx="325730" cy="246221"/>
          </a:xfrm>
        </p:grpSpPr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4405A4DE-93D0-7F0D-B41A-9281C92E342B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CE40110-A61E-897E-7967-4A822C235DD2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EEFB4C6D-E445-3024-7587-D8AC53E024D9}"/>
              </a:ext>
            </a:extLst>
          </p:cNvPr>
          <p:cNvGrpSpPr/>
          <p:nvPr/>
        </p:nvGrpSpPr>
        <p:grpSpPr>
          <a:xfrm>
            <a:off x="422614" y="2321760"/>
            <a:ext cx="215900" cy="215900"/>
            <a:chOff x="-1119257" y="3128859"/>
            <a:chExt cx="215900" cy="215900"/>
          </a:xfrm>
        </p:grpSpPr>
        <p:sp>
          <p:nvSpPr>
            <p:cNvPr id="25" name="타원 24">
              <a:extLst>
                <a:ext uri="{FF2B5EF4-FFF2-40B4-BE49-F238E27FC236}">
                  <a16:creationId xmlns:a16="http://schemas.microsoft.com/office/drawing/2014/main" id="{D16CCD72-6A57-0225-13AB-5A7DD760C89B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006F4AE-2BCC-67F7-217E-7E81D9D900DA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27" name="타원 26">
            <a:extLst>
              <a:ext uri="{FF2B5EF4-FFF2-40B4-BE49-F238E27FC236}">
                <a16:creationId xmlns:a16="http://schemas.microsoft.com/office/drawing/2014/main" id="{74B45B36-D723-478C-46D6-A194C5C3CA4C}"/>
              </a:ext>
            </a:extLst>
          </p:cNvPr>
          <p:cNvSpPr/>
          <p:nvPr/>
        </p:nvSpPr>
        <p:spPr>
          <a:xfrm>
            <a:off x="3068638" y="3119790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6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57EBD211-196D-8D1A-DF0D-8D2B8D504E46}"/>
              </a:ext>
            </a:extLst>
          </p:cNvPr>
          <p:cNvSpPr/>
          <p:nvPr/>
        </p:nvSpPr>
        <p:spPr>
          <a:xfrm>
            <a:off x="2852738" y="2059139"/>
            <a:ext cx="215900" cy="2159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7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40694DE6-427C-684B-EE72-F942D6191C55}"/>
              </a:ext>
            </a:extLst>
          </p:cNvPr>
          <p:cNvCxnSpPr>
            <a:cxnSpLocks/>
            <a:stCxn id="28" idx="2"/>
          </p:cNvCxnSpPr>
          <p:nvPr/>
        </p:nvCxnSpPr>
        <p:spPr>
          <a:xfrm flipH="1">
            <a:off x="2581887" y="2167089"/>
            <a:ext cx="270851" cy="12353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타원 29">
            <a:extLst>
              <a:ext uri="{FF2B5EF4-FFF2-40B4-BE49-F238E27FC236}">
                <a16:creationId xmlns:a16="http://schemas.microsoft.com/office/drawing/2014/main" id="{BD70ACD4-CC08-C79E-A70C-CB32ED1A39CF}"/>
              </a:ext>
            </a:extLst>
          </p:cNvPr>
          <p:cNvSpPr/>
          <p:nvPr/>
        </p:nvSpPr>
        <p:spPr>
          <a:xfrm>
            <a:off x="1916346" y="3407678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8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3BA35E3C-795C-E3BD-1E53-D00D8A9EA6B9}"/>
              </a:ext>
            </a:extLst>
          </p:cNvPr>
          <p:cNvCxnSpPr>
            <a:cxnSpLocks/>
            <a:stCxn id="30" idx="1"/>
          </p:cNvCxnSpPr>
          <p:nvPr/>
        </p:nvCxnSpPr>
        <p:spPr>
          <a:xfrm flipH="1" flipV="1">
            <a:off x="1568151" y="3207680"/>
            <a:ext cx="379813" cy="23161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B3B60892-BD40-B067-7587-123A8CBB4EAB}"/>
              </a:ext>
            </a:extLst>
          </p:cNvPr>
          <p:cNvSpPr/>
          <p:nvPr/>
        </p:nvSpPr>
        <p:spPr>
          <a:xfrm>
            <a:off x="3431709" y="2956146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9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3A2C4C1D-7FA5-B820-7766-B25705BDD8F0}"/>
              </a:ext>
            </a:extLst>
          </p:cNvPr>
          <p:cNvCxnSpPr>
            <a:cxnSpLocks/>
            <a:stCxn id="32" idx="1"/>
          </p:cNvCxnSpPr>
          <p:nvPr/>
        </p:nvCxnSpPr>
        <p:spPr>
          <a:xfrm flipH="1" flipV="1">
            <a:off x="3284538" y="2813661"/>
            <a:ext cx="178789" cy="17410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A9E1C4C-2EF4-9B60-3B77-F0B855DFEA7D}"/>
              </a:ext>
            </a:extLst>
          </p:cNvPr>
          <p:cNvCxnSpPr>
            <a:cxnSpLocks/>
            <a:stCxn id="23" idx="0"/>
          </p:cNvCxnSpPr>
          <p:nvPr/>
        </p:nvCxnSpPr>
        <p:spPr>
          <a:xfrm flipV="1">
            <a:off x="503108" y="3323488"/>
            <a:ext cx="275049" cy="6902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908BCCB-AC54-6A81-75C9-4476037C52DC}"/>
              </a:ext>
            </a:extLst>
          </p:cNvPr>
          <p:cNvGrpSpPr/>
          <p:nvPr/>
        </p:nvGrpSpPr>
        <p:grpSpPr>
          <a:xfrm>
            <a:off x="3048202" y="1970252"/>
            <a:ext cx="325730" cy="246221"/>
            <a:chOff x="606573" y="4366745"/>
            <a:chExt cx="325730" cy="246221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70CD7C9F-3C02-50FC-DB9C-04C3024ABE8B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526D3EB-EBE0-566D-1D4C-0E1E0F43EBAD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097235BA-0CB7-02B8-FDD8-1E5019DB1E43}"/>
              </a:ext>
            </a:extLst>
          </p:cNvPr>
          <p:cNvCxnSpPr>
            <a:cxnSpLocks/>
            <a:stCxn id="37" idx="2"/>
          </p:cNvCxnSpPr>
          <p:nvPr/>
        </p:nvCxnSpPr>
        <p:spPr>
          <a:xfrm flipH="1">
            <a:off x="3204045" y="2216473"/>
            <a:ext cx="7022" cy="14304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0769A5B4-B64C-3845-44AA-62A0EAD2B1C3}"/>
              </a:ext>
            </a:extLst>
          </p:cNvPr>
          <p:cNvGrpSpPr/>
          <p:nvPr/>
        </p:nvGrpSpPr>
        <p:grpSpPr>
          <a:xfrm>
            <a:off x="766232" y="3732242"/>
            <a:ext cx="325730" cy="246221"/>
            <a:chOff x="606573" y="4366745"/>
            <a:chExt cx="325730" cy="246221"/>
          </a:xfrm>
        </p:grpSpPr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A6CA149F-A624-5088-FE4D-A80B76234180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5803ABD1-15A1-B9F0-7A2E-DF63338DC141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EA177577-D88E-2778-198C-748231DD0814}"/>
              </a:ext>
            </a:extLst>
          </p:cNvPr>
          <p:cNvCxnSpPr>
            <a:cxnSpLocks/>
          </p:cNvCxnSpPr>
          <p:nvPr/>
        </p:nvCxnSpPr>
        <p:spPr>
          <a:xfrm flipV="1">
            <a:off x="965361" y="3614705"/>
            <a:ext cx="296367" cy="13430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00138D52-B4AE-0B70-9F73-5083DC2D16F1}"/>
              </a:ext>
            </a:extLst>
          </p:cNvPr>
          <p:cNvGrpSpPr/>
          <p:nvPr/>
        </p:nvGrpSpPr>
        <p:grpSpPr>
          <a:xfrm>
            <a:off x="895397" y="1588048"/>
            <a:ext cx="325730" cy="246221"/>
            <a:chOff x="606573" y="4366745"/>
            <a:chExt cx="325730" cy="246221"/>
          </a:xfrm>
        </p:grpSpPr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50425A46-BD0C-6899-8DCA-1CC3B5748781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DC700CB-8324-3DC2-0EFB-41D4CD3BA1B5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D93F5D61-3B8C-5568-303C-576B9E3E8722}"/>
              </a:ext>
            </a:extLst>
          </p:cNvPr>
          <p:cNvCxnSpPr>
            <a:cxnSpLocks/>
            <a:stCxn id="45" idx="2"/>
          </p:cNvCxnSpPr>
          <p:nvPr/>
        </p:nvCxnSpPr>
        <p:spPr>
          <a:xfrm>
            <a:off x="1058262" y="1834269"/>
            <a:ext cx="103467" cy="13598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4B3C512C-5A96-C6EC-55C4-D68E60A93696}"/>
              </a:ext>
            </a:extLst>
          </p:cNvPr>
          <p:cNvGrpSpPr/>
          <p:nvPr/>
        </p:nvGrpSpPr>
        <p:grpSpPr>
          <a:xfrm>
            <a:off x="623722" y="1638421"/>
            <a:ext cx="325730" cy="246221"/>
            <a:chOff x="606573" y="4366745"/>
            <a:chExt cx="325730" cy="246221"/>
          </a:xfrm>
        </p:grpSpPr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45E4D5A0-E31E-ECDB-DBD2-9B8DA2F6C37C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F9DFE11-435D-7BAB-6CC9-2D9193FEDC77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19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E6A87122-6CBC-C9D2-14F1-D64AAA0B3D62}"/>
              </a:ext>
            </a:extLst>
          </p:cNvPr>
          <p:cNvCxnSpPr>
            <a:cxnSpLocks/>
            <a:stCxn id="49" idx="2"/>
          </p:cNvCxnSpPr>
          <p:nvPr/>
        </p:nvCxnSpPr>
        <p:spPr>
          <a:xfrm>
            <a:off x="786587" y="1884642"/>
            <a:ext cx="103467" cy="13598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55C41E67-0251-CD28-03E3-744B55EC783E}"/>
              </a:ext>
            </a:extLst>
          </p:cNvPr>
          <p:cNvCxnSpPr>
            <a:cxnSpLocks/>
            <a:stCxn id="25" idx="5"/>
          </p:cNvCxnSpPr>
          <p:nvPr/>
        </p:nvCxnSpPr>
        <p:spPr>
          <a:xfrm>
            <a:off x="606896" y="2506042"/>
            <a:ext cx="159336" cy="11687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A51D6C02-F724-9ED0-2F42-1D11764E439C}"/>
              </a:ext>
            </a:extLst>
          </p:cNvPr>
          <p:cNvGrpSpPr/>
          <p:nvPr/>
        </p:nvGrpSpPr>
        <p:grpSpPr>
          <a:xfrm>
            <a:off x="4120688" y="2197878"/>
            <a:ext cx="325730" cy="246221"/>
            <a:chOff x="606573" y="4366745"/>
            <a:chExt cx="325730" cy="246221"/>
          </a:xfrm>
        </p:grpSpPr>
        <p:sp>
          <p:nvSpPr>
            <p:cNvPr id="53" name="타원 52">
              <a:extLst>
                <a:ext uri="{FF2B5EF4-FFF2-40B4-BE49-F238E27FC236}">
                  <a16:creationId xmlns:a16="http://schemas.microsoft.com/office/drawing/2014/main" id="{FCC48E7F-DF5E-0531-8F49-29606EB31F19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9C50AFA5-F4FF-B94A-CA37-59E039F7A0DC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70E111C1-2AA8-A4EB-3B65-39FA1F6FF44F}"/>
              </a:ext>
            </a:extLst>
          </p:cNvPr>
          <p:cNvCxnSpPr>
            <a:cxnSpLocks/>
            <a:stCxn id="54" idx="1"/>
          </p:cNvCxnSpPr>
          <p:nvPr/>
        </p:nvCxnSpPr>
        <p:spPr>
          <a:xfrm flipH="1">
            <a:off x="4023489" y="2320989"/>
            <a:ext cx="97199" cy="6155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9A4CDDB7-0C11-CFB0-B4B9-D6E66C99F84C}"/>
              </a:ext>
            </a:extLst>
          </p:cNvPr>
          <p:cNvGrpSpPr/>
          <p:nvPr/>
        </p:nvGrpSpPr>
        <p:grpSpPr>
          <a:xfrm>
            <a:off x="422614" y="2080378"/>
            <a:ext cx="215900" cy="215900"/>
            <a:chOff x="-1119257" y="3128859"/>
            <a:chExt cx="215900" cy="215900"/>
          </a:xfrm>
          <a:solidFill>
            <a:srgbClr val="006600"/>
          </a:solidFill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C161A9E5-730C-F004-FD1B-054E3CAD969E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037EB86-CF64-567D-27F2-D17ED4F68645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99D75AF5-262F-A257-451F-827EC45C4F7C}"/>
              </a:ext>
            </a:extLst>
          </p:cNvPr>
          <p:cNvCxnSpPr>
            <a:cxnSpLocks/>
          </p:cNvCxnSpPr>
          <p:nvPr/>
        </p:nvCxnSpPr>
        <p:spPr>
          <a:xfrm>
            <a:off x="635046" y="2240975"/>
            <a:ext cx="648527" cy="27286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A09F0D0-3CD9-593F-C5D4-997343AD1127}"/>
              </a:ext>
            </a:extLst>
          </p:cNvPr>
          <p:cNvCxnSpPr>
            <a:cxnSpLocks/>
            <a:stCxn id="62" idx="5"/>
          </p:cNvCxnSpPr>
          <p:nvPr/>
        </p:nvCxnSpPr>
        <p:spPr>
          <a:xfrm>
            <a:off x="606896" y="2030003"/>
            <a:ext cx="825609" cy="35931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B4E40A66-1248-4FB7-8A9E-218BB3AED9B8}"/>
              </a:ext>
            </a:extLst>
          </p:cNvPr>
          <p:cNvGrpSpPr/>
          <p:nvPr/>
        </p:nvGrpSpPr>
        <p:grpSpPr>
          <a:xfrm>
            <a:off x="422614" y="1845721"/>
            <a:ext cx="215900" cy="215900"/>
            <a:chOff x="-1119257" y="3128859"/>
            <a:chExt cx="215900" cy="215900"/>
          </a:xfrm>
          <a:solidFill>
            <a:srgbClr val="006600"/>
          </a:solidFill>
        </p:grpSpPr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A6F0BE98-32B4-3ACD-4AA8-C857565F4FAE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5C38066-4477-3840-55F6-10EE9BB30A30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8DDD0965-7B81-AF51-D756-83D2F6567A38}"/>
              </a:ext>
            </a:extLst>
          </p:cNvPr>
          <p:cNvGrpSpPr/>
          <p:nvPr/>
        </p:nvGrpSpPr>
        <p:grpSpPr>
          <a:xfrm>
            <a:off x="3909223" y="1262140"/>
            <a:ext cx="325730" cy="246221"/>
            <a:chOff x="606573" y="4366745"/>
            <a:chExt cx="325730" cy="246221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756FD0FC-286D-CD0D-283E-150DC0D748ED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BE0B439B-2D22-AEB8-1062-FCC0AF9C5FBF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30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AB951392-5C73-DAE8-2009-90C21782F450}"/>
              </a:ext>
            </a:extLst>
          </p:cNvPr>
          <p:cNvCxnSpPr>
            <a:cxnSpLocks/>
            <a:stCxn id="66" idx="2"/>
          </p:cNvCxnSpPr>
          <p:nvPr/>
        </p:nvCxnSpPr>
        <p:spPr>
          <a:xfrm flipH="1">
            <a:off x="4023489" y="1508361"/>
            <a:ext cx="48599" cy="1939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58A805F-1DF9-9256-3704-88820CF15BC4}"/>
              </a:ext>
            </a:extLst>
          </p:cNvPr>
          <p:cNvGrpSpPr/>
          <p:nvPr/>
        </p:nvGrpSpPr>
        <p:grpSpPr>
          <a:xfrm>
            <a:off x="4160992" y="1268428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69" name="타원 68">
              <a:extLst>
                <a:ext uri="{FF2B5EF4-FFF2-40B4-BE49-F238E27FC236}">
                  <a16:creationId xmlns:a16="http://schemas.microsoft.com/office/drawing/2014/main" id="{E3D0E743-63B6-B958-0CA6-C3697002B5FC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4EEA90A2-610D-0BAD-45FF-8A0D414E8F3C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88A53F00-B0B1-4A44-6362-9B6FF8877B9F}"/>
              </a:ext>
            </a:extLst>
          </p:cNvPr>
          <p:cNvGrpSpPr/>
          <p:nvPr/>
        </p:nvGrpSpPr>
        <p:grpSpPr>
          <a:xfrm>
            <a:off x="1842052" y="1085914"/>
            <a:ext cx="215900" cy="215900"/>
            <a:chOff x="-1119257" y="3128859"/>
            <a:chExt cx="215900" cy="215900"/>
          </a:xfrm>
        </p:grpSpPr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8479680A-68B7-7BBF-D066-6D6C7BC9A0CC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39F5637-7AFB-F256-02DF-E8905257323E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D855287-8DD8-182A-AE8F-4ABC423EF451}"/>
              </a:ext>
            </a:extLst>
          </p:cNvPr>
          <p:cNvGrpSpPr/>
          <p:nvPr/>
        </p:nvGrpSpPr>
        <p:grpSpPr>
          <a:xfrm>
            <a:off x="3156076" y="1430554"/>
            <a:ext cx="215900" cy="215900"/>
            <a:chOff x="-1119257" y="3128859"/>
            <a:chExt cx="215900" cy="215900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5572AD3F-5DFC-DD66-8089-08B83E435876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6183B31-4360-C222-D417-080887025F4F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7AB79238-423D-D4DA-B034-769DAB58E2BD}"/>
              </a:ext>
            </a:extLst>
          </p:cNvPr>
          <p:cNvCxnSpPr>
            <a:cxnSpLocks/>
          </p:cNvCxnSpPr>
          <p:nvPr/>
        </p:nvCxnSpPr>
        <p:spPr>
          <a:xfrm flipH="1">
            <a:off x="1753113" y="1287061"/>
            <a:ext cx="163233" cy="13182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화살표 연결선 77">
            <a:extLst>
              <a:ext uri="{FF2B5EF4-FFF2-40B4-BE49-F238E27FC236}">
                <a16:creationId xmlns:a16="http://schemas.microsoft.com/office/drawing/2014/main" id="{1D35873C-8F6A-FD70-D8F4-1A91A8683915}"/>
              </a:ext>
            </a:extLst>
          </p:cNvPr>
          <p:cNvCxnSpPr>
            <a:cxnSpLocks/>
            <a:stCxn id="75" idx="3"/>
          </p:cNvCxnSpPr>
          <p:nvPr/>
        </p:nvCxnSpPr>
        <p:spPr>
          <a:xfrm flipH="1">
            <a:off x="2892855" y="1614836"/>
            <a:ext cx="294839" cy="33883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이등변 삼각형 78">
            <a:extLst>
              <a:ext uri="{FF2B5EF4-FFF2-40B4-BE49-F238E27FC236}">
                <a16:creationId xmlns:a16="http://schemas.microsoft.com/office/drawing/2014/main" id="{0B3FD9F7-6C70-025D-0F8C-34828D7C426C}"/>
              </a:ext>
            </a:extLst>
          </p:cNvPr>
          <p:cNvSpPr/>
          <p:nvPr/>
        </p:nvSpPr>
        <p:spPr bwMode="auto">
          <a:xfrm flipV="1">
            <a:off x="1090760" y="3953050"/>
            <a:ext cx="2543601" cy="204403"/>
          </a:xfrm>
          <a:prstGeom prst="triangl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pic>
        <p:nvPicPr>
          <p:cNvPr id="80" name="그림 79">
            <a:extLst>
              <a:ext uri="{FF2B5EF4-FFF2-40B4-BE49-F238E27FC236}">
                <a16:creationId xmlns:a16="http://schemas.microsoft.com/office/drawing/2014/main" id="{6A6657F3-B8C3-CA3E-2802-867F619C9AE0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b="2934"/>
          <a:stretch/>
        </p:blipFill>
        <p:spPr>
          <a:xfrm>
            <a:off x="740128" y="4173040"/>
            <a:ext cx="3148691" cy="1997722"/>
          </a:xfrm>
          <a:prstGeom prst="rect">
            <a:avLst/>
          </a:prstGeom>
        </p:spPr>
      </p:pic>
      <p:grpSp>
        <p:nvGrpSpPr>
          <p:cNvPr id="81" name="그룹 80">
            <a:extLst>
              <a:ext uri="{FF2B5EF4-FFF2-40B4-BE49-F238E27FC236}">
                <a16:creationId xmlns:a16="http://schemas.microsoft.com/office/drawing/2014/main" id="{83427101-B24D-1403-D27F-327DD1C1953F}"/>
              </a:ext>
            </a:extLst>
          </p:cNvPr>
          <p:cNvGrpSpPr/>
          <p:nvPr/>
        </p:nvGrpSpPr>
        <p:grpSpPr>
          <a:xfrm>
            <a:off x="766107" y="5754726"/>
            <a:ext cx="325730" cy="246221"/>
            <a:chOff x="606573" y="4366745"/>
            <a:chExt cx="325730" cy="246221"/>
          </a:xfrm>
        </p:grpSpPr>
        <p:sp>
          <p:nvSpPr>
            <p:cNvPr id="82" name="타원 81">
              <a:extLst>
                <a:ext uri="{FF2B5EF4-FFF2-40B4-BE49-F238E27FC236}">
                  <a16:creationId xmlns:a16="http://schemas.microsoft.com/office/drawing/2014/main" id="{FAD9EE02-CC2A-FD7B-7BEC-F542C746B78D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05C157F-D0E5-D11E-C2AD-9FC991EDB561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158D6D38-C4F0-E199-A906-0E1684B925C9}"/>
              </a:ext>
            </a:extLst>
          </p:cNvPr>
          <p:cNvCxnSpPr>
            <a:cxnSpLocks/>
            <a:stCxn id="83" idx="3"/>
          </p:cNvCxnSpPr>
          <p:nvPr/>
        </p:nvCxnSpPr>
        <p:spPr>
          <a:xfrm flipV="1">
            <a:off x="1091837" y="5333736"/>
            <a:ext cx="433815" cy="54410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E4CB7083-5D66-DC55-DA68-803834B5E264}"/>
              </a:ext>
            </a:extLst>
          </p:cNvPr>
          <p:cNvCxnSpPr>
            <a:cxnSpLocks/>
          </p:cNvCxnSpPr>
          <p:nvPr/>
        </p:nvCxnSpPr>
        <p:spPr>
          <a:xfrm flipV="1">
            <a:off x="1102499" y="5605786"/>
            <a:ext cx="1093432" cy="27205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A53CC884-0CFA-34E4-C253-77980D2C78C5}"/>
              </a:ext>
            </a:extLst>
          </p:cNvPr>
          <p:cNvGrpSpPr/>
          <p:nvPr/>
        </p:nvGrpSpPr>
        <p:grpSpPr>
          <a:xfrm>
            <a:off x="3084694" y="4325622"/>
            <a:ext cx="325730" cy="246221"/>
            <a:chOff x="606573" y="4366745"/>
            <a:chExt cx="325730" cy="246221"/>
          </a:xfrm>
        </p:grpSpPr>
        <p:sp>
          <p:nvSpPr>
            <p:cNvPr id="87" name="타원 86">
              <a:extLst>
                <a:ext uri="{FF2B5EF4-FFF2-40B4-BE49-F238E27FC236}">
                  <a16:creationId xmlns:a16="http://schemas.microsoft.com/office/drawing/2014/main" id="{80654E5A-52B8-A849-8607-E6A4785D22B1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4FC8119E-9618-EC3E-027D-15D2B5A65B14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E9BE7B10-E6C7-59CA-2910-6C159B514877}"/>
              </a:ext>
            </a:extLst>
          </p:cNvPr>
          <p:cNvCxnSpPr>
            <a:cxnSpLocks/>
            <a:stCxn id="88" idx="1"/>
          </p:cNvCxnSpPr>
          <p:nvPr/>
        </p:nvCxnSpPr>
        <p:spPr>
          <a:xfrm flipH="1">
            <a:off x="2952750" y="4448733"/>
            <a:ext cx="131944" cy="33281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A3C7F308-7E03-4B1F-41F1-84D8A839F726}"/>
              </a:ext>
            </a:extLst>
          </p:cNvPr>
          <p:cNvCxnSpPr>
            <a:cxnSpLocks/>
            <a:stCxn id="88" idx="1"/>
          </p:cNvCxnSpPr>
          <p:nvPr/>
        </p:nvCxnSpPr>
        <p:spPr>
          <a:xfrm flipH="1">
            <a:off x="2560638" y="4448733"/>
            <a:ext cx="524056" cy="1524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실행 단추: 끝으로 이동 90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2ED9B699-38A6-AE8F-2E29-3796A48CE3BA}"/>
              </a:ext>
            </a:extLst>
          </p:cNvPr>
          <p:cNvSpPr/>
          <p:nvPr/>
        </p:nvSpPr>
        <p:spPr>
          <a:xfrm>
            <a:off x="9606420" y="2814063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실행 단추: 끝으로 이동 91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DB7A0338-262D-2995-EB25-3084D6695EC7}"/>
              </a:ext>
            </a:extLst>
          </p:cNvPr>
          <p:cNvSpPr/>
          <p:nvPr/>
        </p:nvSpPr>
        <p:spPr>
          <a:xfrm>
            <a:off x="9606420" y="6476997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7DCB4163-3831-13A1-8568-F20710D5E7E6}"/>
              </a:ext>
            </a:extLst>
          </p:cNvPr>
          <p:cNvGrpSpPr/>
          <p:nvPr/>
        </p:nvGrpSpPr>
        <p:grpSpPr>
          <a:xfrm>
            <a:off x="3830410" y="2777601"/>
            <a:ext cx="325730" cy="246221"/>
            <a:chOff x="606573" y="4366745"/>
            <a:chExt cx="325730" cy="246221"/>
          </a:xfrm>
        </p:grpSpPr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511B11F8-70F4-12B3-D8BC-822B251FF412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6D4BDBE-30E3-9C6D-E614-261F6B354207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0527D6F-7978-2E77-ED9B-2DB4E2A33357}"/>
              </a:ext>
            </a:extLst>
          </p:cNvPr>
          <p:cNvSpPr txBox="1"/>
          <p:nvPr/>
        </p:nvSpPr>
        <p:spPr>
          <a:xfrm>
            <a:off x="3771503" y="2983361"/>
            <a:ext cx="4523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법랑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Powder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7" name="실행 단추: 끝으로 이동 96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D6799EBC-B26B-D4B3-2652-D57A96DF4DA6}"/>
              </a:ext>
            </a:extLst>
          </p:cNvPr>
          <p:cNvSpPr/>
          <p:nvPr/>
        </p:nvSpPr>
        <p:spPr>
          <a:xfrm>
            <a:off x="9606420" y="4278968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4BAFDAF0-2A3B-C938-E2BC-06B8DBB5B99F}"/>
              </a:ext>
            </a:extLst>
          </p:cNvPr>
          <p:cNvGrpSpPr/>
          <p:nvPr/>
        </p:nvGrpSpPr>
        <p:grpSpPr>
          <a:xfrm>
            <a:off x="2300275" y="1209428"/>
            <a:ext cx="215900" cy="215900"/>
            <a:chOff x="-1119257" y="3128859"/>
            <a:chExt cx="215900" cy="215900"/>
          </a:xfrm>
        </p:grpSpPr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2E80D50B-C3E8-8D17-41E5-405D7A699767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2769B735-7B2A-B115-D1A7-8D5CB92C4D73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38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1423B9-F3E0-288B-0DED-581EAD3CE149}"/>
              </a:ext>
            </a:extLst>
          </p:cNvPr>
          <p:cNvGrpSpPr/>
          <p:nvPr/>
        </p:nvGrpSpPr>
        <p:grpSpPr>
          <a:xfrm>
            <a:off x="2609362" y="1390373"/>
            <a:ext cx="215900" cy="215900"/>
            <a:chOff x="-1119257" y="3128859"/>
            <a:chExt cx="215900" cy="215900"/>
          </a:xfrm>
        </p:grpSpPr>
        <p:sp>
          <p:nvSpPr>
            <p:cNvPr id="102" name="타원 101">
              <a:extLst>
                <a:ext uri="{FF2B5EF4-FFF2-40B4-BE49-F238E27FC236}">
                  <a16:creationId xmlns:a16="http://schemas.microsoft.com/office/drawing/2014/main" id="{4E1486C5-41A0-AAFC-DDBC-241C44484039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9FDCA6A-5BC5-5DE5-D0F1-471B4EB5FEA3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12708BF1-7E86-5274-EE74-C764880CA476}"/>
              </a:ext>
            </a:extLst>
          </p:cNvPr>
          <p:cNvCxnSpPr>
            <a:cxnSpLocks/>
          </p:cNvCxnSpPr>
          <p:nvPr/>
        </p:nvCxnSpPr>
        <p:spPr>
          <a:xfrm flipH="1">
            <a:off x="2407310" y="1588048"/>
            <a:ext cx="272098" cy="22856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435E0430-3F2C-B707-A707-BAD42371AFD1}"/>
              </a:ext>
            </a:extLst>
          </p:cNvPr>
          <p:cNvCxnSpPr>
            <a:cxnSpLocks/>
            <a:stCxn id="99" idx="3"/>
          </p:cNvCxnSpPr>
          <p:nvPr/>
        </p:nvCxnSpPr>
        <p:spPr>
          <a:xfrm flipH="1">
            <a:off x="2040262" y="1393710"/>
            <a:ext cx="291631" cy="10461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4FCBF7D6-02AB-1114-AAE2-0075658BBEA6}"/>
              </a:ext>
            </a:extLst>
          </p:cNvPr>
          <p:cNvCxnSpPr>
            <a:cxnSpLocks/>
            <a:stCxn id="99" idx="3"/>
          </p:cNvCxnSpPr>
          <p:nvPr/>
        </p:nvCxnSpPr>
        <p:spPr>
          <a:xfrm>
            <a:off x="2331893" y="1393710"/>
            <a:ext cx="7188" cy="24471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BB184224-B5C7-8762-5DEA-6CB444408BFD}"/>
              </a:ext>
            </a:extLst>
          </p:cNvPr>
          <p:cNvGrpSpPr/>
          <p:nvPr/>
        </p:nvGrpSpPr>
        <p:grpSpPr>
          <a:xfrm>
            <a:off x="4357134" y="1268428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A3F76C60-FFD7-153A-D6B6-C5CF66BDB930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2CBDF9F-4DF1-F159-58DC-CB8C2F959F7F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D05AA3B5-5D45-1238-6C91-D433098D3DBD}"/>
              </a:ext>
            </a:extLst>
          </p:cNvPr>
          <p:cNvSpPr/>
          <p:nvPr/>
        </p:nvSpPr>
        <p:spPr bwMode="auto">
          <a:xfrm>
            <a:off x="252265" y="6093475"/>
            <a:ext cx="2068122" cy="717855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Cavity Size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: 3.0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2.0 </a:t>
            </a:r>
            <a:r>
              <a:rPr kumimoji="1" lang="en-US" altLang="ko-KR" sz="800" i="0" u="none" strike="noStrike" cap="none" normalizeH="0" baseline="0" dirty="0" err="1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Cu.ft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②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Oven Lamp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변경 및 위치 좌측 전면으로 이동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③ 이종 조리를 위한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Heater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및 </a:t>
            </a:r>
            <a:r>
              <a:rPr kumimoji="1" lang="en-US" altLang="ko-KR" sz="800" i="0" u="none" strike="noStrike" cap="none" normalizeH="0" baseline="0" dirty="0" err="1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Co</a:t>
            </a:r>
            <a:r>
              <a:rPr lang="en-US" altLang="ko-KR" sz="80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nv.Fan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1" lang="en-US" altLang="ko-KR" sz="800" i="0" u="none" strike="noStrike" cap="none" normalizeH="0" baseline="0" dirty="0">
              <a:ln>
                <a:noFill/>
              </a:ln>
              <a:solidFill>
                <a:srgbClr val="0066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111" name="그림 110">
            <a:extLst>
              <a:ext uri="{FF2B5EF4-FFF2-40B4-BE49-F238E27FC236}">
                <a16:creationId xmlns:a16="http://schemas.microsoft.com/office/drawing/2014/main" id="{04613DA1-ED23-E496-946E-C529AD7AA76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771346" y="3140791"/>
            <a:ext cx="239215" cy="181111"/>
          </a:xfrm>
          <a:prstGeom prst="rect">
            <a:avLst/>
          </a:prstGeom>
        </p:spPr>
      </p:pic>
      <p:pic>
        <p:nvPicPr>
          <p:cNvPr id="112" name="그림 111">
            <a:extLst>
              <a:ext uri="{FF2B5EF4-FFF2-40B4-BE49-F238E27FC236}">
                <a16:creationId xmlns:a16="http://schemas.microsoft.com/office/drawing/2014/main" id="{29F6630B-3483-6D1F-3A03-C5AD1D3BB57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5971" y="2664541"/>
            <a:ext cx="239215" cy="181111"/>
          </a:xfrm>
          <a:prstGeom prst="rect">
            <a:avLst/>
          </a:prstGeom>
        </p:spPr>
      </p:pic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B34484B0-44D0-021B-2553-0D70B435D002}"/>
              </a:ext>
            </a:extLst>
          </p:cNvPr>
          <p:cNvCxnSpPr>
            <a:cxnSpLocks/>
          </p:cNvCxnSpPr>
          <p:nvPr/>
        </p:nvCxnSpPr>
        <p:spPr>
          <a:xfrm>
            <a:off x="542925" y="2676525"/>
            <a:ext cx="165680" cy="7474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FFB56E37-1CA4-4ED2-2DF3-74FB8DCC1391}"/>
              </a:ext>
            </a:extLst>
          </p:cNvPr>
          <p:cNvGrpSpPr/>
          <p:nvPr/>
        </p:nvGrpSpPr>
        <p:grpSpPr>
          <a:xfrm>
            <a:off x="327364" y="2560096"/>
            <a:ext cx="215900" cy="215900"/>
            <a:chOff x="-1119257" y="3128859"/>
            <a:chExt cx="215900" cy="215900"/>
          </a:xfrm>
          <a:solidFill>
            <a:srgbClr val="006600"/>
          </a:solidFill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B3860702-37F3-9E72-7103-67412D2A38BA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6561EB1F-DE10-76E8-042C-2F7B4E41F467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0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43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421221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A73DC17-921B-C5EA-B4C9-C25255FF91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EB361482-7E7D-F6ED-6803-94BB4FA29192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461396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Appendix.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Upper Oven_Quick Zone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구조 변경점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84C2176B-1A96-934D-40B4-FE2B0D83B300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CA5AECC-B6A9-D4C6-DA7E-0A51E2CA49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3114933"/>
              </p:ext>
            </p:extLst>
          </p:nvPr>
        </p:nvGraphicFramePr>
        <p:xfrm>
          <a:off x="3195552" y="1002218"/>
          <a:ext cx="6644845" cy="570138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5320">
                  <a:extLst>
                    <a:ext uri="{9D8B030D-6E8A-4147-A177-3AD203B41FA5}">
                      <a16:colId xmlns:a16="http://schemas.microsoft.com/office/drawing/2014/main" val="1581636306"/>
                    </a:ext>
                  </a:extLst>
                </a:gridCol>
                <a:gridCol w="2980157">
                  <a:extLst>
                    <a:ext uri="{9D8B030D-6E8A-4147-A177-3AD203B41FA5}">
                      <a16:colId xmlns:a16="http://schemas.microsoft.com/office/drawing/2014/main" val="1652656531"/>
                    </a:ext>
                  </a:extLst>
                </a:gridCol>
                <a:gridCol w="3059368">
                  <a:extLst>
                    <a:ext uri="{9D8B030D-6E8A-4147-A177-3AD203B41FA5}">
                      <a16:colId xmlns:a16="http://schemas.microsoft.com/office/drawing/2014/main" val="2889153018"/>
                    </a:ext>
                  </a:extLst>
                </a:gridCol>
              </a:tblGrid>
              <a:tr h="301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Type</a:t>
                      </a:r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Type 1 : Pull Down</a:t>
                      </a:r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Type 2 : Drawer</a:t>
                      </a:r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9191173"/>
                  </a:ext>
                </a:extLst>
              </a:tr>
              <a:tr h="216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구동 방식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268784"/>
                  </a:ext>
                </a:extLst>
              </a:tr>
              <a:tr h="180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구동부</a:t>
                      </a:r>
                      <a:endParaRPr lang="en-US" altLang="ko-KR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 구조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3333738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Rack</a:t>
                      </a:r>
                    </a:p>
                    <a:p>
                      <a:pPr algn="ctr" latinLnBrk="1"/>
                      <a:r>
                        <a:rPr lang="ko-KR" altLang="en-US" sz="12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형상</a:t>
                      </a:r>
                      <a:endParaRPr lang="en-US" altLang="ko-KR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5358914"/>
                  </a:ext>
                </a:extLst>
              </a:tr>
            </a:tbl>
          </a:graphicData>
        </a:graphic>
      </p:graphicFrame>
      <p:sp>
        <p:nvSpPr>
          <p:cNvPr id="3" name="Text Box 9">
            <a:extLst>
              <a:ext uri="{FF2B5EF4-FFF2-40B4-BE49-F238E27FC236}">
                <a16:creationId xmlns:a16="http://schemas.microsoft.com/office/drawing/2014/main" id="{EAE548CD-42CE-4DE0-9885-705F0D8A57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2" y="711200"/>
            <a:ext cx="3026791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Upper/Lower Heater 1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2EA 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이종조리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구현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1" lang="en-US" altLang="ko-KR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4" name="그림 3" descr="스케치, 그림, 디자인, 일러스트레이션이(가) 표시된 사진&#10;&#10;자동 생성된 설명">
            <a:extLst>
              <a:ext uri="{FF2B5EF4-FFF2-40B4-BE49-F238E27FC236}">
                <a16:creationId xmlns:a16="http://schemas.microsoft.com/office/drawing/2014/main" id="{379CD18B-C673-3A89-1040-75CF69F5CC9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232"/>
          <a:stretch/>
        </p:blipFill>
        <p:spPr>
          <a:xfrm>
            <a:off x="3835745" y="1619230"/>
            <a:ext cx="2797455" cy="1258003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83556269-C207-BF90-D721-7F250F867E6A}"/>
              </a:ext>
            </a:extLst>
          </p:cNvPr>
          <p:cNvGrpSpPr/>
          <p:nvPr/>
        </p:nvGrpSpPr>
        <p:grpSpPr>
          <a:xfrm>
            <a:off x="7192283" y="1422690"/>
            <a:ext cx="2077751" cy="1688814"/>
            <a:chOff x="6616641" y="1492274"/>
            <a:chExt cx="3084289" cy="2506937"/>
          </a:xfrm>
        </p:grpSpPr>
        <p:pic>
          <p:nvPicPr>
            <p:cNvPr id="6" name="그림 5">
              <a:extLst>
                <a:ext uri="{FF2B5EF4-FFF2-40B4-BE49-F238E27FC236}">
                  <a16:creationId xmlns:a16="http://schemas.microsoft.com/office/drawing/2014/main" id="{D1B68DBC-F075-B2C7-EAD2-A49D552CF6A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16641" y="1492274"/>
              <a:ext cx="3060898" cy="1168761"/>
            </a:xfrm>
            <a:prstGeom prst="rect">
              <a:avLst/>
            </a:prstGeom>
          </p:spPr>
        </p:pic>
        <p:pic>
          <p:nvPicPr>
            <p:cNvPr id="8" name="그림 7">
              <a:extLst>
                <a:ext uri="{FF2B5EF4-FFF2-40B4-BE49-F238E27FC236}">
                  <a16:creationId xmlns:a16="http://schemas.microsoft.com/office/drawing/2014/main" id="{22F46341-DE2A-983F-FDAB-ABDA1D336B2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40032" y="2830450"/>
              <a:ext cx="3060898" cy="1168761"/>
            </a:xfrm>
            <a:prstGeom prst="rect">
              <a:avLst/>
            </a:prstGeom>
          </p:spPr>
        </p:pic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C30C064C-97AF-2670-D805-2486CFAF6770}"/>
              </a:ext>
            </a:extLst>
          </p:cNvPr>
          <p:cNvSpPr txBox="1"/>
          <p:nvPr/>
        </p:nvSpPr>
        <p:spPr>
          <a:xfrm>
            <a:off x="3756236" y="6392578"/>
            <a:ext cx="228139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R="0" lvl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US" altLang="ko-KR" sz="11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글라이댕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랙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+ 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도어 연동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링크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 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구조 </a:t>
            </a:r>
            <a:endParaRPr lang="en-US" altLang="ko-KR" sz="11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CBE8A960-BE39-748D-12AE-54857F89E67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88635" y="5373964"/>
            <a:ext cx="1525842" cy="909934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AE3E90DF-16D2-7A5A-6C8C-9344EEBF2A7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04290" y="5400387"/>
            <a:ext cx="1601639" cy="977603"/>
          </a:xfrm>
          <a:prstGeom prst="rect">
            <a:avLst/>
          </a:prstGeom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D98BB4BE-B3A8-3138-14E8-6DEA74F0D359}"/>
              </a:ext>
            </a:extLst>
          </p:cNvPr>
          <p:cNvGrpSpPr/>
          <p:nvPr/>
        </p:nvGrpSpPr>
        <p:grpSpPr>
          <a:xfrm>
            <a:off x="259514" y="1128715"/>
            <a:ext cx="2282995" cy="1606019"/>
            <a:chOff x="9559255" y="3398149"/>
            <a:chExt cx="1421139" cy="999729"/>
          </a:xfrm>
        </p:grpSpPr>
        <p:pic>
          <p:nvPicPr>
            <p:cNvPr id="14" name="그림 13">
              <a:extLst>
                <a:ext uri="{FF2B5EF4-FFF2-40B4-BE49-F238E27FC236}">
                  <a16:creationId xmlns:a16="http://schemas.microsoft.com/office/drawing/2014/main" id="{53B9670D-08B7-ED62-4F8C-889C484EDD4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574633" y="3398149"/>
              <a:ext cx="1366120" cy="865436"/>
            </a:xfrm>
            <a:prstGeom prst="rect">
              <a:avLst/>
            </a:prstGeom>
          </p:spPr>
        </p:pic>
        <p:cxnSp>
          <p:nvCxnSpPr>
            <p:cNvPr id="15" name="직선 화살표 연결선 14">
              <a:extLst>
                <a:ext uri="{FF2B5EF4-FFF2-40B4-BE49-F238E27FC236}">
                  <a16:creationId xmlns:a16="http://schemas.microsoft.com/office/drawing/2014/main" id="{BE878B4A-4FB5-4F9E-286E-7A88146E7598}"/>
                </a:ext>
              </a:extLst>
            </p:cNvPr>
            <p:cNvCxnSpPr>
              <a:cxnSpLocks/>
            </p:cNvCxnSpPr>
            <p:nvPr/>
          </p:nvCxnSpPr>
          <p:spPr>
            <a:xfrm>
              <a:off x="10077805" y="3572543"/>
              <a:ext cx="26329" cy="710845"/>
            </a:xfrm>
            <a:prstGeom prst="straightConnector1">
              <a:avLst/>
            </a:prstGeom>
            <a:ln>
              <a:headEnd type="oval"/>
              <a:tailEnd type="triangle"/>
            </a:ln>
            <a:effectLst>
              <a:glow rad="50800">
                <a:schemeClr val="bg1">
                  <a:alpha val="8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화살표 연결선 15">
              <a:extLst>
                <a:ext uri="{FF2B5EF4-FFF2-40B4-BE49-F238E27FC236}">
                  <a16:creationId xmlns:a16="http://schemas.microsoft.com/office/drawing/2014/main" id="{091E7F28-7CF6-75BC-F462-181714EAB7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104134" y="3828500"/>
              <a:ext cx="393058" cy="451017"/>
            </a:xfrm>
            <a:prstGeom prst="straightConnector1">
              <a:avLst/>
            </a:prstGeom>
            <a:ln>
              <a:headEnd type="oval"/>
              <a:tailEnd type="triangle"/>
            </a:ln>
            <a:effectLst>
              <a:glow rad="50800">
                <a:schemeClr val="bg1">
                  <a:alpha val="8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>
              <a:extLst>
                <a:ext uri="{FF2B5EF4-FFF2-40B4-BE49-F238E27FC236}">
                  <a16:creationId xmlns:a16="http://schemas.microsoft.com/office/drawing/2014/main" id="{20B30187-B1DD-E170-E55E-EB5C520AA0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77805" y="4048543"/>
              <a:ext cx="437831" cy="234845"/>
            </a:xfrm>
            <a:prstGeom prst="straightConnector1">
              <a:avLst/>
            </a:prstGeom>
            <a:ln>
              <a:headEnd type="oval"/>
              <a:tailEnd type="triangle"/>
            </a:ln>
            <a:effectLst>
              <a:glow rad="50800">
                <a:schemeClr val="bg1">
                  <a:alpha val="8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화살표 연결선 17">
              <a:extLst>
                <a:ext uri="{FF2B5EF4-FFF2-40B4-BE49-F238E27FC236}">
                  <a16:creationId xmlns:a16="http://schemas.microsoft.com/office/drawing/2014/main" id="{F8267257-5F69-0AE4-9F15-61401C0503AA}"/>
                </a:ext>
              </a:extLst>
            </p:cNvPr>
            <p:cNvCxnSpPr>
              <a:cxnSpLocks/>
            </p:cNvCxnSpPr>
            <p:nvPr/>
          </p:nvCxnSpPr>
          <p:spPr>
            <a:xfrm>
              <a:off x="9941496" y="3850621"/>
              <a:ext cx="144194" cy="428896"/>
            </a:xfrm>
            <a:prstGeom prst="straightConnector1">
              <a:avLst/>
            </a:prstGeom>
            <a:ln>
              <a:headEnd type="oval"/>
              <a:tailEnd type="triangle"/>
            </a:ln>
            <a:effectLst>
              <a:glow rad="50800">
                <a:schemeClr val="bg1">
                  <a:alpha val="8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3F8A7B5-B52D-752A-816F-ECE131D77987}"/>
                </a:ext>
              </a:extLst>
            </p:cNvPr>
            <p:cNvSpPr txBox="1"/>
            <p:nvPr/>
          </p:nvSpPr>
          <p:spPr>
            <a:xfrm>
              <a:off x="9559255" y="4299090"/>
              <a:ext cx="1421139" cy="987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>
                <a:lnSpc>
                  <a:spcPct val="110000"/>
                </a:lnSpc>
                <a:defRPr kumimoji="1" sz="900" spc="-40">
                  <a:solidFill>
                    <a:srgbClr val="006600"/>
                  </a:solidFill>
                </a:defRPr>
              </a:lvl1pPr>
            </a:lstStyle>
            <a:p>
              <a:pPr marL="0" marR="0" lvl="0" indent="0" algn="ctr" defTabSz="742950" rtl="0" eaLnBrk="1" fontAlgn="base" latinLnBrk="1" hangingPunct="1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-33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/>
                  <a:ea typeface="LG스마트체 Regular"/>
                  <a:cs typeface="Arial" charset="0"/>
                </a:rPr>
                <a:t>1,900W x 4ea </a:t>
              </a:r>
              <a:r>
                <a:rPr kumimoji="1" lang="ko-KR" altLang="en-US" sz="1000" b="1" i="0" u="none" strike="noStrike" kern="1200" cap="none" spc="-33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/>
                  <a:ea typeface="LG스마트체 Regular"/>
                  <a:cs typeface="Arial" charset="0"/>
                </a:rPr>
                <a:t>개별 제어로 이종 동시 조리</a:t>
              </a:r>
              <a:endParaRPr kumimoji="1" lang="en-US" altLang="ko-KR" sz="1000" b="1" i="0" u="none" strike="noStrike" kern="1200" cap="none" spc="-33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endParaRPr>
            </a:p>
          </p:txBody>
        </p:sp>
      </p:grpSp>
      <p:sp>
        <p:nvSpPr>
          <p:cNvPr id="20" name="Text Box 9">
            <a:extLst>
              <a:ext uri="{FF2B5EF4-FFF2-40B4-BE49-F238E27FC236}">
                <a16:creationId xmlns:a16="http://schemas.microsoft.com/office/drawing/2014/main" id="{4D12996F-F6FE-BBC8-B98C-E7BA17B9B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00" y="3071836"/>
            <a:ext cx="2882520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② 후면 </a:t>
            </a:r>
            <a:r>
              <a:rPr lang="en-US" altLang="ko-KR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Conv.Motor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1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 EA 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이종조리 구현</a:t>
            </a:r>
            <a:r>
              <a:rPr lang="en-US" altLang="ko-KR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1" lang="en-US" altLang="ko-KR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Text Box 9">
            <a:extLst>
              <a:ext uri="{FF2B5EF4-FFF2-40B4-BE49-F238E27FC236}">
                <a16:creationId xmlns:a16="http://schemas.microsoft.com/office/drawing/2014/main" id="{61CCD547-260E-E74F-B0CD-F2A27D51E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2800" y="711200"/>
            <a:ext cx="306282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③ </a:t>
            </a:r>
            <a:r>
              <a:rPr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Door</a:t>
            </a:r>
            <a:r>
              <a:rPr lang="ko-KR" altLang="en-US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Open Type (Type 1, 2 </a:t>
            </a:r>
            <a:r>
              <a:rPr lang="ko-KR" altLang="en-US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 구조 확정 예정</a:t>
            </a:r>
            <a:r>
              <a:rPr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22" name="그림 21">
            <a:extLst>
              <a:ext uri="{FF2B5EF4-FFF2-40B4-BE49-F238E27FC236}">
                <a16:creationId xmlns:a16="http://schemas.microsoft.com/office/drawing/2014/main" id="{3524AE67-FF0D-7349-FF93-4D63CC5C36F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77572" y="3337469"/>
            <a:ext cx="2592071" cy="1853564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7AA178B7-57E8-EDE9-7DA2-F1810A2BBAD4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77572" y="5180792"/>
            <a:ext cx="2607444" cy="1576594"/>
          </a:xfrm>
          <a:prstGeom prst="rect">
            <a:avLst/>
          </a:prstGeom>
        </p:spPr>
      </p:pic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455CB0AC-EB2A-EE12-CDF5-8A2F0FFA9B52}"/>
              </a:ext>
            </a:extLst>
          </p:cNvPr>
          <p:cNvCxnSpPr/>
          <p:nvPr/>
        </p:nvCxnSpPr>
        <p:spPr bwMode="auto">
          <a:xfrm>
            <a:off x="3032449" y="662473"/>
            <a:ext cx="0" cy="6111551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E06B1F27-FDA4-1BED-1BD1-0DD9CDAE324B}"/>
              </a:ext>
            </a:extLst>
          </p:cNvPr>
          <p:cNvSpPr txBox="1"/>
          <p:nvPr/>
        </p:nvSpPr>
        <p:spPr>
          <a:xfrm>
            <a:off x="6081870" y="725219"/>
            <a:ext cx="179897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0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</a:t>
            </a:r>
            <a:r>
              <a:rPr lang="ko-KR" altLang="en-US" sz="10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본부장 의사결정 필요</a:t>
            </a:r>
            <a:endParaRPr lang="ko-KR" altLang="en-US" sz="1000" dirty="0">
              <a:solidFill>
                <a:srgbClr val="006600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EF06092-B39E-F844-B1A9-988ED4CC5FBC}"/>
              </a:ext>
            </a:extLst>
          </p:cNvPr>
          <p:cNvSpPr txBox="1"/>
          <p:nvPr/>
        </p:nvSpPr>
        <p:spPr>
          <a:xfrm>
            <a:off x="6793992" y="6391931"/>
            <a:ext cx="251229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US" altLang="ko-KR" sz="11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-. 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글라이딩 선반 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+ 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도어 연동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링크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 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구조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C716805-43EE-BAE9-9E5E-8C92B0A5F3EA}"/>
              </a:ext>
            </a:extLst>
          </p:cNvPr>
          <p:cNvSpPr/>
          <p:nvPr/>
        </p:nvSpPr>
        <p:spPr bwMode="auto">
          <a:xfrm>
            <a:off x="3756236" y="3166718"/>
            <a:ext cx="2654089" cy="292353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-. Link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구조 반영하여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Door Open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시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Rack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인출</a:t>
            </a:r>
            <a:endParaRPr lang="en-US" altLang="ko-KR" sz="110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0170F69-8B13-CB49-80E4-72D7655DA409}"/>
              </a:ext>
            </a:extLst>
          </p:cNvPr>
          <p:cNvSpPr/>
          <p:nvPr/>
        </p:nvSpPr>
        <p:spPr bwMode="auto">
          <a:xfrm>
            <a:off x="6793992" y="3161317"/>
            <a:ext cx="2692092" cy="292353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-. Drawer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당김 후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Door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회전 되면서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Rack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인출</a:t>
            </a:r>
            <a:endParaRPr lang="en-US" altLang="ko-KR" sz="110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2D1C5D9-604D-0003-7439-143D9228E363}"/>
              </a:ext>
            </a:extLst>
          </p:cNvPr>
          <p:cNvSpPr/>
          <p:nvPr/>
        </p:nvSpPr>
        <p:spPr bwMode="auto">
          <a:xfrm>
            <a:off x="3756236" y="4875269"/>
            <a:ext cx="2881834" cy="292353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-. Door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에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Link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체결을 위한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Holder 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구조 반영 필요</a:t>
            </a:r>
            <a:endParaRPr lang="en-US" altLang="ko-KR" sz="110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FD559EF4-47B4-36A8-4C28-CB58B5CD16BF}"/>
              </a:ext>
            </a:extLst>
          </p:cNvPr>
          <p:cNvGrpSpPr/>
          <p:nvPr/>
        </p:nvGrpSpPr>
        <p:grpSpPr>
          <a:xfrm>
            <a:off x="3818750" y="3628263"/>
            <a:ext cx="2858275" cy="1198216"/>
            <a:chOff x="3818751" y="3009138"/>
            <a:chExt cx="2255433" cy="945499"/>
          </a:xfrm>
        </p:grpSpPr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07063E67-F4B2-0B44-C7CC-E253A83ED6D4}"/>
                </a:ext>
              </a:extLst>
            </p:cNvPr>
            <p:cNvGrpSpPr/>
            <p:nvPr/>
          </p:nvGrpSpPr>
          <p:grpSpPr>
            <a:xfrm>
              <a:off x="3818751" y="3009138"/>
              <a:ext cx="2255433" cy="742399"/>
              <a:chOff x="1425268" y="3569428"/>
              <a:chExt cx="3272320" cy="1077118"/>
            </a:xfrm>
          </p:grpSpPr>
          <p:pic>
            <p:nvPicPr>
              <p:cNvPr id="34" name="그림 33">
                <a:extLst>
                  <a:ext uri="{FF2B5EF4-FFF2-40B4-BE49-F238E27FC236}">
                    <a16:creationId xmlns:a16="http://schemas.microsoft.com/office/drawing/2014/main" id="{9E7DC2B1-9A6C-D04A-B30E-0F98736716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25268" y="3650559"/>
                <a:ext cx="1268339" cy="751177"/>
              </a:xfrm>
              <a:prstGeom prst="rect">
                <a:avLst/>
              </a:prstGeom>
            </p:spPr>
          </p:pic>
          <p:pic>
            <p:nvPicPr>
              <p:cNvPr id="35" name="그림 34">
                <a:extLst>
                  <a:ext uri="{FF2B5EF4-FFF2-40B4-BE49-F238E27FC236}">
                    <a16:creationId xmlns:a16="http://schemas.microsoft.com/office/drawing/2014/main" id="{1C6ED542-06DB-2351-4E9C-05904CEE31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2775622" y="3569428"/>
                <a:ext cx="1921966" cy="1077118"/>
              </a:xfrm>
              <a:prstGeom prst="rect">
                <a:avLst/>
              </a:prstGeom>
              <a:ln>
                <a:solidFill>
                  <a:srgbClr val="FF0000"/>
                </a:solidFill>
              </a:ln>
            </p:spPr>
          </p:pic>
          <p:sp>
            <p:nvSpPr>
              <p:cNvPr id="36" name="직사각형 35">
                <a:extLst>
                  <a:ext uri="{FF2B5EF4-FFF2-40B4-BE49-F238E27FC236}">
                    <a16:creationId xmlns:a16="http://schemas.microsoft.com/office/drawing/2014/main" id="{FC27C459-9F2F-4748-A5E8-D13FEF76FCD7}"/>
                  </a:ext>
                </a:extLst>
              </p:cNvPr>
              <p:cNvSpPr/>
              <p:nvPr/>
            </p:nvSpPr>
            <p:spPr bwMode="auto">
              <a:xfrm>
                <a:off x="1602886" y="4133160"/>
                <a:ext cx="358141" cy="268576"/>
              </a:xfrm>
              <a:prstGeom prst="rect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04" tIns="45703" rIns="91404" bIns="45703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l" defTabSz="762000" rtl="0" eaLnBrk="1" fontAlgn="base" latinLnBrk="0" hangingPunct="1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  <a:cs typeface="Arial" charset="0"/>
                </a:endParaRPr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B4711556-EE57-CED5-4A70-0FD47C686D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53330" y="4404258"/>
                <a:ext cx="826519" cy="231425"/>
              </a:xfrm>
              <a:prstGeom prst="line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77149C38-949F-A8C1-3C9E-6B7765D4BE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53330" y="3571127"/>
                <a:ext cx="813294" cy="562033"/>
              </a:xfrm>
              <a:prstGeom prst="line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C7EE32DF-EECC-934A-B1D0-708C6C28E7E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6908" y="3304150"/>
              <a:ext cx="0" cy="51864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glow rad="63500">
                <a:schemeClr val="bg1">
                  <a:alpha val="70000"/>
                </a:schemeClr>
              </a:glow>
            </a:effectLst>
          </p:spPr>
        </p:cxn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CB972E-269C-2C7F-6BCA-141CEA6D6BDE}"/>
                </a:ext>
              </a:extLst>
            </p:cNvPr>
            <p:cNvSpPr/>
            <p:nvPr/>
          </p:nvSpPr>
          <p:spPr bwMode="auto">
            <a:xfrm>
              <a:off x="4606179" y="3778236"/>
              <a:ext cx="825347" cy="176401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0" dirty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Link </a:t>
              </a:r>
              <a:r>
                <a:rPr lang="ko-KR" altLang="en-US" sz="900" b="0" dirty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체결용 </a:t>
              </a:r>
              <a:r>
                <a:rPr lang="en-US" altLang="ko-KR" sz="900" b="0" dirty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Holder</a:t>
              </a:r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61271F2-5612-A8B9-930B-A7D0289D945D}"/>
              </a:ext>
            </a:extLst>
          </p:cNvPr>
          <p:cNvSpPr/>
          <p:nvPr/>
        </p:nvSpPr>
        <p:spPr bwMode="auto">
          <a:xfrm>
            <a:off x="6793992" y="4896073"/>
            <a:ext cx="3046406" cy="292353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-. Drawer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Door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가 회전 가능하도록 </a:t>
            </a:r>
            <a:r>
              <a:rPr lang="en-US" altLang="ko-KR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Hinge</a:t>
            </a:r>
            <a:r>
              <a:rPr lang="ko-KR" altLang="en-US" sz="1100" b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적용 필요</a:t>
            </a:r>
            <a:endParaRPr lang="en-US" altLang="ko-KR" sz="1100" b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EA8BAE25-327C-DFEE-28A3-CF28F79E259C}"/>
              </a:ext>
            </a:extLst>
          </p:cNvPr>
          <p:cNvGrpSpPr/>
          <p:nvPr/>
        </p:nvGrpSpPr>
        <p:grpSpPr>
          <a:xfrm>
            <a:off x="6863144" y="3636624"/>
            <a:ext cx="3044590" cy="1185776"/>
            <a:chOff x="7006019" y="3855699"/>
            <a:chExt cx="3044590" cy="1185776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2C5CDEDB-66E5-D27B-A4BF-736ADF8B262E}"/>
                </a:ext>
              </a:extLst>
            </p:cNvPr>
            <p:cNvGrpSpPr/>
            <p:nvPr/>
          </p:nvGrpSpPr>
          <p:grpSpPr>
            <a:xfrm>
              <a:off x="7006019" y="3855699"/>
              <a:ext cx="2850444" cy="849651"/>
              <a:chOff x="5780581" y="3474383"/>
              <a:chExt cx="3657864" cy="1090323"/>
            </a:xfrm>
          </p:grpSpPr>
          <p:pic>
            <p:nvPicPr>
              <p:cNvPr id="45" name="그림 44">
                <a:extLst>
                  <a:ext uri="{FF2B5EF4-FFF2-40B4-BE49-F238E27FC236}">
                    <a16:creationId xmlns:a16="http://schemas.microsoft.com/office/drawing/2014/main" id="{0F8732FF-9D0B-6BC4-B208-779F376285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80581" y="3474383"/>
                <a:ext cx="1701123" cy="1077120"/>
              </a:xfrm>
              <a:prstGeom prst="rect">
                <a:avLst/>
              </a:prstGeom>
            </p:spPr>
          </p:pic>
          <p:pic>
            <p:nvPicPr>
              <p:cNvPr id="46" name="그림 45">
                <a:extLst>
                  <a:ext uri="{FF2B5EF4-FFF2-40B4-BE49-F238E27FC236}">
                    <a16:creationId xmlns:a16="http://schemas.microsoft.com/office/drawing/2014/main" id="{F98F087B-006A-9752-8FED-962485D27E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7737323" y="3487588"/>
                <a:ext cx="1701122" cy="1077118"/>
              </a:xfrm>
              <a:prstGeom prst="rect">
                <a:avLst/>
              </a:prstGeom>
              <a:ln>
                <a:solidFill>
                  <a:srgbClr val="FF0000"/>
                </a:solidFill>
              </a:ln>
            </p:spPr>
          </p:pic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A5610ED4-6EA0-553F-8E4A-BAC4F0B9313F}"/>
                  </a:ext>
                </a:extLst>
              </p:cNvPr>
              <p:cNvSpPr/>
              <p:nvPr/>
            </p:nvSpPr>
            <p:spPr bwMode="auto">
              <a:xfrm>
                <a:off x="5911661" y="4028386"/>
                <a:ext cx="358142" cy="268576"/>
              </a:xfrm>
              <a:prstGeom prst="rect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04" tIns="45703" rIns="91404" bIns="45703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l" defTabSz="762000" rtl="0" eaLnBrk="1" fontAlgn="base" latinLnBrk="0" hangingPunct="1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돋움" pitchFamily="50" charset="-127"/>
                  <a:cs typeface="Arial" charset="0"/>
                </a:endParaRPr>
              </a:p>
            </p:txBody>
          </p: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FBDA9DA7-8A82-A829-6716-51DF97318D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262902" y="4308022"/>
                <a:ext cx="1471397" cy="254454"/>
              </a:xfrm>
              <a:prstGeom prst="line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0C77C421-F024-B295-D861-81ACE466B5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275125" y="3495675"/>
                <a:ext cx="1459174" cy="518994"/>
              </a:xfrm>
              <a:prstGeom prst="line">
                <a:avLst/>
              </a:prstGeom>
              <a:noFill/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04E4ED-8006-BCFD-7C91-41E12E247DC0}"/>
                </a:ext>
              </a:extLst>
            </p:cNvPr>
            <p:cNvCxnSpPr>
              <a:cxnSpLocks/>
              <a:stCxn id="43" idx="4"/>
            </p:cNvCxnSpPr>
            <p:nvPr/>
          </p:nvCxnSpPr>
          <p:spPr bwMode="auto">
            <a:xfrm>
              <a:off x="9148805" y="4505240"/>
              <a:ext cx="4720" cy="35251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glow rad="63500">
                <a:schemeClr val="bg1">
                  <a:alpha val="70000"/>
                </a:schemeClr>
              </a:glow>
            </a:effectLst>
          </p:spPr>
        </p:cxn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D3B355FE-7237-DFF3-12A0-44621780DC4A}"/>
                </a:ext>
              </a:extLst>
            </p:cNvPr>
            <p:cNvSpPr/>
            <p:nvPr/>
          </p:nvSpPr>
          <p:spPr bwMode="auto">
            <a:xfrm>
              <a:off x="8820558" y="4012928"/>
              <a:ext cx="656494" cy="492312"/>
            </a:xfrm>
            <a:prstGeom prst="ellips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glow rad="63500">
                <a:schemeClr val="bg1">
                  <a:alpha val="70000"/>
                </a:schemeClr>
              </a:glow>
            </a:effectLst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67064EF5-AA91-91A2-35BB-B208E511928D}"/>
                </a:ext>
              </a:extLst>
            </p:cNvPr>
            <p:cNvSpPr/>
            <p:nvPr/>
          </p:nvSpPr>
          <p:spPr bwMode="auto">
            <a:xfrm>
              <a:off x="8470726" y="4785542"/>
              <a:ext cx="1579883" cy="255933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0" dirty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Door ~ Drawer Hinge </a:t>
              </a:r>
              <a:r>
                <a:rPr lang="ko-KR" altLang="en-US" sz="900" b="0" dirty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구조</a:t>
              </a:r>
              <a:endParaRPr lang="en-US" altLang="ko-KR" sz="900" b="0" dirty="0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810849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7FED48-2206-2830-B878-A8949A0E1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71FAC008-1604-15F0-592F-A078D555EB14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5904382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Rear Panel Ass’y(Upper)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1EA16B0B-26B8-EF99-347C-91E4EB1EADF7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D9F3F9C-D14E-6543-8D8D-F696361BE26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284" y="1420967"/>
            <a:ext cx="2805063" cy="2107269"/>
          </a:xfrm>
          <a:prstGeom prst="rect">
            <a:avLst/>
          </a:prstGeom>
        </p:spPr>
      </p:pic>
      <p:sp>
        <p:nvSpPr>
          <p:cNvPr id="3" name="Text Box 4">
            <a:extLst>
              <a:ext uri="{FF2B5EF4-FFF2-40B4-BE49-F238E27FC236}">
                <a16:creationId xmlns:a16="http://schemas.microsoft.com/office/drawing/2014/main" id="{68E73380-74CF-AE94-F108-2873764F9F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6CB6BC57-3589-D8B0-32A6-C5FD2F6E7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60833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" name="Text Box 9">
            <a:extLst>
              <a:ext uri="{FF2B5EF4-FFF2-40B4-BE49-F238E27FC236}">
                <a16:creationId xmlns:a16="http://schemas.microsoft.com/office/drawing/2014/main" id="{1D0C0AEC-8307-3B5B-8C30-77DDEEDD8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6" name="Text Box 10">
            <a:extLst>
              <a:ext uri="{FF2B5EF4-FFF2-40B4-BE49-F238E27FC236}">
                <a16:creationId xmlns:a16="http://schemas.microsoft.com/office/drawing/2014/main" id="{CB57CBDB-1DC4-5AA1-643A-A3EE3D101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8" name="Line 11">
            <a:extLst>
              <a:ext uri="{FF2B5EF4-FFF2-40B4-BE49-F238E27FC236}">
                <a16:creationId xmlns:a16="http://schemas.microsoft.com/office/drawing/2014/main" id="{E5E07201-CD89-32E3-B3A3-076CF89BD995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36357" y="3758857"/>
            <a:ext cx="607128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Line 52">
            <a:extLst>
              <a:ext uri="{FF2B5EF4-FFF2-40B4-BE49-F238E27FC236}">
                <a16:creationId xmlns:a16="http://schemas.microsoft.com/office/drawing/2014/main" id="{078C3095-EA9A-EA26-0A62-5F8AA938AA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D8B30079-37BC-F8D9-36CB-77845C78DEF9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Text Box 4">
            <a:extLst>
              <a:ext uri="{FF2B5EF4-FFF2-40B4-BE49-F238E27FC236}">
                <a16:creationId xmlns:a16="http://schemas.microsoft.com/office/drawing/2014/main" id="{E6DAD485-96D2-F5D7-704A-00CE0BE916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F66F984-ADD8-C790-E757-A9EAE33BE9AD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66F57F55-E912-8BC8-1E39-64388E655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0E798C5-996D-52A6-6838-FCBEAC634304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Text Box 4">
            <a:extLst>
              <a:ext uri="{FF2B5EF4-FFF2-40B4-BE49-F238E27FC236}">
                <a16:creationId xmlns:a16="http://schemas.microsoft.com/office/drawing/2014/main" id="{ED034286-95F3-BBD1-DA22-5F13857F3B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BB7F37-CAA7-7B40-BBC9-5E7C424F7DE0}"/>
              </a:ext>
            </a:extLst>
          </p:cNvPr>
          <p:cNvSpPr txBox="1"/>
          <p:nvPr/>
        </p:nvSpPr>
        <p:spPr>
          <a:xfrm>
            <a:off x="251732" y="994673"/>
            <a:ext cx="209852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Upper</a:t>
            </a:r>
            <a:r>
              <a:rPr kumimoji="1" lang="ko-KR" alt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 </a:t>
            </a: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Oven Rear Panel </a:t>
            </a:r>
            <a:r>
              <a:rPr kumimoji="1" lang="en-US" altLang="ko-K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Ass’y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돋움" pitchFamily="50" charset="-127"/>
              <a:cs typeface="Arial" charset="0"/>
            </a:endParaRPr>
          </a:p>
        </p:txBody>
      </p:sp>
      <p:sp>
        <p:nvSpPr>
          <p:cNvPr id="18" name="이등변 삼각형 17">
            <a:extLst>
              <a:ext uri="{FF2B5EF4-FFF2-40B4-BE49-F238E27FC236}">
                <a16:creationId xmlns:a16="http://schemas.microsoft.com/office/drawing/2014/main" id="{A5DBDD9A-DE64-FBB4-207E-442FB0329523}"/>
              </a:ext>
            </a:extLst>
          </p:cNvPr>
          <p:cNvSpPr/>
          <p:nvPr/>
        </p:nvSpPr>
        <p:spPr bwMode="auto">
          <a:xfrm flipV="1">
            <a:off x="669794" y="3516765"/>
            <a:ext cx="3385533" cy="204403"/>
          </a:xfrm>
          <a:prstGeom prst="triangl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233A614A-4051-D6A9-37EF-0012651458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203691"/>
              </p:ext>
            </p:extLst>
          </p:nvPr>
        </p:nvGraphicFramePr>
        <p:xfrm>
          <a:off x="4624545" y="1317551"/>
          <a:ext cx="4904642" cy="3135309"/>
        </p:xfrm>
        <a:graphic>
          <a:graphicData uri="http://schemas.openxmlformats.org/drawingml/2006/table">
            <a:tbl>
              <a:tblPr/>
              <a:tblGrid>
                <a:gridCol w="265824">
                  <a:extLst>
                    <a:ext uri="{9D8B030D-6E8A-4147-A177-3AD203B41FA5}">
                      <a16:colId xmlns:a16="http://schemas.microsoft.com/office/drawing/2014/main" val="3668643581"/>
                    </a:ext>
                  </a:extLst>
                </a:gridCol>
                <a:gridCol w="309268">
                  <a:extLst>
                    <a:ext uri="{9D8B030D-6E8A-4147-A177-3AD203B41FA5}">
                      <a16:colId xmlns:a16="http://schemas.microsoft.com/office/drawing/2014/main" val="653318657"/>
                    </a:ext>
                  </a:extLst>
                </a:gridCol>
                <a:gridCol w="729724">
                  <a:extLst>
                    <a:ext uri="{9D8B030D-6E8A-4147-A177-3AD203B41FA5}">
                      <a16:colId xmlns:a16="http://schemas.microsoft.com/office/drawing/2014/main" val="1152553658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2776259306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455798513"/>
                    </a:ext>
                  </a:extLst>
                </a:gridCol>
                <a:gridCol w="305913">
                  <a:extLst>
                    <a:ext uri="{9D8B030D-6E8A-4147-A177-3AD203B41FA5}">
                      <a16:colId xmlns:a16="http://schemas.microsoft.com/office/drawing/2014/main" val="375938240"/>
                    </a:ext>
                  </a:extLst>
                </a:gridCol>
                <a:gridCol w="324392">
                  <a:extLst>
                    <a:ext uri="{9D8B030D-6E8A-4147-A177-3AD203B41FA5}">
                      <a16:colId xmlns:a16="http://schemas.microsoft.com/office/drawing/2014/main" val="3248540624"/>
                    </a:ext>
                  </a:extLst>
                </a:gridCol>
                <a:gridCol w="1025305">
                  <a:extLst>
                    <a:ext uri="{9D8B030D-6E8A-4147-A177-3AD203B41FA5}">
                      <a16:colId xmlns:a16="http://schemas.microsoft.com/office/drawing/2014/main" val="1142352400"/>
                    </a:ext>
                  </a:extLst>
                </a:gridCol>
              </a:tblGrid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No.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Lev.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Base P/No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New P/No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 Name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UOM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Qty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 변경점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0259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AGL30246205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Panel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Assembly,Rear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하위 변경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608751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MGC63820001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Panel,Rear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cu.ft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QZ Drawer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4172868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EBG51439305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Thermostat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4853472"/>
                  </a:ext>
                </a:extLst>
              </a:tr>
              <a:tr h="11813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EAU62862906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삭제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Motor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Assembly,AC,Synchronous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부품 삭제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8362060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MEG64478801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Holder,Wire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7831490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6877W1N024F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Harness,Single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2121514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MCK71966601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Cover,Guide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3362644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AJJ76418408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Supporter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Assembly,PCB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5773194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MJH66307001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,PCB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3283943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EBR30162713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PCB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Assembly,Sensor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4132630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MJH66354301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Supporter,Holder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5339634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EAD65617102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Harness,Single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1256122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4B72510F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Holder,Wire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3324777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MAZ65465802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Bracket,Idle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879648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MCQ67084407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Damper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7904831"/>
                  </a:ext>
                </a:extLst>
              </a:tr>
              <a:tr h="1725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Chamber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팬 및 모터 위치 이동에 따른 커버용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후방 체결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3901426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Chamber Case 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423419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Chamber Case 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3419611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Chamber Case 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3993002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Fan, Convection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콤비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월오븐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블레이드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4269085"/>
                  </a:ext>
                </a:extLst>
              </a:tr>
              <a:tr h="9898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Motor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콤비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월오븐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모터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2587949"/>
                  </a:ext>
                </a:extLst>
              </a:tr>
            </a:tbl>
          </a:graphicData>
        </a:graphic>
      </p:graphicFrame>
      <p:pic>
        <p:nvPicPr>
          <p:cNvPr id="20" name="그림 19" descr="도표, 디자인이(가) 표시된 사진&#10;&#10;자동 생성된 설명">
            <a:extLst>
              <a:ext uri="{FF2B5EF4-FFF2-40B4-BE49-F238E27FC236}">
                <a16:creationId xmlns:a16="http://schemas.microsoft.com/office/drawing/2014/main" id="{13641D2A-10F5-174A-EE05-5B1EC076CD4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430" y="4186073"/>
            <a:ext cx="3613608" cy="1870310"/>
          </a:xfrm>
          <a:prstGeom prst="rect">
            <a:avLst/>
          </a:prstGeom>
        </p:spPr>
      </p:pic>
      <p:grpSp>
        <p:nvGrpSpPr>
          <p:cNvPr id="21" name="그룹 20">
            <a:extLst>
              <a:ext uri="{FF2B5EF4-FFF2-40B4-BE49-F238E27FC236}">
                <a16:creationId xmlns:a16="http://schemas.microsoft.com/office/drawing/2014/main" id="{AE0D173C-7573-66C0-4AE1-54EBDD64713C}"/>
              </a:ext>
            </a:extLst>
          </p:cNvPr>
          <p:cNvGrpSpPr/>
          <p:nvPr/>
        </p:nvGrpSpPr>
        <p:grpSpPr>
          <a:xfrm>
            <a:off x="453024" y="4235706"/>
            <a:ext cx="290464" cy="246221"/>
            <a:chOff x="606573" y="4366745"/>
            <a:chExt cx="290464" cy="246221"/>
          </a:xfrm>
        </p:grpSpPr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BED3129A-6876-3AEB-D261-A978278B0770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8DDE495-E8B0-6DBF-FF16-7B4CC5D02F92}"/>
                </a:ext>
              </a:extLst>
            </p:cNvPr>
            <p:cNvSpPr txBox="1"/>
            <p:nvPr/>
          </p:nvSpPr>
          <p:spPr>
            <a:xfrm>
              <a:off x="606573" y="4366745"/>
              <a:ext cx="29046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 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CD051A84-B4EC-17EB-33B7-49BC821E4E12}"/>
              </a:ext>
            </a:extLst>
          </p:cNvPr>
          <p:cNvCxnSpPr>
            <a:cxnSpLocks/>
          </p:cNvCxnSpPr>
          <p:nvPr/>
        </p:nvCxnSpPr>
        <p:spPr>
          <a:xfrm>
            <a:off x="638175" y="4445950"/>
            <a:ext cx="179388" cy="56599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4782EF-33AC-6846-6851-45E5E7E23C83}"/>
              </a:ext>
            </a:extLst>
          </p:cNvPr>
          <p:cNvGrpSpPr/>
          <p:nvPr/>
        </p:nvGrpSpPr>
        <p:grpSpPr>
          <a:xfrm>
            <a:off x="1567024" y="1363560"/>
            <a:ext cx="215900" cy="215900"/>
            <a:chOff x="-1119257" y="3128859"/>
            <a:chExt cx="215900" cy="21590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DF4066FA-8028-0ABC-9B9A-2166B28B7A9A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13822FF-4C04-5F5C-49E1-65707E8414A6}"/>
                </a:ext>
              </a:extLst>
            </p:cNvPr>
            <p:cNvSpPr txBox="1"/>
            <p:nvPr/>
          </p:nvSpPr>
          <p:spPr>
            <a:xfrm>
              <a:off x="-1047675" y="3164474"/>
              <a:ext cx="57708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64789BF4-2F34-7683-5931-C470BB21EDB2}"/>
              </a:ext>
            </a:extLst>
          </p:cNvPr>
          <p:cNvCxnSpPr>
            <a:cxnSpLocks/>
            <a:stCxn id="26" idx="5"/>
          </p:cNvCxnSpPr>
          <p:nvPr/>
        </p:nvCxnSpPr>
        <p:spPr>
          <a:xfrm>
            <a:off x="1751306" y="1547842"/>
            <a:ext cx="439444" cy="13808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AF829208-EF62-4BDB-4326-DE605F385B0A}"/>
              </a:ext>
            </a:extLst>
          </p:cNvPr>
          <p:cNvCxnSpPr>
            <a:cxnSpLocks/>
            <a:stCxn id="32" idx="2"/>
          </p:cNvCxnSpPr>
          <p:nvPr/>
        </p:nvCxnSpPr>
        <p:spPr>
          <a:xfrm>
            <a:off x="3366129" y="4241545"/>
            <a:ext cx="177171" cy="59493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F65D31C1-463F-3C89-2EB6-D64332F97B3F}"/>
              </a:ext>
            </a:extLst>
          </p:cNvPr>
          <p:cNvGrpSpPr/>
          <p:nvPr/>
        </p:nvGrpSpPr>
        <p:grpSpPr>
          <a:xfrm>
            <a:off x="3185631" y="3995324"/>
            <a:ext cx="360996" cy="246221"/>
            <a:chOff x="563973" y="4365706"/>
            <a:chExt cx="360996" cy="246221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741D7785-F95D-4924-021F-1D7F4F5AA1D2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4BE0DE0-E9AE-300D-762E-25A0EE94F689}"/>
                </a:ext>
              </a:extLst>
            </p:cNvPr>
            <p:cNvSpPr txBox="1"/>
            <p:nvPr/>
          </p:nvSpPr>
          <p:spPr>
            <a:xfrm>
              <a:off x="563973" y="4365706"/>
              <a:ext cx="36099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 17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5B2D335F-035C-0C12-A3A4-82BBDAABD3BD}"/>
              </a:ext>
            </a:extLst>
          </p:cNvPr>
          <p:cNvGrpSpPr/>
          <p:nvPr/>
        </p:nvGrpSpPr>
        <p:grpSpPr>
          <a:xfrm>
            <a:off x="2610884" y="4091704"/>
            <a:ext cx="360996" cy="246221"/>
            <a:chOff x="563973" y="4365706"/>
            <a:chExt cx="360996" cy="246221"/>
          </a:xfrm>
        </p:grpSpPr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F4694166-877D-FFC3-04E4-7E64BD5E64A3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F5B1DF9-D507-ED70-AF07-8483CBA11B79}"/>
                </a:ext>
              </a:extLst>
            </p:cNvPr>
            <p:cNvSpPr txBox="1"/>
            <p:nvPr/>
          </p:nvSpPr>
          <p:spPr>
            <a:xfrm>
              <a:off x="563973" y="4365706"/>
              <a:ext cx="36099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 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69360558-961C-4A22-011F-5FFC446DB681}"/>
              </a:ext>
            </a:extLst>
          </p:cNvPr>
          <p:cNvGrpSpPr/>
          <p:nvPr/>
        </p:nvGrpSpPr>
        <p:grpSpPr>
          <a:xfrm>
            <a:off x="2166847" y="5529700"/>
            <a:ext cx="360996" cy="246221"/>
            <a:chOff x="563973" y="4365706"/>
            <a:chExt cx="360996" cy="246221"/>
          </a:xfrm>
        </p:grpSpPr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3876A855-CE78-4BA8-23FC-60CC92C39C77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35C4F53-5E45-78D2-699D-58F472B424DA}"/>
                </a:ext>
              </a:extLst>
            </p:cNvPr>
            <p:cNvSpPr txBox="1"/>
            <p:nvPr/>
          </p:nvSpPr>
          <p:spPr>
            <a:xfrm>
              <a:off x="563973" y="4365706"/>
              <a:ext cx="36099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 19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F8EB881D-F49A-28BB-67BF-B4834667BF95}"/>
              </a:ext>
            </a:extLst>
          </p:cNvPr>
          <p:cNvCxnSpPr>
            <a:cxnSpLocks/>
            <a:stCxn id="38" idx="0"/>
          </p:cNvCxnSpPr>
          <p:nvPr/>
        </p:nvCxnSpPr>
        <p:spPr>
          <a:xfrm flipH="1" flipV="1">
            <a:off x="2018923" y="5179375"/>
            <a:ext cx="328422" cy="3503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50F2764A-59BC-9732-037D-6538D0D6243A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3057525" y="4241545"/>
            <a:ext cx="308604" cy="36633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9423686-AA46-00DD-C1BF-5ED878E82331}"/>
              </a:ext>
            </a:extLst>
          </p:cNvPr>
          <p:cNvCxnSpPr>
            <a:cxnSpLocks/>
          </p:cNvCxnSpPr>
          <p:nvPr/>
        </p:nvCxnSpPr>
        <p:spPr>
          <a:xfrm flipH="1">
            <a:off x="2628900" y="4337925"/>
            <a:ext cx="159155" cy="4414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13B30085-F0DF-2A34-8F21-CA274E08D40F}"/>
              </a:ext>
            </a:extLst>
          </p:cNvPr>
          <p:cNvCxnSpPr>
            <a:cxnSpLocks/>
            <a:stCxn id="35" idx="2"/>
          </p:cNvCxnSpPr>
          <p:nvPr/>
        </p:nvCxnSpPr>
        <p:spPr>
          <a:xfrm>
            <a:off x="2791382" y="4337925"/>
            <a:ext cx="275668" cy="6795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70D706A1-292B-B130-9A86-1967CFFF6C7B}"/>
              </a:ext>
            </a:extLst>
          </p:cNvPr>
          <p:cNvCxnSpPr>
            <a:cxnSpLocks/>
            <a:stCxn id="38" idx="0"/>
          </p:cNvCxnSpPr>
          <p:nvPr/>
        </p:nvCxnSpPr>
        <p:spPr>
          <a:xfrm flipV="1">
            <a:off x="2347345" y="5293675"/>
            <a:ext cx="119253" cy="2360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332D8D5C-AA17-DA91-7CBB-7A95267677A4}"/>
              </a:ext>
            </a:extLst>
          </p:cNvPr>
          <p:cNvCxnSpPr>
            <a:cxnSpLocks/>
          </p:cNvCxnSpPr>
          <p:nvPr/>
        </p:nvCxnSpPr>
        <p:spPr>
          <a:xfrm flipH="1" flipV="1">
            <a:off x="2429058" y="4909574"/>
            <a:ext cx="542822" cy="64898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ABDBC96B-CC98-3988-770A-D64D2B45EB1F}"/>
              </a:ext>
            </a:extLst>
          </p:cNvPr>
          <p:cNvCxnSpPr>
            <a:cxnSpLocks/>
          </p:cNvCxnSpPr>
          <p:nvPr/>
        </p:nvCxnSpPr>
        <p:spPr>
          <a:xfrm flipH="1" flipV="1">
            <a:off x="2895783" y="5138174"/>
            <a:ext cx="76097" cy="39885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F28154D0-E872-7289-20E2-312F19AEBFBB}"/>
              </a:ext>
            </a:extLst>
          </p:cNvPr>
          <p:cNvGrpSpPr/>
          <p:nvPr/>
        </p:nvGrpSpPr>
        <p:grpSpPr>
          <a:xfrm>
            <a:off x="2927688" y="5500884"/>
            <a:ext cx="263187" cy="263187"/>
            <a:chOff x="-1119257" y="3128859"/>
            <a:chExt cx="215900" cy="215900"/>
          </a:xfrm>
        </p:grpSpPr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AC76DCC4-4D96-9338-30FD-4062B6F51057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C5FB994-86AF-6D33-CA23-29BF427BDD5C}"/>
                </a:ext>
              </a:extLst>
            </p:cNvPr>
            <p:cNvSpPr txBox="1"/>
            <p:nvPr/>
          </p:nvSpPr>
          <p:spPr>
            <a:xfrm>
              <a:off x="-1064760" y="3162245"/>
              <a:ext cx="105199" cy="13886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20</a:t>
              </a:r>
              <a:endPara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8520CE53-2219-3E5F-60EE-99D3365B10CB}"/>
              </a:ext>
            </a:extLst>
          </p:cNvPr>
          <p:cNvGrpSpPr/>
          <p:nvPr/>
        </p:nvGrpSpPr>
        <p:grpSpPr>
          <a:xfrm>
            <a:off x="3956388" y="4053084"/>
            <a:ext cx="263187" cy="263187"/>
            <a:chOff x="-1119257" y="3128859"/>
            <a:chExt cx="215900" cy="215900"/>
          </a:xfrm>
        </p:grpSpPr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3BF02382-9B65-2AEF-CC48-99BCB86EE725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549FB1C-9E36-D7F1-B9F2-E0BA7071DDC4}"/>
                </a:ext>
              </a:extLst>
            </p:cNvPr>
            <p:cNvSpPr txBox="1"/>
            <p:nvPr/>
          </p:nvSpPr>
          <p:spPr>
            <a:xfrm>
              <a:off x="-1064760" y="3162245"/>
              <a:ext cx="105199" cy="13886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21</a:t>
              </a:r>
              <a:endPara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738562C9-39E1-8714-895C-D1D5CC63A5A7}"/>
              </a:ext>
            </a:extLst>
          </p:cNvPr>
          <p:cNvCxnSpPr>
            <a:cxnSpLocks/>
          </p:cNvCxnSpPr>
          <p:nvPr/>
        </p:nvCxnSpPr>
        <p:spPr>
          <a:xfrm flipH="1">
            <a:off x="4010208" y="4314931"/>
            <a:ext cx="60205" cy="37556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ED01013-BE4F-97E9-CA1D-15AC6D6AAD23}"/>
              </a:ext>
            </a:extLst>
          </p:cNvPr>
          <p:cNvCxnSpPr>
            <a:cxnSpLocks/>
          </p:cNvCxnSpPr>
          <p:nvPr/>
        </p:nvCxnSpPr>
        <p:spPr>
          <a:xfrm flipH="1">
            <a:off x="3543483" y="4297017"/>
            <a:ext cx="505612" cy="10773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7F214199-58E6-DF52-E65B-0FE6FFD911AD}"/>
              </a:ext>
            </a:extLst>
          </p:cNvPr>
          <p:cNvGrpSpPr/>
          <p:nvPr/>
        </p:nvGrpSpPr>
        <p:grpSpPr>
          <a:xfrm>
            <a:off x="453563" y="1502553"/>
            <a:ext cx="266625" cy="246221"/>
            <a:chOff x="606573" y="4366745"/>
            <a:chExt cx="266625" cy="246221"/>
          </a:xfrm>
        </p:grpSpPr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8EDE35DB-B64E-E2BA-FF0B-FCA8C2D55A85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E021500-69DF-D393-8A76-35A4A7BD78D4}"/>
                </a:ext>
              </a:extLst>
            </p:cNvPr>
            <p:cNvSpPr txBox="1"/>
            <p:nvPr/>
          </p:nvSpPr>
          <p:spPr>
            <a:xfrm>
              <a:off x="606573" y="4366745"/>
              <a:ext cx="25519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92CC9D79-87C7-F476-7888-0D2877F68CEB}"/>
              </a:ext>
            </a:extLst>
          </p:cNvPr>
          <p:cNvCxnSpPr>
            <a:cxnSpLocks/>
          </p:cNvCxnSpPr>
          <p:nvPr/>
        </p:nvCxnSpPr>
        <p:spPr>
          <a:xfrm>
            <a:off x="647700" y="1704975"/>
            <a:ext cx="514350" cy="5048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A173E2E-B7F9-CEC9-C708-CEDD3C553AF1}"/>
              </a:ext>
            </a:extLst>
          </p:cNvPr>
          <p:cNvSpPr/>
          <p:nvPr/>
        </p:nvSpPr>
        <p:spPr bwMode="auto">
          <a:xfrm>
            <a:off x="4642809" y="6195262"/>
            <a:ext cx="2944964" cy="557811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2.0 </a:t>
            </a:r>
            <a:r>
              <a:rPr kumimoji="1" lang="en-US" altLang="ko-KR" sz="800" i="0" u="none" strike="noStrike" cap="none" normalizeH="0" baseline="0" dirty="0" err="1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Cu.ft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Quick Zone Drawer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적용에 따른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Size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endParaRPr kumimoji="1" lang="en-US" altLang="ko-KR" sz="800" i="0" u="none" strike="noStrike" cap="none" normalizeH="0" baseline="0" dirty="0">
              <a:ln>
                <a:noFill/>
              </a:ln>
              <a:solidFill>
                <a:srgbClr val="0066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② 이종 조리를 위한 </a:t>
            </a:r>
            <a:r>
              <a:rPr lang="en-US" altLang="ko-KR" sz="80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Conv.Fan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2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개소 반영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Chamber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구성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(TBD)</a:t>
            </a:r>
          </a:p>
        </p:txBody>
      </p:sp>
    </p:spTree>
    <p:extLst>
      <p:ext uri="{BB962C8B-B14F-4D97-AF65-F5344CB8AC3E}">
        <p14:creationId xmlns:p14="http://schemas.microsoft.com/office/powerpoint/2010/main" val="65489384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5C8937-9630-F9C0-CB65-5F353D6FAB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3F6AD756-2423-4D9B-0E92-635186FF803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6430167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Upper Door Assembly(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풀다운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)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A1F7F3A-10A5-1857-20B0-0DBDBBE7B086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EB5CB079-DEF0-3E12-5619-25868DCC2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58AA18D6-A53F-BCCA-D6E7-1E3C557AE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" name="Text Box 9">
            <a:extLst>
              <a:ext uri="{FF2B5EF4-FFF2-40B4-BE49-F238E27FC236}">
                <a16:creationId xmlns:a16="http://schemas.microsoft.com/office/drawing/2014/main" id="{3EE5B6CF-738A-066B-E17A-EA3F0FA9A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5" name="Text Box 10">
            <a:extLst>
              <a:ext uri="{FF2B5EF4-FFF2-40B4-BE49-F238E27FC236}">
                <a16:creationId xmlns:a16="http://schemas.microsoft.com/office/drawing/2014/main" id="{AF247024-A4B7-A3CE-6FF3-BD9C6D28A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204E64DE-0A63-15C2-44CE-68FE6B0AE2AC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96287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" name="Line 52">
            <a:extLst>
              <a:ext uri="{FF2B5EF4-FFF2-40B4-BE49-F238E27FC236}">
                <a16:creationId xmlns:a16="http://schemas.microsoft.com/office/drawing/2014/main" id="{9BF7251F-6BD3-D464-5F36-2CDD60C2C7E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FF494FF2-EEE5-F6FE-17AF-B03132175CA6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E8AC009B-E470-DAE8-6835-2541A69001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350591D9-D380-A088-9697-438F020B606C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Text Box 4">
            <a:extLst>
              <a:ext uri="{FF2B5EF4-FFF2-40B4-BE49-F238E27FC236}">
                <a16:creationId xmlns:a16="http://schemas.microsoft.com/office/drawing/2014/main" id="{F23E5A39-928A-CCA0-D27D-B87557169E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17591C9B-2394-B235-008C-CA5C1AB6D6AC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Text Box 4">
            <a:extLst>
              <a:ext uri="{FF2B5EF4-FFF2-40B4-BE49-F238E27FC236}">
                <a16:creationId xmlns:a16="http://schemas.microsoft.com/office/drawing/2014/main" id="{38B6D6C1-14F7-7887-E707-85B87FBA2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AE1646E0-E73F-25A3-F8E8-8D3EF459F04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969" t="9684" r="13858"/>
          <a:stretch/>
        </p:blipFill>
        <p:spPr>
          <a:xfrm>
            <a:off x="323231" y="1097280"/>
            <a:ext cx="4221779" cy="2020111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01D9F4F5-D2D9-A94F-E971-CDE61C54196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0104" y="4016571"/>
            <a:ext cx="4242004" cy="2303077"/>
          </a:xfrm>
          <a:prstGeom prst="rect">
            <a:avLst/>
          </a:prstGeom>
        </p:spPr>
      </p:pic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0035C88-229D-E67D-858D-F9F5589A25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008023"/>
              </p:ext>
            </p:extLst>
          </p:nvPr>
        </p:nvGraphicFramePr>
        <p:xfrm>
          <a:off x="4641768" y="1258917"/>
          <a:ext cx="4921411" cy="3783330"/>
        </p:xfrm>
        <a:graphic>
          <a:graphicData uri="http://schemas.openxmlformats.org/drawingml/2006/table">
            <a:tbl>
              <a:tblPr/>
              <a:tblGrid>
                <a:gridCol w="167216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5602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700502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1602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216024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873875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상세 변경점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ADC30051009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Assembly,Full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794287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MAZ64607601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Bracket,Hinge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법랑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판금물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Link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구조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 Hinge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체결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Door Frame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역할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44111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MAZ64607602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Bracket,Hinge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749918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MCK68473301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Cover,Inner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Full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Glass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3039346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4890W1N009K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Window,Glass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Inner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Glass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반영</a:t>
                      </a:r>
                      <a:endParaRPr lang="en-US" altLang="ko-KR" sz="800" b="0" i="0" u="none" strike="noStrike" kern="1200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86888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MAZ64569402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Bracket,Mount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3559945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MEV65115504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Insulator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249529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3300W1N003N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Plate,Shield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572346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MEV65115505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Insulator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302740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MDQ64177106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Frame,Door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2,3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부품으로 대체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808089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MDQ64177105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Frame,Door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2,3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부품으로 대체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05074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ADC30051701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Assembly,Sub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 변경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345500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MCR68408201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Decor,Front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Full Glass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적용에 신규 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Décor 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구조 반영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깊이 방향 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8mm 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축소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16804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MKC65299619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Window,Glass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Full Glass 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Size </a:t>
                      </a:r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122319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AED75497004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AED30153303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Handle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Dimple Handle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95623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MJH66410202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Supporter,Handle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깊이방향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8mm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축소에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따른 신규 제작</a:t>
                      </a:r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6847626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MEA63970507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Guide,Air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980708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4810W1A187C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Bracket,Door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Full Glass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적용에 따른 하단 체결 구조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617526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ADX75736001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Gasket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노크온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스위치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상대물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5651091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MCK71414904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Cover,Guide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전면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벤트홀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삭제로 인한 이물질 방지 불요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965811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MCQ67084407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Damper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Self Clean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미적용에 따른 삭제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565284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MCK71664201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Cover,Safety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번 부품으로 대체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369993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MCK71664202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Cover,Safety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번 부품으로 대체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53400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MJB63190001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Stopper,Handle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체인저블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핸들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체결물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6661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MDS67743104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Gasket,Sealing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Handle Glass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체결에 따른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Damper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부품 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67230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풀다운타입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글라이딩랙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링크 체결 구조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9909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번 부품 고정용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상대물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291782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5728DBB5-6AE4-0ACC-D03D-B3B23FBEB85A}"/>
              </a:ext>
            </a:extLst>
          </p:cNvPr>
          <p:cNvSpPr/>
          <p:nvPr/>
        </p:nvSpPr>
        <p:spPr bwMode="auto">
          <a:xfrm rot="1562445">
            <a:off x="915710" y="2836375"/>
            <a:ext cx="1084292" cy="32983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7CEB694-7648-D8AF-4B26-B07FBDE0B678}"/>
              </a:ext>
            </a:extLst>
          </p:cNvPr>
          <p:cNvSpPr/>
          <p:nvPr/>
        </p:nvSpPr>
        <p:spPr bwMode="auto">
          <a:xfrm rot="1562445">
            <a:off x="3887343" y="1168574"/>
            <a:ext cx="480581" cy="113158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29F441A-9791-A3FC-E10C-1BFC2A9C358C}"/>
              </a:ext>
            </a:extLst>
          </p:cNvPr>
          <p:cNvSpPr/>
          <p:nvPr/>
        </p:nvSpPr>
        <p:spPr bwMode="auto">
          <a:xfrm rot="1562445">
            <a:off x="3856863" y="1529258"/>
            <a:ext cx="480581" cy="113158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A68F52AC-FEDB-93DF-A88B-58D125E0BB24}"/>
              </a:ext>
            </a:extLst>
          </p:cNvPr>
          <p:cNvCxnSpPr>
            <a:cxnSpLocks/>
          </p:cNvCxnSpPr>
          <p:nvPr/>
        </p:nvCxnSpPr>
        <p:spPr>
          <a:xfrm flipV="1">
            <a:off x="3501753" y="5235841"/>
            <a:ext cx="49230" cy="13981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DED2ECEE-4204-4FC5-A9A9-FC1AA3AE58EA}"/>
              </a:ext>
            </a:extLst>
          </p:cNvPr>
          <p:cNvCxnSpPr>
            <a:cxnSpLocks/>
          </p:cNvCxnSpPr>
          <p:nvPr/>
        </p:nvCxnSpPr>
        <p:spPr>
          <a:xfrm flipH="1" flipV="1">
            <a:off x="2335794" y="4527088"/>
            <a:ext cx="986802" cy="81498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타원 23">
            <a:extLst>
              <a:ext uri="{FF2B5EF4-FFF2-40B4-BE49-F238E27FC236}">
                <a16:creationId xmlns:a16="http://schemas.microsoft.com/office/drawing/2014/main" id="{5D770DB3-98B8-C5C0-4051-290F8F1FE374}"/>
              </a:ext>
            </a:extLst>
          </p:cNvPr>
          <p:cNvSpPr/>
          <p:nvPr/>
        </p:nvSpPr>
        <p:spPr>
          <a:xfrm>
            <a:off x="2137156" y="1220570"/>
            <a:ext cx="215900" cy="215900"/>
          </a:xfrm>
          <a:prstGeom prst="ellipse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4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3DFADA-CEC3-FA7B-5922-9006FFE2F8C0}"/>
              </a:ext>
            </a:extLst>
          </p:cNvPr>
          <p:cNvSpPr/>
          <p:nvPr/>
        </p:nvSpPr>
        <p:spPr>
          <a:xfrm>
            <a:off x="3196275" y="5354162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0155A996-FBC4-AEB1-C403-92662BD19106}"/>
              </a:ext>
            </a:extLst>
          </p:cNvPr>
          <p:cNvSpPr/>
          <p:nvPr/>
        </p:nvSpPr>
        <p:spPr>
          <a:xfrm>
            <a:off x="3383046" y="5362497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27" name="Picture 2" descr="Click image to close this Window.">
            <a:extLst>
              <a:ext uri="{FF2B5EF4-FFF2-40B4-BE49-F238E27FC236}">
                <a16:creationId xmlns:a16="http://schemas.microsoft.com/office/drawing/2014/main" id="{DDCD2A1F-201B-8927-8710-01BA068A36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203" t="44482" r="4408" b="11372"/>
          <a:stretch/>
        </p:blipFill>
        <p:spPr bwMode="auto">
          <a:xfrm>
            <a:off x="3479799" y="5782307"/>
            <a:ext cx="1065211" cy="860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1CED37DF-6E33-CA72-8D04-77028FFD68CE}"/>
              </a:ext>
            </a:extLst>
          </p:cNvPr>
          <p:cNvSpPr txBox="1"/>
          <p:nvPr/>
        </p:nvSpPr>
        <p:spPr>
          <a:xfrm>
            <a:off x="2945470" y="5604013"/>
            <a:ext cx="1696298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* Door glass &amp; handle </a:t>
            </a:r>
            <a:r>
              <a:rPr kumimoji="0" lang="ko-KR" altLang="en-US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체결구조 </a:t>
            </a:r>
            <a:r>
              <a:rPr kumimoji="0" lang="en-US" altLang="ko-KR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DGMS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4E54D22-33A7-98F2-CF87-E58F4BAB20C9}"/>
              </a:ext>
            </a:extLst>
          </p:cNvPr>
          <p:cNvGrpSpPr/>
          <p:nvPr/>
        </p:nvGrpSpPr>
        <p:grpSpPr>
          <a:xfrm>
            <a:off x="3057316" y="6334863"/>
            <a:ext cx="325730" cy="246221"/>
            <a:chOff x="606573" y="4366745"/>
            <a:chExt cx="325730" cy="246221"/>
          </a:xfrm>
        </p:grpSpPr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7632CB68-4F2E-B8F7-573D-D6FA4827A46E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1FDB140-896E-5E77-2DC5-F4BEE5E64323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66867BE-1833-39E3-546D-4EB4247564CE}"/>
              </a:ext>
            </a:extLst>
          </p:cNvPr>
          <p:cNvCxnSpPr>
            <a:cxnSpLocks/>
          </p:cNvCxnSpPr>
          <p:nvPr/>
        </p:nvCxnSpPr>
        <p:spPr>
          <a:xfrm flipV="1">
            <a:off x="3313568" y="6208389"/>
            <a:ext cx="384612" cy="18335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5FD20A4D-AFB2-5152-A661-D111EB08367F}"/>
              </a:ext>
            </a:extLst>
          </p:cNvPr>
          <p:cNvCxnSpPr>
            <a:cxnSpLocks/>
          </p:cNvCxnSpPr>
          <p:nvPr/>
        </p:nvCxnSpPr>
        <p:spPr>
          <a:xfrm flipV="1">
            <a:off x="3372854" y="5945270"/>
            <a:ext cx="178129" cy="6293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100F5809-DCEC-58E1-3929-712396A35BC3}"/>
              </a:ext>
            </a:extLst>
          </p:cNvPr>
          <p:cNvGrpSpPr/>
          <p:nvPr/>
        </p:nvGrpSpPr>
        <p:grpSpPr>
          <a:xfrm>
            <a:off x="3154834" y="5916932"/>
            <a:ext cx="255198" cy="246221"/>
            <a:chOff x="636693" y="4348715"/>
            <a:chExt cx="255198" cy="246221"/>
          </a:xfrm>
        </p:grpSpPr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7AA964EE-3DDF-B672-CE77-9193C14D166D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1C9CF9A-D3E7-685D-25A0-0DC225728364}"/>
                </a:ext>
              </a:extLst>
            </p:cNvPr>
            <p:cNvSpPr txBox="1"/>
            <p:nvPr/>
          </p:nvSpPr>
          <p:spPr>
            <a:xfrm>
              <a:off x="636693" y="4348715"/>
              <a:ext cx="25519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83B36120-9A32-F3AA-85A5-6F6159C00CBD}"/>
              </a:ext>
            </a:extLst>
          </p:cNvPr>
          <p:cNvCxnSpPr>
            <a:cxnSpLocks/>
          </p:cNvCxnSpPr>
          <p:nvPr/>
        </p:nvCxnSpPr>
        <p:spPr>
          <a:xfrm>
            <a:off x="3376943" y="2888055"/>
            <a:ext cx="321237" cy="204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67274CEC-EB87-D98C-1758-5B5E73849F4E}"/>
              </a:ext>
            </a:extLst>
          </p:cNvPr>
          <p:cNvCxnSpPr>
            <a:cxnSpLocks/>
          </p:cNvCxnSpPr>
          <p:nvPr/>
        </p:nvCxnSpPr>
        <p:spPr>
          <a:xfrm flipH="1" flipV="1">
            <a:off x="2897109" y="2507810"/>
            <a:ext cx="162962" cy="28971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타원 38">
            <a:extLst>
              <a:ext uri="{FF2B5EF4-FFF2-40B4-BE49-F238E27FC236}">
                <a16:creationId xmlns:a16="http://schemas.microsoft.com/office/drawing/2014/main" id="{1B05FCD2-88C4-6E08-DFCF-8272A8B28F18}"/>
              </a:ext>
            </a:extLst>
          </p:cNvPr>
          <p:cNvSpPr/>
          <p:nvPr/>
        </p:nvSpPr>
        <p:spPr>
          <a:xfrm>
            <a:off x="2993563" y="2762164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ADDE8B29-9591-2BD5-8F0B-86450F8CBCE6}"/>
              </a:ext>
            </a:extLst>
          </p:cNvPr>
          <p:cNvSpPr/>
          <p:nvPr/>
        </p:nvSpPr>
        <p:spPr>
          <a:xfrm>
            <a:off x="3180334" y="2770499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76DEBDE1-8624-289C-80F6-976ADCFEAE72}"/>
              </a:ext>
            </a:extLst>
          </p:cNvPr>
          <p:cNvCxnSpPr>
            <a:cxnSpLocks/>
          </p:cNvCxnSpPr>
          <p:nvPr/>
        </p:nvCxnSpPr>
        <p:spPr>
          <a:xfrm>
            <a:off x="2353056" y="1381479"/>
            <a:ext cx="144563" cy="20394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B1C07DF4-1761-B202-E40C-881189A51BDE}"/>
              </a:ext>
            </a:extLst>
          </p:cNvPr>
          <p:cNvCxnSpPr>
            <a:cxnSpLocks/>
          </p:cNvCxnSpPr>
          <p:nvPr/>
        </p:nvCxnSpPr>
        <p:spPr>
          <a:xfrm>
            <a:off x="2874169" y="1381479"/>
            <a:ext cx="119394" cy="23308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타원 42">
            <a:extLst>
              <a:ext uri="{FF2B5EF4-FFF2-40B4-BE49-F238E27FC236}">
                <a16:creationId xmlns:a16="http://schemas.microsoft.com/office/drawing/2014/main" id="{CBF015BE-5F60-5434-8F94-50909B7ED452}"/>
              </a:ext>
            </a:extLst>
          </p:cNvPr>
          <p:cNvSpPr/>
          <p:nvPr/>
        </p:nvSpPr>
        <p:spPr>
          <a:xfrm>
            <a:off x="2736156" y="1174551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99D873E0-1B56-07A4-9A04-05CD769298AC}"/>
              </a:ext>
            </a:extLst>
          </p:cNvPr>
          <p:cNvCxnSpPr>
            <a:cxnSpLocks/>
          </p:cNvCxnSpPr>
          <p:nvPr/>
        </p:nvCxnSpPr>
        <p:spPr>
          <a:xfrm>
            <a:off x="2766666" y="3923960"/>
            <a:ext cx="119394" cy="23308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타원 44">
            <a:extLst>
              <a:ext uri="{FF2B5EF4-FFF2-40B4-BE49-F238E27FC236}">
                <a16:creationId xmlns:a16="http://schemas.microsoft.com/office/drawing/2014/main" id="{CB668C91-9A5B-4BE3-1946-FACBF6A37184}"/>
              </a:ext>
            </a:extLst>
          </p:cNvPr>
          <p:cNvSpPr/>
          <p:nvPr/>
        </p:nvSpPr>
        <p:spPr>
          <a:xfrm>
            <a:off x="2628653" y="3717032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F4844D6A-5E43-4125-1F88-6375B74F75A5}"/>
              </a:ext>
            </a:extLst>
          </p:cNvPr>
          <p:cNvSpPr/>
          <p:nvPr/>
        </p:nvSpPr>
        <p:spPr>
          <a:xfrm>
            <a:off x="3127844" y="1282320"/>
            <a:ext cx="215900" cy="215900"/>
          </a:xfrm>
          <a:prstGeom prst="ellipse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6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37562DA8-36E8-584D-6A21-57D11125D0D8}"/>
              </a:ext>
            </a:extLst>
          </p:cNvPr>
          <p:cNvCxnSpPr>
            <a:cxnSpLocks/>
          </p:cNvCxnSpPr>
          <p:nvPr/>
        </p:nvCxnSpPr>
        <p:spPr>
          <a:xfrm>
            <a:off x="3262784" y="1470326"/>
            <a:ext cx="144563" cy="20394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타원 47">
            <a:extLst>
              <a:ext uri="{FF2B5EF4-FFF2-40B4-BE49-F238E27FC236}">
                <a16:creationId xmlns:a16="http://schemas.microsoft.com/office/drawing/2014/main" id="{C4CCC1C3-4DE9-B9B4-C9BE-00FBE6FC08EC}"/>
              </a:ext>
            </a:extLst>
          </p:cNvPr>
          <p:cNvSpPr/>
          <p:nvPr/>
        </p:nvSpPr>
        <p:spPr>
          <a:xfrm>
            <a:off x="4026561" y="2432014"/>
            <a:ext cx="215900" cy="215900"/>
          </a:xfrm>
          <a:prstGeom prst="ellipse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7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3C91A5C5-19B3-42C3-38C2-119B0B9ABA9F}"/>
              </a:ext>
            </a:extLst>
          </p:cNvPr>
          <p:cNvCxnSpPr>
            <a:cxnSpLocks/>
          </p:cNvCxnSpPr>
          <p:nvPr/>
        </p:nvCxnSpPr>
        <p:spPr>
          <a:xfrm flipH="1" flipV="1">
            <a:off x="3670842" y="2399488"/>
            <a:ext cx="366498" cy="14808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AFCA7790-38FB-7A4C-C718-EC78F919CD00}"/>
              </a:ext>
            </a:extLst>
          </p:cNvPr>
          <p:cNvCxnSpPr>
            <a:cxnSpLocks/>
          </p:cNvCxnSpPr>
          <p:nvPr/>
        </p:nvCxnSpPr>
        <p:spPr>
          <a:xfrm flipH="1" flipV="1">
            <a:off x="3655429" y="2542474"/>
            <a:ext cx="371132" cy="21276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02FB1E3D-42BF-F9F8-2259-B1D74537F032}"/>
              </a:ext>
            </a:extLst>
          </p:cNvPr>
          <p:cNvSpPr/>
          <p:nvPr/>
        </p:nvSpPr>
        <p:spPr>
          <a:xfrm>
            <a:off x="4041396" y="2683646"/>
            <a:ext cx="215900" cy="215900"/>
          </a:xfrm>
          <a:prstGeom prst="ellipse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8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CFA5DEE0-4C2F-ED25-C7A7-74E4D295C710}"/>
              </a:ext>
            </a:extLst>
          </p:cNvPr>
          <p:cNvSpPr/>
          <p:nvPr/>
        </p:nvSpPr>
        <p:spPr>
          <a:xfrm>
            <a:off x="4092853" y="2115015"/>
            <a:ext cx="215900" cy="215900"/>
          </a:xfrm>
          <a:prstGeom prst="ellipse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9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BCA40F28-1267-320E-4A5E-B3F6438AC207}"/>
              </a:ext>
            </a:extLst>
          </p:cNvPr>
          <p:cNvCxnSpPr>
            <a:cxnSpLocks/>
          </p:cNvCxnSpPr>
          <p:nvPr/>
        </p:nvCxnSpPr>
        <p:spPr>
          <a:xfrm flipH="1" flipV="1">
            <a:off x="3923858" y="2161934"/>
            <a:ext cx="186745" cy="5223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EFD2F346-0EFE-4138-F712-3A9F74C8F465}"/>
              </a:ext>
            </a:extLst>
          </p:cNvPr>
          <p:cNvCxnSpPr>
            <a:cxnSpLocks/>
          </p:cNvCxnSpPr>
          <p:nvPr/>
        </p:nvCxnSpPr>
        <p:spPr>
          <a:xfrm flipH="1">
            <a:off x="4066426" y="1266825"/>
            <a:ext cx="176035" cy="8935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E64073F3-9C64-3480-5AF2-B84F58105073}"/>
              </a:ext>
            </a:extLst>
          </p:cNvPr>
          <p:cNvGrpSpPr/>
          <p:nvPr/>
        </p:nvGrpSpPr>
        <p:grpSpPr>
          <a:xfrm>
            <a:off x="4194055" y="1145360"/>
            <a:ext cx="215900" cy="215900"/>
            <a:chOff x="-1119257" y="3128859"/>
            <a:chExt cx="215900" cy="215900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9D09ECEF-3E12-D899-BE6B-7469AE35D04E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744579A-97F7-232E-A290-3EEB0A8C977F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7D3434CD-495B-792F-5E1C-90A15C811A9A}"/>
              </a:ext>
            </a:extLst>
          </p:cNvPr>
          <p:cNvGrpSpPr/>
          <p:nvPr/>
        </p:nvGrpSpPr>
        <p:grpSpPr>
          <a:xfrm>
            <a:off x="1090618" y="4123161"/>
            <a:ext cx="325730" cy="246221"/>
            <a:chOff x="606573" y="4366745"/>
            <a:chExt cx="325730" cy="246221"/>
          </a:xfrm>
        </p:grpSpPr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D8D0ABAA-DD7C-A687-3DE7-63EF6B409B00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7501C192-B78C-9C57-D603-0CEAFE1FFA89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B2A89192-E1EB-1A20-F432-35EAE7ABC34D}"/>
              </a:ext>
            </a:extLst>
          </p:cNvPr>
          <p:cNvCxnSpPr>
            <a:cxnSpLocks/>
          </p:cNvCxnSpPr>
          <p:nvPr/>
        </p:nvCxnSpPr>
        <p:spPr>
          <a:xfrm>
            <a:off x="1339908" y="4275401"/>
            <a:ext cx="111503" cy="9398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BAFFA817-A27E-0BF6-6B2C-01308353FD75}"/>
              </a:ext>
            </a:extLst>
          </p:cNvPr>
          <p:cNvGrpSpPr/>
          <p:nvPr/>
        </p:nvGrpSpPr>
        <p:grpSpPr>
          <a:xfrm>
            <a:off x="706890" y="1585425"/>
            <a:ext cx="325730" cy="246221"/>
            <a:chOff x="606573" y="4366745"/>
            <a:chExt cx="325730" cy="246221"/>
          </a:xfrm>
        </p:grpSpPr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D223FC02-D665-BB06-6504-2D7BBC10C0A4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FD5021E-5757-B8F8-A39D-B4B9896039DE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E7FCCF3C-2D96-A413-C5B5-CB531F6C3888}"/>
              </a:ext>
            </a:extLst>
          </p:cNvPr>
          <p:cNvCxnSpPr>
            <a:cxnSpLocks/>
          </p:cNvCxnSpPr>
          <p:nvPr/>
        </p:nvCxnSpPr>
        <p:spPr>
          <a:xfrm>
            <a:off x="956180" y="1737665"/>
            <a:ext cx="111503" cy="9398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화살표 연결선 65">
            <a:extLst>
              <a:ext uri="{FF2B5EF4-FFF2-40B4-BE49-F238E27FC236}">
                <a16:creationId xmlns:a16="http://schemas.microsoft.com/office/drawing/2014/main" id="{E06FCC2D-245A-F48E-DB2C-DDF8B37CC77D}"/>
              </a:ext>
            </a:extLst>
          </p:cNvPr>
          <p:cNvCxnSpPr>
            <a:cxnSpLocks/>
          </p:cNvCxnSpPr>
          <p:nvPr/>
        </p:nvCxnSpPr>
        <p:spPr>
          <a:xfrm>
            <a:off x="702484" y="4527088"/>
            <a:ext cx="119394" cy="23308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DE34657E-BFED-C3BF-281D-8A33A5D38483}"/>
              </a:ext>
            </a:extLst>
          </p:cNvPr>
          <p:cNvGrpSpPr/>
          <p:nvPr/>
        </p:nvGrpSpPr>
        <p:grpSpPr>
          <a:xfrm>
            <a:off x="581039" y="4345349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68" name="타원 67">
              <a:extLst>
                <a:ext uri="{FF2B5EF4-FFF2-40B4-BE49-F238E27FC236}">
                  <a16:creationId xmlns:a16="http://schemas.microsoft.com/office/drawing/2014/main" id="{00B286B3-4792-8593-7E46-91ADF642EC20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F35C9D8-4FE0-ADAC-4691-F64FCA306456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B6D0A21C-6139-6C70-272B-66D34CAF881B}"/>
              </a:ext>
            </a:extLst>
          </p:cNvPr>
          <p:cNvCxnSpPr>
            <a:cxnSpLocks/>
          </p:cNvCxnSpPr>
          <p:nvPr/>
        </p:nvCxnSpPr>
        <p:spPr>
          <a:xfrm flipH="1" flipV="1">
            <a:off x="1920090" y="2752131"/>
            <a:ext cx="309878" cy="22593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361C5868-7093-03D2-CA6D-E38FB9A748A1}"/>
              </a:ext>
            </a:extLst>
          </p:cNvPr>
          <p:cNvGrpSpPr/>
          <p:nvPr/>
        </p:nvGrpSpPr>
        <p:grpSpPr>
          <a:xfrm>
            <a:off x="2224069" y="2871725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11638444-5EC3-4A2F-FCC3-33A830BC7276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2762107-8C85-CC54-E4A4-41D9B954BE80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67C02ADC-FF69-83A4-1238-C1AD83DEE50A}"/>
              </a:ext>
            </a:extLst>
          </p:cNvPr>
          <p:cNvCxnSpPr>
            <a:cxnSpLocks/>
            <a:stCxn id="76" idx="4"/>
          </p:cNvCxnSpPr>
          <p:nvPr/>
        </p:nvCxnSpPr>
        <p:spPr>
          <a:xfrm flipH="1">
            <a:off x="1888175" y="1496724"/>
            <a:ext cx="65220" cy="11228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0B4D6E8E-FF7D-4C04-9E40-F3076D444A0B}"/>
              </a:ext>
            </a:extLst>
          </p:cNvPr>
          <p:cNvGrpSpPr/>
          <p:nvPr/>
        </p:nvGrpSpPr>
        <p:grpSpPr>
          <a:xfrm>
            <a:off x="1845445" y="1280824"/>
            <a:ext cx="215900" cy="215900"/>
            <a:chOff x="-1119257" y="3128859"/>
            <a:chExt cx="215900" cy="215900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A75B1E14-33D9-7F8D-8754-20197F5DDD97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681D1B3-5CDB-B9F7-0D52-3FC80A25B3B9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8" name="직선 화살표 연결선 77">
            <a:extLst>
              <a:ext uri="{FF2B5EF4-FFF2-40B4-BE49-F238E27FC236}">
                <a16:creationId xmlns:a16="http://schemas.microsoft.com/office/drawing/2014/main" id="{CC4B4816-3B69-249D-AF89-9C1A12F0B21B}"/>
              </a:ext>
            </a:extLst>
          </p:cNvPr>
          <p:cNvCxnSpPr>
            <a:cxnSpLocks/>
          </p:cNvCxnSpPr>
          <p:nvPr/>
        </p:nvCxnSpPr>
        <p:spPr>
          <a:xfrm flipH="1">
            <a:off x="1448554" y="1611517"/>
            <a:ext cx="9054" cy="13580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2077BA2A-AE2E-5EBA-6662-0B6550ABB1FB}"/>
              </a:ext>
            </a:extLst>
          </p:cNvPr>
          <p:cNvGrpSpPr/>
          <p:nvPr/>
        </p:nvGrpSpPr>
        <p:grpSpPr>
          <a:xfrm>
            <a:off x="1345063" y="1394265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80" name="타원 79">
              <a:extLst>
                <a:ext uri="{FF2B5EF4-FFF2-40B4-BE49-F238E27FC236}">
                  <a16:creationId xmlns:a16="http://schemas.microsoft.com/office/drawing/2014/main" id="{71059F05-48B9-031D-75CA-9AA63AB8A7E0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4F526C9F-E010-C266-61F9-294C78FAF089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3E13AE55-4730-49B8-8A92-2A07126D869E}"/>
              </a:ext>
            </a:extLst>
          </p:cNvPr>
          <p:cNvGrpSpPr/>
          <p:nvPr/>
        </p:nvGrpSpPr>
        <p:grpSpPr>
          <a:xfrm>
            <a:off x="1268961" y="3034970"/>
            <a:ext cx="325730" cy="246221"/>
            <a:chOff x="606573" y="4366745"/>
            <a:chExt cx="325730" cy="246221"/>
          </a:xfrm>
        </p:grpSpPr>
        <p:sp>
          <p:nvSpPr>
            <p:cNvPr id="83" name="타원 82">
              <a:extLst>
                <a:ext uri="{FF2B5EF4-FFF2-40B4-BE49-F238E27FC236}">
                  <a16:creationId xmlns:a16="http://schemas.microsoft.com/office/drawing/2014/main" id="{02BCF8B9-B469-EE10-7BA6-95AFE737EFD6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AC7C2866-1618-27DF-48EC-F31664BE98F4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93ACBDAC-3FCC-1326-F833-6335BE0C93AD}"/>
              </a:ext>
            </a:extLst>
          </p:cNvPr>
          <p:cNvCxnSpPr>
            <a:cxnSpLocks/>
          </p:cNvCxnSpPr>
          <p:nvPr/>
        </p:nvCxnSpPr>
        <p:spPr>
          <a:xfrm flipV="1">
            <a:off x="1502875" y="2926571"/>
            <a:ext cx="152447" cy="14255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29AB063B-61AF-BE71-CAFA-A242667264A2}"/>
              </a:ext>
            </a:extLst>
          </p:cNvPr>
          <p:cNvGrpSpPr/>
          <p:nvPr/>
        </p:nvGrpSpPr>
        <p:grpSpPr>
          <a:xfrm>
            <a:off x="1725310" y="6166038"/>
            <a:ext cx="325730" cy="246221"/>
            <a:chOff x="606573" y="4366745"/>
            <a:chExt cx="325730" cy="246221"/>
          </a:xfrm>
        </p:grpSpPr>
        <p:sp>
          <p:nvSpPr>
            <p:cNvPr id="87" name="타원 86">
              <a:extLst>
                <a:ext uri="{FF2B5EF4-FFF2-40B4-BE49-F238E27FC236}">
                  <a16:creationId xmlns:a16="http://schemas.microsoft.com/office/drawing/2014/main" id="{DA855F4E-6B27-D594-BB85-15294C7D265D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B1C7D26-CC2E-E6CA-A721-363C1959FE41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182DDE3E-92DF-6842-BF67-BFD6BAC9E59A}"/>
              </a:ext>
            </a:extLst>
          </p:cNvPr>
          <p:cNvCxnSpPr>
            <a:cxnSpLocks/>
          </p:cNvCxnSpPr>
          <p:nvPr/>
        </p:nvCxnSpPr>
        <p:spPr>
          <a:xfrm flipV="1">
            <a:off x="1959224" y="6057639"/>
            <a:ext cx="152447" cy="14255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02018689-E60E-9737-C010-1684A5A51625}"/>
              </a:ext>
            </a:extLst>
          </p:cNvPr>
          <p:cNvGrpSpPr/>
          <p:nvPr/>
        </p:nvGrpSpPr>
        <p:grpSpPr>
          <a:xfrm>
            <a:off x="1555690" y="1280824"/>
            <a:ext cx="215900" cy="215900"/>
            <a:chOff x="-1119257" y="3128859"/>
            <a:chExt cx="215900" cy="215900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27A5008-DA6C-CEE0-E019-1B04A23FA662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2F978E92-0B6A-1EFA-A125-1A00FD80BB30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BD3DE205-80E4-21AC-D176-9CABFC543509}"/>
              </a:ext>
            </a:extLst>
          </p:cNvPr>
          <p:cNvCxnSpPr>
            <a:cxnSpLocks/>
          </p:cNvCxnSpPr>
          <p:nvPr/>
        </p:nvCxnSpPr>
        <p:spPr>
          <a:xfrm flipH="1">
            <a:off x="1647731" y="1502875"/>
            <a:ext cx="36214" cy="38929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E10E6706-D263-9EA4-68FF-349F959DF07F}"/>
              </a:ext>
            </a:extLst>
          </p:cNvPr>
          <p:cNvGrpSpPr/>
          <p:nvPr/>
        </p:nvGrpSpPr>
        <p:grpSpPr>
          <a:xfrm>
            <a:off x="2366908" y="2545407"/>
            <a:ext cx="215900" cy="215900"/>
            <a:chOff x="-1119257" y="3128859"/>
            <a:chExt cx="215900" cy="215900"/>
          </a:xfrm>
        </p:grpSpPr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AB75E7D7-809C-8428-7BD6-E5F21629A365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53A7C7B-ACC8-2F47-C3DF-32CC2DF3F689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97" name="직선 화살표 연결선 96">
            <a:extLst>
              <a:ext uri="{FF2B5EF4-FFF2-40B4-BE49-F238E27FC236}">
                <a16:creationId xmlns:a16="http://schemas.microsoft.com/office/drawing/2014/main" id="{E9F14B23-06C5-DF8F-7FE5-14E47D90B1ED}"/>
              </a:ext>
            </a:extLst>
          </p:cNvPr>
          <p:cNvCxnSpPr>
            <a:cxnSpLocks/>
          </p:cNvCxnSpPr>
          <p:nvPr/>
        </p:nvCxnSpPr>
        <p:spPr>
          <a:xfrm flipH="1" flipV="1">
            <a:off x="2209046" y="2462543"/>
            <a:ext cx="181069" cy="14485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360B55E0-4C9A-6E71-C817-1C85EFC6816A}"/>
              </a:ext>
            </a:extLst>
          </p:cNvPr>
          <p:cNvGrpSpPr/>
          <p:nvPr/>
        </p:nvGrpSpPr>
        <p:grpSpPr>
          <a:xfrm>
            <a:off x="799567" y="2769995"/>
            <a:ext cx="215900" cy="215900"/>
            <a:chOff x="-1119257" y="3128859"/>
            <a:chExt cx="215900" cy="215900"/>
          </a:xfrm>
        </p:grpSpPr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E1D3302D-7F43-3420-D897-6B30BE05F956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2FDB5A3-5D3F-5CC7-8980-3EBE5FFC466E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73A2ECEB-AF1B-BBD2-6BD9-187BBA61AD75}"/>
              </a:ext>
            </a:extLst>
          </p:cNvPr>
          <p:cNvGrpSpPr/>
          <p:nvPr/>
        </p:nvGrpSpPr>
        <p:grpSpPr>
          <a:xfrm>
            <a:off x="1694356" y="3176045"/>
            <a:ext cx="215900" cy="215900"/>
            <a:chOff x="-1119257" y="3128859"/>
            <a:chExt cx="215900" cy="215900"/>
          </a:xfrm>
        </p:grpSpPr>
        <p:sp>
          <p:nvSpPr>
            <p:cNvPr id="102" name="타원 101">
              <a:extLst>
                <a:ext uri="{FF2B5EF4-FFF2-40B4-BE49-F238E27FC236}">
                  <a16:creationId xmlns:a16="http://schemas.microsoft.com/office/drawing/2014/main" id="{B3FA6C9C-2437-E0E9-7EEC-3BAB1861B0AD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A4DCFD32-B3BA-3686-0014-239289FB7DF6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743F9981-DF93-D159-D9C8-C915652BE46F}"/>
              </a:ext>
            </a:extLst>
          </p:cNvPr>
          <p:cNvCxnSpPr>
            <a:cxnSpLocks/>
          </p:cNvCxnSpPr>
          <p:nvPr/>
        </p:nvCxnSpPr>
        <p:spPr>
          <a:xfrm flipV="1">
            <a:off x="985319" y="2689672"/>
            <a:ext cx="152447" cy="14255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86C3B733-EA29-FEDB-569D-16B132DBD792}"/>
              </a:ext>
            </a:extLst>
          </p:cNvPr>
          <p:cNvCxnSpPr>
            <a:cxnSpLocks/>
          </p:cNvCxnSpPr>
          <p:nvPr/>
        </p:nvCxnSpPr>
        <p:spPr>
          <a:xfrm flipV="1">
            <a:off x="1825783" y="3068409"/>
            <a:ext cx="152447" cy="14255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F6782DA7-00A0-5C31-0D65-821D2546B45C}"/>
              </a:ext>
            </a:extLst>
          </p:cNvPr>
          <p:cNvGrpSpPr/>
          <p:nvPr/>
        </p:nvGrpSpPr>
        <p:grpSpPr>
          <a:xfrm>
            <a:off x="430403" y="1504595"/>
            <a:ext cx="215900" cy="215900"/>
            <a:chOff x="-1119257" y="3128859"/>
            <a:chExt cx="215900" cy="215900"/>
          </a:xfrm>
        </p:grpSpPr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EE934E89-781F-1EE1-8F74-CB60928F3154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641C6F4-9005-5E40-D5A7-31D2F7D890A3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7EDA0823-AC46-98FC-EC71-B79E63319499}"/>
              </a:ext>
            </a:extLst>
          </p:cNvPr>
          <p:cNvCxnSpPr>
            <a:cxnSpLocks/>
          </p:cNvCxnSpPr>
          <p:nvPr/>
        </p:nvCxnSpPr>
        <p:spPr>
          <a:xfrm>
            <a:off x="561315" y="1738265"/>
            <a:ext cx="170507" cy="25198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A19B79C1-7CAA-8B16-E664-D15F3E2DA860}"/>
              </a:ext>
            </a:extLst>
          </p:cNvPr>
          <p:cNvCxnSpPr>
            <a:cxnSpLocks/>
          </p:cNvCxnSpPr>
          <p:nvPr/>
        </p:nvCxnSpPr>
        <p:spPr>
          <a:xfrm flipV="1">
            <a:off x="750952" y="5067045"/>
            <a:ext cx="203815" cy="29545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F6758F8-D50E-1D48-DC89-CE291388459F}"/>
              </a:ext>
            </a:extLst>
          </p:cNvPr>
          <p:cNvGrpSpPr/>
          <p:nvPr/>
        </p:nvGrpSpPr>
        <p:grpSpPr>
          <a:xfrm>
            <a:off x="595039" y="5338186"/>
            <a:ext cx="215900" cy="215900"/>
            <a:chOff x="-1119257" y="3128859"/>
            <a:chExt cx="215900" cy="215900"/>
          </a:xfrm>
        </p:grpSpPr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71FA7EC8-2374-449C-13C3-8026A298E45C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CD00B78D-BCAF-B100-180F-49DFB9499EBB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CEA52F20-C42F-55D9-DD27-C7471A10BF78}"/>
              </a:ext>
            </a:extLst>
          </p:cNvPr>
          <p:cNvCxnSpPr>
            <a:cxnSpLocks/>
          </p:cNvCxnSpPr>
          <p:nvPr/>
        </p:nvCxnSpPr>
        <p:spPr>
          <a:xfrm flipV="1">
            <a:off x="522902" y="2370160"/>
            <a:ext cx="203815" cy="29545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C9F1122B-0F02-713E-7760-9F494A68A72D}"/>
              </a:ext>
            </a:extLst>
          </p:cNvPr>
          <p:cNvGrpSpPr/>
          <p:nvPr/>
        </p:nvGrpSpPr>
        <p:grpSpPr>
          <a:xfrm>
            <a:off x="366989" y="2641301"/>
            <a:ext cx="215900" cy="215900"/>
            <a:chOff x="-1119257" y="3128859"/>
            <a:chExt cx="215900" cy="215900"/>
          </a:xfrm>
        </p:grpSpPr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22EFD343-D66E-FE16-ABBD-F1C68EDCAF1E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DC4D2AFF-A8D6-A92B-4EBB-1174E5409389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D9AAB782-2821-1F35-E0A6-57FC7FFA2D96}"/>
              </a:ext>
            </a:extLst>
          </p:cNvPr>
          <p:cNvCxnSpPr>
            <a:cxnSpLocks/>
          </p:cNvCxnSpPr>
          <p:nvPr/>
        </p:nvCxnSpPr>
        <p:spPr bwMode="auto">
          <a:xfrm flipH="1">
            <a:off x="3447420" y="4137789"/>
            <a:ext cx="536105" cy="61216"/>
          </a:xfrm>
          <a:prstGeom prst="straightConnector1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8ED3A47C-8CFE-C307-46BD-C83EBC7516E2}"/>
              </a:ext>
            </a:extLst>
          </p:cNvPr>
          <p:cNvCxnSpPr>
            <a:cxnSpLocks/>
          </p:cNvCxnSpPr>
          <p:nvPr/>
        </p:nvCxnSpPr>
        <p:spPr bwMode="auto">
          <a:xfrm>
            <a:off x="2571184" y="4110628"/>
            <a:ext cx="135802" cy="289711"/>
          </a:xfrm>
          <a:prstGeom prst="straightConnector1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FC997BAA-7AFF-25D0-0DE3-59090B8DF813}"/>
              </a:ext>
            </a:extLst>
          </p:cNvPr>
          <p:cNvGrpSpPr/>
          <p:nvPr/>
        </p:nvGrpSpPr>
        <p:grpSpPr>
          <a:xfrm>
            <a:off x="3960242" y="4039459"/>
            <a:ext cx="325730" cy="246221"/>
            <a:chOff x="606573" y="4366745"/>
            <a:chExt cx="325730" cy="246221"/>
          </a:xfrm>
        </p:grpSpPr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8744DF04-753F-5179-557D-F597F08DA8F3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AFB4128B-39EE-E5C6-78C0-F334A37129AF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A820B5BB-0D7C-388D-1BBA-2C3349417AAA}"/>
              </a:ext>
            </a:extLst>
          </p:cNvPr>
          <p:cNvGrpSpPr/>
          <p:nvPr/>
        </p:nvGrpSpPr>
        <p:grpSpPr>
          <a:xfrm>
            <a:off x="2353388" y="3913575"/>
            <a:ext cx="325730" cy="246221"/>
            <a:chOff x="606573" y="4366745"/>
            <a:chExt cx="325730" cy="246221"/>
          </a:xfrm>
        </p:grpSpPr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D3B27D57-7F24-DF11-5A72-031D21F17B16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C361DC-CAC9-6D62-EF96-9A0B82A78D3B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90CC1CE-836A-5FF4-C257-D1E010679124}"/>
              </a:ext>
            </a:extLst>
          </p:cNvPr>
          <p:cNvCxnSpPr>
            <a:cxnSpLocks/>
          </p:cNvCxnSpPr>
          <p:nvPr/>
        </p:nvCxnSpPr>
        <p:spPr bwMode="auto">
          <a:xfrm>
            <a:off x="4173648" y="4273591"/>
            <a:ext cx="243076" cy="440424"/>
          </a:xfrm>
          <a:prstGeom prst="straightConnector1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E80DEB2B-5670-0701-69B2-929B8F02DC68}"/>
              </a:ext>
            </a:extLst>
          </p:cNvPr>
          <p:cNvSpPr/>
          <p:nvPr/>
        </p:nvSpPr>
        <p:spPr bwMode="auto">
          <a:xfrm>
            <a:off x="4642809" y="6040042"/>
            <a:ext cx="2944964" cy="557811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2.0 </a:t>
            </a:r>
            <a:r>
              <a:rPr kumimoji="1" lang="en-US" altLang="ko-KR" sz="800" i="0" u="none" strike="noStrike" cap="none" normalizeH="0" baseline="0" dirty="0" err="1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Cu.ft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Quick Zone Drawer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적용에 따른 높이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endParaRPr kumimoji="1" lang="en-US" altLang="ko-KR" sz="800" i="0" u="none" strike="noStrike" cap="none" normalizeH="0" baseline="0" dirty="0">
              <a:ln>
                <a:noFill/>
              </a:ln>
              <a:solidFill>
                <a:srgbClr val="0066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② 이종 조리를 위한 </a:t>
            </a:r>
            <a:r>
              <a:rPr lang="en-US" altLang="ko-KR" sz="80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Conv.Fan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2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개소 반영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Chamber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구성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(TBD)</a:t>
            </a:r>
          </a:p>
        </p:txBody>
      </p:sp>
      <p:sp>
        <p:nvSpPr>
          <p:cNvPr id="128" name="이등변 삼각형 127">
            <a:extLst>
              <a:ext uri="{FF2B5EF4-FFF2-40B4-BE49-F238E27FC236}">
                <a16:creationId xmlns:a16="http://schemas.microsoft.com/office/drawing/2014/main" id="{F631C59D-1EFB-C045-1971-9B5AF3440718}"/>
              </a:ext>
            </a:extLst>
          </p:cNvPr>
          <p:cNvSpPr/>
          <p:nvPr/>
        </p:nvSpPr>
        <p:spPr bwMode="auto">
          <a:xfrm flipV="1">
            <a:off x="625863" y="3431867"/>
            <a:ext cx="3385533" cy="204403"/>
          </a:xfrm>
          <a:prstGeom prst="triangl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15572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4DA329-2205-ADE4-ACCA-D6C0DF8682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B1D99103-A1E3-5578-ADA3-6D8E86107C06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4674879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Lower Oven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66F9247-F5C3-D161-06B5-002787AFA370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D4DBAC1-F199-EC2A-2A9B-504BEDC3C74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6143" y="1239237"/>
            <a:ext cx="3968393" cy="4288301"/>
          </a:xfrm>
          <a:prstGeom prst="rect">
            <a:avLst/>
          </a:prstGeom>
        </p:spPr>
      </p:pic>
      <p:sp>
        <p:nvSpPr>
          <p:cNvPr id="3" name="Text Box 4">
            <a:extLst>
              <a:ext uri="{FF2B5EF4-FFF2-40B4-BE49-F238E27FC236}">
                <a16:creationId xmlns:a16="http://schemas.microsoft.com/office/drawing/2014/main" id="{22F4B6D7-4E69-5F07-6461-20D8C4E31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13AED92-F217-DC34-D724-7DC3433A3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60833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" name="Text Box 9">
            <a:extLst>
              <a:ext uri="{FF2B5EF4-FFF2-40B4-BE49-F238E27FC236}">
                <a16:creationId xmlns:a16="http://schemas.microsoft.com/office/drawing/2014/main" id="{2BB6C750-9841-6DD5-F94A-528F1ECCD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6" name="Text Box 10">
            <a:extLst>
              <a:ext uri="{FF2B5EF4-FFF2-40B4-BE49-F238E27FC236}">
                <a16:creationId xmlns:a16="http://schemas.microsoft.com/office/drawing/2014/main" id="{831A5A0A-D1E7-24A7-8B2E-BBCB71B35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8" name="Line 11">
            <a:extLst>
              <a:ext uri="{FF2B5EF4-FFF2-40B4-BE49-F238E27FC236}">
                <a16:creationId xmlns:a16="http://schemas.microsoft.com/office/drawing/2014/main" id="{71B4C715-FCA0-3E08-4A68-7A18EA54D53D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36357" y="3758857"/>
            <a:ext cx="607128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Line 52">
            <a:extLst>
              <a:ext uri="{FF2B5EF4-FFF2-40B4-BE49-F238E27FC236}">
                <a16:creationId xmlns:a16="http://schemas.microsoft.com/office/drawing/2014/main" id="{A84D38DF-717F-BBD3-2522-B2D6DADAD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B9A6F567-8A1B-EAA9-4102-2E8CF2D3AC9D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Text Box 4">
            <a:extLst>
              <a:ext uri="{FF2B5EF4-FFF2-40B4-BE49-F238E27FC236}">
                <a16:creationId xmlns:a16="http://schemas.microsoft.com/office/drawing/2014/main" id="{D5AB0F45-7289-F50E-4D7F-FE33BFF47F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4E67077-89CF-A23C-1A20-E9426648BCAB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72E074E1-01B3-F796-459B-639B44DFB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A566BB0-C82E-45C1-74E9-7ABF6F61D19D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Text Box 4">
            <a:extLst>
              <a:ext uri="{FF2B5EF4-FFF2-40B4-BE49-F238E27FC236}">
                <a16:creationId xmlns:a16="http://schemas.microsoft.com/office/drawing/2014/main" id="{724D2DF9-76A0-E350-A94E-70C80E991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BD78F80-71EC-184C-FB91-81B2BF2E3100}"/>
              </a:ext>
            </a:extLst>
          </p:cNvPr>
          <p:cNvSpPr txBox="1"/>
          <p:nvPr/>
        </p:nvSpPr>
        <p:spPr>
          <a:xfrm>
            <a:off x="251732" y="994673"/>
            <a:ext cx="1361142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Lower</a:t>
            </a:r>
            <a:r>
              <a:rPr kumimoji="1" lang="ko-KR" alt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 </a:t>
            </a: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Oven </a:t>
            </a:r>
            <a:r>
              <a:rPr kumimoji="1" lang="en-US" altLang="ko-K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Ass’y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돋움" pitchFamily="50" charset="-127"/>
              <a:cs typeface="Arial" charset="0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C21516D3-5BA3-87FF-11F2-158FDCE9B1DF}"/>
              </a:ext>
            </a:extLst>
          </p:cNvPr>
          <p:cNvSpPr/>
          <p:nvPr/>
        </p:nvSpPr>
        <p:spPr>
          <a:xfrm>
            <a:off x="3932745" y="3154362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4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DAA16812-5CD6-3A49-E538-99CE935B7DEA}"/>
              </a:ext>
            </a:extLst>
          </p:cNvPr>
          <p:cNvCxnSpPr>
            <a:cxnSpLocks/>
            <a:stCxn id="18" idx="2"/>
          </p:cNvCxnSpPr>
          <p:nvPr/>
        </p:nvCxnSpPr>
        <p:spPr>
          <a:xfrm flipH="1" flipV="1">
            <a:off x="3606942" y="3200154"/>
            <a:ext cx="325803" cy="6215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83BF23F-E258-0003-C381-FBF6B2ED0CEC}"/>
              </a:ext>
            </a:extLst>
          </p:cNvPr>
          <p:cNvGrpSpPr/>
          <p:nvPr/>
        </p:nvGrpSpPr>
        <p:grpSpPr>
          <a:xfrm>
            <a:off x="1028293" y="2089725"/>
            <a:ext cx="215900" cy="215900"/>
            <a:chOff x="-1119257" y="3128859"/>
            <a:chExt cx="215900" cy="215900"/>
          </a:xfrm>
        </p:grpSpPr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D8F02EC3-A632-3CB5-51F9-AB564E3A2642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D149B35-25C2-1FD4-E7B4-9A17EB0857A1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221A6DD3-6146-CC7F-439B-CA5B12613D4C}"/>
              </a:ext>
            </a:extLst>
          </p:cNvPr>
          <p:cNvCxnSpPr>
            <a:cxnSpLocks/>
          </p:cNvCxnSpPr>
          <p:nvPr/>
        </p:nvCxnSpPr>
        <p:spPr>
          <a:xfrm>
            <a:off x="1166015" y="2310480"/>
            <a:ext cx="145286" cy="31983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E747C6A7-BF22-61FA-EFCD-C04503ABE2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400186"/>
              </p:ext>
            </p:extLst>
          </p:nvPr>
        </p:nvGraphicFramePr>
        <p:xfrm>
          <a:off x="4664969" y="1276349"/>
          <a:ext cx="4884883" cy="5486400"/>
        </p:xfrm>
        <a:graphic>
          <a:graphicData uri="http://schemas.openxmlformats.org/drawingml/2006/table">
            <a:tbl>
              <a:tblPr/>
              <a:tblGrid>
                <a:gridCol w="230358">
                  <a:extLst>
                    <a:ext uri="{9D8B030D-6E8A-4147-A177-3AD203B41FA5}">
                      <a16:colId xmlns:a16="http://schemas.microsoft.com/office/drawing/2014/main" val="1345306397"/>
                    </a:ext>
                  </a:extLst>
                </a:gridCol>
                <a:gridCol w="194122">
                  <a:extLst>
                    <a:ext uri="{9D8B030D-6E8A-4147-A177-3AD203B41FA5}">
                      <a16:colId xmlns:a16="http://schemas.microsoft.com/office/drawing/2014/main" val="2349866729"/>
                    </a:ext>
                  </a:extLst>
                </a:gridCol>
                <a:gridCol w="625671">
                  <a:extLst>
                    <a:ext uri="{9D8B030D-6E8A-4147-A177-3AD203B41FA5}">
                      <a16:colId xmlns:a16="http://schemas.microsoft.com/office/drawing/2014/main" val="2624753070"/>
                    </a:ext>
                  </a:extLst>
                </a:gridCol>
                <a:gridCol w="625671">
                  <a:extLst>
                    <a:ext uri="{9D8B030D-6E8A-4147-A177-3AD203B41FA5}">
                      <a16:colId xmlns:a16="http://schemas.microsoft.com/office/drawing/2014/main" val="2023219766"/>
                    </a:ext>
                  </a:extLst>
                </a:gridCol>
                <a:gridCol w="1057951">
                  <a:extLst>
                    <a:ext uri="{9D8B030D-6E8A-4147-A177-3AD203B41FA5}">
                      <a16:colId xmlns:a16="http://schemas.microsoft.com/office/drawing/2014/main" val="2470629165"/>
                    </a:ext>
                  </a:extLst>
                </a:gridCol>
                <a:gridCol w="295773">
                  <a:extLst>
                    <a:ext uri="{9D8B030D-6E8A-4147-A177-3AD203B41FA5}">
                      <a16:colId xmlns:a16="http://schemas.microsoft.com/office/drawing/2014/main" val="3149039872"/>
                    </a:ext>
                  </a:extLst>
                </a:gridCol>
                <a:gridCol w="285473">
                  <a:extLst>
                    <a:ext uri="{9D8B030D-6E8A-4147-A177-3AD203B41FA5}">
                      <a16:colId xmlns:a16="http://schemas.microsoft.com/office/drawing/2014/main" val="2242628770"/>
                    </a:ext>
                  </a:extLst>
                </a:gridCol>
                <a:gridCol w="1569864">
                  <a:extLst>
                    <a:ext uri="{9D8B030D-6E8A-4147-A177-3AD203B41FA5}">
                      <a16:colId xmlns:a16="http://schemas.microsoft.com/office/drawing/2014/main" val="1637815739"/>
                    </a:ext>
                  </a:extLst>
                </a:gridCol>
              </a:tblGrid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변경점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639476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ABU74573307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Cavity Assembly,Full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423933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ABU73833314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Cavity Assembly,welding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32329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ABU73833313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Cavity Assembly,welding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(4.3 cu.ft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cu.ft)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627823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MGJ64584203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Plate,U Bending(Lower)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697163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MGJ64430303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Plate,Flat(Lower)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cu.ft Cavity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0.8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0.7t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0215785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MGJ64429402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Plate,Upper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Cavity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0.7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0.6t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37893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MGJ64430508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Plate,Front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cu.ft Cavity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0.8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0.7t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562819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AGU75009004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 Assembly,Rear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6102616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MGJ64430404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Plate,Rear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Cavity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두께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0.7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0.6t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478743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4810W1A282D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Bracket,Motor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059438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4810W1N019A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Bracket,Mount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57281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RAB33372905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Paint,Powder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0.8151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쾌속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셀프클린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법랑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231734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MFZ64539702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Packing,Gasket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cu.ft Cavity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용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Packing, Gasket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653208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EAQ62881201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Lamp,Halogen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28079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3920W1N013A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Packing,Gasket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242352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EBG61305805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Thermistor,PTC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00879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MAZ64788501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Bracket,Hinge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457214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MAZ40417401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Bracket,Motor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105162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MEE62865003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853630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EAG43128002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Jack,DC Power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793535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MEE61945105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MEE62306506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3800W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4200W (Single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490415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MAZ64548501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MAZ63491303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Bracket,Heater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Broil Heater Bracket (Single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공용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670672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AJV73149701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cu.ft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Cavity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Vent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381503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MJZ62162701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cu.ft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Cavity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Vent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19075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MJZ62162801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cu.ft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Cavity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Vent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02653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5230W1N001J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Filter,Charcoal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994039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AEV73249803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Insulator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신규개발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 Cavity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4552573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MEV65115003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Insulator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신규개발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cu.ft Cavity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769613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AGU75048204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 Assembly,Base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55815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MGJ64431102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Plate,Base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169997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4778W1N001A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Foot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Unicode MS"/>
                          <a:ea typeface="맑은 고딕" panose="020B0503020000020004" pitchFamily="50" charset="-127"/>
                        </a:rPr>
                        <a:t>→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Unicode MS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수량변경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6367505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4778W1N001A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MDP64335102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Foot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전면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Foot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지지구조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보강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08180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MGJ67041801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Plate,Base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514307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MJH66325501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Supporter,Holder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334571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EAU63303815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EAU65090301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Motor Assembly,AC,Fan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BLDC Motor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Inverter Pro-Bake)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133677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ABA75389602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Bracket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287236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4980W1N013A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Supporter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567968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MAK61907202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351934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EBF60663403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EBF60663404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Switch,Tact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동난전자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Tact S/W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1427305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MDG62882901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MDG63965901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Fan,Convection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Inverter Pro-Bake, Fan Blade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8505343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AAL73409604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 Assembly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4495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MCK68473118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Cover,Heater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하위변경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667495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AGF79478703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Paint,Powder,C/SKD 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0.1637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쾌속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셀프클린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법랑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13038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MCK68473111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MCK68473113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Cover,Heater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Inverter Pro-Bake, Fan Cover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5572854"/>
                  </a:ext>
                </a:extLst>
              </a:tr>
            </a:tbl>
          </a:graphicData>
        </a:graphic>
      </p:graphicFrame>
      <p:sp>
        <p:nvSpPr>
          <p:cNvPr id="25" name="타원 24">
            <a:extLst>
              <a:ext uri="{FF2B5EF4-FFF2-40B4-BE49-F238E27FC236}">
                <a16:creationId xmlns:a16="http://schemas.microsoft.com/office/drawing/2014/main" id="{A172221E-6638-FC5E-A74E-F9B2AC9FD8DD}"/>
              </a:ext>
            </a:extLst>
          </p:cNvPr>
          <p:cNvSpPr/>
          <p:nvPr/>
        </p:nvSpPr>
        <p:spPr>
          <a:xfrm>
            <a:off x="4165365" y="3154362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EBF6451-E3B7-56E0-601F-9BB904D9DB86}"/>
              </a:ext>
            </a:extLst>
          </p:cNvPr>
          <p:cNvSpPr/>
          <p:nvPr/>
        </p:nvSpPr>
        <p:spPr>
          <a:xfrm>
            <a:off x="3824795" y="2564904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6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B3CDB157-743C-43A8-31C1-58E6C05167CF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3460816" y="2672854"/>
            <a:ext cx="363979" cy="10795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타원 27">
            <a:extLst>
              <a:ext uri="{FF2B5EF4-FFF2-40B4-BE49-F238E27FC236}">
                <a16:creationId xmlns:a16="http://schemas.microsoft.com/office/drawing/2014/main" id="{01699E00-D294-498E-D190-09A5BCFF7615}"/>
              </a:ext>
            </a:extLst>
          </p:cNvPr>
          <p:cNvSpPr/>
          <p:nvPr/>
        </p:nvSpPr>
        <p:spPr>
          <a:xfrm>
            <a:off x="2024635" y="2349004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7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E157BB5C-8D5F-F921-4CFF-74C73552B7B6}"/>
              </a:ext>
            </a:extLst>
          </p:cNvPr>
          <p:cNvCxnSpPr>
            <a:cxnSpLocks/>
            <a:stCxn id="28" idx="4"/>
          </p:cNvCxnSpPr>
          <p:nvPr/>
        </p:nvCxnSpPr>
        <p:spPr>
          <a:xfrm>
            <a:off x="2132585" y="2564904"/>
            <a:ext cx="156119" cy="24456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타원 29">
            <a:extLst>
              <a:ext uri="{FF2B5EF4-FFF2-40B4-BE49-F238E27FC236}">
                <a16:creationId xmlns:a16="http://schemas.microsoft.com/office/drawing/2014/main" id="{7D0448E4-E9C8-2130-12C7-3DF20FB41B38}"/>
              </a:ext>
            </a:extLst>
          </p:cNvPr>
          <p:cNvSpPr/>
          <p:nvPr/>
        </p:nvSpPr>
        <p:spPr>
          <a:xfrm>
            <a:off x="3613452" y="2076318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8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9205B2D0-8E26-9C02-DF64-616286C58898}"/>
              </a:ext>
            </a:extLst>
          </p:cNvPr>
          <p:cNvCxnSpPr>
            <a:cxnSpLocks/>
            <a:stCxn id="30" idx="3"/>
          </p:cNvCxnSpPr>
          <p:nvPr/>
        </p:nvCxnSpPr>
        <p:spPr>
          <a:xfrm flipH="1">
            <a:off x="3377718" y="2260600"/>
            <a:ext cx="267352" cy="45096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17340E76-CAA0-53A3-DC7B-F20221AA709C}"/>
              </a:ext>
            </a:extLst>
          </p:cNvPr>
          <p:cNvSpPr/>
          <p:nvPr/>
        </p:nvSpPr>
        <p:spPr>
          <a:xfrm>
            <a:off x="3809813" y="2076318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9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292ECFE8-2E96-8045-0004-B531D4075131}"/>
              </a:ext>
            </a:extLst>
          </p:cNvPr>
          <p:cNvCxnSpPr>
            <a:cxnSpLocks/>
            <a:stCxn id="36" idx="0"/>
          </p:cNvCxnSpPr>
          <p:nvPr/>
        </p:nvCxnSpPr>
        <p:spPr>
          <a:xfrm flipV="1">
            <a:off x="769438" y="4146697"/>
            <a:ext cx="40033" cy="22004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C09609D3-9EFB-E6B3-2E2E-2DC929A0EE0B}"/>
              </a:ext>
            </a:extLst>
          </p:cNvPr>
          <p:cNvGrpSpPr/>
          <p:nvPr/>
        </p:nvGrpSpPr>
        <p:grpSpPr>
          <a:xfrm>
            <a:off x="606573" y="4366745"/>
            <a:ext cx="325730" cy="246221"/>
            <a:chOff x="606573" y="4366745"/>
            <a:chExt cx="325730" cy="246221"/>
          </a:xfrm>
        </p:grpSpPr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1A35A2D8-E3D8-112D-F95F-CD86D06CE48F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7C0BF833-1C1E-FBA8-B90C-26C2B6FC4D19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A9360B1-2E09-809E-CF3E-C266041748E3}"/>
              </a:ext>
            </a:extLst>
          </p:cNvPr>
          <p:cNvGrpSpPr/>
          <p:nvPr/>
        </p:nvGrpSpPr>
        <p:grpSpPr>
          <a:xfrm>
            <a:off x="4091774" y="1843504"/>
            <a:ext cx="325730" cy="246221"/>
            <a:chOff x="606573" y="4366745"/>
            <a:chExt cx="325730" cy="246221"/>
          </a:xfrm>
        </p:grpSpPr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C39D4EFA-9475-2705-08FD-69EFE533EF4A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E450A54-13C0-4E6A-B498-A99B7E32166B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CDE88217-E230-8635-0511-251D264610F3}"/>
              </a:ext>
            </a:extLst>
          </p:cNvPr>
          <p:cNvCxnSpPr>
            <a:cxnSpLocks/>
          </p:cNvCxnSpPr>
          <p:nvPr/>
        </p:nvCxnSpPr>
        <p:spPr>
          <a:xfrm flipH="1">
            <a:off x="3882601" y="2033498"/>
            <a:ext cx="353600" cy="41225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928627BB-B2C5-C08B-9CE4-CCED793B6BFE}"/>
              </a:ext>
            </a:extLst>
          </p:cNvPr>
          <p:cNvGrpSpPr/>
          <p:nvPr/>
        </p:nvGrpSpPr>
        <p:grpSpPr>
          <a:xfrm>
            <a:off x="785108" y="2206972"/>
            <a:ext cx="215900" cy="215900"/>
            <a:chOff x="-1119257" y="3128859"/>
            <a:chExt cx="215900" cy="215900"/>
          </a:xfrm>
        </p:grpSpPr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326872D8-79AE-A068-DD21-287274DFB725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53735CF-E4E1-80F0-AFEA-2445895D0A49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512D9F47-6564-48BA-26FF-EBCF99631BD3}"/>
              </a:ext>
            </a:extLst>
          </p:cNvPr>
          <p:cNvCxnSpPr>
            <a:cxnSpLocks/>
            <a:stCxn id="42" idx="5"/>
          </p:cNvCxnSpPr>
          <p:nvPr/>
        </p:nvCxnSpPr>
        <p:spPr>
          <a:xfrm>
            <a:off x="969390" y="2391254"/>
            <a:ext cx="210584" cy="34844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1A7EFBE-E633-5E41-FBF6-70B31E64E015}"/>
              </a:ext>
            </a:extLst>
          </p:cNvPr>
          <p:cNvGrpSpPr/>
          <p:nvPr/>
        </p:nvGrpSpPr>
        <p:grpSpPr>
          <a:xfrm>
            <a:off x="1396974" y="5251424"/>
            <a:ext cx="215900" cy="215900"/>
            <a:chOff x="-1119257" y="3128859"/>
            <a:chExt cx="215900" cy="215900"/>
          </a:xfrm>
        </p:grpSpPr>
        <p:sp>
          <p:nvSpPr>
            <p:cNvPr id="46" name="타원 45">
              <a:extLst>
                <a:ext uri="{FF2B5EF4-FFF2-40B4-BE49-F238E27FC236}">
                  <a16:creationId xmlns:a16="http://schemas.microsoft.com/office/drawing/2014/main" id="{858BDA4C-3B60-F74D-3CA6-58D18E2D4DA7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5ADF48A-A03F-3FAF-E185-DD3F1F3A8C6D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F9057F66-DC0C-C331-495D-7105F934DC5D}"/>
              </a:ext>
            </a:extLst>
          </p:cNvPr>
          <p:cNvCxnSpPr>
            <a:cxnSpLocks/>
            <a:stCxn id="46" idx="6"/>
          </p:cNvCxnSpPr>
          <p:nvPr/>
        </p:nvCxnSpPr>
        <p:spPr>
          <a:xfrm flipV="1">
            <a:off x="1612874" y="5323211"/>
            <a:ext cx="675830" cy="3616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7E598236-775F-39E3-7D90-50205FEFAB94}"/>
              </a:ext>
            </a:extLst>
          </p:cNvPr>
          <p:cNvCxnSpPr>
            <a:cxnSpLocks/>
            <a:stCxn id="46" idx="0"/>
          </p:cNvCxnSpPr>
          <p:nvPr/>
        </p:nvCxnSpPr>
        <p:spPr>
          <a:xfrm flipH="1" flipV="1">
            <a:off x="1451471" y="4869160"/>
            <a:ext cx="53453" cy="38226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A39C29B8-3235-A8B4-F1B6-89AE3FBA579C}"/>
              </a:ext>
            </a:extLst>
          </p:cNvPr>
          <p:cNvGrpSpPr/>
          <p:nvPr/>
        </p:nvGrpSpPr>
        <p:grpSpPr>
          <a:xfrm>
            <a:off x="4235148" y="2470533"/>
            <a:ext cx="215900" cy="215900"/>
            <a:chOff x="-1119257" y="3128859"/>
            <a:chExt cx="215900" cy="215900"/>
          </a:xfrm>
        </p:grpSpPr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29E2312B-14C1-3D57-04D0-C12E81F8D157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5663C00-C800-E845-F6C9-8BA0DEA117C0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30E0F543-C4B8-0EFB-C24E-8212BB4AD89D}"/>
              </a:ext>
            </a:extLst>
          </p:cNvPr>
          <p:cNvCxnSpPr>
            <a:cxnSpLocks/>
            <a:stCxn id="51" idx="3"/>
          </p:cNvCxnSpPr>
          <p:nvPr/>
        </p:nvCxnSpPr>
        <p:spPr>
          <a:xfrm flipH="1">
            <a:off x="4181290" y="2654815"/>
            <a:ext cx="85476" cy="10513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286CC237-A10E-1245-B64A-636AE4CE79ED}"/>
              </a:ext>
            </a:extLst>
          </p:cNvPr>
          <p:cNvGrpSpPr/>
          <p:nvPr/>
        </p:nvGrpSpPr>
        <p:grpSpPr>
          <a:xfrm>
            <a:off x="2275012" y="1873825"/>
            <a:ext cx="215900" cy="215900"/>
            <a:chOff x="-1119257" y="3128859"/>
            <a:chExt cx="215900" cy="215900"/>
          </a:xfrm>
        </p:grpSpPr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706F2F61-0061-BA16-C8D7-66C10A097C07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4AD55CE6-6231-CD40-7D4B-ADD4A8B8C48F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39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B5BC211E-8504-5930-6FB2-6ED2DDCBDB2F}"/>
              </a:ext>
            </a:extLst>
          </p:cNvPr>
          <p:cNvCxnSpPr>
            <a:cxnSpLocks/>
            <a:stCxn id="55" idx="4"/>
          </p:cNvCxnSpPr>
          <p:nvPr/>
        </p:nvCxnSpPr>
        <p:spPr>
          <a:xfrm>
            <a:off x="2382962" y="2089725"/>
            <a:ext cx="26694" cy="43095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DC029EA-766F-9955-845F-3E833F17221E}"/>
              </a:ext>
            </a:extLst>
          </p:cNvPr>
          <p:cNvGrpSpPr/>
          <p:nvPr/>
        </p:nvGrpSpPr>
        <p:grpSpPr>
          <a:xfrm>
            <a:off x="1136243" y="3010301"/>
            <a:ext cx="215900" cy="215900"/>
            <a:chOff x="-1119257" y="3128859"/>
            <a:chExt cx="215900" cy="215900"/>
          </a:xfrm>
        </p:grpSpPr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C217A87E-3660-5EE2-D86D-D965F9AD4068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764F6084-B7C5-6C76-597F-FE69D7C7D886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4FF985EA-6A10-6BCC-CAAF-C6AAAB580BE5}"/>
              </a:ext>
            </a:extLst>
          </p:cNvPr>
          <p:cNvCxnSpPr>
            <a:cxnSpLocks/>
            <a:stCxn id="59" idx="6"/>
          </p:cNvCxnSpPr>
          <p:nvPr/>
        </p:nvCxnSpPr>
        <p:spPr>
          <a:xfrm>
            <a:off x="1352143" y="3118251"/>
            <a:ext cx="383868" cy="25201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0C5A8387-0E56-FFC0-7FC2-1F46CBC0DE59}"/>
              </a:ext>
            </a:extLst>
          </p:cNvPr>
          <p:cNvGrpSpPr/>
          <p:nvPr/>
        </p:nvGrpSpPr>
        <p:grpSpPr>
          <a:xfrm>
            <a:off x="793831" y="3141454"/>
            <a:ext cx="215900" cy="215900"/>
            <a:chOff x="-1119257" y="3128859"/>
            <a:chExt cx="215900" cy="215900"/>
          </a:xfrm>
        </p:grpSpPr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2DAEFE90-F5B8-DA8E-03FE-46EEED61B7C2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9B4B7958-5C2A-B975-5AC9-BB4CBA05D554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1C079B2F-5410-DB25-D631-895299F059CF}"/>
              </a:ext>
            </a:extLst>
          </p:cNvPr>
          <p:cNvCxnSpPr>
            <a:cxnSpLocks/>
            <a:stCxn id="63" idx="5"/>
          </p:cNvCxnSpPr>
          <p:nvPr/>
        </p:nvCxnSpPr>
        <p:spPr>
          <a:xfrm>
            <a:off x="978113" y="3325736"/>
            <a:ext cx="311434" cy="9635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79DFD24B-5ECF-D694-E61E-4D8E029185C1}"/>
              </a:ext>
            </a:extLst>
          </p:cNvPr>
          <p:cNvGrpSpPr/>
          <p:nvPr/>
        </p:nvGrpSpPr>
        <p:grpSpPr>
          <a:xfrm>
            <a:off x="523538" y="3139201"/>
            <a:ext cx="325730" cy="246221"/>
            <a:chOff x="606573" y="4366745"/>
            <a:chExt cx="325730" cy="246221"/>
          </a:xfrm>
        </p:grpSpPr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9E80A33D-EC73-60C9-5B49-3DF9FF52C642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DF57BAF-2080-09D9-CD6B-C87E8AFF8679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42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69" name="실행 단추: 끝으로 이동 68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06809EDF-FFC3-D6C3-A0D0-47ECDE89E4D3}"/>
              </a:ext>
            </a:extLst>
          </p:cNvPr>
          <p:cNvSpPr/>
          <p:nvPr/>
        </p:nvSpPr>
        <p:spPr>
          <a:xfrm>
            <a:off x="9606420" y="2953881"/>
            <a:ext cx="173701" cy="1737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0BCB4BDB-6358-C9B7-C919-5CB0CAE52282}"/>
              </a:ext>
            </a:extLst>
          </p:cNvPr>
          <p:cNvGrpSpPr/>
          <p:nvPr/>
        </p:nvGrpSpPr>
        <p:grpSpPr>
          <a:xfrm>
            <a:off x="3705836" y="3576623"/>
            <a:ext cx="325730" cy="246221"/>
            <a:chOff x="606573" y="4366745"/>
            <a:chExt cx="325730" cy="246221"/>
          </a:xfrm>
        </p:grpSpPr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3736037D-61CF-1622-2A58-9D5D70863FDC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574D18C5-9F0E-CFDA-28F6-3734CF1EC47D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A981B385-10F9-7CB8-EEC6-96D7B35C267F}"/>
              </a:ext>
            </a:extLst>
          </p:cNvPr>
          <p:cNvSpPr txBox="1"/>
          <p:nvPr/>
        </p:nvSpPr>
        <p:spPr>
          <a:xfrm>
            <a:off x="3653892" y="3773228"/>
            <a:ext cx="4523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법랑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Powder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AB79B887-1FF6-A3E3-20B8-38EE95219826}"/>
              </a:ext>
            </a:extLst>
          </p:cNvPr>
          <p:cNvGrpSpPr/>
          <p:nvPr/>
        </p:nvGrpSpPr>
        <p:grpSpPr>
          <a:xfrm>
            <a:off x="3738721" y="1096574"/>
            <a:ext cx="325730" cy="246221"/>
            <a:chOff x="606573" y="4366745"/>
            <a:chExt cx="325730" cy="246221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2294EBC6-FD78-F6F9-0D61-1DF910ACBCA7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F7B058D-3F7E-30C7-6D0A-B99DA10ED1FC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23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505A68F8-D642-D1E9-2F8B-2694C7926798}"/>
              </a:ext>
            </a:extLst>
          </p:cNvPr>
          <p:cNvCxnSpPr>
            <a:cxnSpLocks/>
            <a:stCxn id="76" idx="2"/>
          </p:cNvCxnSpPr>
          <p:nvPr/>
        </p:nvCxnSpPr>
        <p:spPr>
          <a:xfrm flipH="1">
            <a:off x="3547986" y="1342795"/>
            <a:ext cx="353600" cy="41225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7E915C24-C605-0784-2040-23D31DAFAC1F}"/>
              </a:ext>
            </a:extLst>
          </p:cNvPr>
          <p:cNvGrpSpPr/>
          <p:nvPr/>
        </p:nvGrpSpPr>
        <p:grpSpPr>
          <a:xfrm>
            <a:off x="3959673" y="1096574"/>
            <a:ext cx="325730" cy="246221"/>
            <a:chOff x="606573" y="4366745"/>
            <a:chExt cx="325730" cy="246221"/>
          </a:xfrm>
        </p:grpSpPr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0F8F70E5-C1E5-E5E1-B693-8E3C0798DA50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64BF5190-F559-D1BA-453B-11C605885D55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24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73A907A3-BE9A-20E8-938E-A62F6FBF287C}"/>
              </a:ext>
            </a:extLst>
          </p:cNvPr>
          <p:cNvGrpSpPr/>
          <p:nvPr/>
        </p:nvGrpSpPr>
        <p:grpSpPr>
          <a:xfrm>
            <a:off x="4176644" y="1096574"/>
            <a:ext cx="325730" cy="246221"/>
            <a:chOff x="606573" y="4366745"/>
            <a:chExt cx="325730" cy="246221"/>
          </a:xfrm>
        </p:grpSpPr>
        <p:sp>
          <p:nvSpPr>
            <p:cNvPr id="82" name="타원 81">
              <a:extLst>
                <a:ext uri="{FF2B5EF4-FFF2-40B4-BE49-F238E27FC236}">
                  <a16:creationId xmlns:a16="http://schemas.microsoft.com/office/drawing/2014/main" id="{B48DB17B-B1C5-D0DF-1515-C0BE6EB55BDF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AB4795C-7E5A-42E9-D381-ACA1F6C156B6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25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F29CDE-149C-024C-A83E-F59514A8C18B}"/>
              </a:ext>
            </a:extLst>
          </p:cNvPr>
          <p:cNvSpPr/>
          <p:nvPr/>
        </p:nvSpPr>
        <p:spPr bwMode="auto">
          <a:xfrm>
            <a:off x="252265" y="6014438"/>
            <a:ext cx="2988246" cy="715161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Cavity Size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: 4.3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.1 </a:t>
            </a:r>
            <a:r>
              <a:rPr kumimoji="1" lang="en-US" altLang="ko-KR" sz="800" i="0" u="none" strike="noStrike" cap="none" normalizeH="0" baseline="0" dirty="0" err="1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Cu.ft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(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Wall Oven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신모델 공용 적용예정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1" lang="en-US" altLang="ko-KR" sz="800" i="0" u="none" strike="noStrike" cap="none" normalizeH="0" baseline="0" dirty="0">
              <a:ln>
                <a:noFill/>
              </a:ln>
              <a:solidFill>
                <a:srgbClr val="0066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②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Oven Lamp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변경 및 위치 좌측 전면으로 이동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③ 쾌속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Self Clean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법랑 적용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089857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8E6C484-512C-8DAE-E36B-8CACB8056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66310B99-0EFA-2D55-0990-BEC8609F7288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131187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Appendix.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Lamp Spec.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변경 계획</a:t>
            </a:r>
            <a:endParaRPr kumimoji="1" lang="en-US" altLang="ko-KR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F1A0CEA-4845-4476-372E-F80A2F345A7F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E6A0816-0508-1C1A-9D2C-D96A5F477F43}"/>
              </a:ext>
            </a:extLst>
          </p:cNvPr>
          <p:cNvGraphicFramePr>
            <a:graphicFrameLocks noGrp="1"/>
          </p:cNvGraphicFramePr>
          <p:nvPr/>
        </p:nvGraphicFramePr>
        <p:xfrm>
          <a:off x="337474" y="4181067"/>
          <a:ext cx="1651000" cy="1021556"/>
        </p:xfrm>
        <a:graphic>
          <a:graphicData uri="http://schemas.openxmlformats.org/drawingml/2006/table">
            <a:tbl>
              <a:tblPr/>
              <a:tblGrid>
                <a:gridCol w="825500">
                  <a:extLst>
                    <a:ext uri="{9D8B030D-6E8A-4147-A177-3AD203B41FA5}">
                      <a16:colId xmlns:a16="http://schemas.microsoft.com/office/drawing/2014/main" val="392630162"/>
                    </a:ext>
                  </a:extLst>
                </a:gridCol>
                <a:gridCol w="825500">
                  <a:extLst>
                    <a:ext uri="{9D8B030D-6E8A-4147-A177-3AD203B41FA5}">
                      <a16:colId xmlns:a16="http://schemas.microsoft.com/office/drawing/2014/main" val="2503378167"/>
                    </a:ext>
                  </a:extLst>
                </a:gridCol>
              </a:tblGrid>
              <a:tr h="170259">
                <a:tc>
                  <a:txBody>
                    <a:bodyPr/>
                    <a:lstStyle>
                      <a:lvl1pPr marL="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1694168"/>
                  </a:ext>
                </a:extLst>
              </a:tr>
              <a:tr h="170259">
                <a:tc>
                  <a:txBody>
                    <a:bodyPr/>
                    <a:lstStyle>
                      <a:lvl1pPr marL="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120V - 40W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120V - 60W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2513919"/>
                  </a:ext>
                </a:extLst>
              </a:tr>
              <a:tr h="681038">
                <a:tc>
                  <a:txBody>
                    <a:bodyPr/>
                    <a:lstStyle>
                      <a:lvl1pPr marL="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1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3040386"/>
                  </a:ext>
                </a:extLst>
              </a:tr>
            </a:tbl>
          </a:graphicData>
        </a:graphic>
      </p:graphicFrame>
      <p:pic>
        <p:nvPicPr>
          <p:cNvPr id="3" name="그림 2">
            <a:extLst>
              <a:ext uri="{FF2B5EF4-FFF2-40B4-BE49-F238E27FC236}">
                <a16:creationId xmlns:a16="http://schemas.microsoft.com/office/drawing/2014/main" id="{80830819-B876-2DDA-C21D-76906A28C6D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6624" y="4568272"/>
            <a:ext cx="429518" cy="42564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F99DDC9-C6DA-0129-231B-52541CAF48C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05291" y="4545054"/>
            <a:ext cx="753269" cy="47208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E971503-AC1C-A66E-98A3-B7CA93EC0B39}"/>
              </a:ext>
            </a:extLst>
          </p:cNvPr>
          <p:cNvSpPr txBox="1"/>
          <p:nvPr/>
        </p:nvSpPr>
        <p:spPr>
          <a:xfrm>
            <a:off x="123566" y="706532"/>
            <a:ext cx="2890535" cy="2548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43173" marR="0" lvl="0" indent="-143173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ko-KR" altLang="en-US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변경목적 </a:t>
            </a:r>
            <a:r>
              <a:rPr kumimoji="1" lang="en-US" altLang="ko-KR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 </a:t>
            </a:r>
            <a:r>
              <a:rPr kumimoji="1" lang="ko-KR" altLang="en-US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고내 </a:t>
            </a:r>
            <a:r>
              <a:rPr kumimoji="1" lang="ko-KR" altLang="en-US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조도 개선</a:t>
            </a:r>
            <a:r>
              <a:rPr kumimoji="1" lang="en-US" altLang="ko-KR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1" lang="ko-KR" altLang="en-US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외관감성기술팀 요청</a:t>
            </a:r>
            <a:r>
              <a:rPr kumimoji="1" lang="en-US" altLang="ko-KR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)</a:t>
            </a:r>
            <a:endParaRPr kumimoji="1" lang="ko-KR" altLang="en-US" sz="1056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BA2FA0B-49DB-EA66-4AB8-46889529C6B3}"/>
              </a:ext>
            </a:extLst>
          </p:cNvPr>
          <p:cNvGrpSpPr/>
          <p:nvPr/>
        </p:nvGrpSpPr>
        <p:grpSpPr>
          <a:xfrm>
            <a:off x="3951575" y="1233409"/>
            <a:ext cx="2233249" cy="1342252"/>
            <a:chOff x="4520952" y="818996"/>
            <a:chExt cx="4380011" cy="2632522"/>
          </a:xfrm>
        </p:grpSpPr>
        <p:pic>
          <p:nvPicPr>
            <p:cNvPr id="8" name="그림 7">
              <a:extLst>
                <a:ext uri="{FF2B5EF4-FFF2-40B4-BE49-F238E27FC236}">
                  <a16:creationId xmlns:a16="http://schemas.microsoft.com/office/drawing/2014/main" id="{9BDD05B6-EDC9-E35C-667E-F7FA5B49D77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520952" y="818996"/>
              <a:ext cx="4380011" cy="2632522"/>
            </a:xfrm>
            <a:prstGeom prst="rect">
              <a:avLst/>
            </a:prstGeom>
          </p:spPr>
        </p:pic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57A28616-FE01-5399-6183-6549E6AFD4D5}"/>
                </a:ext>
              </a:extLst>
            </p:cNvPr>
            <p:cNvSpPr/>
            <p:nvPr/>
          </p:nvSpPr>
          <p:spPr>
            <a:xfrm>
              <a:off x="5158277" y="1112687"/>
              <a:ext cx="458061" cy="530514"/>
            </a:xfrm>
            <a:prstGeom prst="ellipse">
              <a:avLst/>
            </a:prstGeom>
            <a:ln>
              <a:solidFill>
                <a:srgbClr val="FF0000"/>
              </a:solidFill>
            </a:ln>
          </p:spPr>
          <p:txBody>
            <a:bodyPr wrap="square" rtlCol="0" anchor="ctr">
              <a:spAutoFit/>
            </a:bodyPr>
            <a:lstStyle/>
            <a:p>
              <a:pPr marL="0" marR="0" lvl="0" indent="0" algn="r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6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돋움" pitchFamily="50" charset="-127"/>
                <a:ea typeface="돋움" pitchFamily="50" charset="-127"/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24525073-8BA1-07EC-F963-F6022BFAA93B}"/>
              </a:ext>
            </a:extLst>
          </p:cNvPr>
          <p:cNvSpPr txBox="1"/>
          <p:nvPr/>
        </p:nvSpPr>
        <p:spPr>
          <a:xfrm>
            <a:off x="3850798" y="706532"/>
            <a:ext cx="1611339" cy="2548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43173" marR="0" lvl="0" indent="-143173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ko-KR" altLang="en-US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기존 위치 </a:t>
            </a:r>
            <a:r>
              <a:rPr kumimoji="1" lang="en-US" altLang="ko-KR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 Cavity Rear</a:t>
            </a:r>
            <a:endParaRPr kumimoji="1" lang="ko-KR" altLang="en-US" sz="1056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2304309-6278-89A7-4416-144B060D22E7}"/>
              </a:ext>
            </a:extLst>
          </p:cNvPr>
          <p:cNvSpPr txBox="1"/>
          <p:nvPr/>
        </p:nvSpPr>
        <p:spPr>
          <a:xfrm>
            <a:off x="6806293" y="706532"/>
            <a:ext cx="2425664" cy="2548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43173" marR="0" lvl="0" indent="-143173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ko-KR" altLang="en-US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변경 위치 </a:t>
            </a:r>
            <a:r>
              <a:rPr kumimoji="1" lang="en-US" altLang="ko-KR" sz="1056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 Cavity Upper (Front </a:t>
            </a:r>
            <a:r>
              <a:rPr kumimoji="1" lang="en-US" altLang="ko-KR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Left)</a:t>
            </a:r>
            <a:endParaRPr kumimoji="1" lang="en-US" altLang="ko-KR" sz="1056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C118200-9169-A444-0542-87714F58F5A6}"/>
              </a:ext>
            </a:extLst>
          </p:cNvPr>
          <p:cNvGrpSpPr/>
          <p:nvPr/>
        </p:nvGrpSpPr>
        <p:grpSpPr>
          <a:xfrm>
            <a:off x="6984002" y="1013447"/>
            <a:ext cx="2049813" cy="1660462"/>
            <a:chOff x="4232919" y="3732432"/>
            <a:chExt cx="3731939" cy="3023079"/>
          </a:xfrm>
        </p:grpSpPr>
        <p:pic>
          <p:nvPicPr>
            <p:cNvPr id="14" name="그림 13">
              <a:extLst>
                <a:ext uri="{FF2B5EF4-FFF2-40B4-BE49-F238E27FC236}">
                  <a16:creationId xmlns:a16="http://schemas.microsoft.com/office/drawing/2014/main" id="{1E78CF01-8AEE-0A30-166A-C69B1F5C20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232919" y="3732432"/>
              <a:ext cx="3731939" cy="3023079"/>
            </a:xfrm>
            <a:prstGeom prst="rect">
              <a:avLst/>
            </a:prstGeom>
          </p:spPr>
        </p:pic>
        <p:sp>
          <p:nvSpPr>
            <p:cNvPr id="15" name="사각형: 둥근 모서리 14">
              <a:extLst>
                <a:ext uri="{FF2B5EF4-FFF2-40B4-BE49-F238E27FC236}">
                  <a16:creationId xmlns:a16="http://schemas.microsoft.com/office/drawing/2014/main" id="{78042E41-EA55-A920-D35B-10FE9995471C}"/>
                </a:ext>
              </a:extLst>
            </p:cNvPr>
            <p:cNvSpPr/>
            <p:nvPr/>
          </p:nvSpPr>
          <p:spPr>
            <a:xfrm rot="1145752">
              <a:off x="4847432" y="4550257"/>
              <a:ext cx="504205" cy="387473"/>
            </a:xfrm>
            <a:prstGeom prst="roundRect">
              <a:avLst/>
            </a:prstGeom>
            <a:ln>
              <a:solidFill>
                <a:srgbClr val="FF0000"/>
              </a:solidFill>
            </a:ln>
          </p:spPr>
          <p:txBody>
            <a:bodyPr wrap="square" rtlCol="0" anchor="ctr">
              <a:spAutoFit/>
            </a:bodyPr>
            <a:lstStyle/>
            <a:p>
              <a:pPr marL="0" marR="0" lvl="0" indent="0" algn="r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6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돋움" pitchFamily="50" charset="-127"/>
                <a:ea typeface="돋움" pitchFamily="50" charset="-127"/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DD7911E0-9148-137F-8666-E8029FD4D963}"/>
              </a:ext>
            </a:extLst>
          </p:cNvPr>
          <p:cNvSpPr txBox="1"/>
          <p:nvPr/>
        </p:nvSpPr>
        <p:spPr>
          <a:xfrm>
            <a:off x="6878466" y="2865875"/>
            <a:ext cx="2735044" cy="2548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※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참고 </a:t>
            </a:r>
            <a:r>
              <a:rPr kumimoji="1" lang="ko-KR" altLang="en-US" sz="1056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구조 </a:t>
            </a:r>
            <a:r>
              <a:rPr kumimoji="1" lang="en-US" altLang="ko-KR" sz="1056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 1</a:t>
            </a:r>
            <a:r>
              <a:rPr kumimoji="1" lang="ko-KR" altLang="en-US" sz="1056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세대 </a:t>
            </a:r>
            <a:r>
              <a:rPr kumimoji="1" lang="ko-KR" altLang="en-US" sz="1056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월오븐</a:t>
            </a:r>
            <a:r>
              <a:rPr kumimoji="1" lang="ko-KR" altLang="en-US" sz="1056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전면부 </a:t>
            </a:r>
            <a:r>
              <a:rPr kumimoji="1" lang="en-US" altLang="ko-KR" sz="1056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Lamp </a:t>
            </a:r>
            <a:r>
              <a:rPr kumimoji="1" lang="ko-KR" altLang="en-US" sz="1056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위치</a:t>
            </a:r>
          </a:p>
        </p:txBody>
      </p:sp>
      <p:sp>
        <p:nvSpPr>
          <p:cNvPr id="17" name="이등변 삼각형 16">
            <a:extLst>
              <a:ext uri="{FF2B5EF4-FFF2-40B4-BE49-F238E27FC236}">
                <a16:creationId xmlns:a16="http://schemas.microsoft.com/office/drawing/2014/main" id="{F286954B-E9B1-30B7-AAC3-19D82D0F2807}"/>
              </a:ext>
            </a:extLst>
          </p:cNvPr>
          <p:cNvSpPr/>
          <p:nvPr/>
        </p:nvSpPr>
        <p:spPr>
          <a:xfrm rot="5400000">
            <a:off x="6083312" y="1715780"/>
            <a:ext cx="1210091" cy="382116"/>
          </a:xfrm>
          <a:prstGeom prst="triangle">
            <a:avLst/>
          </a:prstGeom>
          <a:solidFill>
            <a:srgbClr val="000000">
              <a:lumMod val="50000"/>
              <a:lumOff val="50000"/>
            </a:srgbClr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r" defTabSz="7429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65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돋움" pitchFamily="50" charset="-127"/>
              <a:ea typeface="돋움" pitchFamily="50" charset="-127"/>
              <a:cs typeface="Arial" pitchFamily="34" charset="0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D337973-16FA-D9C7-58AB-6DEE01ABEE92}"/>
              </a:ext>
            </a:extLst>
          </p:cNvPr>
          <p:cNvGrpSpPr/>
          <p:nvPr/>
        </p:nvGrpSpPr>
        <p:grpSpPr>
          <a:xfrm>
            <a:off x="7075561" y="3175070"/>
            <a:ext cx="2403090" cy="1112320"/>
            <a:chOff x="4953000" y="852421"/>
            <a:chExt cx="3778133" cy="1748787"/>
          </a:xfrm>
        </p:grpSpPr>
        <p:pic>
          <p:nvPicPr>
            <p:cNvPr id="19" name="그림 18">
              <a:extLst>
                <a:ext uri="{FF2B5EF4-FFF2-40B4-BE49-F238E27FC236}">
                  <a16:creationId xmlns:a16="http://schemas.microsoft.com/office/drawing/2014/main" id="{9C82FAB1-EC79-E75D-7F61-1E6D0A2B60D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953000" y="892197"/>
              <a:ext cx="1775166" cy="1709011"/>
            </a:xfrm>
            <a:prstGeom prst="rect">
              <a:avLst/>
            </a:prstGeom>
          </p:spPr>
        </p:pic>
        <p:sp>
          <p:nvSpPr>
            <p:cNvPr id="20" name="사각형: 둥근 모서리 19">
              <a:extLst>
                <a:ext uri="{FF2B5EF4-FFF2-40B4-BE49-F238E27FC236}">
                  <a16:creationId xmlns:a16="http://schemas.microsoft.com/office/drawing/2014/main" id="{85250DCB-2024-0A66-670C-79406ED59276}"/>
                </a:ext>
              </a:extLst>
            </p:cNvPr>
            <p:cNvSpPr/>
            <p:nvPr/>
          </p:nvSpPr>
          <p:spPr>
            <a:xfrm rot="20144495">
              <a:off x="5227889" y="1267019"/>
              <a:ext cx="346487" cy="334601"/>
            </a:xfrm>
            <a:prstGeom prst="roundRect">
              <a:avLst/>
            </a:prstGeom>
            <a:ln>
              <a:solidFill>
                <a:srgbClr val="FF0000"/>
              </a:solidFill>
            </a:ln>
          </p:spPr>
          <p:txBody>
            <a:bodyPr wrap="square" rtlCol="0" anchor="ctr">
              <a:spAutoFit/>
            </a:bodyPr>
            <a:lstStyle/>
            <a:p>
              <a:pPr marL="0" marR="0" lvl="0" indent="0" algn="r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6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돋움" pitchFamily="50" charset="-127"/>
                <a:ea typeface="돋움" pitchFamily="50" charset="-127"/>
                <a:cs typeface="Arial" pitchFamily="34" charset="0"/>
              </a:endParaRPr>
            </a:p>
          </p:txBody>
        </p:sp>
        <p:pic>
          <p:nvPicPr>
            <p:cNvPr id="21" name="그림 20">
              <a:extLst>
                <a:ext uri="{FF2B5EF4-FFF2-40B4-BE49-F238E27FC236}">
                  <a16:creationId xmlns:a16="http://schemas.microsoft.com/office/drawing/2014/main" id="{8E098210-562B-3507-0E77-81886C657C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6955967" y="852421"/>
              <a:ext cx="1775166" cy="1709011"/>
            </a:xfrm>
            <a:prstGeom prst="rect">
              <a:avLst/>
            </a:prstGeom>
          </p:spPr>
        </p:pic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68D0DA74-A4D6-A3A0-602B-59DEB16ABA21}"/>
                </a:ext>
              </a:extLst>
            </p:cNvPr>
            <p:cNvSpPr/>
            <p:nvPr/>
          </p:nvSpPr>
          <p:spPr>
            <a:xfrm rot="20144495">
              <a:off x="7594110" y="1021641"/>
              <a:ext cx="346487" cy="334601"/>
            </a:xfrm>
            <a:prstGeom prst="roundRect">
              <a:avLst/>
            </a:prstGeom>
            <a:ln>
              <a:solidFill>
                <a:srgbClr val="FF0000"/>
              </a:solidFill>
            </a:ln>
          </p:spPr>
          <p:txBody>
            <a:bodyPr wrap="square" rtlCol="0" anchor="ctr">
              <a:spAutoFit/>
            </a:bodyPr>
            <a:lstStyle/>
            <a:p>
              <a:pPr marL="0" marR="0" lvl="0" indent="0" algn="r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6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돋움" pitchFamily="50" charset="-127"/>
                <a:ea typeface="돋움" pitchFamily="50" charset="-127"/>
                <a:cs typeface="Arial" pitchFamily="34" charset="0"/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3315E05-1BBA-F5BD-9C79-11456A904D38}"/>
              </a:ext>
            </a:extLst>
          </p:cNvPr>
          <p:cNvSpPr/>
          <p:nvPr/>
        </p:nvSpPr>
        <p:spPr bwMode="auto">
          <a:xfrm>
            <a:off x="315444" y="2612934"/>
            <a:ext cx="3302793" cy="1419856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FFFFFF">
                <a:lumMod val="8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4295" tIns="37148" rIns="74295" bIns="37148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94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4BD1635-93AD-78F6-9DE6-7D0DDD4BE4F5}"/>
              </a:ext>
            </a:extLst>
          </p:cNvPr>
          <p:cNvSpPr/>
          <p:nvPr/>
        </p:nvSpPr>
        <p:spPr bwMode="auto">
          <a:xfrm>
            <a:off x="315444" y="1256286"/>
            <a:ext cx="3302793" cy="476578"/>
          </a:xfrm>
          <a:prstGeom prst="rect">
            <a:avLst/>
          </a:prstGeom>
          <a:noFill/>
          <a:ln w="6350" cap="flat" cmpd="sng" algn="ctr">
            <a:solidFill>
              <a:srgbClr val="FFFFFF">
                <a:lumMod val="8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4295" tIns="37148" rIns="74295" bIns="37148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94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B9DB1EF8-A1F7-AC09-212D-B556BDC63EAC}"/>
              </a:ext>
            </a:extLst>
          </p:cNvPr>
          <p:cNvGrpSpPr/>
          <p:nvPr/>
        </p:nvGrpSpPr>
        <p:grpSpPr>
          <a:xfrm>
            <a:off x="1871847" y="3200523"/>
            <a:ext cx="588935" cy="668104"/>
            <a:chOff x="6209597" y="3087977"/>
            <a:chExt cx="1270826" cy="1441659"/>
          </a:xfrm>
        </p:grpSpPr>
        <p:pic>
          <p:nvPicPr>
            <p:cNvPr id="26" name="그림 25">
              <a:extLst>
                <a:ext uri="{FF2B5EF4-FFF2-40B4-BE49-F238E27FC236}">
                  <a16:creationId xmlns:a16="http://schemas.microsoft.com/office/drawing/2014/main" id="{BB2BCF66-0D71-953D-7BCD-EEDCBC8D3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6209597" y="3087977"/>
              <a:ext cx="1270826" cy="1441659"/>
            </a:xfrm>
            <a:prstGeom prst="rect">
              <a:avLst/>
            </a:prstGeom>
          </p:spPr>
        </p:pic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A8499890-3FDD-0EB0-73D0-174B6A36BAE2}"/>
                </a:ext>
              </a:extLst>
            </p:cNvPr>
            <p:cNvSpPr/>
            <p:nvPr/>
          </p:nvSpPr>
          <p:spPr bwMode="auto">
            <a:xfrm>
              <a:off x="6230526" y="3305372"/>
              <a:ext cx="1020979" cy="944724"/>
            </a:xfrm>
            <a:custGeom>
              <a:avLst/>
              <a:gdLst>
                <a:gd name="connsiteX0" fmla="*/ 316871 w 2181885"/>
                <a:gd name="connsiteY0" fmla="*/ 0 h 2018923"/>
                <a:gd name="connsiteX1" fmla="*/ 0 w 2181885"/>
                <a:gd name="connsiteY1" fmla="*/ 2018923 h 2018923"/>
                <a:gd name="connsiteX2" fmla="*/ 2181885 w 2181885"/>
                <a:gd name="connsiteY2" fmla="*/ 2000816 h 2018923"/>
                <a:gd name="connsiteX3" fmla="*/ 2163778 w 2181885"/>
                <a:gd name="connsiteY3" fmla="*/ 516048 h 2018923"/>
                <a:gd name="connsiteX4" fmla="*/ 316871 w 2181885"/>
                <a:gd name="connsiteY4" fmla="*/ 0 h 201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1885" h="2018923">
                  <a:moveTo>
                    <a:pt x="316871" y="0"/>
                  </a:moveTo>
                  <a:lnTo>
                    <a:pt x="0" y="2018923"/>
                  </a:lnTo>
                  <a:lnTo>
                    <a:pt x="2181885" y="2000816"/>
                  </a:lnTo>
                  <a:lnTo>
                    <a:pt x="2163778" y="516048"/>
                  </a:lnTo>
                  <a:lnTo>
                    <a:pt x="316871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6600">
                    <a:alpha val="60000"/>
                  </a:srgbClr>
                </a:gs>
                <a:gs pos="100000">
                  <a:srgbClr val="FF6600">
                    <a:alpha val="0"/>
                  </a:srgbClr>
                </a:gs>
              </a:gsLst>
              <a:lin ang="27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cxnSp>
          <p:nvCxnSpPr>
            <p:cNvPr id="28" name="직선 화살표 연결선 27">
              <a:extLst>
                <a:ext uri="{FF2B5EF4-FFF2-40B4-BE49-F238E27FC236}">
                  <a16:creationId xmlns:a16="http://schemas.microsoft.com/office/drawing/2014/main" id="{6FD86DCA-2449-7A7C-3ED1-6BD16A04898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372129" y="3300250"/>
              <a:ext cx="622484" cy="897183"/>
            </a:xfrm>
            <a:prstGeom prst="straightConnector1">
              <a:avLst/>
            </a:prstGeom>
            <a:solidFill>
              <a:srgbClr val="BBE0E3"/>
            </a:solidFill>
            <a:ln w="1905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9" name="직선 화살표 연결선 28">
              <a:extLst>
                <a:ext uri="{FF2B5EF4-FFF2-40B4-BE49-F238E27FC236}">
                  <a16:creationId xmlns:a16="http://schemas.microsoft.com/office/drawing/2014/main" id="{3B709685-A476-BE39-ED3A-E7749A81E3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7996" y="3298406"/>
              <a:ext cx="147063" cy="916855"/>
            </a:xfrm>
            <a:prstGeom prst="straightConnector1">
              <a:avLst/>
            </a:prstGeom>
            <a:solidFill>
              <a:srgbClr val="BBE0E3"/>
            </a:solidFill>
            <a:ln w="1270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0" name="직선 화살표 연결선 29">
              <a:extLst>
                <a:ext uri="{FF2B5EF4-FFF2-40B4-BE49-F238E27FC236}">
                  <a16:creationId xmlns:a16="http://schemas.microsoft.com/office/drawing/2014/main" id="{627FEEF8-932A-C855-CC7B-18B63DE138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379144" y="3303106"/>
              <a:ext cx="850209" cy="228737"/>
            </a:xfrm>
            <a:prstGeom prst="straightConnector1">
              <a:avLst/>
            </a:prstGeom>
            <a:solidFill>
              <a:srgbClr val="BBE0E3"/>
            </a:solidFill>
            <a:ln w="1270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D3A47FFE-B4EA-FA86-2DEF-65BD52537E1C}"/>
                </a:ext>
              </a:extLst>
            </p:cNvPr>
            <p:cNvSpPr/>
            <p:nvPr/>
          </p:nvSpPr>
          <p:spPr bwMode="auto">
            <a:xfrm>
              <a:off x="6332294" y="3262186"/>
              <a:ext cx="88868" cy="88868"/>
            </a:xfrm>
            <a:prstGeom prst="ellipse">
              <a:avLst/>
            </a:prstGeom>
            <a:solidFill>
              <a:srgbClr val="FF6600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4F7F6C8-78C1-DAA8-CD9C-685C03672F99}"/>
              </a:ext>
            </a:extLst>
          </p:cNvPr>
          <p:cNvGrpSpPr/>
          <p:nvPr/>
        </p:nvGrpSpPr>
        <p:grpSpPr>
          <a:xfrm>
            <a:off x="2526915" y="3200523"/>
            <a:ext cx="588935" cy="668104"/>
            <a:chOff x="4576553" y="3087977"/>
            <a:chExt cx="1270826" cy="1441659"/>
          </a:xfrm>
        </p:grpSpPr>
        <p:pic>
          <p:nvPicPr>
            <p:cNvPr id="33" name="그림 32">
              <a:extLst>
                <a:ext uri="{FF2B5EF4-FFF2-40B4-BE49-F238E27FC236}">
                  <a16:creationId xmlns:a16="http://schemas.microsoft.com/office/drawing/2014/main" id="{244B8578-5A61-E286-A4BB-6F9DA013B80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4576553" y="3087977"/>
              <a:ext cx="1270826" cy="1441659"/>
            </a:xfrm>
            <a:prstGeom prst="rect">
              <a:avLst/>
            </a:prstGeom>
          </p:spPr>
        </p:pic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05B32360-1D12-83E7-D8FA-EF66170477E6}"/>
                </a:ext>
              </a:extLst>
            </p:cNvPr>
            <p:cNvSpPr/>
            <p:nvPr/>
          </p:nvSpPr>
          <p:spPr bwMode="auto">
            <a:xfrm>
              <a:off x="4768846" y="3345300"/>
              <a:ext cx="897302" cy="981298"/>
            </a:xfrm>
            <a:custGeom>
              <a:avLst/>
              <a:gdLst>
                <a:gd name="connsiteX0" fmla="*/ 0 w 1917577"/>
                <a:gd name="connsiteY0" fmla="*/ 0 h 2015231"/>
                <a:gd name="connsiteX1" fmla="*/ 17755 w 1917577"/>
                <a:gd name="connsiteY1" fmla="*/ 2015231 h 2015231"/>
                <a:gd name="connsiteX2" fmla="*/ 1917577 w 1917577"/>
                <a:gd name="connsiteY2" fmla="*/ 2006353 h 2015231"/>
                <a:gd name="connsiteX3" fmla="*/ 1864311 w 1917577"/>
                <a:gd name="connsiteY3" fmla="*/ 532660 h 2015231"/>
                <a:gd name="connsiteX4" fmla="*/ 0 w 1917577"/>
                <a:gd name="connsiteY4" fmla="*/ 0 h 201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7577" h="2015231">
                  <a:moveTo>
                    <a:pt x="0" y="0"/>
                  </a:moveTo>
                  <a:lnTo>
                    <a:pt x="17755" y="2015231"/>
                  </a:lnTo>
                  <a:lnTo>
                    <a:pt x="1917577" y="2006353"/>
                  </a:lnTo>
                  <a:lnTo>
                    <a:pt x="1864311" y="53266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6600">
                    <a:alpha val="70000"/>
                  </a:srgbClr>
                </a:gs>
                <a:gs pos="100000">
                  <a:srgbClr val="FF6600">
                    <a:alpha val="0"/>
                  </a:srgbClr>
                </a:gs>
              </a:gsLst>
              <a:lin ang="27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CB837A92-5116-BE12-FC75-3A2E8AC49CE9}"/>
                </a:ext>
              </a:extLst>
            </p:cNvPr>
            <p:cNvSpPr/>
            <p:nvPr/>
          </p:nvSpPr>
          <p:spPr bwMode="auto">
            <a:xfrm>
              <a:off x="4745804" y="3370058"/>
              <a:ext cx="47967" cy="715599"/>
            </a:xfrm>
            <a:prstGeom prst="rect">
              <a:avLst/>
            </a:prstGeom>
            <a:solidFill>
              <a:srgbClr val="FF6600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cxnSp>
          <p:nvCxnSpPr>
            <p:cNvPr id="36" name="직선 화살표 연결선 35">
              <a:extLst>
                <a:ext uri="{FF2B5EF4-FFF2-40B4-BE49-F238E27FC236}">
                  <a16:creationId xmlns:a16="http://schemas.microsoft.com/office/drawing/2014/main" id="{A136DDB5-B84A-03F9-88DD-EC83026BA29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99240" y="3778966"/>
              <a:ext cx="446506" cy="299970"/>
            </a:xfrm>
            <a:prstGeom prst="straightConnector1">
              <a:avLst/>
            </a:prstGeom>
            <a:solidFill>
              <a:srgbClr val="BBE0E3"/>
            </a:solidFill>
            <a:ln w="1905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7" name="직선 화살표 연결선 36">
              <a:extLst>
                <a:ext uri="{FF2B5EF4-FFF2-40B4-BE49-F238E27FC236}">
                  <a16:creationId xmlns:a16="http://schemas.microsoft.com/office/drawing/2014/main" id="{2773CF05-E0AF-0F8D-9044-968446AA0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804344" y="3398355"/>
              <a:ext cx="484557" cy="130354"/>
            </a:xfrm>
            <a:prstGeom prst="straightConnector1">
              <a:avLst/>
            </a:prstGeom>
            <a:solidFill>
              <a:srgbClr val="BBE0E3"/>
            </a:solidFill>
            <a:ln w="1270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8" name="직선 화살표 연결선 37">
              <a:extLst>
                <a:ext uri="{FF2B5EF4-FFF2-40B4-BE49-F238E27FC236}">
                  <a16:creationId xmlns:a16="http://schemas.microsoft.com/office/drawing/2014/main" id="{AFEA40D7-C53C-5805-20D4-21ED358742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804344" y="3506306"/>
              <a:ext cx="452191" cy="292122"/>
            </a:xfrm>
            <a:prstGeom prst="straightConnector1">
              <a:avLst/>
            </a:prstGeom>
            <a:solidFill>
              <a:srgbClr val="BBE0E3"/>
            </a:solidFill>
            <a:ln w="1270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9" name="직선 화살표 연결선 38">
              <a:extLst>
                <a:ext uri="{FF2B5EF4-FFF2-40B4-BE49-F238E27FC236}">
                  <a16:creationId xmlns:a16="http://schemas.microsoft.com/office/drawing/2014/main" id="{26368819-61CF-0184-CF1F-1EE2240E5F1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97994" y="4058756"/>
              <a:ext cx="205806" cy="240194"/>
            </a:xfrm>
            <a:prstGeom prst="straightConnector1">
              <a:avLst/>
            </a:prstGeom>
            <a:solidFill>
              <a:srgbClr val="BBE0E3"/>
            </a:solidFill>
            <a:ln w="12700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C5009322-919F-4E1D-C5E8-FF877DB3C79A}"/>
              </a:ext>
            </a:extLst>
          </p:cNvPr>
          <p:cNvSpPr txBox="1"/>
          <p:nvPr/>
        </p:nvSpPr>
        <p:spPr>
          <a:xfrm>
            <a:off x="735066" y="3015988"/>
            <a:ext cx="580608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13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조명 위치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29AC190-E468-4638-9DDE-49513E13CCBF}"/>
              </a:ext>
            </a:extLst>
          </p:cNvPr>
          <p:cNvSpPr txBox="1"/>
          <p:nvPr/>
        </p:nvSpPr>
        <p:spPr>
          <a:xfrm>
            <a:off x="2239907" y="3015988"/>
            <a:ext cx="370614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13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배광</a:t>
            </a:r>
            <a:endParaRPr kumimoji="0" lang="ko-KR" altLang="en-US" sz="813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7A5D5E9B-B61A-0525-9F10-CF3F149DABB9}"/>
              </a:ext>
            </a:extLst>
          </p:cNvPr>
          <p:cNvGrpSpPr/>
          <p:nvPr/>
        </p:nvGrpSpPr>
        <p:grpSpPr>
          <a:xfrm>
            <a:off x="666284" y="3204460"/>
            <a:ext cx="723391" cy="714929"/>
            <a:chOff x="8985448" y="1891742"/>
            <a:chExt cx="1145877" cy="1132474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3F131217-A4A6-7697-806A-2C79FA51C6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8985448" y="1891742"/>
              <a:ext cx="1145877" cy="1132474"/>
            </a:xfrm>
            <a:prstGeom prst="rect">
              <a:avLst/>
            </a:prstGeom>
          </p:spPr>
        </p:pic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889C0EC6-0433-E59A-ADE0-677B0C61FF88}"/>
                </a:ext>
              </a:extLst>
            </p:cNvPr>
            <p:cNvSpPr/>
            <p:nvPr/>
          </p:nvSpPr>
          <p:spPr bwMode="auto">
            <a:xfrm>
              <a:off x="9077790" y="2122230"/>
              <a:ext cx="140880" cy="503569"/>
            </a:xfrm>
            <a:custGeom>
              <a:avLst/>
              <a:gdLst>
                <a:gd name="connsiteX0" fmla="*/ 0 w 298450"/>
                <a:gd name="connsiteY0" fmla="*/ 190500 h 1066800"/>
                <a:gd name="connsiteX1" fmla="*/ 19050 w 298450"/>
                <a:gd name="connsiteY1" fmla="*/ 1066800 h 1066800"/>
                <a:gd name="connsiteX2" fmla="*/ 298450 w 298450"/>
                <a:gd name="connsiteY2" fmla="*/ 882650 h 1066800"/>
                <a:gd name="connsiteX3" fmla="*/ 279400 w 298450"/>
                <a:gd name="connsiteY3" fmla="*/ 0 h 1066800"/>
                <a:gd name="connsiteX4" fmla="*/ 0 w 298450"/>
                <a:gd name="connsiteY4" fmla="*/ 1905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8450" h="1066800">
                  <a:moveTo>
                    <a:pt x="0" y="190500"/>
                  </a:moveTo>
                  <a:lnTo>
                    <a:pt x="19050" y="1066800"/>
                  </a:lnTo>
                  <a:lnTo>
                    <a:pt x="298450" y="882650"/>
                  </a:lnTo>
                  <a:lnTo>
                    <a:pt x="279400" y="0"/>
                  </a:lnTo>
                  <a:lnTo>
                    <a:pt x="0" y="190500"/>
                  </a:lnTo>
                  <a:close/>
                </a:path>
              </a:pathLst>
            </a:custGeom>
            <a:solidFill>
              <a:srgbClr val="00B0F0">
                <a:alpha val="50196"/>
              </a:srgbClr>
            </a:solidFill>
            <a:ln w="15875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C718EF2B-D103-D23B-68D8-5FFDC75A0336}"/>
                </a:ext>
              </a:extLst>
            </p:cNvPr>
            <p:cNvSpPr/>
            <p:nvPr/>
          </p:nvSpPr>
          <p:spPr bwMode="auto">
            <a:xfrm>
              <a:off x="9767199" y="2308071"/>
              <a:ext cx="155867" cy="518556"/>
            </a:xfrm>
            <a:custGeom>
              <a:avLst/>
              <a:gdLst>
                <a:gd name="connsiteX0" fmla="*/ 19050 w 330200"/>
                <a:gd name="connsiteY0" fmla="*/ 1098550 h 1098550"/>
                <a:gd name="connsiteX1" fmla="*/ 330200 w 330200"/>
                <a:gd name="connsiteY1" fmla="*/ 895350 h 1098550"/>
                <a:gd name="connsiteX2" fmla="*/ 304800 w 330200"/>
                <a:gd name="connsiteY2" fmla="*/ 0 h 1098550"/>
                <a:gd name="connsiteX3" fmla="*/ 0 w 330200"/>
                <a:gd name="connsiteY3" fmla="*/ 190500 h 1098550"/>
                <a:gd name="connsiteX4" fmla="*/ 19050 w 330200"/>
                <a:gd name="connsiteY4" fmla="*/ 1098550 h 109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200" h="1098550">
                  <a:moveTo>
                    <a:pt x="19050" y="1098550"/>
                  </a:moveTo>
                  <a:lnTo>
                    <a:pt x="330200" y="895350"/>
                  </a:lnTo>
                  <a:lnTo>
                    <a:pt x="304800" y="0"/>
                  </a:lnTo>
                  <a:lnTo>
                    <a:pt x="0" y="190500"/>
                  </a:lnTo>
                  <a:lnTo>
                    <a:pt x="19050" y="1098550"/>
                  </a:lnTo>
                  <a:close/>
                </a:path>
              </a:pathLst>
            </a:custGeom>
            <a:solidFill>
              <a:srgbClr val="00B0F0">
                <a:alpha val="50196"/>
              </a:srgbClr>
            </a:solidFill>
            <a:ln w="15875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2F1DA1AA-16D0-B108-8E1E-037F9DF959ED}"/>
                </a:ext>
              </a:extLst>
            </p:cNvPr>
            <p:cNvSpPr/>
            <p:nvPr/>
          </p:nvSpPr>
          <p:spPr bwMode="auto">
            <a:xfrm>
              <a:off x="9125149" y="2082064"/>
              <a:ext cx="785327" cy="287754"/>
            </a:xfrm>
            <a:custGeom>
              <a:avLst/>
              <a:gdLst>
                <a:gd name="connsiteX0" fmla="*/ 0 w 1663700"/>
                <a:gd name="connsiteY0" fmla="*/ 165100 h 609600"/>
                <a:gd name="connsiteX1" fmla="*/ 1352550 w 1663700"/>
                <a:gd name="connsiteY1" fmla="*/ 609600 h 609600"/>
                <a:gd name="connsiteX2" fmla="*/ 1663700 w 1663700"/>
                <a:gd name="connsiteY2" fmla="*/ 419100 h 609600"/>
                <a:gd name="connsiteX3" fmla="*/ 241300 w 1663700"/>
                <a:gd name="connsiteY3" fmla="*/ 0 h 609600"/>
                <a:gd name="connsiteX4" fmla="*/ 0 w 1663700"/>
                <a:gd name="connsiteY4" fmla="*/ 1651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3700" h="609600">
                  <a:moveTo>
                    <a:pt x="0" y="165100"/>
                  </a:moveTo>
                  <a:lnTo>
                    <a:pt x="1352550" y="609600"/>
                  </a:lnTo>
                  <a:lnTo>
                    <a:pt x="1663700" y="419100"/>
                  </a:lnTo>
                  <a:lnTo>
                    <a:pt x="241300" y="0"/>
                  </a:lnTo>
                  <a:lnTo>
                    <a:pt x="0" y="165100"/>
                  </a:lnTo>
                  <a:close/>
                </a:path>
              </a:pathLst>
            </a:custGeom>
            <a:solidFill>
              <a:srgbClr val="00B0F0">
                <a:alpha val="50196"/>
              </a:srgbClr>
            </a:solidFill>
            <a:ln w="15875" cap="flat" cmpd="sng" algn="ctr">
              <a:solidFill>
                <a:srgbClr val="FF0000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4295" tIns="37148" rIns="74295" bIns="37148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94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09E33631-E14F-455C-955B-8D77F355D66D}"/>
              </a:ext>
            </a:extLst>
          </p:cNvPr>
          <p:cNvSpPr txBox="1"/>
          <p:nvPr/>
        </p:nvSpPr>
        <p:spPr>
          <a:xfrm>
            <a:off x="2209965" y="3827866"/>
            <a:ext cx="619080" cy="2048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31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&lt;Side View&gt;</a:t>
            </a:r>
          </a:p>
        </p:txBody>
      </p:sp>
      <p:sp>
        <p:nvSpPr>
          <p:cNvPr id="48" name="화살표: 오른쪽 47">
            <a:extLst>
              <a:ext uri="{FF2B5EF4-FFF2-40B4-BE49-F238E27FC236}">
                <a16:creationId xmlns:a16="http://schemas.microsoft.com/office/drawing/2014/main" id="{A5977DAF-4C89-4F7F-FA6C-30A8D39B959B}"/>
              </a:ext>
            </a:extLst>
          </p:cNvPr>
          <p:cNvSpPr/>
          <p:nvPr/>
        </p:nvSpPr>
        <p:spPr bwMode="auto">
          <a:xfrm rot="1602645">
            <a:off x="1743237" y="3283056"/>
            <a:ext cx="157583" cy="81252"/>
          </a:xfrm>
          <a:prstGeom prst="rightArrow">
            <a:avLst/>
          </a:prstGeom>
          <a:solidFill>
            <a:srgbClr val="00B05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4295" tIns="37148" rIns="74295" bIns="37148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94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44D26E8-AF83-E902-8E08-35DEE45FA513}"/>
              </a:ext>
            </a:extLst>
          </p:cNvPr>
          <p:cNvSpPr txBox="1"/>
          <p:nvPr/>
        </p:nvSpPr>
        <p:spPr>
          <a:xfrm>
            <a:off x="1470691" y="3150791"/>
            <a:ext cx="370614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시선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C687607-AEA1-DC05-73BC-3A697EA9DA6E}"/>
              </a:ext>
            </a:extLst>
          </p:cNvPr>
          <p:cNvSpPr txBox="1"/>
          <p:nvPr/>
        </p:nvSpPr>
        <p:spPr>
          <a:xfrm>
            <a:off x="374247" y="1141784"/>
            <a:ext cx="1548822" cy="229935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marL="0" marR="0" lvl="0" indent="0" algn="l" defTabSz="74295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1</a:t>
            </a:r>
            <a:r>
              <a: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안 </a:t>
            </a: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(Lamp or Cover </a:t>
            </a:r>
            <a:r>
              <a: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색상 변경</a:t>
            </a: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D15D5B3-75DF-C87C-16EA-8B12A175C063}"/>
              </a:ext>
            </a:extLst>
          </p:cNvPr>
          <p:cNvSpPr txBox="1"/>
          <p:nvPr/>
        </p:nvSpPr>
        <p:spPr>
          <a:xfrm>
            <a:off x="375944" y="1332671"/>
            <a:ext cx="1217000" cy="2299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- 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조명 모듈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: 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기존 위치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39FDA1D-28BE-C925-D327-B64BA5D4E01C}"/>
              </a:ext>
            </a:extLst>
          </p:cNvPr>
          <p:cNvSpPr txBox="1"/>
          <p:nvPr/>
        </p:nvSpPr>
        <p:spPr>
          <a:xfrm>
            <a:off x="428976" y="1495287"/>
            <a:ext cx="1646605" cy="2299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163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→ 광원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or Cover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Glass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색상 변경</a:t>
            </a:r>
            <a:endParaRPr kumimoji="0" lang="en-US" altLang="ko-KR" sz="894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8052043-805A-1368-A21A-14A6CFD25995}"/>
              </a:ext>
            </a:extLst>
          </p:cNvPr>
          <p:cNvSpPr txBox="1"/>
          <p:nvPr/>
        </p:nvSpPr>
        <p:spPr>
          <a:xfrm>
            <a:off x="374247" y="2498433"/>
            <a:ext cx="1313180" cy="229935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marL="0" marR="0" lvl="0" indent="0" algn="l" defTabSz="74295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3</a:t>
            </a:r>
            <a:r>
              <a: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안 </a:t>
            </a: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신규 조명 모듈 개발</a:t>
            </a: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4A25D81-F233-FEF6-5521-C82951072120}"/>
              </a:ext>
            </a:extLst>
          </p:cNvPr>
          <p:cNvSpPr txBox="1"/>
          <p:nvPr/>
        </p:nvSpPr>
        <p:spPr>
          <a:xfrm>
            <a:off x="375945" y="2685248"/>
            <a:ext cx="2287806" cy="3931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163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- </a:t>
            </a:r>
            <a:r>
              <a:rPr kumimoji="0" lang="ko-KR" altLang="en-US" sz="894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고내 음식물 시인성 개선 위한 조명 위치 변경</a:t>
            </a:r>
            <a:endParaRPr kumimoji="0" lang="en-US" altLang="ko-KR" sz="894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163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 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→ 점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선 조명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시선 방향 </a:t>
            </a:r>
            <a:r>
              <a:rPr kumimoji="0" lang="ko-KR" altLang="en-US" sz="894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발광면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노출 최소화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6A260143-BC2C-B95F-3DC6-AD3D479AAD05}"/>
              </a:ext>
            </a:extLst>
          </p:cNvPr>
          <p:cNvSpPr/>
          <p:nvPr/>
        </p:nvSpPr>
        <p:spPr>
          <a:xfrm>
            <a:off x="249831" y="944197"/>
            <a:ext cx="2941831" cy="24711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기존</a:t>
            </a:r>
            <a:r>
              <a:rPr kumimoji="0" lang="en-US" altLang="ko-KR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 </a:t>
            </a: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전구색</a:t>
            </a:r>
            <a:r>
              <a:rPr kumimoji="0" lang="en-US" altLang="ko-KR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, </a:t>
            </a: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후면위치 → </a:t>
            </a:r>
            <a:r>
              <a:rPr kumimoji="0" lang="en-US" altLang="ko-KR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변경</a:t>
            </a:r>
            <a:r>
              <a:rPr kumimoji="0" lang="en-US" altLang="ko-KR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 </a:t>
            </a: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주광색</a:t>
            </a:r>
            <a:r>
              <a:rPr kumimoji="0" lang="en-US" altLang="ko-KR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, </a:t>
            </a:r>
            <a:r>
              <a:rPr kumimoji="0" lang="ko-KR" altLang="en-US" sz="975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전면상단위치</a:t>
            </a:r>
            <a:endParaRPr kumimoji="0" lang="en-US" altLang="ko-KR" sz="975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B94BA82-9283-18AB-1F82-38C6BE2DF87F}"/>
              </a:ext>
            </a:extLst>
          </p:cNvPr>
          <p:cNvSpPr/>
          <p:nvPr/>
        </p:nvSpPr>
        <p:spPr bwMode="auto">
          <a:xfrm>
            <a:off x="315444" y="1927842"/>
            <a:ext cx="3302793" cy="473098"/>
          </a:xfrm>
          <a:prstGeom prst="rect">
            <a:avLst/>
          </a:prstGeom>
          <a:noFill/>
          <a:ln w="6350" cap="flat" cmpd="sng" algn="ctr">
            <a:solidFill>
              <a:srgbClr val="FFFFFF">
                <a:lumMod val="8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4295" tIns="37148" rIns="74295" bIns="37148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94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DAB22FF-A91E-B725-2726-F3D4B570482E}"/>
              </a:ext>
            </a:extLst>
          </p:cNvPr>
          <p:cNvSpPr txBox="1"/>
          <p:nvPr/>
        </p:nvSpPr>
        <p:spPr>
          <a:xfrm>
            <a:off x="374248" y="1828288"/>
            <a:ext cx="857927" cy="229935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marL="0" marR="0" lvl="0" indent="0" algn="l" defTabSz="74295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2</a:t>
            </a:r>
            <a:r>
              <a: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안 </a:t>
            </a: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1" lang="ko-KR" altLang="en-US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광원 변경</a:t>
            </a:r>
            <a:r>
              <a:rPr kumimoji="1" lang="en-US" altLang="ko-KR" sz="894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73CEEED-35E7-D83A-42BE-2DE9ED2BD237}"/>
              </a:ext>
            </a:extLst>
          </p:cNvPr>
          <p:cNvSpPr txBox="1"/>
          <p:nvPr/>
        </p:nvSpPr>
        <p:spPr>
          <a:xfrm>
            <a:off x="375944" y="2011962"/>
            <a:ext cx="1789272" cy="2299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- 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조명 모듈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: 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기존 위치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or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위치 변경 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89C45274-F5DB-2124-6B88-0F65AC855039}"/>
              </a:ext>
            </a:extLst>
          </p:cNvPr>
          <p:cNvSpPr txBox="1"/>
          <p:nvPr/>
        </p:nvSpPr>
        <p:spPr>
          <a:xfrm>
            <a:off x="428976" y="2189005"/>
            <a:ext cx="2442866" cy="2299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163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→ 광원 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LED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로 변경</a:t>
            </a:r>
            <a:r>
              <a:rPr kumimoji="0" lang="en-US" altLang="ko-KR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+ </a:t>
            </a:r>
            <a:r>
              <a:rPr kumimoji="0" lang="ko-KR" altLang="en-US" sz="894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기존 기구 일부 유지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5C69F2C-BE6F-12CD-659B-F0714FE7B253}"/>
              </a:ext>
            </a:extLst>
          </p:cNvPr>
          <p:cNvGrpSpPr/>
          <p:nvPr/>
        </p:nvGrpSpPr>
        <p:grpSpPr>
          <a:xfrm>
            <a:off x="2214326" y="1296036"/>
            <a:ext cx="1267274" cy="380638"/>
            <a:chOff x="4497123" y="2560581"/>
            <a:chExt cx="1838033" cy="552071"/>
          </a:xfrm>
        </p:grpSpPr>
        <p:pic>
          <p:nvPicPr>
            <p:cNvPr id="61" name="그림 60">
              <a:extLst>
                <a:ext uri="{FF2B5EF4-FFF2-40B4-BE49-F238E27FC236}">
                  <a16:creationId xmlns:a16="http://schemas.microsoft.com/office/drawing/2014/main" id="{16295C76-68A1-A058-4DA9-E13C0459DA5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641638" y="2588766"/>
              <a:ext cx="548727" cy="360765"/>
            </a:xfrm>
            <a:prstGeom prst="rect">
              <a:avLst/>
            </a:prstGeom>
          </p:spPr>
        </p:pic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C1DB83AA-7299-2F1E-741E-04F49A83A989}"/>
                </a:ext>
              </a:extLst>
            </p:cNvPr>
            <p:cNvGrpSpPr/>
            <p:nvPr/>
          </p:nvGrpSpPr>
          <p:grpSpPr>
            <a:xfrm>
              <a:off x="5367014" y="2560581"/>
              <a:ext cx="953887" cy="427022"/>
              <a:chOff x="5367014" y="2496859"/>
              <a:chExt cx="1096230" cy="490744"/>
            </a:xfrm>
          </p:grpSpPr>
          <p:pic>
            <p:nvPicPr>
              <p:cNvPr id="65" name="그림 64">
                <a:extLst>
                  <a:ext uri="{FF2B5EF4-FFF2-40B4-BE49-F238E27FC236}">
                    <a16:creationId xmlns:a16="http://schemas.microsoft.com/office/drawing/2014/main" id="{2A4D659D-9C25-2F69-D355-05F4E8746B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367014" y="2502632"/>
                <a:ext cx="496013" cy="479199"/>
              </a:xfrm>
              <a:prstGeom prst="rect">
                <a:avLst/>
              </a:prstGeom>
            </p:spPr>
          </p:pic>
          <p:pic>
            <p:nvPicPr>
              <p:cNvPr id="66" name="그림 65">
                <a:extLst>
                  <a:ext uri="{FF2B5EF4-FFF2-40B4-BE49-F238E27FC236}">
                    <a16:creationId xmlns:a16="http://schemas.microsoft.com/office/drawing/2014/main" id="{E4605968-7D79-AE5C-54DB-FB06D27FF7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981109" y="2496859"/>
                <a:ext cx="482135" cy="490744"/>
              </a:xfrm>
              <a:prstGeom prst="rect">
                <a:avLst/>
              </a:prstGeom>
            </p:spPr>
          </p:pic>
        </p:grp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6BCE1CB7-7C81-8020-5FDC-CAE4E6FB1021}"/>
                </a:ext>
              </a:extLst>
            </p:cNvPr>
            <p:cNvSpPr txBox="1"/>
            <p:nvPr/>
          </p:nvSpPr>
          <p:spPr>
            <a:xfrm>
              <a:off x="4497123" y="2949532"/>
              <a:ext cx="865726" cy="163120"/>
            </a:xfrm>
            <a:prstGeom prst="rect">
              <a:avLst/>
            </a:prstGeom>
            <a:noFill/>
          </p:spPr>
          <p:txBody>
            <a:bodyPr wrap="none" tIns="0" bIns="0" rtlCol="0">
              <a:spAutoFit/>
            </a:bodyPr>
            <a:lstStyle>
              <a:defPPr>
                <a:defRPr lang="ko-KR"/>
              </a:defPPr>
              <a:lvl1pPr marL="177800" indent="-177800" fontAlgn="ctr">
                <a:lnSpc>
                  <a:spcPct val="120000"/>
                </a:lnSpc>
                <a:buFont typeface="Wingdings" panose="05000000000000000000" pitchFamily="2" charset="2"/>
                <a:buChar char="§"/>
                <a:defRPr sz="11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defRPr>
              </a:lvl1pPr>
            </a:lstStyle>
            <a:p>
              <a:pPr marL="0" marR="0" lvl="0" indent="0" algn="l" defTabSz="742950" rtl="0" eaLnBrk="1" fontAlgn="ctr" latinLnBrk="1" hangingPunct="1">
                <a:lnSpc>
                  <a:spcPct val="100000"/>
                </a:lnSpc>
                <a:spcBef>
                  <a:spcPts val="244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ko-KR" altLang="en-US" sz="731" b="0" i="0" u="none" strike="noStrike" kern="1200" cap="none" spc="-33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anose="020B0604020202020204" pitchFamily="34" charset="0"/>
                </a:rPr>
                <a:t>할로겐 램프</a:t>
              </a:r>
              <a:endParaRPr kumimoji="0" lang="en-US" altLang="ko-KR" sz="731" b="0" i="0" u="none" strike="noStrike" kern="1200" cap="none" spc="-33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C2100444-D5BE-857B-DCD6-4834EEBD5CDD}"/>
                </a:ext>
              </a:extLst>
            </p:cNvPr>
            <p:cNvSpPr txBox="1"/>
            <p:nvPr/>
          </p:nvSpPr>
          <p:spPr>
            <a:xfrm>
              <a:off x="5518720" y="2949530"/>
              <a:ext cx="816436" cy="163120"/>
            </a:xfrm>
            <a:prstGeom prst="rect">
              <a:avLst/>
            </a:prstGeom>
            <a:noFill/>
          </p:spPr>
          <p:txBody>
            <a:bodyPr wrap="none" tIns="0" bIns="0" rtlCol="0">
              <a:spAutoFit/>
            </a:bodyPr>
            <a:lstStyle>
              <a:defPPr>
                <a:defRPr lang="ko-KR"/>
              </a:defPPr>
              <a:lvl1pPr marL="177800" indent="-177800" fontAlgn="ctr">
                <a:lnSpc>
                  <a:spcPct val="120000"/>
                </a:lnSpc>
                <a:buFont typeface="Wingdings" panose="05000000000000000000" pitchFamily="2" charset="2"/>
                <a:buChar char="§"/>
                <a:defRPr sz="110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anose="020B0604020202020204" pitchFamily="34" charset="0"/>
                </a:defRPr>
              </a:lvl1pPr>
            </a:lstStyle>
            <a:p>
              <a:pPr marL="0" marR="0" lvl="0" indent="0" algn="l" defTabSz="742950" rtl="0" eaLnBrk="1" fontAlgn="ctr" latinLnBrk="1" hangingPunct="1">
                <a:lnSpc>
                  <a:spcPct val="100000"/>
                </a:lnSpc>
                <a:spcBef>
                  <a:spcPts val="244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ko-KR" sz="731" b="0" i="0" u="none" strike="noStrike" kern="1200" cap="none" spc="-33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anose="020B0604020202020204" pitchFamily="34" charset="0"/>
                </a:rPr>
                <a:t>Cover Glass</a:t>
              </a: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D1E80BF5-5D0E-6C2B-6A05-690DEE8796C1}"/>
              </a:ext>
            </a:extLst>
          </p:cNvPr>
          <p:cNvGrpSpPr/>
          <p:nvPr/>
        </p:nvGrpSpPr>
        <p:grpSpPr>
          <a:xfrm>
            <a:off x="2367955" y="1740877"/>
            <a:ext cx="1164159" cy="497549"/>
            <a:chOff x="8148639" y="3871642"/>
            <a:chExt cx="1432811" cy="612368"/>
          </a:xfrm>
        </p:grpSpPr>
        <p:pic>
          <p:nvPicPr>
            <p:cNvPr id="68" name="그림 67">
              <a:extLst>
                <a:ext uri="{FF2B5EF4-FFF2-40B4-BE49-F238E27FC236}">
                  <a16:creationId xmlns:a16="http://schemas.microsoft.com/office/drawing/2014/main" id="{3D5EBD5B-E4AE-BBCD-BC1D-0D140CA276B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8148639" y="3910013"/>
              <a:ext cx="326303" cy="573997"/>
            </a:xfrm>
            <a:prstGeom prst="rect">
              <a:avLst/>
            </a:prstGeom>
          </p:spPr>
        </p:pic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CB066870-11A6-9C79-2FEF-957AA7D676B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9145420" y="3933822"/>
              <a:ext cx="436030" cy="518647"/>
            </a:xfrm>
            <a:prstGeom prst="rect">
              <a:avLst/>
            </a:prstGeom>
          </p:spPr>
        </p:pic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62D1A195-6511-974C-1B5C-2D95B11B64A4}"/>
                </a:ext>
              </a:extLst>
            </p:cNvPr>
            <p:cNvSpPr txBox="1"/>
            <p:nvPr/>
          </p:nvSpPr>
          <p:spPr>
            <a:xfrm>
              <a:off x="8481904" y="4193056"/>
              <a:ext cx="740242" cy="2520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할로겐램프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984E3A5-BBFA-6195-48F4-083B880D23EC}"/>
                </a:ext>
              </a:extLst>
            </p:cNvPr>
            <p:cNvSpPr txBox="1"/>
            <p:nvPr/>
          </p:nvSpPr>
          <p:spPr>
            <a:xfrm>
              <a:off x="8472379" y="3871642"/>
              <a:ext cx="750107" cy="2520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Cover</a:t>
              </a:r>
              <a:r>
                <a:rPr kumimoji="0" lang="ko-KR" altLang="en-US" sz="731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0" lang="en-US" altLang="ko-KR" sz="731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Glass</a:t>
              </a:r>
              <a:endParaRPr kumimoji="0" lang="ko-KR" altLang="en-US" sz="731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cxnSp>
          <p:nvCxnSpPr>
            <p:cNvPr id="72" name="직선 화살표 연결선 71">
              <a:extLst>
                <a:ext uri="{FF2B5EF4-FFF2-40B4-BE49-F238E27FC236}">
                  <a16:creationId xmlns:a16="http://schemas.microsoft.com/office/drawing/2014/main" id="{34357FE1-A4B3-2303-FF13-7B94D42056B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096375" y="4162425"/>
              <a:ext cx="271463" cy="114300"/>
            </a:xfrm>
            <a:prstGeom prst="straightConnector1">
              <a:avLst/>
            </a:prstGeom>
            <a:solidFill>
              <a:srgbClr val="BBE0E3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cxnSp>
          <p:nvCxnSpPr>
            <p:cNvPr id="73" name="직선 화살표 연결선 72">
              <a:extLst>
                <a:ext uri="{FF2B5EF4-FFF2-40B4-BE49-F238E27FC236}">
                  <a16:creationId xmlns:a16="http://schemas.microsoft.com/office/drawing/2014/main" id="{C123F70F-67DF-A333-AEC4-F785F5E729C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339138" y="4090988"/>
              <a:ext cx="209550" cy="190500"/>
            </a:xfrm>
            <a:prstGeom prst="straightConnector1">
              <a:avLst/>
            </a:prstGeom>
            <a:solidFill>
              <a:srgbClr val="BBE0E3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cxnSp>
          <p:nvCxnSpPr>
            <p:cNvPr id="74" name="직선 화살표 연결선 73">
              <a:extLst>
                <a:ext uri="{FF2B5EF4-FFF2-40B4-BE49-F238E27FC236}">
                  <a16:creationId xmlns:a16="http://schemas.microsoft.com/office/drawing/2014/main" id="{641673EC-AD45-F5B9-BA7A-294B848D298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378909" y="3976688"/>
              <a:ext cx="174541" cy="28665"/>
            </a:xfrm>
            <a:prstGeom prst="straightConnector1">
              <a:avLst/>
            </a:prstGeom>
            <a:solidFill>
              <a:srgbClr val="BBE0E3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cxnSp>
          <p:nvCxnSpPr>
            <p:cNvPr id="75" name="직선 화살표 연결선 74">
              <a:extLst>
                <a:ext uri="{FF2B5EF4-FFF2-40B4-BE49-F238E27FC236}">
                  <a16:creationId xmlns:a16="http://schemas.microsoft.com/office/drawing/2014/main" id="{B262BDE4-2044-C647-6601-67326C8202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096459" y="4003766"/>
              <a:ext cx="176129" cy="72934"/>
            </a:xfrm>
            <a:prstGeom prst="straightConnector1">
              <a:avLst/>
            </a:prstGeom>
            <a:solidFill>
              <a:srgbClr val="BBE0E3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4F97F428-B309-B161-BE81-99644BC49578}"/>
              </a:ext>
            </a:extLst>
          </p:cNvPr>
          <p:cNvSpPr txBox="1"/>
          <p:nvPr/>
        </p:nvSpPr>
        <p:spPr>
          <a:xfrm>
            <a:off x="450345" y="5008549"/>
            <a:ext cx="611065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1,831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원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개</a:t>
            </a:r>
            <a:endParaRPr kumimoji="0" lang="en-US" altLang="ko-KR" sz="813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94AD729D-4E14-62E4-89F5-3E5D8668C864}"/>
              </a:ext>
            </a:extLst>
          </p:cNvPr>
          <p:cNvSpPr txBox="1"/>
          <p:nvPr/>
        </p:nvSpPr>
        <p:spPr>
          <a:xfrm>
            <a:off x="1278444" y="5008549"/>
            <a:ext cx="611065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3,147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원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개</a:t>
            </a:r>
            <a:endParaRPr kumimoji="0" lang="en-US" altLang="ko-KR" sz="813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3CE2A04D-D0E6-4932-AD30-5091F2BE485E}"/>
              </a:ext>
            </a:extLst>
          </p:cNvPr>
          <p:cNvSpPr txBox="1"/>
          <p:nvPr/>
        </p:nvSpPr>
        <p:spPr>
          <a:xfrm>
            <a:off x="497787" y="5260506"/>
            <a:ext cx="1518364" cy="3425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* 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재료비 상승 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: 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총 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2,632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원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/ 1.94$</a:t>
            </a:r>
          </a:p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                         (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소요량 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: 2</a:t>
            </a:r>
            <a:r>
              <a:rPr kumimoji="0" lang="ko-KR" altLang="en-US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개</a:t>
            </a:r>
            <a:r>
              <a:rPr kumimoji="0" lang="en-US" altLang="ko-KR" sz="813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BCF319B-1309-9638-2A9A-B5BAA4AB41C8}"/>
              </a:ext>
            </a:extLst>
          </p:cNvPr>
          <p:cNvSpPr txBox="1"/>
          <p:nvPr/>
        </p:nvSpPr>
        <p:spPr>
          <a:xfrm>
            <a:off x="8911417" y="2309047"/>
            <a:ext cx="862737" cy="34291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163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31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* </a:t>
            </a:r>
            <a:r>
              <a:rPr kumimoji="0" lang="ko-KR" altLang="en-US" sz="731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금형 개조 </a:t>
            </a:r>
            <a:endParaRPr kumimoji="0" lang="en-US" altLang="ko-KR" sz="731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163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31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 - </a:t>
            </a:r>
            <a:r>
              <a:rPr kumimoji="0" lang="ko-KR" altLang="en-US" sz="731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비용 </a:t>
            </a:r>
            <a:r>
              <a:rPr kumimoji="0" lang="en-US" altLang="ko-KR" sz="731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: 3,500</a:t>
            </a:r>
            <a:r>
              <a:rPr kumimoji="0" lang="ko-KR" altLang="en-US" sz="731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만원</a:t>
            </a:r>
            <a:endParaRPr kumimoji="0" lang="en-US" altLang="ko-KR" sz="731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7728D91-04C9-6B9B-8344-4EAC788A91AE}"/>
              </a:ext>
            </a:extLst>
          </p:cNvPr>
          <p:cNvSpPr txBox="1"/>
          <p:nvPr/>
        </p:nvSpPr>
        <p:spPr>
          <a:xfrm>
            <a:off x="3951575" y="4491790"/>
            <a:ext cx="4576894" cy="9047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43173" marR="0" lvl="0" indent="-143173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ko-KR" altLang="en-US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향후 계획 </a:t>
            </a:r>
            <a:r>
              <a:rPr kumimoji="1" lang="en-US" altLang="ko-KR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1" lang="ko-KR" altLang="en-US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역기능 및 적용검토</a:t>
            </a:r>
            <a:r>
              <a:rPr kumimoji="1" lang="en-US" altLang="ko-KR" sz="1056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)</a:t>
            </a:r>
          </a:p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-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조립성 검토</a:t>
            </a: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(ST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증가</a:t>
            </a: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) :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인슐레이터 작업시 하네스 통과공정 추가</a:t>
            </a:r>
            <a:endParaRPr kumimoji="1" lang="en-US" altLang="ko-KR" sz="1056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-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셀프클린 동작시 램프홀더</a:t>
            </a: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(T350),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봉지부온도 만족여부 확인시험 실시</a:t>
            </a:r>
            <a:endParaRPr kumimoji="1" lang="en-US" altLang="ko-KR" sz="1056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-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하네스와 중간 커넥터 체결시 고정구조 반영 </a:t>
            </a: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/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셀프클린 중 </a:t>
            </a: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AC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하우징 멜팅 방지</a:t>
            </a:r>
            <a:endParaRPr kumimoji="1" lang="en-US" altLang="ko-KR" sz="1056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- Broil Heater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동작 온도에 따른 램프 탈거</a:t>
            </a:r>
            <a:r>
              <a:rPr kumimoji="1" lang="en-US" altLang="ko-KR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, </a:t>
            </a:r>
            <a:r>
              <a:rPr kumimoji="1" lang="ko-KR" altLang="en-US" sz="1056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부품불량 발생 신뢰성 검증 실시</a:t>
            </a:r>
            <a:endParaRPr kumimoji="1" lang="ko-KR" altLang="en-US" sz="1056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738993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BB73C5-2130-9B70-BDC3-1357DEFA74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DB5D3D8B-CFB5-A8A4-84AA-2EBE6026ABF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5917206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Rear Panel Ass’y(Lower)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03EF192-CAFE-48CA-C476-D2DC64A0DEEE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A9D86FA-ABB8-696E-FC4F-CC73E3F8DFB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5162" y="1424513"/>
            <a:ext cx="3037361" cy="2193027"/>
          </a:xfrm>
          <a:prstGeom prst="rect">
            <a:avLst/>
          </a:prstGeom>
        </p:spPr>
      </p:pic>
      <p:sp>
        <p:nvSpPr>
          <p:cNvPr id="3" name="Text Box 4">
            <a:extLst>
              <a:ext uri="{FF2B5EF4-FFF2-40B4-BE49-F238E27FC236}">
                <a16:creationId xmlns:a16="http://schemas.microsoft.com/office/drawing/2014/main" id="{C1B5F46D-B820-E608-88C0-AD2A4CBF80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E1CF990-C9BF-C551-91B1-EEB49F316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60833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" name="Text Box 9">
            <a:extLst>
              <a:ext uri="{FF2B5EF4-FFF2-40B4-BE49-F238E27FC236}">
                <a16:creationId xmlns:a16="http://schemas.microsoft.com/office/drawing/2014/main" id="{AD100EBB-253A-967B-C3D4-CB7FDB36B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6" name="Text Box 10">
            <a:extLst>
              <a:ext uri="{FF2B5EF4-FFF2-40B4-BE49-F238E27FC236}">
                <a16:creationId xmlns:a16="http://schemas.microsoft.com/office/drawing/2014/main" id="{668BCB04-611B-415C-5615-3A3AE575A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8" name="Line 11">
            <a:extLst>
              <a:ext uri="{FF2B5EF4-FFF2-40B4-BE49-F238E27FC236}">
                <a16:creationId xmlns:a16="http://schemas.microsoft.com/office/drawing/2014/main" id="{3484F919-1962-7417-DE6A-BCCAAAA1F9F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36357" y="3758857"/>
            <a:ext cx="607128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Line 52">
            <a:extLst>
              <a:ext uri="{FF2B5EF4-FFF2-40B4-BE49-F238E27FC236}">
                <a16:creationId xmlns:a16="http://schemas.microsoft.com/office/drawing/2014/main" id="{A5476422-F55D-C15A-BA0E-82F1D52BCD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E22BCD1E-F1E4-CFA2-7D3A-EC7EBB994BC0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Text Box 4">
            <a:extLst>
              <a:ext uri="{FF2B5EF4-FFF2-40B4-BE49-F238E27FC236}">
                <a16:creationId xmlns:a16="http://schemas.microsoft.com/office/drawing/2014/main" id="{449C5611-EFBF-A09B-71BC-E8EFF72CBB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564BE41-44D8-7589-174E-EE74B00EE09D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4D421A3F-BE4A-6F0A-8C74-5E8B4186E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9A829A6-0296-507F-0A0B-D298866098E8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Text Box 4">
            <a:extLst>
              <a:ext uri="{FF2B5EF4-FFF2-40B4-BE49-F238E27FC236}">
                <a16:creationId xmlns:a16="http://schemas.microsoft.com/office/drawing/2014/main" id="{23670CCE-38DC-5AFB-D569-F991F85BB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E7AA1F7-0410-CCDB-FAAF-DE59624DB741}"/>
              </a:ext>
            </a:extLst>
          </p:cNvPr>
          <p:cNvSpPr txBox="1"/>
          <p:nvPr/>
        </p:nvSpPr>
        <p:spPr>
          <a:xfrm>
            <a:off x="251732" y="994673"/>
            <a:ext cx="2104935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Lower</a:t>
            </a:r>
            <a:r>
              <a:rPr kumimoji="1" lang="ko-KR" alt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 </a:t>
            </a: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Oven Rear Panel </a:t>
            </a:r>
            <a:r>
              <a:rPr kumimoji="1" lang="en-US" altLang="ko-K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rPr>
              <a:t>Ass’y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돋움" pitchFamily="50" charset="-127"/>
              <a:cs typeface="Arial" charset="0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201E49-5468-37EE-BF17-C5D1F56A10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7178163"/>
              </p:ext>
            </p:extLst>
          </p:nvPr>
        </p:nvGraphicFramePr>
        <p:xfrm>
          <a:off x="4664969" y="1276349"/>
          <a:ext cx="4884883" cy="2741295"/>
        </p:xfrm>
        <a:graphic>
          <a:graphicData uri="http://schemas.openxmlformats.org/drawingml/2006/table">
            <a:tbl>
              <a:tblPr/>
              <a:tblGrid>
                <a:gridCol w="230358">
                  <a:extLst>
                    <a:ext uri="{9D8B030D-6E8A-4147-A177-3AD203B41FA5}">
                      <a16:colId xmlns:a16="http://schemas.microsoft.com/office/drawing/2014/main" val="1345306397"/>
                    </a:ext>
                  </a:extLst>
                </a:gridCol>
                <a:gridCol w="194122">
                  <a:extLst>
                    <a:ext uri="{9D8B030D-6E8A-4147-A177-3AD203B41FA5}">
                      <a16:colId xmlns:a16="http://schemas.microsoft.com/office/drawing/2014/main" val="2349866729"/>
                    </a:ext>
                  </a:extLst>
                </a:gridCol>
                <a:gridCol w="625671">
                  <a:extLst>
                    <a:ext uri="{9D8B030D-6E8A-4147-A177-3AD203B41FA5}">
                      <a16:colId xmlns:a16="http://schemas.microsoft.com/office/drawing/2014/main" val="2624753070"/>
                    </a:ext>
                  </a:extLst>
                </a:gridCol>
                <a:gridCol w="625671">
                  <a:extLst>
                    <a:ext uri="{9D8B030D-6E8A-4147-A177-3AD203B41FA5}">
                      <a16:colId xmlns:a16="http://schemas.microsoft.com/office/drawing/2014/main" val="2023219766"/>
                    </a:ext>
                  </a:extLst>
                </a:gridCol>
                <a:gridCol w="1057951">
                  <a:extLst>
                    <a:ext uri="{9D8B030D-6E8A-4147-A177-3AD203B41FA5}">
                      <a16:colId xmlns:a16="http://schemas.microsoft.com/office/drawing/2014/main" val="2470629165"/>
                    </a:ext>
                  </a:extLst>
                </a:gridCol>
                <a:gridCol w="295773">
                  <a:extLst>
                    <a:ext uri="{9D8B030D-6E8A-4147-A177-3AD203B41FA5}">
                      <a16:colId xmlns:a16="http://schemas.microsoft.com/office/drawing/2014/main" val="3149039872"/>
                    </a:ext>
                  </a:extLst>
                </a:gridCol>
                <a:gridCol w="285473">
                  <a:extLst>
                    <a:ext uri="{9D8B030D-6E8A-4147-A177-3AD203B41FA5}">
                      <a16:colId xmlns:a16="http://schemas.microsoft.com/office/drawing/2014/main" val="2242628770"/>
                    </a:ext>
                  </a:extLst>
                </a:gridCol>
                <a:gridCol w="1569864">
                  <a:extLst>
                    <a:ext uri="{9D8B030D-6E8A-4147-A177-3AD203B41FA5}">
                      <a16:colId xmlns:a16="http://schemas.microsoft.com/office/drawing/2014/main" val="1637815739"/>
                    </a:ext>
                  </a:extLst>
                </a:gridCol>
              </a:tblGrid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변경점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639476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AGL30246008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Panel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Assembly,Rear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하위 변경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423933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MGC63820203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Panel,Rear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Cu.ft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Rear Panel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개발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32329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MAZ64569801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Bracket,Idle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697163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EAG32629305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Connector,Terminal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Block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0215785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FAB30162501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Screw,Customized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737893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5012W1N016N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Insulator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562819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EBG51439305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Thermostat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6102616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EAU62862906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Motor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Assembly,AC,Synchronous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Door Latch Motor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변경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478743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MEG64478801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Holder,Wire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059438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6877W1N024F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Harness,Single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572810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MJH66322901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Supporter,PCB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Power PCB Size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증대에 따른 개발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2317348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EBR31737824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PCB Assembly,Power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Power PCB 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653208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EAD64146404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Harness,Single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퀵존용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하네스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개발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28079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AJJ76418408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Supporter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Assembly,PCB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242352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EAD65617102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Harness,Single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853630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MAZ67677301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Bracket,Idle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793535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4B70188C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Screw,Customized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490415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MAZ65465802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Bracket,Idle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670672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3647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4B72510F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←</a:t>
                      </a: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Holder,Wire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418" marR="9418" marT="941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381503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DF75FC65-B280-8AB4-478C-179C439C9C33}"/>
              </a:ext>
            </a:extLst>
          </p:cNvPr>
          <p:cNvGrpSpPr/>
          <p:nvPr/>
        </p:nvGrpSpPr>
        <p:grpSpPr>
          <a:xfrm>
            <a:off x="2627973" y="1163052"/>
            <a:ext cx="290464" cy="246221"/>
            <a:chOff x="602678" y="4358086"/>
            <a:chExt cx="290464" cy="246221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C11C948A-7FE1-E8B1-73F8-CAFBCD538522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3AC3A60-E683-3F28-C49B-F8E2CFB5DDE8}"/>
                </a:ext>
              </a:extLst>
            </p:cNvPr>
            <p:cNvSpPr txBox="1"/>
            <p:nvPr/>
          </p:nvSpPr>
          <p:spPr>
            <a:xfrm>
              <a:off x="602678" y="4358086"/>
              <a:ext cx="29046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 8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A473F120-3CB1-38B7-023D-99B80351C152}"/>
              </a:ext>
            </a:extLst>
          </p:cNvPr>
          <p:cNvCxnSpPr>
            <a:cxnSpLocks/>
            <a:stCxn id="25" idx="0"/>
          </p:cNvCxnSpPr>
          <p:nvPr/>
        </p:nvCxnSpPr>
        <p:spPr>
          <a:xfrm flipH="1" flipV="1">
            <a:off x="2849880" y="2628900"/>
            <a:ext cx="201100" cy="4266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072D504B-586C-A575-3AC2-D2DDCD582559}"/>
              </a:ext>
            </a:extLst>
          </p:cNvPr>
          <p:cNvGrpSpPr/>
          <p:nvPr/>
        </p:nvGrpSpPr>
        <p:grpSpPr>
          <a:xfrm>
            <a:off x="2870482" y="3055525"/>
            <a:ext cx="360996" cy="246221"/>
            <a:chOff x="562319" y="4365413"/>
            <a:chExt cx="360996" cy="246221"/>
          </a:xfrm>
        </p:grpSpPr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3F85B12B-E78B-8BAA-4523-B023C0FD73FF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0B7993B-3EB5-9163-A42C-BC23EAFE0B6F}"/>
                </a:ext>
              </a:extLst>
            </p:cNvPr>
            <p:cNvSpPr txBox="1"/>
            <p:nvPr/>
          </p:nvSpPr>
          <p:spPr>
            <a:xfrm>
              <a:off x="562319" y="4365413"/>
              <a:ext cx="36099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 11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4706EDAD-49D8-5685-26E2-3548AD425961}"/>
              </a:ext>
            </a:extLst>
          </p:cNvPr>
          <p:cNvCxnSpPr>
            <a:cxnSpLocks/>
          </p:cNvCxnSpPr>
          <p:nvPr/>
        </p:nvCxnSpPr>
        <p:spPr>
          <a:xfrm>
            <a:off x="879519" y="1699299"/>
            <a:ext cx="354921" cy="58670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D2DC2B7E-2D94-A760-0A9B-6219EA664BE8}"/>
              </a:ext>
            </a:extLst>
          </p:cNvPr>
          <p:cNvGrpSpPr/>
          <p:nvPr/>
        </p:nvGrpSpPr>
        <p:grpSpPr>
          <a:xfrm>
            <a:off x="675174" y="1498591"/>
            <a:ext cx="290464" cy="246221"/>
            <a:chOff x="594182" y="4350381"/>
            <a:chExt cx="290464" cy="246221"/>
          </a:xfrm>
        </p:grpSpPr>
        <p:sp>
          <p:nvSpPr>
            <p:cNvPr id="28" name="타원 27">
              <a:extLst>
                <a:ext uri="{FF2B5EF4-FFF2-40B4-BE49-F238E27FC236}">
                  <a16:creationId xmlns:a16="http://schemas.microsoft.com/office/drawing/2014/main" id="{EC2D4AC7-2F13-D287-2434-154514DE4C54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C236419-A4B8-E974-1EA5-244370C0E076}"/>
                </a:ext>
              </a:extLst>
            </p:cNvPr>
            <p:cNvSpPr txBox="1"/>
            <p:nvPr/>
          </p:nvSpPr>
          <p:spPr>
            <a:xfrm>
              <a:off x="594182" y="4350381"/>
              <a:ext cx="29046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 2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30" name="그림 29" descr="전자제품, 카메라이(가) 표시된 사진&#10;&#10;자동 생성된 설명">
            <a:extLst>
              <a:ext uri="{FF2B5EF4-FFF2-40B4-BE49-F238E27FC236}">
                <a16:creationId xmlns:a16="http://schemas.microsoft.com/office/drawing/2014/main" id="{9BEC70D2-4F38-334D-10E6-C0671A60D690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921" y="4437293"/>
            <a:ext cx="2925952" cy="2357207"/>
          </a:xfrm>
          <a:prstGeom prst="rect">
            <a:avLst/>
          </a:prstGeom>
        </p:spPr>
      </p:pic>
      <p:sp>
        <p:nvSpPr>
          <p:cNvPr id="31" name="이등변 삼각형 30">
            <a:extLst>
              <a:ext uri="{FF2B5EF4-FFF2-40B4-BE49-F238E27FC236}">
                <a16:creationId xmlns:a16="http://schemas.microsoft.com/office/drawing/2014/main" id="{007528C0-4A1E-12F6-A14F-D090DBE0D2D3}"/>
              </a:ext>
            </a:extLst>
          </p:cNvPr>
          <p:cNvSpPr/>
          <p:nvPr/>
        </p:nvSpPr>
        <p:spPr bwMode="auto">
          <a:xfrm flipV="1">
            <a:off x="669794" y="3854437"/>
            <a:ext cx="3385533" cy="204403"/>
          </a:xfrm>
          <a:prstGeom prst="triangl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79B4F17-00BC-A765-E317-1D1FCFBA269B}"/>
              </a:ext>
            </a:extLst>
          </p:cNvPr>
          <p:cNvCxnSpPr>
            <a:cxnSpLocks/>
            <a:stCxn id="35" idx="0"/>
          </p:cNvCxnSpPr>
          <p:nvPr/>
        </p:nvCxnSpPr>
        <p:spPr>
          <a:xfrm flipH="1" flipV="1">
            <a:off x="3444240" y="2339340"/>
            <a:ext cx="201100" cy="42662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65258133-21C8-CE9A-4B3B-81FE3D37C4B6}"/>
              </a:ext>
            </a:extLst>
          </p:cNvPr>
          <p:cNvGrpSpPr/>
          <p:nvPr/>
        </p:nvGrpSpPr>
        <p:grpSpPr>
          <a:xfrm>
            <a:off x="3464842" y="2765965"/>
            <a:ext cx="360996" cy="246221"/>
            <a:chOff x="562319" y="4365413"/>
            <a:chExt cx="360996" cy="246221"/>
          </a:xfrm>
        </p:grpSpPr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D04C8E2C-09C9-3A97-F4BB-7660262AE030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ko-KR" altLang="en-US" sz="80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2A74FE36-383E-8D3D-7772-B07CE4A863D8}"/>
                </a:ext>
              </a:extLst>
            </p:cNvPr>
            <p:cNvSpPr txBox="1"/>
            <p:nvPr/>
          </p:nvSpPr>
          <p:spPr>
            <a:xfrm>
              <a:off x="562319" y="4365413"/>
              <a:ext cx="36099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>
                  <a:solidFill>
                    <a:schemeClr val="bg1"/>
                  </a:solidFill>
                </a:rPr>
                <a:t> 12</a:t>
              </a:r>
              <a:endParaRPr lang="ko-KR" altLang="en-US" sz="1000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D3814D59-CA07-1604-4929-BCB78DF09640}"/>
              </a:ext>
            </a:extLst>
          </p:cNvPr>
          <p:cNvCxnSpPr>
            <a:cxnSpLocks/>
          </p:cNvCxnSpPr>
          <p:nvPr/>
        </p:nvCxnSpPr>
        <p:spPr>
          <a:xfrm flipH="1">
            <a:off x="2674620" y="1363980"/>
            <a:ext cx="10668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64C569-C283-5BC9-D983-F035ECE175E2}"/>
              </a:ext>
            </a:extLst>
          </p:cNvPr>
          <p:cNvSpPr/>
          <p:nvPr/>
        </p:nvSpPr>
        <p:spPr bwMode="auto">
          <a:xfrm>
            <a:off x="4642809" y="6309562"/>
            <a:ext cx="2268497" cy="397767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 요약 </a:t>
            </a:r>
            <a:endParaRPr lang="en-US" altLang="ko-KR" sz="80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5.1 </a:t>
            </a:r>
            <a:r>
              <a:rPr kumimoji="1" lang="en-US" altLang="ko-KR" sz="800" i="0" u="none" strike="noStrike" cap="none" normalizeH="0" baseline="0" dirty="0" err="1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Cu.ft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Cavity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적용에 따른 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Rear Panel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높이</a:t>
            </a:r>
            <a:r>
              <a:rPr kumimoji="1" lang="en-US" altLang="ko-KR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1" lang="ko-KR" altLang="en-US" sz="800" i="0" u="none" strike="noStrike" cap="none" normalizeH="0" baseline="0" dirty="0">
                <a:ln>
                  <a:noFill/>
                </a:ln>
                <a:solidFill>
                  <a:srgbClr val="0066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증대</a:t>
            </a:r>
            <a:endParaRPr kumimoji="1" lang="en-US" altLang="ko-KR" sz="800" i="0" u="none" strike="noStrike" cap="none" normalizeH="0" baseline="0" dirty="0">
              <a:ln>
                <a:noFill/>
              </a:ln>
              <a:solidFill>
                <a:srgbClr val="0066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1687695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B5A89-0CC6-FB19-C6C1-555D774702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CFC10182-15BC-BC84-671F-1CCAFB6C34C8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5673550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Lower Door Assembly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91F26B2A-1B20-0194-3425-5F8268491817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7DB5514-07A6-FA4B-CE59-FA398115D95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4657" y="3823575"/>
            <a:ext cx="4195001" cy="2845785"/>
          </a:xfrm>
          <a:prstGeom prst="rect">
            <a:avLst/>
          </a:prstGeom>
        </p:spPr>
      </p:pic>
      <p:sp>
        <p:nvSpPr>
          <p:cNvPr id="3" name="Text Box 4">
            <a:extLst>
              <a:ext uri="{FF2B5EF4-FFF2-40B4-BE49-F238E27FC236}">
                <a16:creationId xmlns:a16="http://schemas.microsoft.com/office/drawing/2014/main" id="{7EFBD46B-7638-B392-A1A9-B9C0B63EE8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4AE7B8A-EFDC-053C-3B9F-C9AC81388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" name="Text Box 9">
            <a:extLst>
              <a:ext uri="{FF2B5EF4-FFF2-40B4-BE49-F238E27FC236}">
                <a16:creationId xmlns:a16="http://schemas.microsoft.com/office/drawing/2014/main" id="{2070B78E-F87E-7019-8552-A2F771EC1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6" name="Text Box 10">
            <a:extLst>
              <a:ext uri="{FF2B5EF4-FFF2-40B4-BE49-F238E27FC236}">
                <a16:creationId xmlns:a16="http://schemas.microsoft.com/office/drawing/2014/main" id="{613EE06F-0E86-41A6-FA87-A19FA1F26D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8" name="Line 11">
            <a:extLst>
              <a:ext uri="{FF2B5EF4-FFF2-40B4-BE49-F238E27FC236}">
                <a16:creationId xmlns:a16="http://schemas.microsoft.com/office/drawing/2014/main" id="{4534FDF8-99DD-4048-DBA4-12C1112F5A2B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96287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Line 52">
            <a:extLst>
              <a:ext uri="{FF2B5EF4-FFF2-40B4-BE49-F238E27FC236}">
                <a16:creationId xmlns:a16="http://schemas.microsoft.com/office/drawing/2014/main" id="{914E193E-8240-8D40-837C-A57E87D6075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1A76321A-EC39-35A6-710D-D32E3E8249AA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Text Box 4">
            <a:extLst>
              <a:ext uri="{FF2B5EF4-FFF2-40B4-BE49-F238E27FC236}">
                <a16:creationId xmlns:a16="http://schemas.microsoft.com/office/drawing/2014/main" id="{62771746-96F6-261A-21CE-0CFD9DBEA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ECD5D8D-4F64-43B5-46FF-8F0D128488F7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79083568-D8DC-5C6B-BFD6-1EED9C473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E3573737-478E-3FBD-9C56-DE1878EEF5CB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Text Box 4">
            <a:extLst>
              <a:ext uri="{FF2B5EF4-FFF2-40B4-BE49-F238E27FC236}">
                <a16:creationId xmlns:a16="http://schemas.microsoft.com/office/drawing/2014/main" id="{856C932C-0978-3D7D-E39A-633DEB494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A417F580-014E-871A-9E11-9758796428D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442" y="1026887"/>
            <a:ext cx="3849050" cy="2762153"/>
          </a:xfrm>
          <a:prstGeom prst="rect">
            <a:avLst/>
          </a:prstGeom>
        </p:spPr>
      </p:pic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B251AAF-DEC8-6231-6496-9CACD99F8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274118"/>
              </p:ext>
            </p:extLst>
          </p:nvPr>
        </p:nvGraphicFramePr>
        <p:xfrm>
          <a:off x="4641768" y="1258917"/>
          <a:ext cx="4889994" cy="3897493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39763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564795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1602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216024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2058482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ADC30051109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 </a:t>
                      </a:r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Assembly,Full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7942877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AEH76198003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Hinge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Size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변경에 따른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Hinge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신규 개발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무게 변경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4411168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MCK68473501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Cover,Inner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Cu.ft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Cavity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크기 증가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5723469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4890W1N009L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Window,Glass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Cu.ft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Cavity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크기 증가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302740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MAZ64569403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Bracket,Mount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Cu.ft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Cavity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크기 증가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8080899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MEV65115504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Insulator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050747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3300W1N003N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Plate,Shield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3455009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MEV65115506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Insulator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크기 증가에 따른 단열재 크기 증가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168048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MDQ64177306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Frame,Door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1223199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MDQ64177305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Frame,Door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크기 증가에 따른 프레임 크기 증가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7179005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ADC30051808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 </a:t>
                      </a:r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Assembly,Sub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9562368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MCR68408308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Decor,Front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932273"/>
                  </a:ext>
                </a:extLst>
              </a:tr>
              <a:tr h="287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....4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MCR68408307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Decor,Front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크기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Full Glass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깊이방향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8mm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축소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8821968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MKC65299629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Window,Glass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도어 크기 증가에 따른 글라스 크기 증가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980244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ACW30276302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Decor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Décor,Front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대체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(PBT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사출 →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STS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7350647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MCR68408402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Decor,Door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Décor,Front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대체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(PBT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사출 →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STS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469811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…3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MJH30027201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Supporter,Handle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Door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깊이방향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8mm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축소에 따른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축소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6847626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AED75497004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AED30153303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Handle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Dimple Handle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적용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9807087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ADX75736001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Gasket Assembly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노크온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스위치 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상대물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53400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MAZ63478606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Bracket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브라켓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6766569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MJB63190001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Stopper,Handle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Changeable Handle 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체결물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2004214"/>
                  </a:ext>
                </a:extLst>
              </a:tr>
              <a:tr h="16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MFZ00494001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Packing,Gasket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Handle Glass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체결에 따른 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Damper 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부품 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192879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E4D4C8DD-5F0B-3A1F-95E0-F60FBE814288}"/>
              </a:ext>
            </a:extLst>
          </p:cNvPr>
          <p:cNvSpPr/>
          <p:nvPr/>
        </p:nvSpPr>
        <p:spPr bwMode="auto">
          <a:xfrm rot="1562445">
            <a:off x="880127" y="3389949"/>
            <a:ext cx="1448139" cy="32983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F68D191-DCE7-84AB-AD1D-8A8D741BF6BC}"/>
              </a:ext>
            </a:extLst>
          </p:cNvPr>
          <p:cNvSpPr/>
          <p:nvPr/>
        </p:nvSpPr>
        <p:spPr bwMode="auto">
          <a:xfrm rot="1562445">
            <a:off x="3832787" y="2794015"/>
            <a:ext cx="176108" cy="32983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9E292517-D90A-A038-F839-B4ED24E419F5}"/>
              </a:ext>
            </a:extLst>
          </p:cNvPr>
          <p:cNvGrpSpPr/>
          <p:nvPr/>
        </p:nvGrpSpPr>
        <p:grpSpPr>
          <a:xfrm>
            <a:off x="990821" y="4281429"/>
            <a:ext cx="325730" cy="246221"/>
            <a:chOff x="606573" y="4366745"/>
            <a:chExt cx="325730" cy="246221"/>
          </a:xfrm>
        </p:grpSpPr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178985EE-66FF-6F60-6836-65AF6D9E56EC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D60A2BD-1762-2979-8C63-AD67AD7CD2AB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35FE35FC-3235-C80C-7D58-4D568BA3533D}"/>
              </a:ext>
            </a:extLst>
          </p:cNvPr>
          <p:cNvCxnSpPr>
            <a:cxnSpLocks/>
          </p:cNvCxnSpPr>
          <p:nvPr/>
        </p:nvCxnSpPr>
        <p:spPr>
          <a:xfrm flipH="1" flipV="1">
            <a:off x="3395523" y="6174986"/>
            <a:ext cx="152130" cy="16594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65ECE588-52F2-2B33-57B7-287C234FEBDB}"/>
              </a:ext>
            </a:extLst>
          </p:cNvPr>
          <p:cNvGrpSpPr/>
          <p:nvPr/>
        </p:nvGrpSpPr>
        <p:grpSpPr>
          <a:xfrm>
            <a:off x="889744" y="1128712"/>
            <a:ext cx="215900" cy="215900"/>
            <a:chOff x="-1119257" y="3128859"/>
            <a:chExt cx="215900" cy="21590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F095704E-7A96-88A3-E115-D70D05400EB5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EDA8A8-23FB-2F6B-BFAD-3877C69782CE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3FCE215-6400-2360-FC85-62BD09BFACFD}"/>
              </a:ext>
            </a:extLst>
          </p:cNvPr>
          <p:cNvGrpSpPr/>
          <p:nvPr/>
        </p:nvGrpSpPr>
        <p:grpSpPr>
          <a:xfrm>
            <a:off x="2277266" y="3394696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14EFBE2B-0278-708E-BC48-D9C4B299E22B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6B34769-A7A4-1AE1-C7DC-8CD014090887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B4208183-F54A-D443-B355-3236D36D209F}"/>
              </a:ext>
            </a:extLst>
          </p:cNvPr>
          <p:cNvCxnSpPr>
            <a:cxnSpLocks/>
            <a:stCxn id="51" idx="4"/>
          </p:cNvCxnSpPr>
          <p:nvPr/>
        </p:nvCxnSpPr>
        <p:spPr>
          <a:xfrm flipH="1">
            <a:off x="4405073" y="4486584"/>
            <a:ext cx="30085" cy="19135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B5A1546C-57C1-3974-1DA1-8D8A1E38EBB7}"/>
              </a:ext>
            </a:extLst>
          </p:cNvPr>
          <p:cNvSpPr/>
          <p:nvPr/>
        </p:nvSpPr>
        <p:spPr>
          <a:xfrm>
            <a:off x="3486338" y="6221893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5FC7698F-4A18-88F8-C7F4-43F6572CDB2D}"/>
              </a:ext>
            </a:extLst>
          </p:cNvPr>
          <p:cNvCxnSpPr>
            <a:cxnSpLocks/>
          </p:cNvCxnSpPr>
          <p:nvPr/>
        </p:nvCxnSpPr>
        <p:spPr>
          <a:xfrm>
            <a:off x="2171700" y="4320786"/>
            <a:ext cx="105566" cy="15086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타원 33">
            <a:extLst>
              <a:ext uri="{FF2B5EF4-FFF2-40B4-BE49-F238E27FC236}">
                <a16:creationId xmlns:a16="http://schemas.microsoft.com/office/drawing/2014/main" id="{426E8DA9-01B8-D20E-A66F-88E3420AF070}"/>
              </a:ext>
            </a:extLst>
          </p:cNvPr>
          <p:cNvSpPr/>
          <p:nvPr/>
        </p:nvSpPr>
        <p:spPr>
          <a:xfrm>
            <a:off x="2014337" y="4130065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CDB4BB4-16BC-E1D3-60C9-5BB71A8BA761}"/>
              </a:ext>
            </a:extLst>
          </p:cNvPr>
          <p:cNvCxnSpPr>
            <a:cxnSpLocks/>
          </p:cNvCxnSpPr>
          <p:nvPr/>
        </p:nvCxnSpPr>
        <p:spPr>
          <a:xfrm flipH="1" flipV="1">
            <a:off x="2943425" y="2957862"/>
            <a:ext cx="101686" cy="18789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타원 35">
            <a:extLst>
              <a:ext uri="{FF2B5EF4-FFF2-40B4-BE49-F238E27FC236}">
                <a16:creationId xmlns:a16="http://schemas.microsoft.com/office/drawing/2014/main" id="{3CF36C86-2EB3-8845-9706-C20EB869FEE6}"/>
              </a:ext>
            </a:extLst>
          </p:cNvPr>
          <p:cNvSpPr/>
          <p:nvPr/>
        </p:nvSpPr>
        <p:spPr>
          <a:xfrm>
            <a:off x="2970471" y="3035651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D81CC8FD-11D0-CE4E-736D-94DF9F0DF124}"/>
              </a:ext>
            </a:extLst>
          </p:cNvPr>
          <p:cNvCxnSpPr>
            <a:cxnSpLocks/>
          </p:cNvCxnSpPr>
          <p:nvPr/>
        </p:nvCxnSpPr>
        <p:spPr>
          <a:xfrm>
            <a:off x="1928854" y="1209698"/>
            <a:ext cx="369846" cy="9205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타원 37">
            <a:extLst>
              <a:ext uri="{FF2B5EF4-FFF2-40B4-BE49-F238E27FC236}">
                <a16:creationId xmlns:a16="http://schemas.microsoft.com/office/drawing/2014/main" id="{26AC7AD2-0786-3324-4943-4564091DA0D4}"/>
              </a:ext>
            </a:extLst>
          </p:cNvPr>
          <p:cNvSpPr/>
          <p:nvPr/>
        </p:nvSpPr>
        <p:spPr>
          <a:xfrm>
            <a:off x="1763346" y="1026886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4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DA0CCD15-1CF1-6DC3-55DC-711254DA9C6F}"/>
              </a:ext>
            </a:extLst>
          </p:cNvPr>
          <p:cNvCxnSpPr>
            <a:cxnSpLocks/>
          </p:cNvCxnSpPr>
          <p:nvPr/>
        </p:nvCxnSpPr>
        <p:spPr>
          <a:xfrm>
            <a:off x="2725827" y="4239595"/>
            <a:ext cx="319454" cy="27807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타원 39">
            <a:extLst>
              <a:ext uri="{FF2B5EF4-FFF2-40B4-BE49-F238E27FC236}">
                <a16:creationId xmlns:a16="http://schemas.microsoft.com/office/drawing/2014/main" id="{684877F6-A5DE-0C61-31EA-A935C999289B}"/>
              </a:ext>
            </a:extLst>
          </p:cNvPr>
          <p:cNvSpPr/>
          <p:nvPr/>
        </p:nvSpPr>
        <p:spPr>
          <a:xfrm>
            <a:off x="2548477" y="4071226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4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84A11C2E-33FF-45DB-532F-A883A4111219}"/>
              </a:ext>
            </a:extLst>
          </p:cNvPr>
          <p:cNvCxnSpPr>
            <a:cxnSpLocks/>
            <a:stCxn id="20" idx="1"/>
          </p:cNvCxnSpPr>
          <p:nvPr/>
        </p:nvCxnSpPr>
        <p:spPr>
          <a:xfrm flipH="1" flipV="1">
            <a:off x="3651250" y="2647950"/>
            <a:ext cx="190476" cy="27232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타원 41">
            <a:extLst>
              <a:ext uri="{FF2B5EF4-FFF2-40B4-BE49-F238E27FC236}">
                <a16:creationId xmlns:a16="http://schemas.microsoft.com/office/drawing/2014/main" id="{A389243F-448C-1AD3-58B3-667A68CE41AB}"/>
              </a:ext>
            </a:extLst>
          </p:cNvPr>
          <p:cNvSpPr/>
          <p:nvPr/>
        </p:nvSpPr>
        <p:spPr>
          <a:xfrm>
            <a:off x="3779124" y="2815016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17CFE067-3EA9-0CA0-3B15-CB5FFA4FA57C}"/>
              </a:ext>
            </a:extLst>
          </p:cNvPr>
          <p:cNvCxnSpPr>
            <a:cxnSpLocks/>
            <a:stCxn id="44" idx="1"/>
          </p:cNvCxnSpPr>
          <p:nvPr/>
        </p:nvCxnSpPr>
        <p:spPr>
          <a:xfrm flipH="1" flipV="1">
            <a:off x="4092675" y="5798370"/>
            <a:ext cx="268706" cy="16777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B8E1B763-FF01-261B-9122-65AB03C66203}"/>
              </a:ext>
            </a:extLst>
          </p:cNvPr>
          <p:cNvSpPr/>
          <p:nvPr/>
        </p:nvSpPr>
        <p:spPr>
          <a:xfrm>
            <a:off x="4329763" y="5934531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pic>
        <p:nvPicPr>
          <p:cNvPr id="45" name="Picture 2" descr="Click image to close this Window.">
            <a:extLst>
              <a:ext uri="{FF2B5EF4-FFF2-40B4-BE49-F238E27FC236}">
                <a16:creationId xmlns:a16="http://schemas.microsoft.com/office/drawing/2014/main" id="{523DFDA0-817B-BC73-1C1C-EE8A7114FE6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203" t="44482" r="4408" b="11372"/>
          <a:stretch/>
        </p:blipFill>
        <p:spPr bwMode="auto">
          <a:xfrm>
            <a:off x="4711171" y="5568165"/>
            <a:ext cx="1249938" cy="10099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ED4A486D-8840-1014-78B5-90D3977CB624}"/>
              </a:ext>
            </a:extLst>
          </p:cNvPr>
          <p:cNvCxnSpPr>
            <a:cxnSpLocks/>
          </p:cNvCxnSpPr>
          <p:nvPr/>
        </p:nvCxnSpPr>
        <p:spPr>
          <a:xfrm flipH="1" flipV="1">
            <a:off x="3837212" y="2603947"/>
            <a:ext cx="263294" cy="20942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타원 46">
            <a:extLst>
              <a:ext uri="{FF2B5EF4-FFF2-40B4-BE49-F238E27FC236}">
                <a16:creationId xmlns:a16="http://schemas.microsoft.com/office/drawing/2014/main" id="{AE00467B-E122-17E6-71B1-9B94DC27AE73}"/>
              </a:ext>
            </a:extLst>
          </p:cNvPr>
          <p:cNvSpPr/>
          <p:nvPr/>
        </p:nvSpPr>
        <p:spPr>
          <a:xfrm>
            <a:off x="4037904" y="2708116"/>
            <a:ext cx="215900" cy="2159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8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A9F8F804-D275-080B-D8D0-F7F97D9EDF71}"/>
              </a:ext>
            </a:extLst>
          </p:cNvPr>
          <p:cNvCxnSpPr>
            <a:cxnSpLocks/>
          </p:cNvCxnSpPr>
          <p:nvPr/>
        </p:nvCxnSpPr>
        <p:spPr>
          <a:xfrm>
            <a:off x="2468880" y="4294116"/>
            <a:ext cx="302438" cy="26273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타원 48">
            <a:extLst>
              <a:ext uri="{FF2B5EF4-FFF2-40B4-BE49-F238E27FC236}">
                <a16:creationId xmlns:a16="http://schemas.microsoft.com/office/drawing/2014/main" id="{05157510-BF85-CCF5-0517-EB1963CFFD9F}"/>
              </a:ext>
            </a:extLst>
          </p:cNvPr>
          <p:cNvSpPr/>
          <p:nvPr/>
        </p:nvSpPr>
        <p:spPr>
          <a:xfrm>
            <a:off x="2308445" y="4109969"/>
            <a:ext cx="215900" cy="2159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8</a:t>
            </a:r>
            <a:endParaRPr kumimoji="1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7DE5322-345F-30FA-A905-10C3103B2D6A}"/>
              </a:ext>
            </a:extLst>
          </p:cNvPr>
          <p:cNvGrpSpPr/>
          <p:nvPr/>
        </p:nvGrpSpPr>
        <p:grpSpPr>
          <a:xfrm>
            <a:off x="4327208" y="4270684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754DF3F1-7EC8-CF66-121E-949037FFFBD5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969890F-D957-C98B-2747-D988CA711E64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701F0E20-2840-AE36-0525-3548A80AC1E8}"/>
              </a:ext>
            </a:extLst>
          </p:cNvPr>
          <p:cNvCxnSpPr>
            <a:cxnSpLocks/>
            <a:stCxn id="55" idx="4"/>
          </p:cNvCxnSpPr>
          <p:nvPr/>
        </p:nvCxnSpPr>
        <p:spPr>
          <a:xfrm flipH="1">
            <a:off x="4236654" y="1552189"/>
            <a:ext cx="30085" cy="19135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074E0BEB-2566-CC14-E812-9BD6BEC93848}"/>
              </a:ext>
            </a:extLst>
          </p:cNvPr>
          <p:cNvGrpSpPr/>
          <p:nvPr/>
        </p:nvGrpSpPr>
        <p:grpSpPr>
          <a:xfrm>
            <a:off x="4158789" y="1336289"/>
            <a:ext cx="215900" cy="215900"/>
            <a:chOff x="-1119257" y="3128859"/>
            <a:chExt cx="215900" cy="215900"/>
          </a:xfrm>
          <a:solidFill>
            <a:srgbClr val="C00000"/>
          </a:solidFill>
        </p:grpSpPr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1EA782C1-D5DC-252D-91C7-216CB954EF74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47B1FC28-13F7-AD8C-FAEC-622B0D23226E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10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BC20009E-45F7-8015-3C05-FA863D311F6A}"/>
              </a:ext>
            </a:extLst>
          </p:cNvPr>
          <p:cNvCxnSpPr>
            <a:cxnSpLocks/>
          </p:cNvCxnSpPr>
          <p:nvPr/>
        </p:nvCxnSpPr>
        <p:spPr>
          <a:xfrm flipH="1">
            <a:off x="887908" y="4457958"/>
            <a:ext cx="166292" cy="18457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C44CAC6D-3251-C532-3BF7-058A58DC408F}"/>
              </a:ext>
            </a:extLst>
          </p:cNvPr>
          <p:cNvGrpSpPr/>
          <p:nvPr/>
        </p:nvGrpSpPr>
        <p:grpSpPr>
          <a:xfrm>
            <a:off x="655272" y="2379489"/>
            <a:ext cx="325730" cy="246221"/>
            <a:chOff x="606573" y="4366745"/>
            <a:chExt cx="325730" cy="246221"/>
          </a:xfrm>
        </p:grpSpPr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4808F818-968E-3B56-8280-C869EE5DE5BF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63F4EF9C-353A-1254-9924-235827F6C997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D5CB9B4F-5095-C590-6263-A3FBC1799AB0}"/>
              </a:ext>
            </a:extLst>
          </p:cNvPr>
          <p:cNvCxnSpPr>
            <a:cxnSpLocks/>
          </p:cNvCxnSpPr>
          <p:nvPr/>
        </p:nvCxnSpPr>
        <p:spPr>
          <a:xfrm>
            <a:off x="887908" y="2577217"/>
            <a:ext cx="105566" cy="150862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ECA91FA7-B657-F1E2-AB0D-2C3D2CA543F2}"/>
              </a:ext>
            </a:extLst>
          </p:cNvPr>
          <p:cNvCxnSpPr>
            <a:cxnSpLocks/>
          </p:cNvCxnSpPr>
          <p:nvPr/>
        </p:nvCxnSpPr>
        <p:spPr>
          <a:xfrm flipH="1" flipV="1">
            <a:off x="2119197" y="2979712"/>
            <a:ext cx="179503" cy="480187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D8263721-FF06-6E51-D2CD-7BAF8B7A45C9}"/>
              </a:ext>
            </a:extLst>
          </p:cNvPr>
          <p:cNvGrpSpPr/>
          <p:nvPr/>
        </p:nvGrpSpPr>
        <p:grpSpPr>
          <a:xfrm>
            <a:off x="2495188" y="5887716"/>
            <a:ext cx="215900" cy="215900"/>
            <a:chOff x="-1119257" y="3128859"/>
            <a:chExt cx="215900" cy="215900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8D64DDA0-DA02-372A-0C1F-8B8C6D71943F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14C18ED-0960-F161-9846-F99BEE1AB405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6" name="직선 화살표 연결선 65">
            <a:extLst>
              <a:ext uri="{FF2B5EF4-FFF2-40B4-BE49-F238E27FC236}">
                <a16:creationId xmlns:a16="http://schemas.microsoft.com/office/drawing/2014/main" id="{EE698A26-B6E2-163B-86B5-F2FFBBA1AC78}"/>
              </a:ext>
            </a:extLst>
          </p:cNvPr>
          <p:cNvCxnSpPr>
            <a:cxnSpLocks/>
          </p:cNvCxnSpPr>
          <p:nvPr/>
        </p:nvCxnSpPr>
        <p:spPr>
          <a:xfrm flipH="1" flipV="1">
            <a:off x="2145945" y="5871079"/>
            <a:ext cx="362446" cy="10119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B8BCD84C-0F00-5B53-728B-7DC109910B18}"/>
              </a:ext>
            </a:extLst>
          </p:cNvPr>
          <p:cNvGrpSpPr/>
          <p:nvPr/>
        </p:nvGrpSpPr>
        <p:grpSpPr>
          <a:xfrm>
            <a:off x="406846" y="4372997"/>
            <a:ext cx="325730" cy="246221"/>
            <a:chOff x="606573" y="4366745"/>
            <a:chExt cx="325730" cy="246221"/>
          </a:xfrm>
        </p:grpSpPr>
        <p:sp>
          <p:nvSpPr>
            <p:cNvPr id="68" name="타원 67">
              <a:extLst>
                <a:ext uri="{FF2B5EF4-FFF2-40B4-BE49-F238E27FC236}">
                  <a16:creationId xmlns:a16="http://schemas.microsoft.com/office/drawing/2014/main" id="{9C537084-8395-4273-C991-AA364632F151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AD4C733-C413-9105-EACF-0DEB839B3333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21FBBF3-B379-B4B3-3621-8B862BCF4055}"/>
              </a:ext>
            </a:extLst>
          </p:cNvPr>
          <p:cNvCxnSpPr>
            <a:cxnSpLocks/>
            <a:stCxn id="69" idx="2"/>
          </p:cNvCxnSpPr>
          <p:nvPr/>
        </p:nvCxnSpPr>
        <p:spPr>
          <a:xfrm>
            <a:off x="569711" y="4619218"/>
            <a:ext cx="55846" cy="160538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FB04E984-3E75-12B7-E8E5-F74A0073A77A}"/>
              </a:ext>
            </a:extLst>
          </p:cNvPr>
          <p:cNvGrpSpPr/>
          <p:nvPr/>
        </p:nvGrpSpPr>
        <p:grpSpPr>
          <a:xfrm>
            <a:off x="1474929" y="1220118"/>
            <a:ext cx="325730" cy="246221"/>
            <a:chOff x="606573" y="4366745"/>
            <a:chExt cx="325730" cy="246221"/>
          </a:xfrm>
        </p:grpSpPr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65B41ABC-3616-85CC-B86D-3CD2BF08831B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49BACB3-E55A-BD29-DB35-28CB6C6E5486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7B5665D6-5C18-E06F-9F24-63BBB96B833C}"/>
              </a:ext>
            </a:extLst>
          </p:cNvPr>
          <p:cNvCxnSpPr>
            <a:cxnSpLocks/>
          </p:cNvCxnSpPr>
          <p:nvPr/>
        </p:nvCxnSpPr>
        <p:spPr>
          <a:xfrm>
            <a:off x="1738982" y="1372296"/>
            <a:ext cx="280318" cy="144084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070720A-4262-271E-2798-70AA50097792}"/>
              </a:ext>
            </a:extLst>
          </p:cNvPr>
          <p:cNvGrpSpPr/>
          <p:nvPr/>
        </p:nvGrpSpPr>
        <p:grpSpPr>
          <a:xfrm>
            <a:off x="341913" y="5287123"/>
            <a:ext cx="215900" cy="215900"/>
            <a:chOff x="-1119257" y="3128859"/>
            <a:chExt cx="215900" cy="215900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D267DAD6-AFBB-040F-718C-AAEF3141E938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482FD40-36EF-E657-6609-2D3D947FB553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4045EF80-3E4D-AD4F-CB40-89D0324C9C49}"/>
              </a:ext>
            </a:extLst>
          </p:cNvPr>
          <p:cNvGrpSpPr/>
          <p:nvPr/>
        </p:nvGrpSpPr>
        <p:grpSpPr>
          <a:xfrm>
            <a:off x="672008" y="1569450"/>
            <a:ext cx="215900" cy="215900"/>
            <a:chOff x="-1119257" y="3128859"/>
            <a:chExt cx="215900" cy="215900"/>
          </a:xfrm>
        </p:grpSpPr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284717A5-70B2-EBCB-D99D-B120DE64DB29}"/>
                </a:ext>
              </a:extLst>
            </p:cNvPr>
            <p:cNvSpPr/>
            <p:nvPr/>
          </p:nvSpPr>
          <p:spPr>
            <a:xfrm>
              <a:off x="-1119257" y="3128859"/>
              <a:ext cx="215900" cy="215900"/>
            </a:xfrm>
            <a:prstGeom prst="ellipse">
              <a:avLst/>
            </a:prstGeom>
            <a:solidFill>
              <a:srgbClr val="FFFF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1727A8A8-11C2-88ED-FF28-8F171808BF83}"/>
                </a:ext>
              </a:extLst>
            </p:cNvPr>
            <p:cNvSpPr txBox="1"/>
            <p:nvPr/>
          </p:nvSpPr>
          <p:spPr>
            <a:xfrm>
              <a:off x="-1064760" y="3162245"/>
              <a:ext cx="115416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2D8A94AB-C769-7223-D994-3F914BA89741}"/>
              </a:ext>
            </a:extLst>
          </p:cNvPr>
          <p:cNvCxnSpPr>
            <a:cxnSpLocks/>
          </p:cNvCxnSpPr>
          <p:nvPr/>
        </p:nvCxnSpPr>
        <p:spPr>
          <a:xfrm>
            <a:off x="855225" y="1762208"/>
            <a:ext cx="85466" cy="36963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F4FB5B28-360E-9D79-713B-92D9C2CBEE6D}"/>
              </a:ext>
            </a:extLst>
          </p:cNvPr>
          <p:cNvCxnSpPr>
            <a:cxnSpLocks/>
            <a:stCxn id="76" idx="7"/>
          </p:cNvCxnSpPr>
          <p:nvPr/>
        </p:nvCxnSpPr>
        <p:spPr>
          <a:xfrm flipV="1">
            <a:off x="526195" y="5056010"/>
            <a:ext cx="94181" cy="262731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54A52961-669A-1AB3-E80B-FF6220130ED7}"/>
              </a:ext>
            </a:extLst>
          </p:cNvPr>
          <p:cNvGrpSpPr/>
          <p:nvPr/>
        </p:nvGrpSpPr>
        <p:grpSpPr>
          <a:xfrm>
            <a:off x="1551232" y="4533535"/>
            <a:ext cx="325730" cy="246221"/>
            <a:chOff x="606573" y="4366745"/>
            <a:chExt cx="325730" cy="246221"/>
          </a:xfrm>
        </p:grpSpPr>
        <p:sp>
          <p:nvSpPr>
            <p:cNvPr id="84" name="타원 83">
              <a:extLst>
                <a:ext uri="{FF2B5EF4-FFF2-40B4-BE49-F238E27FC236}">
                  <a16:creationId xmlns:a16="http://schemas.microsoft.com/office/drawing/2014/main" id="{D583E4CB-CD7A-FC0A-A9BC-CEAD7F422393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53520EA6-A97B-A6FB-9929-61DFE92AF1DD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6A10E97E-0176-D4C4-40B6-2F66D008771B}"/>
              </a:ext>
            </a:extLst>
          </p:cNvPr>
          <p:cNvCxnSpPr>
            <a:cxnSpLocks/>
            <a:stCxn id="85" idx="2"/>
          </p:cNvCxnSpPr>
          <p:nvPr/>
        </p:nvCxnSpPr>
        <p:spPr>
          <a:xfrm>
            <a:off x="1714097" y="4779756"/>
            <a:ext cx="88211" cy="533333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F7213761-EEC5-7EB2-ABDB-92FC0E38AEB4}"/>
              </a:ext>
            </a:extLst>
          </p:cNvPr>
          <p:cNvGrpSpPr/>
          <p:nvPr/>
        </p:nvGrpSpPr>
        <p:grpSpPr>
          <a:xfrm>
            <a:off x="2493391" y="3136012"/>
            <a:ext cx="325730" cy="246221"/>
            <a:chOff x="606573" y="4366745"/>
            <a:chExt cx="325730" cy="246221"/>
          </a:xfrm>
        </p:grpSpPr>
        <p:sp>
          <p:nvSpPr>
            <p:cNvPr id="88" name="타원 87">
              <a:extLst>
                <a:ext uri="{FF2B5EF4-FFF2-40B4-BE49-F238E27FC236}">
                  <a16:creationId xmlns:a16="http://schemas.microsoft.com/office/drawing/2014/main" id="{033FF2BB-6B5C-0E23-D465-ED0C11E817C3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D782B43-968C-7A3D-FD58-E8C9B05D9ED3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03172C5F-F43F-7C5B-6C8B-8EB857A213BB}"/>
              </a:ext>
            </a:extLst>
          </p:cNvPr>
          <p:cNvCxnSpPr>
            <a:cxnSpLocks/>
          </p:cNvCxnSpPr>
          <p:nvPr/>
        </p:nvCxnSpPr>
        <p:spPr>
          <a:xfrm flipH="1" flipV="1">
            <a:off x="1889002" y="2450807"/>
            <a:ext cx="693035" cy="729315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7B7C9C88-BF38-FC38-631C-2ED1A9B85573}"/>
              </a:ext>
            </a:extLst>
          </p:cNvPr>
          <p:cNvCxnSpPr>
            <a:cxnSpLocks/>
          </p:cNvCxnSpPr>
          <p:nvPr/>
        </p:nvCxnSpPr>
        <p:spPr>
          <a:xfrm>
            <a:off x="1071880" y="1300070"/>
            <a:ext cx="77616" cy="203796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>
            <a:extLst>
              <a:ext uri="{FF2B5EF4-FFF2-40B4-BE49-F238E27FC236}">
                <a16:creationId xmlns:a16="http://schemas.microsoft.com/office/drawing/2014/main" id="{AF656687-E898-5DE2-48F7-0BD44675478C}"/>
              </a:ext>
            </a:extLst>
          </p:cNvPr>
          <p:cNvSpPr txBox="1"/>
          <p:nvPr/>
        </p:nvSpPr>
        <p:spPr>
          <a:xfrm>
            <a:off x="4520658" y="5301208"/>
            <a:ext cx="1696298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74295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* Door glass &amp; handle </a:t>
            </a:r>
            <a:r>
              <a:rPr kumimoji="0" lang="ko-KR" altLang="en-US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체결구조 </a:t>
            </a:r>
            <a:r>
              <a:rPr kumimoji="0" lang="en-US" altLang="ko-KR" sz="813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DGMS</a:t>
            </a: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D43CA5D3-4D87-87A6-0A79-B8C6041EAC3B}"/>
              </a:ext>
            </a:extLst>
          </p:cNvPr>
          <p:cNvGrpSpPr/>
          <p:nvPr/>
        </p:nvGrpSpPr>
        <p:grpSpPr>
          <a:xfrm>
            <a:off x="6120234" y="6134846"/>
            <a:ext cx="325730" cy="246221"/>
            <a:chOff x="606573" y="4366745"/>
            <a:chExt cx="325730" cy="246221"/>
          </a:xfrm>
        </p:grpSpPr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184C0541-2EE8-0499-DFB3-594A5F663283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5028EBD-F7E8-23A9-6A58-A5CE73AE1465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96" name="직선 화살표 연결선 95">
            <a:extLst>
              <a:ext uri="{FF2B5EF4-FFF2-40B4-BE49-F238E27FC236}">
                <a16:creationId xmlns:a16="http://schemas.microsoft.com/office/drawing/2014/main" id="{2E13FF8A-144E-4172-61F6-20E47B143A77}"/>
              </a:ext>
            </a:extLst>
          </p:cNvPr>
          <p:cNvCxnSpPr>
            <a:cxnSpLocks/>
          </p:cNvCxnSpPr>
          <p:nvPr/>
        </p:nvCxnSpPr>
        <p:spPr>
          <a:xfrm flipH="1" flipV="1">
            <a:off x="5640071" y="6062964"/>
            <a:ext cx="518007" cy="15892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화살표 연결선 96">
            <a:extLst>
              <a:ext uri="{FF2B5EF4-FFF2-40B4-BE49-F238E27FC236}">
                <a16:creationId xmlns:a16="http://schemas.microsoft.com/office/drawing/2014/main" id="{C41E1474-466D-E910-2FF1-D629A690A13A}"/>
              </a:ext>
            </a:extLst>
          </p:cNvPr>
          <p:cNvCxnSpPr>
            <a:cxnSpLocks/>
          </p:cNvCxnSpPr>
          <p:nvPr/>
        </p:nvCxnSpPr>
        <p:spPr>
          <a:xfrm flipH="1" flipV="1">
            <a:off x="5937326" y="5717423"/>
            <a:ext cx="518007" cy="158929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B41D543-4816-77D2-34E8-B530E1FF2937}"/>
              </a:ext>
            </a:extLst>
          </p:cNvPr>
          <p:cNvGrpSpPr/>
          <p:nvPr/>
        </p:nvGrpSpPr>
        <p:grpSpPr>
          <a:xfrm>
            <a:off x="6428690" y="5789774"/>
            <a:ext cx="325730" cy="246221"/>
            <a:chOff x="606573" y="4366745"/>
            <a:chExt cx="325730" cy="246221"/>
          </a:xfrm>
        </p:grpSpPr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0868FBEB-4A45-5202-B904-DE000FCD4D02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C5BBA66C-D1A2-7D55-149A-755D71A5F497}"/>
                </a:ext>
              </a:extLst>
            </p:cNvPr>
            <p:cNvSpPr txBox="1"/>
            <p:nvPr/>
          </p:nvSpPr>
          <p:spPr>
            <a:xfrm>
              <a:off x="606573" y="4366745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17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3972841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D6989-B5BD-62DE-2334-197ACD797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FA85328F-C392-4FC4-3495-755188A2E085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4495342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Accessory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51A962D-DEC0-6C7B-BFD1-113439B6F2AE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A2EFEAEF-A9F0-F47C-B23A-49883A6C75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>
              <a:spcBef>
                <a:spcPct val="10000"/>
              </a:spcBef>
            </a:pPr>
            <a:r>
              <a:rPr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Design Points</a:t>
            </a:r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FFF8F97C-BFEB-BCE7-B223-2733FE343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ko-KR" altLang="en-US" sz="1000" b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 Box 9">
            <a:extLst>
              <a:ext uri="{FF2B5EF4-FFF2-40B4-BE49-F238E27FC236}">
                <a16:creationId xmlns:a16="http://schemas.microsoft.com/office/drawing/2014/main" id="{B36F5BA5-570D-99D9-0EE3-F836318FB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r>
              <a:rPr lang="en-US" altLang="ko-KR" sz="14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Design</a:t>
            </a:r>
          </a:p>
        </p:txBody>
      </p:sp>
      <p:sp>
        <p:nvSpPr>
          <p:cNvPr id="5" name="Text Box 10">
            <a:extLst>
              <a:ext uri="{FF2B5EF4-FFF2-40B4-BE49-F238E27FC236}">
                <a16:creationId xmlns:a16="http://schemas.microsoft.com/office/drawing/2014/main" id="{616CF302-74C6-3A4A-849E-D1BFF7051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r>
              <a:rPr lang="en-US" altLang="ko-KR" sz="14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Design Points</a:t>
            </a:r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A396CB28-0FEC-BE2C-8386-5C1F4027270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84273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 sz="2000" b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Line 52">
            <a:extLst>
              <a:ext uri="{FF2B5EF4-FFF2-40B4-BE49-F238E27FC236}">
                <a16:creationId xmlns:a16="http://schemas.microsoft.com/office/drawing/2014/main" id="{109CA5F8-AD9C-02B9-3F65-10CF261963D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 sz="2000" b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73E3078C-AD69-2017-B9D1-930B287C1D2A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900" b="0" dirty="0">
              <a:solidFill>
                <a:srgbClr val="FFFFFF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A995F159-3B16-3D32-5BBE-9F6025287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indent="-457200">
              <a:spcBef>
                <a:spcPct val="10000"/>
              </a:spcBef>
              <a:defRPr/>
            </a:pPr>
            <a:r>
              <a:rPr lang="ko-KR" altLang="en-US" sz="9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lang="en-US" altLang="ko-KR" sz="9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B681ACB4-7AE6-8355-96D2-977BBB54D7F0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900" b="0" dirty="0">
              <a:solidFill>
                <a:srgbClr val="FFFFFF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Text Box 4">
            <a:extLst>
              <a:ext uri="{FF2B5EF4-FFF2-40B4-BE49-F238E27FC236}">
                <a16:creationId xmlns:a16="http://schemas.microsoft.com/office/drawing/2014/main" id="{34B98F15-7670-0467-7DCB-A250A767FF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indent="-457200">
              <a:spcBef>
                <a:spcPct val="10000"/>
              </a:spcBef>
              <a:defRPr/>
            </a:pPr>
            <a:r>
              <a:rPr lang="ko-KR" altLang="en-US" sz="9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lang="en-US" altLang="ko-KR" sz="9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29878D5-3CC0-C9D2-9B53-203E6D7615F9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900" b="0" dirty="0">
              <a:solidFill>
                <a:srgbClr val="FFFFFF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Text Box 4">
            <a:extLst>
              <a:ext uri="{FF2B5EF4-FFF2-40B4-BE49-F238E27FC236}">
                <a16:creationId xmlns:a16="http://schemas.microsoft.com/office/drawing/2014/main" id="{A68CC511-9B08-501A-5F6B-A899B1948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indent="-457200">
              <a:spcBef>
                <a:spcPct val="10000"/>
              </a:spcBef>
              <a:defRPr/>
            </a:pPr>
            <a:r>
              <a:rPr lang="ko-KR" altLang="en-US" sz="900" b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lang="en-US" altLang="ko-KR" sz="9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lang="ko-KR" altLang="en-US" sz="900" b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lang="en-US" altLang="ko-KR" sz="9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2381F7C-275A-8C7D-1515-0BF8F9CA0C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4097607"/>
              </p:ext>
            </p:extLst>
          </p:nvPr>
        </p:nvGraphicFramePr>
        <p:xfrm>
          <a:off x="4721248" y="1331738"/>
          <a:ext cx="4911702" cy="1186731"/>
        </p:xfrm>
        <a:graphic>
          <a:graphicData uri="http://schemas.openxmlformats.org/drawingml/2006/table">
            <a:tbl>
              <a:tblPr/>
              <a:tblGrid>
                <a:gridCol w="220049">
                  <a:extLst>
                    <a:ext uri="{9D8B030D-6E8A-4147-A177-3AD203B41FA5}">
                      <a16:colId xmlns:a16="http://schemas.microsoft.com/office/drawing/2014/main" val="3729305754"/>
                    </a:ext>
                  </a:extLst>
                </a:gridCol>
                <a:gridCol w="252648">
                  <a:extLst>
                    <a:ext uri="{9D8B030D-6E8A-4147-A177-3AD203B41FA5}">
                      <a16:colId xmlns:a16="http://schemas.microsoft.com/office/drawing/2014/main" val="2170854541"/>
                    </a:ext>
                  </a:extLst>
                </a:gridCol>
                <a:gridCol w="586797">
                  <a:extLst>
                    <a:ext uri="{9D8B030D-6E8A-4147-A177-3AD203B41FA5}">
                      <a16:colId xmlns:a16="http://schemas.microsoft.com/office/drawing/2014/main" val="3743394885"/>
                    </a:ext>
                  </a:extLst>
                </a:gridCol>
                <a:gridCol w="586797">
                  <a:extLst>
                    <a:ext uri="{9D8B030D-6E8A-4147-A177-3AD203B41FA5}">
                      <a16:colId xmlns:a16="http://schemas.microsoft.com/office/drawing/2014/main" val="3845631999"/>
                    </a:ext>
                  </a:extLst>
                </a:gridCol>
                <a:gridCol w="1010593">
                  <a:extLst>
                    <a:ext uri="{9D8B030D-6E8A-4147-A177-3AD203B41FA5}">
                      <a16:colId xmlns:a16="http://schemas.microsoft.com/office/drawing/2014/main" val="487025054"/>
                    </a:ext>
                  </a:extLst>
                </a:gridCol>
                <a:gridCol w="282531">
                  <a:extLst>
                    <a:ext uri="{9D8B030D-6E8A-4147-A177-3AD203B41FA5}">
                      <a16:colId xmlns:a16="http://schemas.microsoft.com/office/drawing/2014/main" val="2929708033"/>
                    </a:ext>
                  </a:extLst>
                </a:gridCol>
                <a:gridCol w="220049">
                  <a:extLst>
                    <a:ext uri="{9D8B030D-6E8A-4147-A177-3AD203B41FA5}">
                      <a16:colId xmlns:a16="http://schemas.microsoft.com/office/drawing/2014/main" val="3347093196"/>
                    </a:ext>
                  </a:extLst>
                </a:gridCol>
                <a:gridCol w="1752238">
                  <a:extLst>
                    <a:ext uri="{9D8B030D-6E8A-4147-A177-3AD203B41FA5}">
                      <a16:colId xmlns:a16="http://schemas.microsoft.com/office/drawing/2014/main" val="4006000165"/>
                    </a:ext>
                  </a:extLst>
                </a:gridCol>
              </a:tblGrid>
              <a:tr h="13185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24306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MHL63411413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　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Shelf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4179680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MHL64891810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Shelf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6878154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MJS65384001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　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Tray,Ceramic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5144530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MJS65371201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Tray,Crisp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323698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AHT74173805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Shelf Assembly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Drawer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인출 시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Door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와 연동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구조 반영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6270780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MJS61850004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　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Tray,Metal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042982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MJS61849904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　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Tray,Metal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3155544"/>
                  </a:ext>
                </a:extLst>
              </a:tr>
              <a:tr h="13185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…3</a:t>
                      </a:r>
                    </a:p>
                  </a:txBody>
                  <a:tcPr marL="5994" marR="5994" marT="599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MFZ00494802</a:t>
                      </a:r>
                    </a:p>
                  </a:txBody>
                  <a:tcPr marL="5994" marR="5994" marT="599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←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Packing,Gasket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994" marR="5994" marT="599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5994" marR="5994" marT="599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994" marR="5994" marT="599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994" marR="5994" marT="599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6959907"/>
                  </a:ext>
                </a:extLst>
              </a:tr>
            </a:tbl>
          </a:graphicData>
        </a:graphic>
      </p:graphicFrame>
      <p:pic>
        <p:nvPicPr>
          <p:cNvPr id="17" name="그림 16">
            <a:extLst>
              <a:ext uri="{FF2B5EF4-FFF2-40B4-BE49-F238E27FC236}">
                <a16:creationId xmlns:a16="http://schemas.microsoft.com/office/drawing/2014/main" id="{C1F1B502-DD60-0D12-92FD-7F13F76AD1F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395" y="1248168"/>
            <a:ext cx="1616509" cy="790607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27133271-4A4F-9CAF-E192-AE85A678271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43520" y="1331738"/>
            <a:ext cx="1239990" cy="569176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B8430239-DA4C-B391-8C67-FC826EFF3F5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882251" y="1305855"/>
            <a:ext cx="1361269" cy="569177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4B170BB3-30B0-AB3C-E8AE-E76262923FF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97357" y="2198138"/>
            <a:ext cx="1392956" cy="612618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D83989F9-2E12-B35F-33B2-CF8F9A65347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323928" y="1858212"/>
            <a:ext cx="1208192" cy="580703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C3E239ED-FC8D-BB48-E8AA-A78B7C9D467A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257028" y="2499325"/>
            <a:ext cx="1189497" cy="494976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372DAD9-7766-7FE6-718B-9242D9817A7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9058" y="2916210"/>
            <a:ext cx="1611192" cy="588668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B46300AF-AD5B-0A99-C186-4EEE8F9F0FEB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934282" y="1984673"/>
            <a:ext cx="1361268" cy="978221"/>
          </a:xfrm>
          <a:prstGeom prst="rect">
            <a:avLst/>
          </a:prstGeom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259EC3-FE63-46FF-345A-56F135B53339}"/>
              </a:ext>
            </a:extLst>
          </p:cNvPr>
          <p:cNvGrpSpPr/>
          <p:nvPr/>
        </p:nvGrpSpPr>
        <p:grpSpPr>
          <a:xfrm>
            <a:off x="238378" y="4333954"/>
            <a:ext cx="4169988" cy="1557986"/>
            <a:chOff x="238378" y="3953856"/>
            <a:chExt cx="5509468" cy="2058441"/>
          </a:xfrm>
        </p:grpSpPr>
        <p:sp>
          <p:nvSpPr>
            <p:cNvPr id="26" name="Text Box 4">
              <a:extLst>
                <a:ext uri="{FF2B5EF4-FFF2-40B4-BE49-F238E27FC236}">
                  <a16:creationId xmlns:a16="http://schemas.microsoft.com/office/drawing/2014/main" id="{1DE74532-C878-003B-B1C0-FE4EBD0FA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378" y="3953856"/>
              <a:ext cx="2997178" cy="325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457200" indent="-457200"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1pPr>
              <a:lvl2pPr marL="742950" indent="-285750"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2pPr>
              <a:lvl3pPr marL="1143000" indent="-228600"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3pPr>
              <a:lvl4pPr marL="1600200" indent="-228600"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4pPr>
              <a:lvl5pPr marL="2057400" indent="-228600"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 b="1">
                  <a:solidFill>
                    <a:schemeClr val="tx1"/>
                  </a:solidFill>
                  <a:latin typeface="Arial" panose="020B0604020202020204" pitchFamily="34" charset="0"/>
                  <a:ea typeface="돋움" panose="020B0600000101010101" pitchFamily="50" charset="-127"/>
                </a:defRPr>
              </a:lvl9pPr>
            </a:lstStyle>
            <a:p>
              <a:pPr marL="457200" marR="0" lvl="0" indent="-457200" algn="l" defTabSz="914400" rtl="0" eaLnBrk="1" fontAlgn="base" latinLnBrk="1" hangingPunct="1">
                <a:lnSpc>
                  <a:spcPct val="100000"/>
                </a:lnSpc>
                <a:spcBef>
                  <a:spcPct val="1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panose="020B0604020202020204" pitchFamily="34" charset="0"/>
                </a:rPr>
                <a:t>※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anose="020B0604020202020204" pitchFamily="34" charset="0"/>
                </a:rPr>
                <a:t> Gliding 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anose="020B0604020202020204" pitchFamily="34" charset="0"/>
                </a:rPr>
                <a:t>구조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9736032-E29B-31D2-EF9C-A07FCA671B80}"/>
                </a:ext>
              </a:extLst>
            </p:cNvPr>
            <p:cNvSpPr txBox="1"/>
            <p:nvPr/>
          </p:nvSpPr>
          <p:spPr>
            <a:xfrm>
              <a:off x="378144" y="4183428"/>
              <a:ext cx="2546162" cy="3049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R="0" lvl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1)  </a:t>
              </a:r>
              <a:r>
                <a:rPr kumimoji="1" lang="ko-KR" altLang="en-US" sz="90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글라이댕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1" lang="ko-KR" altLang="en-US" sz="90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랙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+ 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도어 연동</a:t>
              </a: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링크</a:t>
              </a: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 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구조 </a:t>
              </a:r>
              <a:endPara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pic>
          <p:nvPicPr>
            <p:cNvPr id="28" name="그림 27">
              <a:extLst>
                <a:ext uri="{FF2B5EF4-FFF2-40B4-BE49-F238E27FC236}">
                  <a16:creationId xmlns:a16="http://schemas.microsoft.com/office/drawing/2014/main" id="{0EE8DD79-A13A-5DC7-2F65-D36FF75DB0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504924" y="4717601"/>
              <a:ext cx="2037016" cy="1214772"/>
            </a:xfrm>
            <a:prstGeom prst="rect">
              <a:avLst/>
            </a:prstGeom>
          </p:spPr>
        </p:pic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2B8979F9-ED90-49A6-442D-65D69E3161B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32082" y="4637677"/>
              <a:ext cx="2252087" cy="1374620"/>
            </a:xfrm>
            <a:prstGeom prst="rect">
              <a:avLst/>
            </a:prstGeom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10310B4-E190-0EF6-046D-26A16CE2F5CE}"/>
                </a:ext>
              </a:extLst>
            </p:cNvPr>
            <p:cNvSpPr txBox="1"/>
            <p:nvPr/>
          </p:nvSpPr>
          <p:spPr>
            <a:xfrm>
              <a:off x="3090087" y="4189530"/>
              <a:ext cx="2657759" cy="30498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2)  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글라이딩 선반 </a:t>
              </a: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+ 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도어 연동</a:t>
              </a: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(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링크</a:t>
              </a: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) </a:t>
              </a:r>
              <a:r>
                <a:rPr kumimoji="1" lang="ko-KR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구조</a:t>
              </a:r>
            </a:p>
          </p:txBody>
        </p:sp>
      </p:grp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49731CD1-30B7-006A-1A87-DC04C50EB3DB}"/>
              </a:ext>
            </a:extLst>
          </p:cNvPr>
          <p:cNvSpPr/>
          <p:nvPr/>
        </p:nvSpPr>
        <p:spPr bwMode="auto">
          <a:xfrm>
            <a:off x="4698971" y="2585021"/>
            <a:ext cx="2276513" cy="255805"/>
          </a:xfrm>
          <a:prstGeom prst="rect">
            <a:avLst/>
          </a:prstGeom>
          <a:solidFill>
            <a:srgbClr val="FFFF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90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Accessory </a:t>
            </a:r>
            <a:r>
              <a:rPr lang="ko-KR" altLang="en-US" sz="90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 관련 상품 기획 추가 협의 중</a:t>
            </a:r>
            <a:endParaRPr lang="en-US" altLang="ko-KR" sz="90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1147859-443B-FC58-4F8E-8A99FAAC0317}"/>
              </a:ext>
            </a:extLst>
          </p:cNvPr>
          <p:cNvGrpSpPr/>
          <p:nvPr/>
        </p:nvGrpSpPr>
        <p:grpSpPr>
          <a:xfrm>
            <a:off x="407094" y="1086518"/>
            <a:ext cx="255198" cy="246221"/>
            <a:chOff x="635148" y="4366745"/>
            <a:chExt cx="255198" cy="246221"/>
          </a:xfrm>
        </p:grpSpPr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6C2C4699-FC54-837B-523B-1717BD8E892F}"/>
                </a:ext>
              </a:extLst>
            </p:cNvPr>
            <p:cNvSpPr/>
            <p:nvPr/>
          </p:nvSpPr>
          <p:spPr>
            <a:xfrm>
              <a:off x="657298" y="4373033"/>
              <a:ext cx="215900" cy="2159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34E3E9A-E99B-BA5A-48F7-E53B69A99CF0}"/>
                </a:ext>
              </a:extLst>
            </p:cNvPr>
            <p:cNvSpPr txBox="1"/>
            <p:nvPr/>
          </p:nvSpPr>
          <p:spPr>
            <a:xfrm>
              <a:off x="635148" y="4366745"/>
              <a:ext cx="25519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000" dirty="0">
                  <a:solidFill>
                    <a:srgbClr val="FFFFFF"/>
                  </a:solidFill>
                </a:rPr>
                <a:t>5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7EB8085D-EB33-812D-3B5D-4BE408BCBBD9}"/>
              </a:ext>
            </a:extLst>
          </p:cNvPr>
          <p:cNvCxnSpPr>
            <a:cxnSpLocks/>
          </p:cNvCxnSpPr>
          <p:nvPr/>
        </p:nvCxnSpPr>
        <p:spPr>
          <a:xfrm>
            <a:off x="590550" y="1285875"/>
            <a:ext cx="381000" cy="32385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BA6B2D27-D6E4-5EAE-12BB-A06ECDE8B4F3}"/>
              </a:ext>
            </a:extLst>
          </p:cNvPr>
          <p:cNvCxnSpPr>
            <a:cxnSpLocks/>
          </p:cNvCxnSpPr>
          <p:nvPr/>
        </p:nvCxnSpPr>
        <p:spPr>
          <a:xfrm>
            <a:off x="2009775" y="1314450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DFF138A9-F9D1-E375-D363-EB8D05A0853F}"/>
              </a:ext>
            </a:extLst>
          </p:cNvPr>
          <p:cNvCxnSpPr>
            <a:cxnSpLocks/>
          </p:cNvCxnSpPr>
          <p:nvPr/>
        </p:nvCxnSpPr>
        <p:spPr>
          <a:xfrm>
            <a:off x="2133356" y="2123337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52014B9-F68C-E73F-C5A1-FFF02A461813}"/>
              </a:ext>
            </a:extLst>
          </p:cNvPr>
          <p:cNvGrpSpPr/>
          <p:nvPr/>
        </p:nvGrpSpPr>
        <p:grpSpPr>
          <a:xfrm>
            <a:off x="2021903" y="194611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E93F1F8E-AA17-7DF2-BDCA-135D15254589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490605A-5396-FDAB-15F4-6782598FB8DB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1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7650855B-8BAA-B25B-3B1A-D0AC05EB8BA3}"/>
              </a:ext>
            </a:extLst>
          </p:cNvPr>
          <p:cNvGrpSpPr/>
          <p:nvPr/>
        </p:nvGrpSpPr>
        <p:grpSpPr>
          <a:xfrm>
            <a:off x="1831403" y="118411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6E11CCED-F9A5-5699-6248-F1A1B2604388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3200FAE-7F93-02CB-B81A-4EDB981F5E76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7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0E3090CA-562F-8EBA-0701-430116DB2638}"/>
              </a:ext>
            </a:extLst>
          </p:cNvPr>
          <p:cNvCxnSpPr>
            <a:cxnSpLocks/>
          </p:cNvCxnSpPr>
          <p:nvPr/>
        </p:nvCxnSpPr>
        <p:spPr>
          <a:xfrm>
            <a:off x="3457575" y="1866900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6A090B10-0188-C2F8-DDA0-CEA2A66207BE}"/>
              </a:ext>
            </a:extLst>
          </p:cNvPr>
          <p:cNvGrpSpPr/>
          <p:nvPr/>
        </p:nvGrpSpPr>
        <p:grpSpPr>
          <a:xfrm>
            <a:off x="3279203" y="173656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46" name="타원 45">
              <a:extLst>
                <a:ext uri="{FF2B5EF4-FFF2-40B4-BE49-F238E27FC236}">
                  <a16:creationId xmlns:a16="http://schemas.microsoft.com/office/drawing/2014/main" id="{9EE2E4A5-4293-659A-2AC0-6636DB602BBD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BF0F90-FC18-969B-6868-FD9105C41F53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3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0DD5E65-1255-E9EF-2398-6D4037FFC39A}"/>
              </a:ext>
            </a:extLst>
          </p:cNvPr>
          <p:cNvCxnSpPr>
            <a:cxnSpLocks/>
          </p:cNvCxnSpPr>
          <p:nvPr/>
        </p:nvCxnSpPr>
        <p:spPr>
          <a:xfrm>
            <a:off x="3457575" y="2438400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1BE4F1E-161F-C19C-EE4E-2251EA759BA2}"/>
              </a:ext>
            </a:extLst>
          </p:cNvPr>
          <p:cNvGrpSpPr/>
          <p:nvPr/>
        </p:nvGrpSpPr>
        <p:grpSpPr>
          <a:xfrm>
            <a:off x="3279203" y="230806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8A9D8BA7-B031-A821-7E30-762D3F10DC15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C71C5D0-7CE7-406A-4293-D0DEA0D3208C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4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A5A361A9-1689-3F0F-6933-9FD8CBCF4A39}"/>
              </a:ext>
            </a:extLst>
          </p:cNvPr>
          <p:cNvCxnSpPr>
            <a:cxnSpLocks/>
          </p:cNvCxnSpPr>
          <p:nvPr/>
        </p:nvCxnSpPr>
        <p:spPr>
          <a:xfrm>
            <a:off x="3457575" y="1276350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C3E291A4-7C5B-6BF9-1777-E5B2F3125092}"/>
              </a:ext>
            </a:extLst>
          </p:cNvPr>
          <p:cNvGrpSpPr/>
          <p:nvPr/>
        </p:nvGrpSpPr>
        <p:grpSpPr>
          <a:xfrm>
            <a:off x="3279203" y="114601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4683ECBA-A404-95B5-E145-45874349BF01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F520949-B8CD-2277-190F-C5324DA220A4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6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3961656-89D0-7891-943E-A7B2BED0EFED}"/>
              </a:ext>
            </a:extLst>
          </p:cNvPr>
          <p:cNvCxnSpPr>
            <a:cxnSpLocks/>
          </p:cNvCxnSpPr>
          <p:nvPr/>
        </p:nvCxnSpPr>
        <p:spPr>
          <a:xfrm>
            <a:off x="581025" y="2200275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A1542317-AFD0-664A-747D-32A673DC3534}"/>
              </a:ext>
            </a:extLst>
          </p:cNvPr>
          <p:cNvGrpSpPr/>
          <p:nvPr/>
        </p:nvGrpSpPr>
        <p:grpSpPr>
          <a:xfrm>
            <a:off x="402653" y="2069944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B5D9ED07-1A73-5EC5-C694-485CAF8BD822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3D9BC73F-0AE5-461A-24D6-3E708AE9C6B1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2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50E82FC2-03BB-E454-2A23-7D3EFD9D7C35}"/>
              </a:ext>
            </a:extLst>
          </p:cNvPr>
          <p:cNvCxnSpPr>
            <a:cxnSpLocks/>
          </p:cNvCxnSpPr>
          <p:nvPr/>
        </p:nvCxnSpPr>
        <p:spPr>
          <a:xfrm>
            <a:off x="619125" y="2914650"/>
            <a:ext cx="457200" cy="266700"/>
          </a:xfrm>
          <a:prstGeom prst="straightConnector1">
            <a:avLst/>
          </a:prstGeom>
          <a:ln>
            <a:solidFill>
              <a:srgbClr val="008000"/>
            </a:solidFill>
            <a:tailEnd type="oval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75D0F70-3C49-0C47-F1BA-4DE9F72FC18D}"/>
              </a:ext>
            </a:extLst>
          </p:cNvPr>
          <p:cNvGrpSpPr/>
          <p:nvPr/>
        </p:nvGrpSpPr>
        <p:grpSpPr>
          <a:xfrm>
            <a:off x="440753" y="2784319"/>
            <a:ext cx="215900" cy="215900"/>
            <a:chOff x="1615966" y="1932178"/>
            <a:chExt cx="215900" cy="215900"/>
          </a:xfrm>
          <a:solidFill>
            <a:srgbClr val="006600"/>
          </a:solidFill>
        </p:grpSpPr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57C12488-B914-D4E4-30B8-AFE709C63007}"/>
                </a:ext>
              </a:extLst>
            </p:cNvPr>
            <p:cNvSpPr/>
            <p:nvPr/>
          </p:nvSpPr>
          <p:spPr>
            <a:xfrm>
              <a:off x="1615966" y="1932178"/>
              <a:ext cx="215900" cy="215900"/>
            </a:xfrm>
            <a:prstGeom prst="ellipse">
              <a:avLst/>
            </a:prstGeom>
            <a:grp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B0E0289-DBD1-D24D-CE81-2FEE54DDF732}"/>
                </a:ext>
              </a:extLst>
            </p:cNvPr>
            <p:cNvSpPr txBox="1"/>
            <p:nvPr/>
          </p:nvSpPr>
          <p:spPr>
            <a:xfrm>
              <a:off x="1695858" y="1951664"/>
              <a:ext cx="57708" cy="153888"/>
            </a:xfrm>
            <a:prstGeom prst="rect">
              <a:avLst/>
            </a:prstGeom>
            <a:grp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rPr>
                <a:t>8</a:t>
              </a:r>
              <a:endPara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돋움" pitchFamily="50" charset="-127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8317891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A59C8-1788-EB44-8E82-80641A825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DCF5D8D1-9636-C875-FB93-4F0A56367536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675397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전장</a:t>
            </a:r>
            <a:r>
              <a:rPr lang="ko-KR" altLang="en-US" sz="18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부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품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(Heater, Harness, etc)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A683A654-DABD-5834-F378-3E49C05BE346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0DAAB97A-62B5-7CB8-04F0-0F7014198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kumimoji="1" lang="ko-KR" alt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전장품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구성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(Controller – LG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Sig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IH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와 구성 동일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2CD5AF46-3800-DBAC-3B7F-4B3261744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" name="Text Box 9">
            <a:extLst>
              <a:ext uri="{FF2B5EF4-FFF2-40B4-BE49-F238E27FC236}">
                <a16:creationId xmlns:a16="http://schemas.microsoft.com/office/drawing/2014/main" id="{FE039E13-DD31-1298-50CE-E1CB606FB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5" name="Text Box 10">
            <a:extLst>
              <a:ext uri="{FF2B5EF4-FFF2-40B4-BE49-F238E27FC236}">
                <a16:creationId xmlns:a16="http://schemas.microsoft.com/office/drawing/2014/main" id="{6D828F32-006C-BB16-E6A9-73AC708D1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E9B13482-96A0-47A9-F268-30CC8E8F794F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96287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" name="Line 52">
            <a:extLst>
              <a:ext uri="{FF2B5EF4-FFF2-40B4-BE49-F238E27FC236}">
                <a16:creationId xmlns:a16="http://schemas.microsoft.com/office/drawing/2014/main" id="{22F7BD8C-519D-EA77-55A8-72AFCD20AB1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8961A595-1CB7-A978-40DC-481326F74C50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7E55A112-6164-853B-E873-A27684773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3CED4144-FBAF-8012-4644-40310033BECE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3" name="Text Box 4">
            <a:extLst>
              <a:ext uri="{FF2B5EF4-FFF2-40B4-BE49-F238E27FC236}">
                <a16:creationId xmlns:a16="http://schemas.microsoft.com/office/drawing/2014/main" id="{7B1C0669-EBB3-131F-81BE-A396ED83BD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8295B9B-C7A7-4147-44D1-763996292A3C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Text Box 4">
            <a:extLst>
              <a:ext uri="{FF2B5EF4-FFF2-40B4-BE49-F238E27FC236}">
                <a16:creationId xmlns:a16="http://schemas.microsoft.com/office/drawing/2014/main" id="{4E447284-A951-F2D6-B509-66304E736C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82B1A2D-CFEC-9648-5A5A-25D56B82FE08}"/>
              </a:ext>
            </a:extLst>
          </p:cNvPr>
          <p:cNvSpPr txBox="1"/>
          <p:nvPr/>
        </p:nvSpPr>
        <p:spPr>
          <a:xfrm>
            <a:off x="1547554" y="1084768"/>
            <a:ext cx="3029997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Controller (LG Sig IH LCD </a:t>
            </a:r>
            <a:r>
              <a:rPr kumimoji="1" lang="ko-KR" alt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구성 참조</a:t>
            </a: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)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07C68FAA-85F5-6BD6-5F44-94F0CCCC36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1225792"/>
              </p:ext>
            </p:extLst>
          </p:nvPr>
        </p:nvGraphicFramePr>
        <p:xfrm>
          <a:off x="4641767" y="1310548"/>
          <a:ext cx="4912235" cy="2323597"/>
        </p:xfrm>
        <a:graphic>
          <a:graphicData uri="http://schemas.openxmlformats.org/drawingml/2006/table">
            <a:tbl>
              <a:tblPr/>
              <a:tblGrid>
                <a:gridCol w="167217">
                  <a:extLst>
                    <a:ext uri="{9D8B030D-6E8A-4147-A177-3AD203B41FA5}">
                      <a16:colId xmlns:a16="http://schemas.microsoft.com/office/drawing/2014/main" val="239948534"/>
                    </a:ext>
                  </a:extLst>
                </a:gridCol>
                <a:gridCol w="239267">
                  <a:extLst>
                    <a:ext uri="{9D8B030D-6E8A-4147-A177-3AD203B41FA5}">
                      <a16:colId xmlns:a16="http://schemas.microsoft.com/office/drawing/2014/main" val="460869446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3444661845"/>
                    </a:ext>
                  </a:extLst>
                </a:gridCol>
                <a:gridCol w="614363">
                  <a:extLst>
                    <a:ext uri="{9D8B030D-6E8A-4147-A177-3AD203B41FA5}">
                      <a16:colId xmlns:a16="http://schemas.microsoft.com/office/drawing/2014/main" val="3251456085"/>
                    </a:ext>
                  </a:extLst>
                </a:gridCol>
                <a:gridCol w="1042987">
                  <a:extLst>
                    <a:ext uri="{9D8B030D-6E8A-4147-A177-3AD203B41FA5}">
                      <a16:colId xmlns:a16="http://schemas.microsoft.com/office/drawing/2014/main" val="2707439604"/>
                    </a:ext>
                  </a:extLst>
                </a:gridCol>
                <a:gridCol w="273521">
                  <a:extLst>
                    <a:ext uri="{9D8B030D-6E8A-4147-A177-3AD203B41FA5}">
                      <a16:colId xmlns:a16="http://schemas.microsoft.com/office/drawing/2014/main" val="54417188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3419573896"/>
                    </a:ext>
                  </a:extLst>
                </a:gridCol>
                <a:gridCol w="1648673">
                  <a:extLst>
                    <a:ext uri="{9D8B030D-6E8A-4147-A177-3AD203B41FA5}">
                      <a16:colId xmlns:a16="http://schemas.microsoft.com/office/drawing/2014/main" val="884299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No.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Lev.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Base P/No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New P/No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 Name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UOM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Qty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 변경점</a:t>
                      </a:r>
                    </a:p>
                  </a:txBody>
                  <a:tcPr marL="7325" marR="7325" marT="73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5467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ACM76191721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Controller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Assy,Mechanical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76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AJX75331118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AJX75342701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Window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Assembly,Glass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6.8”LCD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터치 필름 적용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32760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EAV65028001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LED Display Module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6.8” LCD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적용에 따른 삭제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7100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Supporter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Assembly,PCB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6.8” LCD.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 변경에 따름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7656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Assembly,Display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6.8” LCD.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Display PCB.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하위 변경에 따름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8001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…3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S/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W,with</a:t>
                      </a:r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Open Source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QZ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전용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S/W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61251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EBR42389115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Assembly,Main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QZ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전용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(LG Sig. Base)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555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EBR43884102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Power Key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 Sig.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공용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(Power Key)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84295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EBR76332902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Buzzer PCB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 Sig.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공용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(Buzzer)</a:t>
                      </a:r>
                    </a:p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LCD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적용에 따른 별도 사용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9149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EBR32418503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Assembly,WiFi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WiFi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PCB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공용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8126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EAQ60658303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Lamp,Neon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88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EBF62174908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Switch,Rotary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7986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EBF63054502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Switch,Rotary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0100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EBF63054503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Switch,Rotary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47302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EBR31629601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Assembly,Option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3443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AHH73270007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Ring Assembly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1422331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CE2FC09-E98F-10E5-A7D5-3BB1CA30E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067622"/>
              </p:ext>
            </p:extLst>
          </p:nvPr>
        </p:nvGraphicFramePr>
        <p:xfrm>
          <a:off x="4641768" y="4897343"/>
          <a:ext cx="4921411" cy="1028609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3036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하네스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용도</a:t>
                      </a:r>
                      <a:endParaRPr lang="en-US" sz="8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상세 변경점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..3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EAD62349837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삭제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LED Display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LED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모듈 미사용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79428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EAD63828112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Main~Knob</a:t>
                      </a:r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Controller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하네스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복잡도 개선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44111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EAD63828113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Burner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on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Indicator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Controller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하네스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복잡도 개선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168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EAD64146506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Oven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부 연결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main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PCB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구성 신규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7179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EAD62349836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←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Knob lighting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40741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EAD65883502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RLY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RLY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포트 구성 신규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5535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7607" marR="7607" marT="760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EAD65883503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RLY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EA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RLY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포트 구성 신규</a:t>
                      </a:r>
                    </a:p>
                  </a:txBody>
                  <a:tcPr marL="7607" marR="7607" marT="760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7482885"/>
                  </a:ext>
                </a:extLst>
              </a:tr>
            </a:tbl>
          </a:graphicData>
        </a:graphic>
      </p:graphicFrame>
      <p:grpSp>
        <p:nvGrpSpPr>
          <p:cNvPr id="19" name="그룹 18">
            <a:extLst>
              <a:ext uri="{FF2B5EF4-FFF2-40B4-BE49-F238E27FC236}">
                <a16:creationId xmlns:a16="http://schemas.microsoft.com/office/drawing/2014/main" id="{DE8C9F45-AD7F-6307-7BBF-63E5F1A99361}"/>
              </a:ext>
            </a:extLst>
          </p:cNvPr>
          <p:cNvGrpSpPr/>
          <p:nvPr/>
        </p:nvGrpSpPr>
        <p:grpSpPr>
          <a:xfrm>
            <a:off x="514414" y="1399607"/>
            <a:ext cx="3943609" cy="2029666"/>
            <a:chOff x="810826" y="4770102"/>
            <a:chExt cx="3353505" cy="1725956"/>
          </a:xfrm>
        </p:grpSpPr>
        <p:pic>
          <p:nvPicPr>
            <p:cNvPr id="20" name="그림 19">
              <a:extLst>
                <a:ext uri="{FF2B5EF4-FFF2-40B4-BE49-F238E27FC236}">
                  <a16:creationId xmlns:a16="http://schemas.microsoft.com/office/drawing/2014/main" id="{38DD2619-319D-A0C6-BC04-219B0FA9CEF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l="15841" t="9374" r="1893" b="11576"/>
            <a:stretch/>
          </p:blipFill>
          <p:spPr>
            <a:xfrm>
              <a:off x="810826" y="4770102"/>
              <a:ext cx="3353505" cy="1725956"/>
            </a:xfrm>
            <a:prstGeom prst="rect">
              <a:avLst/>
            </a:prstGeom>
            <a:ln>
              <a:noFill/>
            </a:ln>
          </p:spPr>
        </p:pic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87092964-6889-8A8F-0F72-790D9E670C44}"/>
                </a:ext>
              </a:extLst>
            </p:cNvPr>
            <p:cNvSpPr/>
            <p:nvPr/>
          </p:nvSpPr>
          <p:spPr bwMode="auto">
            <a:xfrm>
              <a:off x="1931581" y="5214353"/>
              <a:ext cx="1035358" cy="1023484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8139801F-3E4B-8F90-7D12-95C7795A1B25}"/>
              </a:ext>
            </a:extLst>
          </p:cNvPr>
          <p:cNvSpPr txBox="1"/>
          <p:nvPr/>
        </p:nvSpPr>
        <p:spPr>
          <a:xfrm>
            <a:off x="3032191" y="6462179"/>
            <a:ext cx="1655314" cy="210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참조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LG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Sig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: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 ACM76218802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721645AF-8C26-FA9A-5DC4-0D0CD79FCB05}"/>
              </a:ext>
            </a:extLst>
          </p:cNvPr>
          <p:cNvGrpSpPr/>
          <p:nvPr/>
        </p:nvGrpSpPr>
        <p:grpSpPr>
          <a:xfrm>
            <a:off x="7040916" y="4044872"/>
            <a:ext cx="1953003" cy="763336"/>
            <a:chOff x="4592611" y="3778694"/>
            <a:chExt cx="2688924" cy="1050972"/>
          </a:xfrm>
        </p:grpSpPr>
        <p:pic>
          <p:nvPicPr>
            <p:cNvPr id="24" name="그림 23" descr="회로, 지도, 전자 공학, 전자 부품이(가) 표시된 사진&#10;&#10;자동 생성된 설명">
              <a:extLst>
                <a:ext uri="{FF2B5EF4-FFF2-40B4-BE49-F238E27FC236}">
                  <a16:creationId xmlns:a16="http://schemas.microsoft.com/office/drawing/2014/main" id="{4D26EC66-5E0E-A3D2-B623-1545E3F4D85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39746" y="3778694"/>
              <a:ext cx="2641789" cy="619124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7BF2C07-36DC-59E5-F0F8-EF4FE333CB22}"/>
                </a:ext>
              </a:extLst>
            </p:cNvPr>
            <p:cNvSpPr txBox="1"/>
            <p:nvPr/>
          </p:nvSpPr>
          <p:spPr>
            <a:xfrm>
              <a:off x="4592611" y="4363540"/>
              <a:ext cx="2028842" cy="4661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235*80</a:t>
              </a:r>
            </a:p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FR4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공용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(LG Sig. IH)</a:t>
              </a: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BE01D95-A099-20A0-C20F-AEBB972B8644}"/>
              </a:ext>
            </a:extLst>
          </p:cNvPr>
          <p:cNvGrpSpPr/>
          <p:nvPr/>
        </p:nvGrpSpPr>
        <p:grpSpPr>
          <a:xfrm>
            <a:off x="4651825" y="4027791"/>
            <a:ext cx="1818031" cy="658886"/>
            <a:chOff x="4651825" y="4155930"/>
            <a:chExt cx="2276078" cy="824889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4FD53E-18B3-2E0A-1CA8-F944F2443F2D}"/>
                </a:ext>
              </a:extLst>
            </p:cNvPr>
            <p:cNvSpPr txBox="1"/>
            <p:nvPr/>
          </p:nvSpPr>
          <p:spPr>
            <a:xfrm>
              <a:off x="4651825" y="4711095"/>
              <a:ext cx="1243957" cy="26972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250*65.5</a:t>
              </a:r>
              <a:endPara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pic>
          <p:nvPicPr>
            <p:cNvPr id="28" name="그림 27" descr="텍스트, 흑백, 도표, 평면도이(가) 표시된 사진&#10;&#10;자동 생성된 설명">
              <a:extLst>
                <a:ext uri="{FF2B5EF4-FFF2-40B4-BE49-F238E27FC236}">
                  <a16:creationId xmlns:a16="http://schemas.microsoft.com/office/drawing/2014/main" id="{ED214766-7ED0-98DF-8BEE-373A40C1121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7873" y="4155930"/>
              <a:ext cx="2200030" cy="580925"/>
            </a:xfrm>
            <a:prstGeom prst="rect">
              <a:avLst/>
            </a:prstGeom>
          </p:spPr>
        </p:pic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AE52CC3-63CC-B1BB-0903-E705A692A041}"/>
              </a:ext>
            </a:extLst>
          </p:cNvPr>
          <p:cNvSpPr txBox="1"/>
          <p:nvPr/>
        </p:nvSpPr>
        <p:spPr>
          <a:xfrm>
            <a:off x="4656113" y="3832923"/>
            <a:ext cx="72154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Main PCB : 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30" name="이등변 삼각형 29">
            <a:extLst>
              <a:ext uri="{FF2B5EF4-FFF2-40B4-BE49-F238E27FC236}">
                <a16:creationId xmlns:a16="http://schemas.microsoft.com/office/drawing/2014/main" id="{09CC9894-52F2-1583-15E0-34DBFA7F1857}"/>
              </a:ext>
            </a:extLst>
          </p:cNvPr>
          <p:cNvSpPr/>
          <p:nvPr/>
        </p:nvSpPr>
        <p:spPr bwMode="auto">
          <a:xfrm rot="5400000">
            <a:off x="6589222" y="4126155"/>
            <a:ext cx="377190" cy="217170"/>
          </a:xfrm>
          <a:prstGeom prst="triangl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20D6DE2-3696-9AD4-F793-1349EE160AE5}"/>
              </a:ext>
            </a:extLst>
          </p:cNvPr>
          <p:cNvGrpSpPr/>
          <p:nvPr/>
        </p:nvGrpSpPr>
        <p:grpSpPr>
          <a:xfrm>
            <a:off x="361192" y="3702830"/>
            <a:ext cx="4245692" cy="2245237"/>
            <a:chOff x="645317" y="3690280"/>
            <a:chExt cx="3867876" cy="2045438"/>
          </a:xfrm>
        </p:grpSpPr>
        <p:pic>
          <p:nvPicPr>
            <p:cNvPr id="32" name="그림 31">
              <a:extLst>
                <a:ext uri="{FF2B5EF4-FFF2-40B4-BE49-F238E27FC236}">
                  <a16:creationId xmlns:a16="http://schemas.microsoft.com/office/drawing/2014/main" id="{DB920361-0D0B-26DF-7871-E4BB7FCA24F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45317" y="3764451"/>
              <a:ext cx="2896442" cy="1588093"/>
            </a:xfrm>
            <a:prstGeom prst="rect">
              <a:avLst/>
            </a:prstGeom>
          </p:spPr>
        </p:pic>
        <p:pic>
          <p:nvPicPr>
            <p:cNvPr id="33" name="그림 32" descr="회로, 지도, 전자 공학, 전자 부품이(가) 표시된 사진&#10;&#10;자동 생성된 설명">
              <a:extLst>
                <a:ext uri="{FF2B5EF4-FFF2-40B4-BE49-F238E27FC236}">
                  <a16:creationId xmlns:a16="http://schemas.microsoft.com/office/drawing/2014/main" id="{2371B0E7-7B09-5476-043F-3F54C98FA60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751050" flipH="1">
              <a:off x="2687453" y="3983801"/>
              <a:ext cx="1825740" cy="427876"/>
            </a:xfrm>
            <a:prstGeom prst="rect">
              <a:avLst/>
            </a:prstGeom>
            <a:scene3d>
              <a:camera prst="perspectiveContrastingLeftFacing"/>
              <a:lightRig rig="threePt" dir="t"/>
            </a:scene3d>
          </p:spPr>
        </p:pic>
        <p:cxnSp>
          <p:nvCxnSpPr>
            <p:cNvPr id="34" name="직선 화살표 연결선 33">
              <a:extLst>
                <a:ext uri="{FF2B5EF4-FFF2-40B4-BE49-F238E27FC236}">
                  <a16:creationId xmlns:a16="http://schemas.microsoft.com/office/drawing/2014/main" id="{76293522-0D54-6022-BFC1-B48E12C4734E}"/>
                </a:ext>
              </a:extLst>
            </p:cNvPr>
            <p:cNvCxnSpPr>
              <a:stCxn id="50" idx="0"/>
            </p:cNvCxnSpPr>
            <p:nvPr/>
          </p:nvCxnSpPr>
          <p:spPr bwMode="auto">
            <a:xfrm flipV="1">
              <a:off x="2799697" y="4754937"/>
              <a:ext cx="150443" cy="337621"/>
            </a:xfrm>
            <a:prstGeom prst="straightConnector1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3F8D634-490C-EA6E-87EE-AB9A81C41D60}"/>
                </a:ext>
              </a:extLst>
            </p:cNvPr>
            <p:cNvSpPr txBox="1"/>
            <p:nvPr/>
          </p:nvSpPr>
          <p:spPr>
            <a:xfrm>
              <a:off x="2333468" y="5448283"/>
              <a:ext cx="1381321" cy="28743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Buzzer PCB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89F1B78-B2A8-CD8C-1608-FC676CEAFAC2}"/>
                </a:ext>
              </a:extLst>
            </p:cNvPr>
            <p:cNvSpPr/>
            <p:nvPr/>
          </p:nvSpPr>
          <p:spPr bwMode="auto">
            <a:xfrm rot="766953">
              <a:off x="1970010" y="4872513"/>
              <a:ext cx="92239" cy="242536"/>
            </a:xfrm>
            <a:prstGeom prst="rect">
              <a:avLst/>
            </a:prstGeom>
            <a:solidFill>
              <a:srgbClr val="006600"/>
            </a:solidFill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1072AE1-597C-1D6B-1ABA-36188B3BEA3F}"/>
                </a:ext>
              </a:extLst>
            </p:cNvPr>
            <p:cNvSpPr txBox="1"/>
            <p:nvPr/>
          </p:nvSpPr>
          <p:spPr>
            <a:xfrm>
              <a:off x="1754298" y="5194016"/>
              <a:ext cx="617472" cy="4516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WiFi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PCB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E44141F5-CC20-5C87-3C9A-41E071A2F11A}"/>
                </a:ext>
              </a:extLst>
            </p:cNvPr>
            <p:cNvGrpSpPr/>
            <p:nvPr/>
          </p:nvGrpSpPr>
          <p:grpSpPr>
            <a:xfrm>
              <a:off x="2668914" y="5080017"/>
              <a:ext cx="154148" cy="242536"/>
              <a:chOff x="2710210" y="4434661"/>
              <a:chExt cx="115540" cy="181791"/>
            </a:xfrm>
          </p:grpSpPr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2F40B9F8-39D4-0570-0073-9FA6B2E993FB}"/>
                  </a:ext>
                </a:extLst>
              </p:cNvPr>
              <p:cNvSpPr/>
              <p:nvPr/>
            </p:nvSpPr>
            <p:spPr bwMode="auto">
              <a:xfrm rot="1577303">
                <a:off x="2710210" y="4434661"/>
                <a:ext cx="115540" cy="181791"/>
              </a:xfrm>
              <a:prstGeom prst="rect">
                <a:avLst/>
              </a:prstGeom>
              <a:solidFill>
                <a:srgbClr val="FFC000"/>
              </a:solidFill>
              <a:ln w="127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04" tIns="45703" rIns="91404" bIns="45703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762000" rtl="0" eaLnBrk="1" fontAlgn="base" latinLnBrk="0" hangingPunct="1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endParaRPr>
              </a:p>
            </p:txBody>
          </p:sp>
          <p:sp>
            <p:nvSpPr>
              <p:cNvPr id="51" name="타원 50">
                <a:extLst>
                  <a:ext uri="{FF2B5EF4-FFF2-40B4-BE49-F238E27FC236}">
                    <a16:creationId xmlns:a16="http://schemas.microsoft.com/office/drawing/2014/main" id="{3E3B4300-E3D7-384F-F889-EFA88B9F9885}"/>
                  </a:ext>
                </a:extLst>
              </p:cNvPr>
              <p:cNvSpPr/>
              <p:nvPr/>
            </p:nvSpPr>
            <p:spPr bwMode="auto">
              <a:xfrm>
                <a:off x="2727498" y="4468696"/>
                <a:ext cx="84254" cy="84254"/>
              </a:xfrm>
              <a:prstGeom prst="ellipse">
                <a:avLst/>
              </a:prstGeom>
              <a:solidFill>
                <a:srgbClr val="3333FF"/>
              </a:solidFill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04" tIns="45703" rIns="91404" bIns="45703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762000" rtl="0" eaLnBrk="1" fontAlgn="base" latinLnBrk="0" hangingPunct="1">
                  <a:lnSpc>
                    <a:spcPct val="13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endParaRPr>
              </a:p>
            </p:txBody>
          </p:sp>
        </p:grp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00E54859-DF41-C81E-4E27-38C297EBC8CF}"/>
                </a:ext>
              </a:extLst>
            </p:cNvPr>
            <p:cNvSpPr/>
            <p:nvPr/>
          </p:nvSpPr>
          <p:spPr bwMode="auto">
            <a:xfrm>
              <a:off x="857659" y="3834384"/>
              <a:ext cx="288208" cy="288208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5C7BBAC6-CD7C-E136-C16C-DBE82D335991}"/>
                </a:ext>
              </a:extLst>
            </p:cNvPr>
            <p:cNvSpPr/>
            <p:nvPr/>
          </p:nvSpPr>
          <p:spPr bwMode="auto">
            <a:xfrm>
              <a:off x="1884323" y="3690280"/>
              <a:ext cx="288208" cy="288208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4C5005B0-E043-7499-0923-D58B525D2BA3}"/>
                </a:ext>
              </a:extLst>
            </p:cNvPr>
            <p:cNvGrpSpPr/>
            <p:nvPr/>
          </p:nvGrpSpPr>
          <p:grpSpPr>
            <a:xfrm>
              <a:off x="1220895" y="3878807"/>
              <a:ext cx="224008" cy="224008"/>
              <a:chOff x="1615966" y="1932178"/>
              <a:chExt cx="215900" cy="215900"/>
            </a:xfrm>
          </p:grpSpPr>
          <p:sp>
            <p:nvSpPr>
              <p:cNvPr id="48" name="타원 47">
                <a:extLst>
                  <a:ext uri="{FF2B5EF4-FFF2-40B4-BE49-F238E27FC236}">
                    <a16:creationId xmlns:a16="http://schemas.microsoft.com/office/drawing/2014/main" id="{AA416246-554B-90E7-381C-0B24046C5CA1}"/>
                  </a:ext>
                </a:extLst>
              </p:cNvPr>
              <p:cNvSpPr/>
              <p:nvPr/>
            </p:nvSpPr>
            <p:spPr>
              <a:xfrm>
                <a:off x="1615966" y="1932178"/>
                <a:ext cx="215900" cy="2159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6BF6C2B-50C8-5B3B-5EC4-5914CF3FD65E}"/>
                  </a:ext>
                </a:extLst>
              </p:cNvPr>
              <p:cNvSpPr txBox="1"/>
              <p:nvPr/>
            </p:nvSpPr>
            <p:spPr>
              <a:xfrm>
                <a:off x="1696839" y="1965564"/>
                <a:ext cx="58709" cy="155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돋움" pitchFamily="50" charset="-127"/>
                    <a:cs typeface="Arial" charset="0"/>
                  </a:rPr>
                  <a:t>8</a:t>
                </a:r>
                <a:endParaRPr kumimoji="1" lang="ko-KR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endParaRPr>
              </a:p>
            </p:txBody>
          </p: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19AE56A2-F43D-5E41-C38F-A958723FEE8D}"/>
                </a:ext>
              </a:extLst>
            </p:cNvPr>
            <p:cNvGrpSpPr/>
            <p:nvPr/>
          </p:nvGrpSpPr>
          <p:grpSpPr>
            <a:xfrm>
              <a:off x="3821753" y="3878807"/>
              <a:ext cx="224008" cy="224008"/>
              <a:chOff x="1615966" y="1932178"/>
              <a:chExt cx="215900" cy="215900"/>
            </a:xfrm>
          </p:grpSpPr>
          <p:sp>
            <p:nvSpPr>
              <p:cNvPr id="46" name="타원 45">
                <a:extLst>
                  <a:ext uri="{FF2B5EF4-FFF2-40B4-BE49-F238E27FC236}">
                    <a16:creationId xmlns:a16="http://schemas.microsoft.com/office/drawing/2014/main" id="{7093335E-6191-1D52-E78D-738236F8963E}"/>
                  </a:ext>
                </a:extLst>
              </p:cNvPr>
              <p:cNvSpPr/>
              <p:nvPr/>
            </p:nvSpPr>
            <p:spPr>
              <a:xfrm>
                <a:off x="1615966" y="1932178"/>
                <a:ext cx="215900" cy="2159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endParaRP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23C32322-3D8B-36F2-9F43-C1EDAF36E2AF}"/>
                  </a:ext>
                </a:extLst>
              </p:cNvPr>
              <p:cNvSpPr txBox="1"/>
              <p:nvPr/>
            </p:nvSpPr>
            <p:spPr>
              <a:xfrm>
                <a:off x="1696839" y="1965564"/>
                <a:ext cx="117418" cy="155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돋움" pitchFamily="50" charset="-127"/>
                    <a:cs typeface="Arial" charset="0"/>
                  </a:rPr>
                  <a:t>11</a:t>
                </a:r>
                <a:endParaRPr kumimoji="1" lang="ko-KR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돋움" pitchFamily="50" charset="-127"/>
                  <a:cs typeface="Arial" charset="0"/>
                </a:endParaRPr>
              </a:p>
            </p:txBody>
          </p:sp>
        </p:grp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84B2B0A2-43AC-8E5F-0FBD-52548F8DBE51}"/>
                </a:ext>
              </a:extLst>
            </p:cNvPr>
            <p:cNvSpPr/>
            <p:nvPr/>
          </p:nvSpPr>
          <p:spPr bwMode="auto">
            <a:xfrm>
              <a:off x="2824033" y="4525491"/>
              <a:ext cx="242967" cy="338419"/>
            </a:xfrm>
            <a:prstGeom prst="ellipse">
              <a:avLst/>
            </a:prstGeom>
            <a:noFill/>
            <a:ln w="127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>
              <a:glow rad="25400">
                <a:schemeClr val="tx1"/>
              </a:glow>
            </a:effectLst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503F0E57-ADE9-78A5-2655-B7609F85BDE3}"/>
                </a:ext>
              </a:extLst>
            </p:cNvPr>
            <p:cNvSpPr/>
            <p:nvPr/>
          </p:nvSpPr>
          <p:spPr bwMode="auto">
            <a:xfrm>
              <a:off x="1904228" y="4733749"/>
              <a:ext cx="329741" cy="451224"/>
            </a:xfrm>
            <a:prstGeom prst="ellipse">
              <a:avLst/>
            </a:prstGeom>
            <a:noFill/>
            <a:ln w="127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>
              <a:glow rad="25400">
                <a:schemeClr val="tx1"/>
              </a:glow>
            </a:effectLst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7E0F9A2-152F-F844-7F22-C839368CEFAD}"/>
                </a:ext>
              </a:extLst>
            </p:cNvPr>
            <p:cNvSpPr txBox="1"/>
            <p:nvPr/>
          </p:nvSpPr>
          <p:spPr>
            <a:xfrm>
              <a:off x="3819807" y="4640828"/>
              <a:ext cx="655332" cy="4516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" charset="0"/>
                  <a:ea typeface="돋움" pitchFamily="50" charset="-127"/>
                  <a:cs typeface="Arial" charset="0"/>
                </a:rPr>
                <a:t>Main PCB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7564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8E174-3AAE-884D-F036-81625E6706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BD3EE345-416C-DF0D-1D24-385AA3A208D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6551996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전장부품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(Heater, Harness, etc)</a:t>
            </a: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9096E6A-5CBF-8825-ECE4-63B94A074277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EEBFA74-EFCA-8AFD-560B-B9B2BFD4E3F1}"/>
              </a:ext>
            </a:extLst>
          </p:cNvPr>
          <p:cNvGrpSpPr/>
          <p:nvPr/>
        </p:nvGrpSpPr>
        <p:grpSpPr>
          <a:xfrm>
            <a:off x="690563" y="1958747"/>
            <a:ext cx="3701604" cy="2621810"/>
            <a:chOff x="690563" y="1958747"/>
            <a:chExt cx="3701604" cy="2621810"/>
          </a:xfrm>
        </p:grpSpPr>
        <p:pic>
          <p:nvPicPr>
            <p:cNvPr id="3" name="그림 2">
              <a:extLst>
                <a:ext uri="{FF2B5EF4-FFF2-40B4-BE49-F238E27FC236}">
                  <a16:creationId xmlns:a16="http://schemas.microsoft.com/office/drawing/2014/main" id="{28F99B7B-6D70-A7E6-9B47-A613D36D043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7903" y="1958747"/>
              <a:ext cx="3604264" cy="2621810"/>
            </a:xfrm>
            <a:prstGeom prst="rect">
              <a:avLst/>
            </a:prstGeom>
          </p:spPr>
        </p:pic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797FC31-252A-538C-4B5D-64BAC367DBC9}"/>
                </a:ext>
              </a:extLst>
            </p:cNvPr>
            <p:cNvSpPr/>
            <p:nvPr/>
          </p:nvSpPr>
          <p:spPr bwMode="auto">
            <a:xfrm>
              <a:off x="952500" y="3645024"/>
              <a:ext cx="869086" cy="276101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B8E0D73-D6DA-F60F-88AF-1E6B2D1E31CE}"/>
                </a:ext>
              </a:extLst>
            </p:cNvPr>
            <p:cNvSpPr/>
            <p:nvPr/>
          </p:nvSpPr>
          <p:spPr bwMode="auto">
            <a:xfrm>
              <a:off x="690563" y="3203510"/>
              <a:ext cx="333622" cy="276101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04" tIns="45703" rIns="91404" bIns="45703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7620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endParaRPr>
            </a:p>
          </p:txBody>
        </p:sp>
      </p:grpSp>
      <p:sp>
        <p:nvSpPr>
          <p:cNvPr id="6" name="Text Box 4">
            <a:extLst>
              <a:ext uri="{FF2B5EF4-FFF2-40B4-BE49-F238E27FC236}">
                <a16:creationId xmlns:a16="http://schemas.microsoft.com/office/drawing/2014/main" id="{0FCD0738-20BA-88A8-A9C4-A2BCA6F38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990600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kumimoji="1" lang="ko-KR" alt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전장품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구성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(Upper Cavity – Quick Zone)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378959B5-2DEA-AC64-BEE2-237F68C82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50" y="711200"/>
            <a:ext cx="9359900" cy="595816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Text Box 9">
            <a:extLst>
              <a:ext uri="{FF2B5EF4-FFF2-40B4-BE49-F238E27FC236}">
                <a16:creationId xmlns:a16="http://schemas.microsoft.com/office/drawing/2014/main" id="{9217308C-5C56-72C4-03F9-A56B1FACE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711200"/>
            <a:ext cx="6751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</a:t>
            </a:r>
          </a:p>
        </p:txBody>
      </p:sp>
      <p:sp>
        <p:nvSpPr>
          <p:cNvPr id="10" name="Text Box 10">
            <a:extLst>
              <a:ext uri="{FF2B5EF4-FFF2-40B4-BE49-F238E27FC236}">
                <a16:creationId xmlns:a16="http://schemas.microsoft.com/office/drawing/2014/main" id="{1FE6D0D9-1977-E262-B25F-C51D5F5E5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711200"/>
            <a:ext cx="116730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Design Points</a:t>
            </a:r>
          </a:p>
        </p:txBody>
      </p:sp>
      <p:sp>
        <p:nvSpPr>
          <p:cNvPr id="11" name="Line 11">
            <a:extLst>
              <a:ext uri="{FF2B5EF4-FFF2-40B4-BE49-F238E27FC236}">
                <a16:creationId xmlns:a16="http://schemas.microsoft.com/office/drawing/2014/main" id="{7CBC2908-5CFA-C11C-F657-A7C280AEC7A6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1598927" y="3696287"/>
            <a:ext cx="59461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3" name="Line 52">
            <a:extLst>
              <a:ext uri="{FF2B5EF4-FFF2-40B4-BE49-F238E27FC236}">
                <a16:creationId xmlns:a16="http://schemas.microsoft.com/office/drawing/2014/main" id="{09D2AD7A-F021-3589-4162-F924E13B9F0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050" y="981075"/>
            <a:ext cx="9359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2CD3668-6FE7-70F3-CE5B-398C449CB0B0}"/>
              </a:ext>
            </a:extLst>
          </p:cNvPr>
          <p:cNvSpPr/>
          <p:nvPr/>
        </p:nvSpPr>
        <p:spPr>
          <a:xfrm>
            <a:off x="7759362" y="1041326"/>
            <a:ext cx="180000" cy="18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5" name="Text Box 4">
            <a:extLst>
              <a:ext uri="{FF2B5EF4-FFF2-40B4-BE49-F238E27FC236}">
                <a16:creationId xmlns:a16="http://schemas.microsoft.com/office/drawing/2014/main" id="{F107F5BC-1757-C2EA-5051-B8113EFBB2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2874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신규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EA0D955-1794-2A45-DC3F-6901A8931D76}"/>
              </a:ext>
            </a:extLst>
          </p:cNvPr>
          <p:cNvSpPr/>
          <p:nvPr/>
        </p:nvSpPr>
        <p:spPr bwMode="auto">
          <a:xfrm>
            <a:off x="8388012" y="1041326"/>
            <a:ext cx="180000" cy="180000"/>
          </a:xfrm>
          <a:prstGeom prst="ellips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7" name="Text Box 4">
            <a:extLst>
              <a:ext uri="{FF2B5EF4-FFF2-40B4-BE49-F238E27FC236}">
                <a16:creationId xmlns:a16="http://schemas.microsoft.com/office/drawing/2014/main" id="{E9198C3A-0361-B791-AA7F-B568D2161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4492" y="1015910"/>
            <a:ext cx="479425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4B2BA64E-A39A-728A-10D1-92DE9D35A723}"/>
              </a:ext>
            </a:extLst>
          </p:cNvPr>
          <p:cNvSpPr/>
          <p:nvPr/>
        </p:nvSpPr>
        <p:spPr>
          <a:xfrm>
            <a:off x="8932888" y="104132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9" name="Text Box 4">
            <a:extLst>
              <a:ext uri="{FF2B5EF4-FFF2-40B4-BE49-F238E27FC236}">
                <a16:creationId xmlns:a16="http://schemas.microsoft.com/office/drawing/2014/main" id="{20492EDA-C422-39AD-80F2-8C1801BBB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461" y="1015910"/>
            <a:ext cx="727413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공용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변경</a:t>
            </a:r>
            <a:endParaRPr kumimoji="1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0124C898-DACC-1E40-C29E-11E2BBFB15DE}"/>
              </a:ext>
            </a:extLst>
          </p:cNvPr>
          <p:cNvGraphicFramePr>
            <a:graphicFrameLocks noGrp="1"/>
          </p:cNvGraphicFramePr>
          <p:nvPr/>
        </p:nvGraphicFramePr>
        <p:xfrm>
          <a:off x="4641768" y="1286082"/>
          <a:ext cx="4921411" cy="609600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EAQ62881201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Lamp,Halogen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16804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MEE62864903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Bake HTR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2ea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7179005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MEE61945105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Broil HTR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2ea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932273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EBG61305805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Thermistor,PTC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469811"/>
                  </a:ext>
                </a:extLst>
              </a:tr>
            </a:tbl>
          </a:graphicData>
        </a:graphic>
      </p:graphicFrame>
      <p:sp>
        <p:nvSpPr>
          <p:cNvPr id="21" name="Text Box 4">
            <a:extLst>
              <a:ext uri="{FF2B5EF4-FFF2-40B4-BE49-F238E27FC236}">
                <a16:creationId xmlns:a16="http://schemas.microsoft.com/office/drawing/2014/main" id="{11F93C21-03AD-A1D3-323F-E7BA22EA6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721496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kumimoji="1" lang="ko-KR" alt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전장품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구성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(Lower Cavity – LG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Sig. IH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Single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과 구성 동일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3E2BCD57-FB10-EE76-96FB-11CAFDF9EF6E}"/>
              </a:ext>
            </a:extLst>
          </p:cNvPr>
          <p:cNvGraphicFramePr>
            <a:graphicFrameLocks noGrp="1"/>
          </p:cNvGraphicFramePr>
          <p:nvPr/>
        </p:nvGraphicFramePr>
        <p:xfrm>
          <a:off x="4628293" y="3005111"/>
          <a:ext cx="4921560" cy="975360"/>
        </p:xfrm>
        <a:graphic>
          <a:graphicData uri="http://schemas.openxmlformats.org/drawingml/2006/table">
            <a:tbl>
              <a:tblPr/>
              <a:tblGrid>
                <a:gridCol w="180691">
                  <a:extLst>
                    <a:ext uri="{9D8B030D-6E8A-4147-A177-3AD203B41FA5}">
                      <a16:colId xmlns:a16="http://schemas.microsoft.com/office/drawing/2014/main" val="1345306397"/>
                    </a:ext>
                  </a:extLst>
                </a:gridCol>
                <a:gridCol w="246976">
                  <a:extLst>
                    <a:ext uri="{9D8B030D-6E8A-4147-A177-3AD203B41FA5}">
                      <a16:colId xmlns:a16="http://schemas.microsoft.com/office/drawing/2014/main" val="2349866729"/>
                    </a:ext>
                  </a:extLst>
                </a:gridCol>
                <a:gridCol w="630369">
                  <a:extLst>
                    <a:ext uri="{9D8B030D-6E8A-4147-A177-3AD203B41FA5}">
                      <a16:colId xmlns:a16="http://schemas.microsoft.com/office/drawing/2014/main" val="2624753070"/>
                    </a:ext>
                  </a:extLst>
                </a:gridCol>
                <a:gridCol w="630369">
                  <a:extLst>
                    <a:ext uri="{9D8B030D-6E8A-4147-A177-3AD203B41FA5}">
                      <a16:colId xmlns:a16="http://schemas.microsoft.com/office/drawing/2014/main" val="2023219766"/>
                    </a:ext>
                  </a:extLst>
                </a:gridCol>
                <a:gridCol w="1065894">
                  <a:extLst>
                    <a:ext uri="{9D8B030D-6E8A-4147-A177-3AD203B41FA5}">
                      <a16:colId xmlns:a16="http://schemas.microsoft.com/office/drawing/2014/main" val="2470629165"/>
                    </a:ext>
                  </a:extLst>
                </a:gridCol>
                <a:gridCol w="297994">
                  <a:extLst>
                    <a:ext uri="{9D8B030D-6E8A-4147-A177-3AD203B41FA5}">
                      <a16:colId xmlns:a16="http://schemas.microsoft.com/office/drawing/2014/main" val="3149039872"/>
                    </a:ext>
                  </a:extLst>
                </a:gridCol>
                <a:gridCol w="287616">
                  <a:extLst>
                    <a:ext uri="{9D8B030D-6E8A-4147-A177-3AD203B41FA5}">
                      <a16:colId xmlns:a16="http://schemas.microsoft.com/office/drawing/2014/main" val="2242628770"/>
                    </a:ext>
                  </a:extLst>
                </a:gridCol>
                <a:gridCol w="1581651">
                  <a:extLst>
                    <a:ext uri="{9D8B030D-6E8A-4147-A177-3AD203B41FA5}">
                      <a16:colId xmlns:a16="http://schemas.microsoft.com/office/drawing/2014/main" val="1637815739"/>
                    </a:ext>
                  </a:extLst>
                </a:gridCol>
              </a:tblGrid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변경점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6394769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EAQ62881201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Lamp,Halogen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28079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EBG61305805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Thermistor,PTC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008792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MEE62865003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853630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EAG43128002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Jack,DC Power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7935354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MEE61945105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MEE62306506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Heater,Sheath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3800W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4200W (Single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공용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490415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EAU63303815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EAU65090301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Motor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Assembly,AC,Fan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BLDC Motor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Inverter Pro-Bake)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1336771"/>
                  </a:ext>
                </a:extLst>
              </a:tr>
              <a:tr h="96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EBF60663403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EBF60663404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Switch,Tact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동난전자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Tact S/W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1427305"/>
                  </a:ext>
                </a:extLst>
              </a:tr>
            </a:tbl>
          </a:graphicData>
        </a:graphic>
      </p:graphicFrame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5415F8E7-9B53-567C-5A6D-AC0CE10BFDA2}"/>
              </a:ext>
            </a:extLst>
          </p:cNvPr>
          <p:cNvGraphicFramePr>
            <a:graphicFrameLocks noGrp="1"/>
          </p:cNvGraphicFramePr>
          <p:nvPr/>
        </p:nvGraphicFramePr>
        <p:xfrm>
          <a:off x="4641768" y="1958747"/>
          <a:ext cx="4921411" cy="609600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하네스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용도</a:t>
                      </a:r>
                      <a:endParaRPr 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6877W1N024F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Lamp GND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Lamp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구성 변경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794287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EAD61076101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도어 스위치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44111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EAD65617102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노크온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0888647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EAD63952405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연장결선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3225068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B3DF02C8-0DF4-F872-8581-E69F5D98B37B}"/>
              </a:ext>
            </a:extLst>
          </p:cNvPr>
          <p:cNvSpPr/>
          <p:nvPr/>
        </p:nvSpPr>
        <p:spPr bwMode="auto">
          <a:xfrm>
            <a:off x="409575" y="2765887"/>
            <a:ext cx="4057650" cy="1890311"/>
          </a:xfrm>
          <a:prstGeom prst="rect">
            <a:avLst/>
          </a:prstGeom>
          <a:noFill/>
          <a:ln w="12700" cap="flat" cmpd="sng" algn="ctr">
            <a:solidFill>
              <a:schemeClr val="bg2"/>
            </a:solidFill>
            <a:prstDash val="lgDash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F54F505-89D2-A781-D287-640DC879B48D}"/>
              </a:ext>
            </a:extLst>
          </p:cNvPr>
          <p:cNvSpPr txBox="1"/>
          <p:nvPr/>
        </p:nvSpPr>
        <p:spPr>
          <a:xfrm>
            <a:off x="391381" y="2734110"/>
            <a:ext cx="213552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Lower Cavity (LG Sig IH)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56411B6-AE1B-DC3D-C070-9B7A25C0AE12}"/>
              </a:ext>
            </a:extLst>
          </p:cNvPr>
          <p:cNvSpPr/>
          <p:nvPr/>
        </p:nvSpPr>
        <p:spPr bwMode="auto">
          <a:xfrm>
            <a:off x="1624013" y="1296653"/>
            <a:ext cx="2843212" cy="1371889"/>
          </a:xfrm>
          <a:prstGeom prst="rect">
            <a:avLst/>
          </a:prstGeom>
          <a:noFill/>
          <a:ln w="12700" cap="flat" cmpd="sng" algn="ctr">
            <a:solidFill>
              <a:schemeClr val="bg2"/>
            </a:solidFill>
            <a:prstDash val="lgDash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pic>
        <p:nvPicPr>
          <p:cNvPr id="27" name="그림 26">
            <a:extLst>
              <a:ext uri="{FF2B5EF4-FFF2-40B4-BE49-F238E27FC236}">
                <a16:creationId xmlns:a16="http://schemas.microsoft.com/office/drawing/2014/main" id="{E01E69CB-4C4B-5CCB-82FC-C1C0A1FD5D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26304" y="1388730"/>
            <a:ext cx="1991123" cy="1262230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9E2B8912-A63B-7A08-EC72-CB7DC4C8E2BE}"/>
              </a:ext>
            </a:extLst>
          </p:cNvPr>
          <p:cNvSpPr txBox="1"/>
          <p:nvPr/>
        </p:nvSpPr>
        <p:spPr>
          <a:xfrm>
            <a:off x="1542916" y="1238387"/>
            <a:ext cx="176202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Upper Cavity (NEW)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4B774947-0267-0AAB-CDAA-EE15D4F3D0AE}"/>
              </a:ext>
            </a:extLst>
          </p:cNvPr>
          <p:cNvGraphicFramePr>
            <a:graphicFrameLocks noGrp="1"/>
          </p:cNvGraphicFramePr>
          <p:nvPr/>
        </p:nvGraphicFramePr>
        <p:xfrm>
          <a:off x="4641768" y="4041821"/>
          <a:ext cx="4921411" cy="365760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하네스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용도</a:t>
                      </a:r>
                      <a:endParaRPr 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EAD61076101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도어 스위치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4411168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EAD65617102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노크온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0888647"/>
                  </a:ext>
                </a:extLst>
              </a:tr>
            </a:tbl>
          </a:graphicData>
        </a:graphic>
      </p:graphicFrame>
      <p:pic>
        <p:nvPicPr>
          <p:cNvPr id="30" name="그림 29">
            <a:extLst>
              <a:ext uri="{FF2B5EF4-FFF2-40B4-BE49-F238E27FC236}">
                <a16:creationId xmlns:a16="http://schemas.microsoft.com/office/drawing/2014/main" id="{DD5A1B8A-BD8D-A639-D403-0386E11EB4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018" y="1188372"/>
            <a:ext cx="1214087" cy="1508197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200469B4-E66E-BE8D-ED86-9F20B361B81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63640" y="4904619"/>
            <a:ext cx="2264845" cy="1677663"/>
          </a:xfrm>
          <a:prstGeom prst="rect">
            <a:avLst/>
          </a:prstGeom>
        </p:spPr>
      </p:pic>
      <p:sp>
        <p:nvSpPr>
          <p:cNvPr id="32" name="직사각형 31">
            <a:extLst>
              <a:ext uri="{FF2B5EF4-FFF2-40B4-BE49-F238E27FC236}">
                <a16:creationId xmlns:a16="http://schemas.microsoft.com/office/drawing/2014/main" id="{DBD77029-8058-3691-8AFB-D91E0E7FB959}"/>
              </a:ext>
            </a:extLst>
          </p:cNvPr>
          <p:cNvSpPr/>
          <p:nvPr/>
        </p:nvSpPr>
        <p:spPr bwMode="auto">
          <a:xfrm>
            <a:off x="409575" y="4720785"/>
            <a:ext cx="4057650" cy="1890311"/>
          </a:xfrm>
          <a:prstGeom prst="rect">
            <a:avLst/>
          </a:prstGeom>
          <a:noFill/>
          <a:ln w="12700" cap="flat" cmpd="sng" algn="ctr">
            <a:solidFill>
              <a:schemeClr val="bg2"/>
            </a:solidFill>
            <a:prstDash val="lgDash"/>
            <a:round/>
            <a:headEnd type="none" w="med" len="med"/>
            <a:tailEnd type="none" w="med" len="med"/>
          </a:ln>
          <a:effectLst/>
        </p:spPr>
        <p:txBody>
          <a:bodyPr vert="horz" wrap="none" lIns="91404" tIns="45703" rIns="91404" bIns="45703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5118FB5-600D-CFDD-A550-496B6A952CAB}"/>
              </a:ext>
            </a:extLst>
          </p:cNvPr>
          <p:cNvSpPr txBox="1"/>
          <p:nvPr/>
        </p:nvSpPr>
        <p:spPr>
          <a:xfrm>
            <a:off x="391381" y="4689008"/>
            <a:ext cx="249619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3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Lower Rear Panel (LG Sig IH)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34" name="Text Box 4">
            <a:extLst>
              <a:ext uri="{FF2B5EF4-FFF2-40B4-BE49-F238E27FC236}">
                <a16:creationId xmlns:a16="http://schemas.microsoft.com/office/drawing/2014/main" id="{378A9BFD-6069-9CBB-CE19-77812911EA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720785"/>
            <a:ext cx="50609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100" b="1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457200" marR="0" lvl="0" indent="-457200" algn="l" defTabSz="914400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kumimoji="1" lang="ko-KR" alt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전장품</a:t>
            </a: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구성</a:t>
            </a:r>
            <a:r>
              <a:rPr kumimoji="1" lang="en-US" altLang="ko-K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(Lower Oven – Rear Panel)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B08D6030-0E97-AFF9-C8F8-AF6E5E8D68AE}"/>
              </a:ext>
            </a:extLst>
          </p:cNvPr>
          <p:cNvGraphicFramePr>
            <a:graphicFrameLocks noGrp="1"/>
          </p:cNvGraphicFramePr>
          <p:nvPr/>
        </p:nvGraphicFramePr>
        <p:xfrm>
          <a:off x="4641768" y="5016267"/>
          <a:ext cx="4921411" cy="243840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4075781255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2925125782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1884128387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3181417165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4112834726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058309784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1712057997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160555633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 Name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3578789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EBR31737824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PCB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Assembly,Power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신규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Power PCB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7942877"/>
                  </a:ext>
                </a:extLst>
              </a:tr>
            </a:tbl>
          </a:graphicData>
        </a:graphic>
      </p:graphicFrame>
      <p:pic>
        <p:nvPicPr>
          <p:cNvPr id="36" name="그림 35" descr="텍스트, 스크린샷, 사각형, 직사각형이(가) 표시된 사진&#10;&#10;자동 생성된 설명">
            <a:extLst>
              <a:ext uri="{FF2B5EF4-FFF2-40B4-BE49-F238E27FC236}">
                <a16:creationId xmlns:a16="http://schemas.microsoft.com/office/drawing/2014/main" id="{9564452D-11F5-A657-156B-2420C0EC8B52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5774" y="5423398"/>
            <a:ext cx="969308" cy="539217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AB3854E-51C1-1925-EA04-B9EBCAAFD641}"/>
              </a:ext>
            </a:extLst>
          </p:cNvPr>
          <p:cNvSpPr txBox="1"/>
          <p:nvPr/>
        </p:nvSpPr>
        <p:spPr>
          <a:xfrm>
            <a:off x="8873728" y="5608542"/>
            <a:ext cx="61770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230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*120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7C519A3-A372-6C4F-EBDC-1254FC6E6599}"/>
              </a:ext>
            </a:extLst>
          </p:cNvPr>
          <p:cNvSpPr txBox="1"/>
          <p:nvPr/>
        </p:nvSpPr>
        <p:spPr>
          <a:xfrm>
            <a:off x="6597347" y="5580236"/>
            <a:ext cx="61770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180*120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pic>
        <p:nvPicPr>
          <p:cNvPr id="39" name="그림 38" descr="도표, 평면도, 기술 도면, 텍스트이(가) 표시된 사진&#10;&#10;자동 생성된 설명">
            <a:extLst>
              <a:ext uri="{FF2B5EF4-FFF2-40B4-BE49-F238E27FC236}">
                <a16:creationId xmlns:a16="http://schemas.microsoft.com/office/drawing/2014/main" id="{6530BA09-BFB4-B58C-5E3C-ABC75AB1638D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22284" y="5399981"/>
            <a:ext cx="797553" cy="528282"/>
          </a:xfrm>
          <a:prstGeom prst="rect">
            <a:avLst/>
          </a:prstGeom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E73DD05D-BC0E-7F5C-5844-BEF9BDFA0B3D}"/>
              </a:ext>
            </a:extLst>
          </p:cNvPr>
          <p:cNvSpPr txBox="1"/>
          <p:nvPr/>
        </p:nvSpPr>
        <p:spPr>
          <a:xfrm>
            <a:off x="4694566" y="5581530"/>
            <a:ext cx="87225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PWR PCB : </a:t>
            </a:r>
            <a:endParaRPr kumimoji="1" lang="ko-KR" altLang="en-US" sz="13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41" name="이등변 삼각형 40">
            <a:extLst>
              <a:ext uri="{FF2B5EF4-FFF2-40B4-BE49-F238E27FC236}">
                <a16:creationId xmlns:a16="http://schemas.microsoft.com/office/drawing/2014/main" id="{A112B1A2-10BC-4E57-C2A2-EAA54286B29A}"/>
              </a:ext>
            </a:extLst>
          </p:cNvPr>
          <p:cNvSpPr/>
          <p:nvPr/>
        </p:nvSpPr>
        <p:spPr bwMode="auto">
          <a:xfrm rot="5400000">
            <a:off x="7322552" y="5577342"/>
            <a:ext cx="377190" cy="217170"/>
          </a:xfrm>
          <a:prstGeom prst="triangl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04" tIns="45703" rIns="91404" bIns="45703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620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479C5624-1481-61CF-0159-E73B766AE4D2}"/>
              </a:ext>
            </a:extLst>
          </p:cNvPr>
          <p:cNvGraphicFramePr>
            <a:graphicFrameLocks noGrp="1"/>
          </p:cNvGraphicFramePr>
          <p:nvPr/>
        </p:nvGraphicFramePr>
        <p:xfrm>
          <a:off x="4628293" y="6076784"/>
          <a:ext cx="4921411" cy="365760"/>
        </p:xfrm>
        <a:graphic>
          <a:graphicData uri="http://schemas.openxmlformats.org/drawingml/2006/table">
            <a:tbl>
              <a:tblPr/>
              <a:tblGrid>
                <a:gridCol w="169148">
                  <a:extLst>
                    <a:ext uri="{9D8B030D-6E8A-4147-A177-3AD203B41FA5}">
                      <a16:colId xmlns:a16="http://schemas.microsoft.com/office/drawing/2014/main" val="811290057"/>
                    </a:ext>
                  </a:extLst>
                </a:gridCol>
                <a:gridCol w="233670">
                  <a:extLst>
                    <a:ext uri="{9D8B030D-6E8A-4147-A177-3AD203B41FA5}">
                      <a16:colId xmlns:a16="http://schemas.microsoft.com/office/drawing/2014/main" val="3431370155"/>
                    </a:ext>
                  </a:extLst>
                </a:gridCol>
                <a:gridCol w="645207">
                  <a:extLst>
                    <a:ext uri="{9D8B030D-6E8A-4147-A177-3AD203B41FA5}">
                      <a16:colId xmlns:a16="http://schemas.microsoft.com/office/drawing/2014/main" val="2322310762"/>
                    </a:ext>
                  </a:extLst>
                </a:gridCol>
                <a:gridCol w="608586">
                  <a:extLst>
                    <a:ext uri="{9D8B030D-6E8A-4147-A177-3AD203B41FA5}">
                      <a16:colId xmlns:a16="http://schemas.microsoft.com/office/drawing/2014/main" val="262824923"/>
                    </a:ext>
                  </a:extLst>
                </a:gridCol>
                <a:gridCol w="1039306">
                  <a:extLst>
                    <a:ext uri="{9D8B030D-6E8A-4147-A177-3AD203B41FA5}">
                      <a16:colId xmlns:a16="http://schemas.microsoft.com/office/drawing/2014/main" val="2026918154"/>
                    </a:ext>
                  </a:extLst>
                </a:gridCol>
                <a:gridCol w="287874">
                  <a:extLst>
                    <a:ext uri="{9D8B030D-6E8A-4147-A177-3AD203B41FA5}">
                      <a16:colId xmlns:a16="http://schemas.microsoft.com/office/drawing/2014/main" val="3344204191"/>
                    </a:ext>
                  </a:extLst>
                </a:gridCol>
                <a:gridCol w="409669">
                  <a:extLst>
                    <a:ext uri="{9D8B030D-6E8A-4147-A177-3AD203B41FA5}">
                      <a16:colId xmlns:a16="http://schemas.microsoft.com/office/drawing/2014/main" val="497858714"/>
                    </a:ext>
                  </a:extLst>
                </a:gridCol>
                <a:gridCol w="1527951">
                  <a:extLst>
                    <a:ext uri="{9D8B030D-6E8A-4147-A177-3AD203B41FA5}">
                      <a16:colId xmlns:a16="http://schemas.microsoft.com/office/drawing/2014/main" val="1760978440"/>
                    </a:ext>
                  </a:extLst>
                </a:gridCol>
              </a:tblGrid>
              <a:tr h="988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Lev.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Base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P/No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하네스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용도</a:t>
                      </a:r>
                      <a:endParaRPr 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UOM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  <a:endParaRPr lang="ko-KR" alt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95000"/>
                        <a:lumOff val="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9339201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EAD64146404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Main Harness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상부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캐비티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구성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7716801"/>
                  </a:ext>
                </a:extLst>
              </a:tr>
              <a:tr h="9889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...3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EAD62349842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TBD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RLY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연장결선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상부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캐비티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구성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660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08190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634397-2D3F-73D1-5EBA-9134F9EA28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9DF3C1CC-D39A-A7D2-BF26-6A252A36AA22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886201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제어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131BE52-69CC-C490-2040-E87B764FD782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D917DC98-E29B-088D-C10E-5A35082FD274}"/>
              </a:ext>
            </a:extLst>
          </p:cNvPr>
          <p:cNvGraphicFramePr>
            <a:graphicFrameLocks noGrp="1"/>
          </p:cNvGraphicFramePr>
          <p:nvPr/>
        </p:nvGraphicFramePr>
        <p:xfrm>
          <a:off x="145011" y="764704"/>
          <a:ext cx="9632525" cy="5508648"/>
        </p:xfrm>
        <a:graphic>
          <a:graphicData uri="http://schemas.openxmlformats.org/drawingml/2006/table">
            <a:tbl>
              <a:tblPr/>
              <a:tblGrid>
                <a:gridCol w="3488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73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88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688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4441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562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구분</a:t>
                      </a: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No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Module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 전 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(Studio IH </a:t>
                      </a:r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반영 사항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 후 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900" b="1" dirty="0" err="1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퀵존</a:t>
                      </a:r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Best </a:t>
                      </a:r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반영 사항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 사유</a:t>
                      </a: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걱정점</a:t>
                      </a: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6048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제어</a:t>
                      </a:r>
                      <a:endParaRPr lang="en-US" altLang="ko-KR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H/W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1. LCD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 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2. Main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-.Lower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온도감지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/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부하구동 회로 반영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-.Knock on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회로 반영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-.Double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모델용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Touch SW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반영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3. Power(Relay): 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-.Lower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부하구동 회로 반영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1. 6.8</a:t>
                      </a:r>
                      <a:r>
                        <a:rPr lang="ko-KR" altLang="en-US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LCD (LG Signature IH single)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전용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Buzzer PCB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추가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월오븐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, LG Sig IH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공용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2. Main (LG Signature IH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보드 공용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-.Upper </a:t>
                      </a: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퀵존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온도감지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/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부하구동 회로 변경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-.LCD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통신 포트 반영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-.DQ1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통신 포트 반영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-.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Conv.Fan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Left/Right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동시동작 가능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3. Power(Relay)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-.Upper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복수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HT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및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convection fan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구동 회로 반영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-.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기능 추가에 따른 크기 연장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상품기획안</a:t>
                      </a:r>
                    </a:p>
                    <a:p>
                      <a:pPr algn="l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5600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S/W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None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IH SW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반영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(Flex)</a:t>
                      </a: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AUI 2.0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반영</a:t>
                      </a: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UP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컨텐츠 추가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엔딩멜로디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en-US" altLang="ko-KR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ThinQ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Up Recipe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Remote Control Lock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Ventilation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(Light only)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Auto Time sync</a:t>
                      </a:r>
                    </a:p>
                    <a:p>
                      <a:pPr marL="0" indent="0" algn="l" latinLnBrk="1">
                        <a:buNone/>
                      </a:pP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 Remote Start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기능을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Key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이동하여 상시 원격 제어 가능하도록 함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전원 리셋 시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Control Lock Mode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유지</a:t>
                      </a:r>
                      <a:b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6. Control Lock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동작 시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Control Lock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Key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만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Back Lighting</a:t>
                      </a:r>
                      <a:b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된 상태로 계속 유지됨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(Display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는 자물쇠 및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Lock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표시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  <a:b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7. Sabbath Mode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동작 시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App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과 제품 간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Communication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동작 불가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8.App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–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Auto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Remote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On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option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삭제 반영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9.SVC app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진단 기능 추가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10. </a:t>
                      </a:r>
                      <a:r>
                        <a:rPr kumimoji="1" lang="en-US" altLang="ko-KR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WiFi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On/off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추가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3" marR="36003" marT="36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None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IH SW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반영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(Better +)</a:t>
                      </a: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Main – LCD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통신반영</a:t>
                      </a: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6.8 LCD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더블 시나리오 적용 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쿡모드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필터링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위젯 기능 반영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(LG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Signature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IH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동일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조리 후 옵션 추가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Add cooking Time / Keep Warm / Stay On (LG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Signature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IH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동일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my recipe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시나리오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(LG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Signature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IH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동일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latinLnBrk="1">
                        <a:buNone/>
                      </a:pP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 UP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컨텐츠 추가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Remote Control Lock (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출시전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배포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청소 알림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사용횟수 기반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장시간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사용알림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en-US" altLang="ko-KR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ThinQ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Up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Recipe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변경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사용자 히스토리 기반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indent="0" algn="l" latinLnBrk="1"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기타 기본 탑재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latinLnBrk="1">
                        <a:buNone/>
                      </a:pPr>
                      <a:b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 Auto conversion default off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 </a:t>
                      </a: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전용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auto cook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시나리오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7. </a:t>
                      </a:r>
                      <a:r>
                        <a:rPr kumimoji="1" lang="ko-KR" altLang="en-US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퀵존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전용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manual cook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구성</a:t>
                      </a:r>
                      <a:b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8.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5.1 </a:t>
                      </a:r>
                      <a:r>
                        <a:rPr kumimoji="1" lang="en-US" altLang="ko-KR" sz="9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cu.ft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cavity manual cook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구성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9. Knock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on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조건 하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Lamp on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시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1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분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30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초 후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off</a:t>
                      </a:r>
                    </a:p>
                    <a:p>
                      <a:pPr marL="0" marR="0" lvl="0" indent="0" algn="l" defTabSz="872431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3" marR="36003" marT="36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873125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상품기획안</a:t>
                      </a:r>
                    </a:p>
                  </a:txBody>
                  <a:tcPr marL="36003" marR="36003" marT="36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36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1123AF99-8398-E0A6-7EC6-45BE2052C6E8}"/>
              </a:ext>
            </a:extLst>
          </p:cNvPr>
          <p:cNvSpPr txBox="1"/>
          <p:nvPr/>
        </p:nvSpPr>
        <p:spPr>
          <a:xfrm>
            <a:off x="5745088" y="2780928"/>
            <a:ext cx="126826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180*120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  <a:sym typeface="Wingdings" panose="05000000000000000000" pitchFamily="2" charset="2"/>
              </a:rPr>
              <a:t>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230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*120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62B6575-B78D-106C-89C6-6716195B148F}"/>
              </a:ext>
            </a:extLst>
          </p:cNvPr>
          <p:cNvSpPr txBox="1"/>
          <p:nvPr/>
        </p:nvSpPr>
        <p:spPr>
          <a:xfrm>
            <a:off x="5961112" y="1517094"/>
            <a:ext cx="126826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250*65.5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  <a:sym typeface="Wingdings" panose="05000000000000000000" pitchFamily="2" charset="2"/>
              </a:rPr>
              <a:t>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235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돋움" pitchFamily="50" charset="-127"/>
                <a:cs typeface="Arial" charset="0"/>
              </a:rPr>
              <a:t>*80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charset="0"/>
              <a:ea typeface="돋움" pitchFamily="50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496161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5EE736A-A035-280C-EBE7-71633D106E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A8D8032A-CBBF-602A-AC0A-A714CCAD2FD0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32675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변경점 상세 작성 내용</a:t>
            </a:r>
            <a:endParaRPr kumimoji="1" lang="en-US" altLang="ko-KR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2" name="실행 단추: 돌아가기 11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9961F4AF-FA3F-EE03-BB68-2D8CF0C49D94}"/>
              </a:ext>
            </a:extLst>
          </p:cNvPr>
          <p:cNvSpPr>
            <a:spLocks noChangeAspect="1"/>
          </p:cNvSpPr>
          <p:nvPr/>
        </p:nvSpPr>
        <p:spPr>
          <a:xfrm>
            <a:off x="9345521" y="6437448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8647FED-9811-B081-07F6-EAC0A2F982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2856778"/>
              </p:ext>
            </p:extLst>
          </p:nvPr>
        </p:nvGraphicFramePr>
        <p:xfrm>
          <a:off x="137068" y="3242406"/>
          <a:ext cx="9625675" cy="2837520"/>
        </p:xfrm>
        <a:graphic>
          <a:graphicData uri="http://schemas.openxmlformats.org/drawingml/2006/table">
            <a:tbl>
              <a:tblPr/>
              <a:tblGrid>
                <a:gridCol w="748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36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59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8307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218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924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562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구분</a:t>
                      </a:r>
                    </a:p>
                  </a:txBody>
                  <a:tcPr marL="36003" marR="36003" marT="0" marB="0" anchor="ctr">
                    <a:lnL w="9525" cmpd="sng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mpd="sng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No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Part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 내역</a:t>
                      </a:r>
                      <a:endParaRPr lang="en-US" altLang="ko-KR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900" b="1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 전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  <a:sym typeface="Wingdings" pitchFamily="2" charset="2"/>
                        </a:rPr>
                        <a:t> </a:t>
                      </a:r>
                      <a:r>
                        <a:rPr lang="ko-KR" altLang="en-US" sz="900" b="1">
                          <a:latin typeface="Arial Narrow" panose="020B0606020202030204" pitchFamily="34" charset="0"/>
                          <a:ea typeface="LG스마트체 Regular" pitchFamily="50" charset="-127"/>
                          <a:sym typeface="Wingdings" pitchFamily="2" charset="2"/>
                        </a:rPr>
                        <a:t>→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  <a:sym typeface="Wingdings" pitchFamily="2" charset="2"/>
                        </a:rPr>
                        <a:t> </a:t>
                      </a:r>
                      <a:r>
                        <a:rPr lang="ko-KR" altLang="en-US" sz="900" b="1">
                          <a:latin typeface="Arial Narrow" panose="020B0606020202030204" pitchFamily="34" charset="0"/>
                          <a:ea typeface="LG스마트체 Regular" pitchFamily="50" charset="-127"/>
                          <a:sym typeface="Wingdings" pitchFamily="2" charset="2"/>
                        </a:rPr>
                        <a:t>변경 후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itchFamily="50" charset="-127"/>
                          <a:sym typeface="Wingdings" pitchFamily="2" charset="2"/>
                        </a:rPr>
                        <a:t>)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 사유</a:t>
                      </a: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걱정점</a:t>
                      </a: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9"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기구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/</a:t>
                      </a: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전장</a:t>
                      </a:r>
                      <a:endParaRPr lang="en-US" altLang="ko-KR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(4M </a:t>
                      </a:r>
                      <a:r>
                        <a:rPr lang="ko-KR" altLang="en-US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변경포함</a:t>
                      </a:r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</a:p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baseline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37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7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8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9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120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제어 </a:t>
                      </a:r>
                      <a:r>
                        <a:rPr lang="en-US" altLang="ko-KR" sz="90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HW</a:t>
                      </a:r>
                      <a:endParaRPr lang="en-US" altLang="ko-KR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12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12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12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ThinQ App</a:t>
                      </a: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12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12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12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dirty="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3" marR="36003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5" name="Text Box 2">
            <a:extLst>
              <a:ext uri="{FF2B5EF4-FFF2-40B4-BE49-F238E27FC236}">
                <a16:creationId xmlns:a16="http://schemas.microsoft.com/office/drawing/2014/main" id="{EF0AE541-FE87-2E38-EA05-6D8B3ACCF5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91" y="6559237"/>
            <a:ext cx="6984776" cy="2195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65052" tIns="32528" rIns="65052" bIns="32528">
            <a:spAutoFit/>
          </a:bodyPr>
          <a:lstStyle/>
          <a:p>
            <a:pPr marL="0" marR="0" lvl="0" indent="0" algn="l" defTabSz="646862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※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필요 시 행 추가하여 사용가능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/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필요 시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유첨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1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번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,2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번 테이블 별도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장표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 작성 가능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C3ACB420-0999-3579-5CE6-4FDC3CC42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7296" y="555187"/>
            <a:ext cx="2145447" cy="2195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65052" tIns="32528" rIns="65052" bIns="32528">
            <a:spAutoFit/>
          </a:bodyPr>
          <a:lstStyle/>
          <a:p>
            <a:pPr marL="0" marR="0" lvl="0" indent="0" algn="r" defTabSz="646862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※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필요 시 행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Exploded View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charset="0"/>
              </a:rPr>
              <a:t>포함가능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9CD8178-10BA-8F33-0471-185E52EDB2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111201"/>
              </p:ext>
            </p:extLst>
          </p:nvPr>
        </p:nvGraphicFramePr>
        <p:xfrm>
          <a:off x="137067" y="876256"/>
          <a:ext cx="9625675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6851">
                  <a:extLst>
                    <a:ext uri="{9D8B030D-6E8A-4147-A177-3AD203B41FA5}">
                      <a16:colId xmlns:a16="http://schemas.microsoft.com/office/drawing/2014/main" val="3424028443"/>
                    </a:ext>
                  </a:extLst>
                </a:gridCol>
                <a:gridCol w="3069608">
                  <a:extLst>
                    <a:ext uri="{9D8B030D-6E8A-4147-A177-3AD203B41FA5}">
                      <a16:colId xmlns:a16="http://schemas.microsoft.com/office/drawing/2014/main" val="1898998136"/>
                    </a:ext>
                  </a:extLst>
                </a:gridCol>
                <a:gridCol w="3069608">
                  <a:extLst>
                    <a:ext uri="{9D8B030D-6E8A-4147-A177-3AD203B41FA5}">
                      <a16:colId xmlns:a16="http://schemas.microsoft.com/office/drawing/2014/main" val="2648625135"/>
                    </a:ext>
                  </a:extLst>
                </a:gridCol>
                <a:gridCol w="3069608">
                  <a:extLst>
                    <a:ext uri="{9D8B030D-6E8A-4147-A177-3AD203B41FA5}">
                      <a16:colId xmlns:a16="http://schemas.microsoft.com/office/drawing/2014/main" val="1195692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05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기구</a:t>
                      </a:r>
                      <a:r>
                        <a:rPr lang="en-US" altLang="ko-KR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전장</a:t>
                      </a:r>
                      <a:r>
                        <a:rPr lang="en-US" altLang="ko-KR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기타 변경점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 </a:t>
                      </a:r>
                      <a:r>
                        <a:rPr lang="en-US" altLang="ko-KR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 </a:t>
                      </a:r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 </a:t>
                      </a:r>
                      <a:r>
                        <a:rPr lang="en-US" altLang="ko-KR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</a:t>
                      </a:r>
                      <a:r>
                        <a:rPr lang="ko-KR" altLang="en-US" sz="105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변경점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6082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98372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1723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8454650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B1F4A71C-13A0-B7DB-17DA-E7EFAFF711E5}"/>
              </a:ext>
            </a:extLst>
          </p:cNvPr>
          <p:cNvSpPr txBox="1"/>
          <p:nvPr/>
        </p:nvSpPr>
        <p:spPr>
          <a:xfrm>
            <a:off x="176685" y="634274"/>
            <a:ext cx="1527662" cy="1695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●변경점 </a:t>
            </a:r>
            <a: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(Base Model 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대비</a:t>
            </a:r>
            <a: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)</a:t>
            </a:r>
            <a:endParaRPr kumimoji="1" lang="ko-KR" altLang="en-US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955DC26-6009-19A4-E6E8-22B9247EAA1B}"/>
              </a:ext>
            </a:extLst>
          </p:cNvPr>
          <p:cNvSpPr txBox="1"/>
          <p:nvPr/>
        </p:nvSpPr>
        <p:spPr>
          <a:xfrm>
            <a:off x="176685" y="3016364"/>
            <a:ext cx="1211870" cy="1695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●변경 부품 상세 내역</a:t>
            </a:r>
            <a:endParaRPr kumimoji="1" lang="ko-KR" altLang="en-US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" name="Rectangle 157">
            <a:extLst>
              <a:ext uri="{FF2B5EF4-FFF2-40B4-BE49-F238E27FC236}">
                <a16:creationId xmlns:a16="http://schemas.microsoft.com/office/drawing/2014/main" id="{B0B704DB-9424-089A-EBB7-ADEFD3F92704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20357638">
            <a:off x="3972905" y="2248259"/>
            <a:ext cx="1690087" cy="71032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4062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Sample</a:t>
            </a:r>
            <a:endParaRPr lang="ko-KR" altLang="en-US" sz="4062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860049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307B31-5F54-32C6-FA25-C169FEB3EE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57">
            <a:extLst>
              <a:ext uri="{FF2B5EF4-FFF2-40B4-BE49-F238E27FC236}">
                <a16:creationId xmlns:a16="http://schemas.microsoft.com/office/drawing/2014/main" id="{9F11BFB2-7EF1-6C88-4495-0C3E9E9A6B75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26263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lang="en-US" altLang="ko-KR" sz="1662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예상 우려점 검토 결과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74D19C5-ACD1-893F-3862-F42A98FA55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8008200"/>
              </p:ext>
            </p:extLst>
          </p:nvPr>
        </p:nvGraphicFramePr>
        <p:xfrm>
          <a:off x="137583" y="764704"/>
          <a:ext cx="9643660" cy="2354015"/>
        </p:xfrm>
        <a:graphic>
          <a:graphicData uri="http://schemas.openxmlformats.org/drawingml/2006/table">
            <a:tbl>
              <a:tblPr/>
              <a:tblGrid>
                <a:gridCol w="11206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588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041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99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001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구분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변경점에</a:t>
                      </a:r>
                      <a:r>
                        <a:rPr kumimoji="1" lang="en-US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따른 예상 우려 사항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대응</a:t>
                      </a:r>
                      <a:r>
                        <a:rPr kumimoji="1" lang="en-US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검증 방안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유첨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기구</a:t>
                      </a:r>
                      <a:r>
                        <a:rPr kumimoji="1" lang="en-US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구조 부품 </a:t>
                      </a: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변경점 </a:t>
                      </a: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Flatform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설계에 따른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Cavity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용접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법랑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신뢰성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온도관련 성능 우려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Door, Cooktop, Controller Design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적용에 따른 포장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조립성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신뢰성 성능 우려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ES,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금형품 제작을 통해 용접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법랑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포장 등 사전검증 실시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CAE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해석을 통한 포장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온도성능 사전검증 실시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최종 성능 만족하여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DV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제작 및 검증 진행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-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전장</a:t>
                      </a:r>
                      <a:r>
                        <a:rPr kumimoji="1" lang="en-US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/PCB</a:t>
                      </a: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품 </a:t>
                      </a: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변경점</a:t>
                      </a: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Upper Cavity(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퀵존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) Dual Fan Conv.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적용에 따른 요리성능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보증온도 성능 우려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Upper Cavity(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퀵존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)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좌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우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Heater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별도 제어적용에 따른 요리성능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우려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선행연구팀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ES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검증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해석검증 등을 통한 요리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온도성능 개발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ES,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금형품 제작을 통한 실요리 사전검증 실시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-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부자재 등</a:t>
                      </a: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기타 변경점 </a:t>
                      </a: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Upper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Cavity(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퀵존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) Door Open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방식에 따른 신뢰성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사용성 우려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고객 관점의 의사결정 진행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오픈방식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시카고랩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시장조사 등을 통한 사용성 검증 사전 실시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ES,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 금형품제작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해석을 통한 신뢰성 사전검증 실시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-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Text Box 2">
            <a:extLst>
              <a:ext uri="{FF2B5EF4-FFF2-40B4-BE49-F238E27FC236}">
                <a16:creationId xmlns:a16="http://schemas.microsoft.com/office/drawing/2014/main" id="{81AD7510-EFE4-6B83-D974-124827282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851" y="3114498"/>
            <a:ext cx="1825749" cy="23496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defTabSz="646862" eaLnBrk="0" latinLnBrk="0" hangingPunct="0">
              <a:spcBef>
                <a:spcPct val="10000"/>
              </a:spcBef>
              <a:spcAft>
                <a:spcPct val="10000"/>
              </a:spcAft>
            </a:pPr>
            <a:r>
              <a:rPr lang="en-US" altLang="ko-KR" sz="11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※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상세 검토 결과 있을 시 유첨 </a:t>
            </a:r>
            <a:endParaRPr lang="ko-KR" altLang="en-US" sz="11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2" name="실행 단추: 돌아가기 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A31B005-6D27-021B-EBC9-5758FB38D5FD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195054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7344408"/>
              </p:ext>
            </p:extLst>
          </p:nvPr>
        </p:nvGraphicFramePr>
        <p:xfrm>
          <a:off x="252876" y="572104"/>
          <a:ext cx="9380645" cy="5324654"/>
        </p:xfrm>
        <a:graphic>
          <a:graphicData uri="http://schemas.openxmlformats.org/drawingml/2006/table">
            <a:tbl>
              <a:tblPr/>
              <a:tblGrid>
                <a:gridCol w="6340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82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032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972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7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6152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변경사항</a:t>
                      </a: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Base Model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>
                          <a:solidFill>
                            <a:schemeClr val="bg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New Model</a:t>
                      </a:r>
                      <a:endParaRPr lang="en-US" sz="1100" b="1" i="0" u="none" strike="noStrike" dirty="0">
                        <a:solidFill>
                          <a:schemeClr val="bg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152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2NE4 Best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>
                          <a:solidFill>
                            <a:schemeClr val="bg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Ebony P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>
                          <a:solidFill>
                            <a:schemeClr val="bg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비고</a:t>
                      </a:r>
                      <a:endParaRPr lang="en-US" sz="1100" b="1" i="0" u="none" strike="noStrike" dirty="0">
                        <a:solidFill>
                          <a:schemeClr val="bg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071">
                <a:tc rowSpan="10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</a:t>
                      </a:r>
                    </a:p>
                  </a:txBody>
                  <a:tcPr marL="36000" marR="36000" marT="33231" marB="33231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Control Ass’y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Glass Touch+Pop-Up Dial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Only Glass Touch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9000" marR="39000" marT="36000" marB="36000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Door Ass’y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Door / Control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Door + Control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일체형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핸들 삭제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9000" marR="39000" marT="36000" marB="36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Cavity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Capacity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67L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Capacity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70L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9000" marR="39000" marT="36000" marB="36000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9000" marR="39000" marT="36000" marB="36000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Bulb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LED Lamp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오토 도어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미적용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세대 스팀 모듈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미적용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9000" marR="39000" marT="36000" marB="36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근접센서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미적용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45002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9000" marR="39000" marT="36000" marB="36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Door</a:t>
                      </a:r>
                    </a:p>
                  </a:txBody>
                  <a:tcPr marL="36000" marR="36000" marT="33231" marB="33231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Open : Manual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Close : Manual (Soft Closing)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Open : Auto Door + Soft Open</a:t>
                      </a:r>
                    </a:p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Close : Manual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Cleaning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Easyclean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Easyclean 2.0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3071">
                <a:tc vMerge="1"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9000" marR="39000" marT="36000" marB="36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Color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STS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Full-Glass</a:t>
                      </a:r>
                    </a:p>
                  </a:txBody>
                  <a:tcPr marL="36000" marR="36000" marT="33231" marB="33231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4310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SW</a:t>
                      </a:r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UI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Knob (2ea)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+ Key (4ea) UI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7” Touch Screen + Key (2ea) UI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UI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문서 참조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87529">
                <a:tc vMerge="1">
                  <a:txBody>
                    <a:bodyPr/>
                    <a:lstStyle/>
                    <a:p>
                      <a:pPr algn="ctr" fontAlgn="ctr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Cook Menu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Menu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11ea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Menu 23ea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(Steam, Steam Assist, Sous-vide, Speed Clean, Steam maintenance…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Menu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UI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문서 참조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Steam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기능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Steam 1.5 Logic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Steam 2.0 Logic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M-NPI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진행 중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Sabbath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기능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과 유사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My</a:t>
                      </a:r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Recipes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과 유사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092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Auto Wake Up </a:t>
                      </a:r>
                    </a:p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/ Auto Lighting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근접 센서 감지 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Auto Door Open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M-NPI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진행 중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Demo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mode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과 유사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FOTA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과 동일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4310"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HW</a:t>
                      </a:r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PCB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구조 구성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PCB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Ebony P PCB </a:t>
                      </a:r>
                      <a:r>
                        <a:rPr lang="ko-KR" altLang="en-US" sz="800" b="1">
                          <a:solidFill>
                            <a:srgbClr val="00B05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구조 구성</a:t>
                      </a:r>
                      <a:endParaRPr lang="en-US" altLang="ko-KR" sz="800" b="1" dirty="0">
                        <a:solidFill>
                          <a:srgbClr val="00B05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Display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White Mono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LCD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7” TFT LCD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공용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Key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Glass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Touch Key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Touch Screen + Glass Touch Key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공용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근접 센서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냉장고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Module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공용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6092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Steam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기능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DC Pump (On/Off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제어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DC Pump (60Hz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구형파 제어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 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+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수위 센서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(2ea)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M-NPI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진행 중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Oven Lamp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AC Lamp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DC Lamp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Michigan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공용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무드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Lamp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4310">
                <a:tc vMerge="1">
                  <a:txBody>
                    <a:bodyPr/>
                    <a:lstStyle/>
                    <a:p>
                      <a:pPr algn="ctr" fontAlgn="ctr"/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36000" marR="36000" marT="834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Auto Door</a:t>
                      </a:r>
                      <a:endParaRPr lang="en-US" altLang="ko-KR" sz="800" b="0" i="0" u="none" strike="noStrike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Relay 2ea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+ SW 2ea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추가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M-NPI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진행 중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3231" marR="33231" marT="770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sp>
        <p:nvSpPr>
          <p:cNvPr id="7" name="Rectangle 157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2222284" cy="340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662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Base </a:t>
            </a:r>
            <a:r>
              <a:rPr lang="ko-KR" altLang="en-US" sz="1662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모델</a:t>
            </a:r>
            <a:r>
              <a:rPr lang="en-US" altLang="ko-KR" sz="1662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1662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대비 변경사항</a:t>
            </a:r>
            <a:endParaRPr lang="ko-KR" altLang="en-US" sz="1662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8" name="Rectangle 157"/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20357638">
            <a:off x="3972905" y="2248259"/>
            <a:ext cx="1690087" cy="71032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4062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Sample</a:t>
            </a:r>
            <a:endParaRPr lang="ko-KR" altLang="en-US" sz="4062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0" name="Rectangle 157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7146476" y="793815"/>
            <a:ext cx="2363348" cy="255716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ko-KR" altLang="en-US" sz="1108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별도 작성된 자료가 있는 경우 대체 가능</a:t>
            </a:r>
          </a:p>
        </p:txBody>
      </p:sp>
      <p:sp>
        <p:nvSpPr>
          <p:cNvPr id="11" name="Rectangle 157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720752" y="137233"/>
            <a:ext cx="2409836" cy="300664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4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</a:t>
            </a:r>
            <a:r>
              <a:rPr lang="ko-KR" altLang="en-US" sz="14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적용등급 </a:t>
            </a:r>
            <a:r>
              <a:rPr lang="en-US" altLang="ko-KR" sz="14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Ca</a:t>
            </a:r>
            <a:r>
              <a:rPr lang="ko-KR" altLang="en-US" sz="14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급 이상</a:t>
            </a:r>
            <a:r>
              <a:rPr lang="en-US" altLang="ko-KR" sz="14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T</a:t>
            </a:r>
            <a:r>
              <a:rPr lang="ko-KR" altLang="en-US" sz="14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급 포함</a:t>
            </a:r>
            <a:endParaRPr lang="ko-KR" altLang="en-US" sz="140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2" name="실행 단추: 돌아가기 11">
            <a:hlinkClick r:id="rId7" action="ppaction://hlinksldjump" highlightClick="1"/>
          </p:cNvPr>
          <p:cNvSpPr>
            <a:spLocks noChangeAspect="1"/>
          </p:cNvSpPr>
          <p:nvPr/>
        </p:nvSpPr>
        <p:spPr>
          <a:xfrm>
            <a:off x="9345521" y="6437448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526943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D4873B-EA04-7861-049D-34976D459B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Box 42">
            <a:extLst>
              <a:ext uri="{FF2B5EF4-FFF2-40B4-BE49-F238E27FC236}">
                <a16:creationId xmlns:a16="http://schemas.microsoft.com/office/drawing/2014/main" id="{8A045086-E741-3A20-C450-15F7135723B0}"/>
              </a:ext>
            </a:extLst>
          </p:cNvPr>
          <p:cNvSpPr txBox="1"/>
          <p:nvPr/>
        </p:nvSpPr>
        <p:spPr>
          <a:xfrm>
            <a:off x="550021" y="1187224"/>
            <a:ext cx="10246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PJT Leader</a:t>
            </a:r>
            <a:endParaRPr kumimoji="1" lang="ko-KR" altLang="en-US" sz="1400" b="1" i="0" u="sng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8E38A39-B900-65A9-B3B5-28845B541D4D}"/>
              </a:ext>
            </a:extLst>
          </p:cNvPr>
          <p:cNvSpPr txBox="1"/>
          <p:nvPr/>
        </p:nvSpPr>
        <p:spPr>
          <a:xfrm>
            <a:off x="556433" y="2507113"/>
            <a:ext cx="97494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개발 일정 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CC54292-9EAE-E649-1F47-2688891B4CA2}"/>
              </a:ext>
            </a:extLst>
          </p:cNvPr>
          <p:cNvSpPr txBox="1"/>
          <p:nvPr/>
        </p:nvSpPr>
        <p:spPr>
          <a:xfrm>
            <a:off x="405752" y="3755132"/>
            <a:ext cx="12763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개발 투입 역량 </a:t>
            </a: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E9A0F496-42CA-637B-6DF0-0E21D5808A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369314"/>
              </p:ext>
            </p:extLst>
          </p:nvPr>
        </p:nvGraphicFramePr>
        <p:xfrm>
          <a:off x="1774343" y="2569418"/>
          <a:ext cx="6779055" cy="8763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29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90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29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9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2918">
                  <a:extLst>
                    <a:ext uri="{9D8B030D-6E8A-4147-A177-3AD203B41FA5}">
                      <a16:colId xmlns:a16="http://schemas.microsoft.com/office/drawing/2014/main" val="967975221"/>
                    </a:ext>
                  </a:extLst>
                </a:gridCol>
                <a:gridCol w="5772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72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721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3291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7281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098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6188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사업부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제품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개발등급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 표준 일정</a:t>
                      </a:r>
                      <a:r>
                        <a:rPr lang="en-US" altLang="ko-KR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일</a:t>
                      </a:r>
                      <a:r>
                        <a:rPr lang="en-US" altLang="ko-KR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)</a:t>
                      </a:r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73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Pre-CP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CP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DV 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PV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Pre-MP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P/Mkt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Pre-CP</a:t>
                      </a:r>
                      <a:r>
                        <a:rPr lang="en-US" sz="1100" b="1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~Pre-MP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일정단축율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56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빌트인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/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쿠킹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30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인치오븐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0" u="none" strike="noStrike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A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150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45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200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15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30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-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440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bg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29.3%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66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PJT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개발 일정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112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4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124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39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32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-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311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4385E6AC-8C5C-357F-A58F-60FAA211C4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751292"/>
              </p:ext>
            </p:extLst>
          </p:nvPr>
        </p:nvGraphicFramePr>
        <p:xfrm>
          <a:off x="1784648" y="4005064"/>
          <a:ext cx="1944216" cy="6533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76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2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개발 </a:t>
                      </a:r>
                      <a:endParaRPr lang="en-US" altLang="ko-KR" sz="1100" b="1" u="none" strike="noStrike" dirty="0"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  <a:p>
                      <a:pPr algn="ctr" fontAlgn="ctr"/>
                      <a:r>
                        <a:rPr lang="ko-KR" altLang="en-US" sz="1100" b="1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등급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표준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역량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투입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역량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표준 대비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축소율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2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A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급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43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40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7.5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1B1D31E0-E8DB-C29C-A62D-3196BB0FB6B7}"/>
              </a:ext>
            </a:extLst>
          </p:cNvPr>
          <p:cNvSpPr txBox="1"/>
          <p:nvPr/>
        </p:nvSpPr>
        <p:spPr>
          <a:xfrm>
            <a:off x="540353" y="865587"/>
            <a:ext cx="765145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P/Leader </a:t>
            </a: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는 </a:t>
            </a: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PJT </a:t>
            </a: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등록 시 개발 역량 확보 여부를 확인하고 등록서에 첨부하여 승인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진행한다</a:t>
            </a: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. (Ca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급 이상</a:t>
            </a: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)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 </a:t>
            </a:r>
            <a:endParaRPr kumimoji="1" lang="ko-KR" altLang="en-US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49" name="오른쪽 화살표 14">
            <a:extLst>
              <a:ext uri="{FF2B5EF4-FFF2-40B4-BE49-F238E27FC236}">
                <a16:creationId xmlns:a16="http://schemas.microsoft.com/office/drawing/2014/main" id="{0BA86770-F32A-8B55-E5A2-F246C0F6D975}"/>
              </a:ext>
            </a:extLst>
          </p:cNvPr>
          <p:cNvSpPr/>
          <p:nvPr/>
        </p:nvSpPr>
        <p:spPr>
          <a:xfrm>
            <a:off x="693440" y="5526667"/>
            <a:ext cx="782216" cy="504056"/>
          </a:xfrm>
          <a:prstGeom prst="rightArrow">
            <a:avLst>
              <a:gd name="adj1" fmla="val 100000"/>
              <a:gd name="adj2" fmla="val 22075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미 준수 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  <a:p>
            <a:pPr marL="0" marR="0" lvl="0" indent="0" algn="ctr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대책</a:t>
            </a: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6D05B99E-B7AD-1BE0-CFCD-27FCC873DD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6254297"/>
              </p:ext>
            </p:extLst>
          </p:nvPr>
        </p:nvGraphicFramePr>
        <p:xfrm>
          <a:off x="1775265" y="5373216"/>
          <a:ext cx="6757175" cy="1229842"/>
        </p:xfrm>
        <a:graphic>
          <a:graphicData uri="http://schemas.openxmlformats.org/drawingml/2006/table">
            <a:tbl>
              <a:tblPr/>
              <a:tblGrid>
                <a:gridCol w="12100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29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91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항목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보완 대책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비고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9161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u="non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PJT Leader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dirty="0"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91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개발 일정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DV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부터 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CAE,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모듈러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선행연구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해석지원 등 개발 역량 추가</a:t>
                      </a:r>
                      <a:endParaRPr lang="en-US" altLang="ko-KR" sz="1200" b="1" i="0" u="none" strike="noStrike" baseline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  <a:p>
                      <a:pPr algn="l" fontAlgn="ctr"/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투입하여 일정 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Meet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토록 </a:t>
                      </a:r>
                      <a:r>
                        <a:rPr lang="ko-KR" altLang="en-US" sz="1200" b="0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함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dirty="0">
                          <a:latin typeface="LG스마트체 Regular" pitchFamily="50" charset="-127"/>
                          <a:ea typeface="LG스마트체 Regular" pitchFamily="50" charset="-127"/>
                        </a:rPr>
                        <a:t>사업부장 보고</a:t>
                      </a:r>
                      <a:r>
                        <a:rPr lang="en-US" altLang="ko-KR" sz="1200" dirty="0">
                          <a:latin typeface="LG스마트체 Regular" pitchFamily="50" charset="-127"/>
                          <a:ea typeface="LG스마트체 Regular" pitchFamily="50" charset="-127"/>
                        </a:rPr>
                        <a:t>,</a:t>
                      </a:r>
                      <a:r>
                        <a:rPr lang="ko-KR" altLang="en-US" sz="1200">
                          <a:latin typeface="LG스마트체 Regular" pitchFamily="50" charset="-127"/>
                          <a:ea typeface="LG스마트체 Regular" pitchFamily="50" charset="-127"/>
                        </a:rPr>
                        <a:t>승인 완료</a:t>
                      </a:r>
                      <a:endParaRPr lang="en-US" altLang="ko-KR" sz="12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91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투입 역량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DV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부터 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CAE,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모듈러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선행연구</a:t>
                      </a:r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해석지원 등 개발 역량 추가</a:t>
                      </a:r>
                      <a:endParaRPr lang="en-US" altLang="ko-KR" sz="1200" b="1" i="0" u="none" strike="noStrike" baseline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  <a:p>
                      <a:pPr algn="l" fontAlgn="ctr"/>
                      <a:r>
                        <a:rPr lang="en-US" altLang="ko-KR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200" b="1" i="0" u="none" strike="noStrike" baseline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투입하여 개발투입역량 증가되도록 함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>
                          <a:latin typeface="LG스마트체 Regular" pitchFamily="50" charset="-127"/>
                          <a:ea typeface="LG스마트체 Regular" pitchFamily="50" charset="-127"/>
                        </a:rPr>
                        <a:t>사업부장 보고</a:t>
                      </a:r>
                      <a:r>
                        <a:rPr lang="en-US" altLang="ko-KR" sz="1200">
                          <a:latin typeface="LG스마트체 Regular" pitchFamily="50" charset="-127"/>
                          <a:ea typeface="LG스마트체 Regular" pitchFamily="50" charset="-127"/>
                        </a:rPr>
                        <a:t>,</a:t>
                      </a:r>
                      <a:r>
                        <a:rPr lang="ko-KR" altLang="en-US" sz="1200">
                          <a:latin typeface="LG스마트체 Regular" pitchFamily="50" charset="-127"/>
                          <a:ea typeface="LG스마트체 Regular" pitchFamily="50" charset="-127"/>
                        </a:rPr>
                        <a:t>승인 완료</a:t>
                      </a:r>
                      <a:endParaRPr lang="en-US" altLang="ko-KR" sz="12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DA81E281-31BF-B590-F314-A388D31048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6719176"/>
              </p:ext>
            </p:extLst>
          </p:nvPr>
        </p:nvGraphicFramePr>
        <p:xfrm>
          <a:off x="4520952" y="3717032"/>
          <a:ext cx="3312368" cy="12961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81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321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*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직급</a:t>
                      </a: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*</a:t>
                      </a:r>
                      <a:r>
                        <a:rPr lang="ko-KR" altLang="en-US" sz="1100" b="1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역량 지수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투입인원           </a:t>
                      </a: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역량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X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인원</a:t>
                      </a: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8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2 (5</a:t>
                      </a:r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년차 ↑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)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0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0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8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1 (4</a:t>
                      </a:r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년차 ↓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8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2(P/Leader)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16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8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2 (5</a:t>
                      </a:r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년차 ↑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3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18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8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1 (4</a:t>
                      </a:r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년차 ↓</a:t>
                      </a:r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)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5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0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0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8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 dirty="0"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3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>
                          <a:solidFill>
                            <a:schemeClr val="dk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+mn-cs"/>
                        </a:rPr>
                        <a:t>6</a:t>
                      </a:r>
                      <a:endParaRPr lang="en-US" altLang="ko-KR" sz="1100" u="none" strike="noStrike" kern="1200" dirty="0">
                        <a:solidFill>
                          <a:schemeClr val="dk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82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합계</a:t>
                      </a:r>
                    </a:p>
                  </a:txBody>
                  <a:tcPr marL="9525" marR="9525" marT="9525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8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</a:rPr>
                        <a:t>40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2" name="이등변 삼각형 51">
            <a:extLst>
              <a:ext uri="{FF2B5EF4-FFF2-40B4-BE49-F238E27FC236}">
                <a16:creationId xmlns:a16="http://schemas.microsoft.com/office/drawing/2014/main" id="{C3072180-589A-1052-C63E-26B8D54393F8}"/>
              </a:ext>
            </a:extLst>
          </p:cNvPr>
          <p:cNvSpPr/>
          <p:nvPr/>
        </p:nvSpPr>
        <p:spPr>
          <a:xfrm rot="16200000">
            <a:off x="3527843" y="4282478"/>
            <a:ext cx="1261666" cy="243287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Text Box 2">
            <a:extLst>
              <a:ext uri="{FF2B5EF4-FFF2-40B4-BE49-F238E27FC236}">
                <a16:creationId xmlns:a16="http://schemas.microsoft.com/office/drawing/2014/main" id="{0E3A1E70-5633-A17C-F50C-02FC30AA3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56" y="620688"/>
            <a:ext cx="2289016" cy="2503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marL="0" marR="0" lvl="0" indent="0" algn="l" defTabSz="646862" rtl="0" eaLnBrk="1" fontAlgn="base" latinLnBrk="1" hangingPunct="1">
              <a:lnSpc>
                <a:spcPct val="100000"/>
              </a:lnSpc>
              <a:spcBef>
                <a:spcPct val="1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[PJT </a:t>
            </a:r>
            <a:r>
              <a:rPr kumimoji="1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운영 기준 점검표  </a:t>
            </a: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Template]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64B70D7-69D7-E7C9-85E2-3A2C5595B516}"/>
              </a:ext>
            </a:extLst>
          </p:cNvPr>
          <p:cNvSpPr/>
          <p:nvPr/>
        </p:nvSpPr>
        <p:spPr>
          <a:xfrm>
            <a:off x="907641" y="4250761"/>
            <a:ext cx="214497" cy="214290"/>
          </a:xfrm>
          <a:prstGeom prst="ellipse">
            <a:avLst/>
          </a:prstGeom>
          <a:solidFill>
            <a:srgbClr val="FFFF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8828DC68-8D9F-D018-C592-E070ED643095}"/>
              </a:ext>
            </a:extLst>
          </p:cNvPr>
          <p:cNvSpPr/>
          <p:nvPr/>
        </p:nvSpPr>
        <p:spPr>
          <a:xfrm>
            <a:off x="895897" y="2924944"/>
            <a:ext cx="214497" cy="214290"/>
          </a:xfrm>
          <a:prstGeom prst="ellipse">
            <a:avLst/>
          </a:prstGeom>
          <a:solidFill>
            <a:srgbClr val="FF0000"/>
          </a:solidFill>
          <a:ln w="25400" cap="flat" cmpd="sng" algn="ctr">
            <a:solidFill>
              <a:sysClr val="window" lastClr="FFFFFF">
                <a:lumMod val="9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F2093A03-8712-9ECD-F315-11C697A9AEE5}"/>
              </a:ext>
            </a:extLst>
          </p:cNvPr>
          <p:cNvSpPr/>
          <p:nvPr/>
        </p:nvSpPr>
        <p:spPr>
          <a:xfrm>
            <a:off x="907641" y="1823825"/>
            <a:ext cx="214497" cy="214290"/>
          </a:xfrm>
          <a:prstGeom prst="ellipse">
            <a:avLst/>
          </a:prstGeom>
          <a:solidFill>
            <a:srgbClr val="00FF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B48A3CFB-3CF7-DA23-F4C3-35A2CF0574E5}"/>
              </a:ext>
            </a:extLst>
          </p:cNvPr>
          <p:cNvSpPr txBox="1"/>
          <p:nvPr/>
        </p:nvSpPr>
        <p:spPr>
          <a:xfrm>
            <a:off x="1704689" y="3766205"/>
            <a:ext cx="249459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0" u="sng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+mn-cs"/>
              </a:rPr>
              <a:t>빌트인</a:t>
            </a:r>
            <a:r>
              <a:rPr lang="en-US" altLang="ko-KR" sz="1200" b="0" u="sng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+mn-cs"/>
              </a:rPr>
              <a:t>/</a:t>
            </a:r>
            <a:r>
              <a:rPr lang="ko-KR" altLang="en-US" sz="1200" b="0" u="sng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+mn-cs"/>
              </a:rPr>
              <a:t>쿠킹 </a:t>
            </a:r>
            <a:r>
              <a:rPr kumimoji="1" lang="ko-KR" altLang="en-US" sz="12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사업부 </a:t>
            </a:r>
            <a:r>
              <a:rPr lang="en-US" altLang="ko-KR" sz="1200" b="0" u="sng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+mn-cs"/>
              </a:rPr>
              <a:t>30</a:t>
            </a:r>
            <a:r>
              <a:rPr lang="ko-KR" altLang="en-US" sz="1200" b="0" u="sng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+mn-cs"/>
              </a:rPr>
              <a:t>인치 오븐</a:t>
            </a:r>
            <a:r>
              <a:rPr kumimoji="1" lang="ko-KR" altLang="en-US" sz="12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제품</a:t>
            </a:r>
            <a:endParaRPr kumimoji="1" lang="ko-KR" altLang="en-US" sz="12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C2895E33-D4FC-6FA9-8F2B-9EF9C5986BBE}"/>
              </a:ext>
            </a:extLst>
          </p:cNvPr>
          <p:cNvSpPr/>
          <p:nvPr/>
        </p:nvSpPr>
        <p:spPr bwMode="auto">
          <a:xfrm>
            <a:off x="1712640" y="1196752"/>
            <a:ext cx="3960440" cy="1152128"/>
          </a:xfrm>
          <a:prstGeom prst="rect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2075" tIns="46038" rIns="92075" bIns="46038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1" fontAlgn="base" latinLnBrk="1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굴림체" pitchFamily="49" charset="-127"/>
              <a:ea typeface="굴림체" pitchFamily="49" charset="-127"/>
              <a:cs typeface="+mn-cs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8EB75EC-9306-A45D-5ED9-BDCED5F86F0D}"/>
              </a:ext>
            </a:extLst>
          </p:cNvPr>
          <p:cNvSpPr txBox="1"/>
          <p:nvPr/>
        </p:nvSpPr>
        <p:spPr>
          <a:xfrm>
            <a:off x="287294" y="4896455"/>
            <a:ext cx="30780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* : </a:t>
            </a: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본부 공통기준</a:t>
            </a:r>
            <a:b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</a:br>
            <a: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(</a:t>
            </a: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본부 공통 기준 외 항목은 사업부 기준에 따름</a:t>
            </a:r>
            <a:r>
              <a:rPr kumimoji="1" lang="en-US" altLang="ko-KR" sz="12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)</a:t>
            </a:r>
            <a:endParaRPr kumimoji="1" lang="ko-KR" altLang="en-US" sz="12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6B90C9C3-E4B9-A878-FF9A-CFA122764262}"/>
              </a:ext>
            </a:extLst>
          </p:cNvPr>
          <p:cNvSpPr txBox="1"/>
          <p:nvPr/>
        </p:nvSpPr>
        <p:spPr>
          <a:xfrm>
            <a:off x="4249837" y="3498246"/>
            <a:ext cx="184698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ctr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대상 </a:t>
            </a:r>
            <a:r>
              <a:rPr kumimoji="1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: </a:t>
            </a:r>
            <a:r>
              <a:rPr kumimoji="1" lang="ko-KR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제품개발</a:t>
            </a:r>
            <a:r>
              <a:rPr kumimoji="1" lang="en-US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 </a:t>
            </a:r>
            <a:r>
              <a:rPr kumimoji="1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상근 인원 기준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54A8AA6-55C6-DBE6-2C6B-FBF517639F89}"/>
              </a:ext>
            </a:extLst>
          </p:cNvPr>
          <p:cNvSpPr txBox="1"/>
          <p:nvPr/>
        </p:nvSpPr>
        <p:spPr>
          <a:xfrm>
            <a:off x="6255544" y="661616"/>
            <a:ext cx="3424335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※ B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급 이상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B_EC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개발은 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G1 Gate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결과서에서 작성한다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.</a:t>
            </a:r>
            <a:endParaRPr kumimoji="1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30474CD5-F5D1-AB53-CCDF-0D5C5AB480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0576886"/>
              </p:ext>
            </p:extLst>
          </p:nvPr>
        </p:nvGraphicFramePr>
        <p:xfrm>
          <a:off x="1763688" y="1196750"/>
          <a:ext cx="6789712" cy="1173480"/>
        </p:xfrm>
        <a:graphic>
          <a:graphicData uri="http://schemas.openxmlformats.org/drawingml/2006/table">
            <a:tbl>
              <a:tblPr/>
              <a:tblGrid>
                <a:gridCol w="8460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1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091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54303">
                <a:tc gridSpan="3">
                  <a:txBody>
                    <a:bodyPr/>
                    <a:lstStyle/>
                    <a:p>
                      <a:pPr algn="ctr"/>
                      <a:r>
                        <a:rPr lang="ko-KR" altLang="en-US" sz="1100" b="1" strike="noStrike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선정기준</a:t>
                      </a:r>
                      <a:endParaRPr lang="ko-KR" altLang="en-US" sz="1100" b="1" strike="noStrike" dirty="0">
                        <a:solidFill>
                          <a:schemeClr val="tx1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선정 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개발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등급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직급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년차 기준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경험 기준 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P/Leader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적합 여부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A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 이상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책임급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="0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Ca</a:t>
                      </a:r>
                      <a:r>
                        <a:rPr lang="ko-KR" altLang="en-US" sz="1100" b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 </a:t>
                      </a:r>
                      <a:r>
                        <a:rPr lang="ko-KR" altLang="en-US" sz="1100" b="0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이상 </a:t>
                      </a:r>
                      <a:r>
                        <a:rPr lang="en-US" altLang="ko-KR" sz="1100" b="0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PJT</a:t>
                      </a:r>
                      <a:r>
                        <a:rPr lang="ko-KR" altLang="en-US" sz="1100" b="0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1100" b="0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Leader </a:t>
                      </a:r>
                      <a:r>
                        <a:rPr lang="ko-KR" altLang="en-US" sz="1100" b="0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유 경험</a:t>
                      </a:r>
                      <a:endParaRPr lang="en-US" altLang="ko-KR" sz="1100" b="0" dirty="0">
                        <a:solidFill>
                          <a:schemeClr val="tx1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100" b="1">
                          <a:latin typeface="LG스마트체 Regular" pitchFamily="50" charset="-127"/>
                          <a:ea typeface="LG스마트체 Regular" pitchFamily="50" charset="-127"/>
                        </a:rPr>
                        <a:t>이종현</a:t>
                      </a:r>
                      <a:r>
                        <a:rPr lang="en-US" altLang="ko-KR" sz="1100" b="1"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100" b="1">
                          <a:latin typeface="LG스마트체 Regular" pitchFamily="50" charset="-127"/>
                          <a:ea typeface="LG스마트체 Regular" pitchFamily="50" charset="-127"/>
                        </a:rPr>
                        <a:t>선임</a:t>
                      </a:r>
                      <a:endParaRPr lang="en-US" altLang="ko-KR" sz="1100" b="1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직급</a:t>
                      </a:r>
                      <a:r>
                        <a:rPr lang="en-US" altLang="ko-KR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10</a:t>
                      </a:r>
                      <a:r>
                        <a:rPr lang="ko-KR" altLang="en-US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년차</a:t>
                      </a:r>
                      <a:r>
                        <a:rPr lang="en-US" altLang="ko-KR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)/</a:t>
                      </a:r>
                      <a:r>
                        <a:rPr lang="ko-KR" altLang="en-US" sz="1100" b="1" dirty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년차 및 </a:t>
                      </a:r>
                      <a:r>
                        <a:rPr lang="ko-KR" altLang="en-US" sz="1100" b="1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경험 적합</a:t>
                      </a:r>
                      <a:endParaRPr lang="en-US" altLang="ko-KR" sz="1100" b="1" dirty="0">
                        <a:solidFill>
                          <a:schemeClr val="tx1"/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B </a:t>
                      </a:r>
                      <a:r>
                        <a:rPr lang="ko-KR" altLang="en-US" sz="11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5</a:t>
                      </a:r>
                      <a:r>
                        <a:rPr lang="ko-KR" altLang="en-US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년차 이상 </a:t>
                      </a:r>
                      <a:endParaRPr lang="en-US" altLang="ko-KR" sz="11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Ca</a:t>
                      </a:r>
                      <a:r>
                        <a:rPr lang="ko-KR" altLang="en-US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 </a:t>
                      </a:r>
                      <a:r>
                        <a:rPr lang="ko-KR" altLang="en-US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이상 </a:t>
                      </a:r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PJT</a:t>
                      </a:r>
                      <a:r>
                        <a:rPr lang="ko-KR" altLang="en-US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Leader </a:t>
                      </a:r>
                      <a:r>
                        <a:rPr lang="ko-KR" altLang="en-US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유 경험</a:t>
                      </a:r>
                      <a:endParaRPr lang="en-US" altLang="ko-KR" sz="11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altLang="ko-KR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altLang="ko-KR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4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Ca </a:t>
                      </a:r>
                      <a:r>
                        <a:rPr lang="ko-KR" altLang="en-US" sz="11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1</a:t>
                      </a:r>
                      <a:r>
                        <a:rPr lang="ko-KR" altLang="en-US" sz="11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년차 </a:t>
                      </a:r>
                      <a:r>
                        <a:rPr lang="ko-KR" altLang="en-US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이상 </a:t>
                      </a:r>
                      <a:endParaRPr lang="en-US" altLang="ko-KR" sz="11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PJT</a:t>
                      </a:r>
                      <a:r>
                        <a:rPr lang="ko-KR" altLang="en-US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Leader </a:t>
                      </a:r>
                      <a:r>
                        <a:rPr lang="ko-KR" altLang="en-US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유 경험</a:t>
                      </a:r>
                      <a:endParaRPr lang="en-US" altLang="ko-KR" sz="11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altLang="ko-KR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altLang="ko-KR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4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>
                          <a:solidFill>
                            <a:schemeClr val="bg2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Cb/Cc/Csw </a:t>
                      </a:r>
                      <a:r>
                        <a:rPr lang="ko-KR" altLang="en-US" sz="1050" b="0" i="0" u="none" strike="noStrike" dirty="0">
                          <a:solidFill>
                            <a:schemeClr val="bg2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-</a:t>
                      </a:r>
                      <a:endParaRPr lang="ko-KR" altLang="en-US" sz="11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4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D </a:t>
                      </a:r>
                      <a:r>
                        <a:rPr lang="ko-KR" altLang="en-US" sz="11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0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strike="noStrike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1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-</a:t>
                      </a:r>
                      <a:endParaRPr lang="ko-KR" altLang="en-US" sz="11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100" dirty="0"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79" name="개체 78">
            <a:extLst>
              <a:ext uri="{FF2B5EF4-FFF2-40B4-BE49-F238E27FC236}">
                <a16:creationId xmlns:a16="http://schemas.microsoft.com/office/drawing/2014/main" id="{E5D435BC-3270-961A-CEF0-E5D826754EEF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909425224"/>
              </p:ext>
            </p:extLst>
          </p:nvPr>
        </p:nvGraphicFramePr>
        <p:xfrm>
          <a:off x="8273216" y="3575749"/>
          <a:ext cx="914400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Worksheet" showAsIcon="1" r:id="rId4" imgW="914400" imgH="771480" progId="Excel.Sheet.12">
                  <p:embed/>
                </p:oleObj>
              </mc:Choice>
              <mc:Fallback>
                <p:oleObj name="Worksheet" showAsIcon="1" r:id="rId4" imgW="914400" imgH="771480" progId="Excel.Sheet.12">
                  <p:embed/>
                  <p:pic>
                    <p:nvPicPr>
                      <p:cNvPr id="2" name="개체 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8273216" y="3575749"/>
                        <a:ext cx="914400" cy="7715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2" name="Rectangle 157">
            <a:extLst>
              <a:ext uri="{FF2B5EF4-FFF2-40B4-BE49-F238E27FC236}">
                <a16:creationId xmlns:a16="http://schemas.microsoft.com/office/drawing/2014/main" id="{71D771E0-249D-1B65-7C27-45F5ADDF43A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001344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</a:t>
            </a:r>
            <a:r>
              <a:rPr lang="en-US" altLang="ko-KR" sz="1800"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 PJT </a:t>
            </a:r>
            <a:r>
              <a:rPr lang="ko-KR" altLang="en-US" sz="1800"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역량 점검 결과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60E7014-4314-915D-42F3-D993A089D0E9}"/>
              </a:ext>
            </a:extLst>
          </p:cNvPr>
          <p:cNvSpPr txBox="1"/>
          <p:nvPr/>
        </p:nvSpPr>
        <p:spPr>
          <a:xfrm>
            <a:off x="354822" y="3147146"/>
            <a:ext cx="1489881" cy="6154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400"/>
              </a:lnSpc>
            </a:pPr>
            <a:r>
              <a:rPr lang="en-US" altLang="ko-KR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※ </a:t>
            </a:r>
            <a:r>
              <a:rPr lang="ko-KR" altLang="en-US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표준일정 대비 </a:t>
            </a:r>
            <a:r>
              <a:rPr lang="en-US" altLang="ko-KR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30% </a:t>
            </a:r>
            <a:r>
              <a:rPr lang="ko-KR" altLang="en-US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이상</a:t>
            </a:r>
            <a:endParaRPr lang="en-US" altLang="ko-KR" sz="9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>
              <a:lnSpc>
                <a:spcPts val="1400"/>
              </a:lnSpc>
            </a:pPr>
            <a:r>
              <a:rPr lang="en-US" altLang="ko-KR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 </a:t>
            </a:r>
            <a:r>
              <a:rPr lang="ko-KR" altLang="en-US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단축되는 경우 사업부장</a:t>
            </a:r>
            <a:endParaRPr lang="en-US" altLang="ko-KR" sz="90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>
              <a:lnSpc>
                <a:spcPts val="1400"/>
              </a:lnSpc>
            </a:pPr>
            <a:r>
              <a:rPr lang="en-US" altLang="ko-KR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 </a:t>
            </a:r>
            <a:r>
              <a:rPr lang="ko-KR" altLang="en-US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승인 필요 </a:t>
            </a:r>
            <a:r>
              <a:rPr lang="en-US" altLang="ko-KR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(B</a:t>
            </a:r>
            <a:r>
              <a:rPr lang="ko-KR" altLang="en-US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급 이상</a:t>
            </a:r>
            <a:r>
              <a:rPr lang="en-US" altLang="ko-KR" sz="90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)</a:t>
            </a:r>
            <a:endParaRPr lang="en-US" altLang="ko-KR" sz="900" dirty="0">
              <a:solidFill>
                <a:srgbClr val="0066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" name="실행 단추: 돌아가기 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8603C673-3B68-CA89-8E44-8A3A4400FF2F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03631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48544" y="3024599"/>
            <a:ext cx="8568952" cy="13117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2075" tIns="46038" rIns="92075" bIns="46038">
            <a:spAutoFit/>
          </a:bodyPr>
          <a:lstStyle>
            <a:lvl1pPr eaLnBrk="0" hangingPunct="0"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algn="just" eaLnBrk="1" hangingPunct="1">
              <a:lnSpc>
                <a:spcPct val="120000"/>
              </a:lnSpc>
              <a:defRPr/>
            </a:pP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주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] 1)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필수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Event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를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Skip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하는 경우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사업담당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, HS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개발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/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부품품질담당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승인을 득한다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. </a:t>
            </a:r>
          </a:p>
          <a:p>
            <a:pPr algn="just" eaLnBrk="1" latinLnBrk="1" hangingPunct="1">
              <a:lnSpc>
                <a:spcPct val="120000"/>
              </a:lnSpc>
              <a:defRPr/>
            </a:pP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     2)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해외법인에 이관 하여 현지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DV Event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진행 하는 경우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,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이관 모델의 필요 점검 항목에 따라 추가 일정을 산정하여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DV Event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일정에 반영 한다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.</a:t>
            </a:r>
          </a:p>
          <a:p>
            <a:pPr algn="just" eaLnBrk="1" latinLnBrk="1" hangingPunct="1">
              <a:lnSpc>
                <a:spcPct val="120000"/>
              </a:lnSpc>
              <a:defRPr/>
            </a:pP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     3)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한국에서 </a:t>
            </a:r>
            <a:r>
              <a:rPr lang="ko-KR" altLang="en-US" sz="1100" b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금형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개발하여 법인 이전하는 경우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,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</a:t>
            </a:r>
            <a:r>
              <a:rPr lang="ko-KR" altLang="en-US" sz="1100" b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금형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포장 및 이동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,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현지 </a:t>
            </a:r>
            <a:r>
              <a:rPr lang="ko-KR" altLang="en-US" sz="1100" b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금형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Setting, </a:t>
            </a:r>
            <a:r>
              <a:rPr lang="ko-KR" altLang="en-US" sz="1100" b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초품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합격을 위해 필요한 일정을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DV2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Event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에 추가 반영</a:t>
            </a:r>
            <a:endParaRPr lang="en-US" altLang="ko-KR" sz="1100" b="0">
              <a:solidFill>
                <a:schemeClr val="tx1"/>
              </a:solidFill>
              <a:latin typeface="Arial Narrow" panose="020B0606020202030204" pitchFamily="34" charset="0"/>
              <a:ea typeface="LG스마트체 Regular" pitchFamily="50" charset="-127"/>
              <a:cs typeface="Arial" panose="020B0604020202020204" pitchFamily="34" charset="0"/>
            </a:endParaRPr>
          </a:p>
          <a:p>
            <a:pPr algn="just" eaLnBrk="1" latinLnBrk="1" hangingPunct="1">
              <a:lnSpc>
                <a:spcPct val="120000"/>
              </a:lnSpc>
              <a:defRPr/>
            </a:pP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        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하여 일정 수립한다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.</a:t>
            </a:r>
          </a:p>
          <a:p>
            <a:pPr algn="just" eaLnBrk="1" latinLnBrk="1" hangingPunct="1">
              <a:lnSpc>
                <a:spcPct val="120000"/>
              </a:lnSpc>
              <a:defRPr/>
            </a:pP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     4)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프리미엄 제품의 경우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DV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단계 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50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일을 추가한다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.</a:t>
            </a:r>
          </a:p>
          <a:p>
            <a:pPr algn="just" eaLnBrk="1" hangingPunct="1">
              <a:lnSpc>
                <a:spcPct val="120000"/>
              </a:lnSpc>
              <a:defRPr/>
            </a:pP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      5) 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규격 취득 필요시 규격팀과 사전 협의하여 규격 인증 소요 기간을 표준일정에 추가 반영을 한다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. (</a:t>
            </a:r>
            <a:r>
              <a:rPr lang="ko-KR" altLang="en-US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법인독자개발의 경우 법인 규격 담당자 협의</a:t>
            </a:r>
            <a:r>
              <a:rPr lang="en-US" altLang="ko-KR" sz="1100" b="0">
                <a:solidFill>
                  <a:schemeClr val="tx1"/>
                </a:solidFill>
                <a:latin typeface="Arial Narrow" panose="020B0606020202030204" pitchFamily="34" charset="0"/>
                <a:ea typeface="LG스마트체 Regular" pitchFamily="50" charset="-127"/>
                <a:cs typeface="Arial" panose="020B0604020202020204" pitchFamily="34" charset="0"/>
              </a:rPr>
              <a:t>)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/>
        </p:nvGraphicFramePr>
        <p:xfrm>
          <a:off x="884637" y="4437112"/>
          <a:ext cx="3288662" cy="752646"/>
        </p:xfrm>
        <a:graphic>
          <a:graphicData uri="http://schemas.openxmlformats.org/drawingml/2006/table">
            <a:tbl>
              <a:tblPr/>
              <a:tblGrid>
                <a:gridCol w="865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57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7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7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57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03846"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법인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TA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MN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SP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IL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846"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금형이전</a:t>
                      </a: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추가일정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55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85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85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620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80</a:t>
                      </a:r>
                    </a:p>
                  </a:txBody>
                  <a:tcPr marL="72000" marR="72000" marT="72000" marB="72000" anchor="ctr" horzOverflow="overflow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/>
        </p:nvGraphicFramePr>
        <p:xfrm>
          <a:off x="884637" y="836712"/>
          <a:ext cx="7632927" cy="1885950"/>
        </p:xfrm>
        <a:graphic>
          <a:graphicData uri="http://schemas.openxmlformats.org/drawingml/2006/table">
            <a:tbl>
              <a:tblPr/>
              <a:tblGrid>
                <a:gridCol w="6794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6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86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7260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09550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개발등급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Event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Pre-CP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DV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DV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PV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Pre-MP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CP~Pre-MP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DV~Pre-MP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(CP 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(CP 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미진행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(Pre MKT)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병렬진행</a:t>
                      </a:r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(CP Skip</a:t>
                      </a:r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시</a:t>
                      </a:r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Ca,Ca_SW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sng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Cb,Cc,Csw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6DDEAC55-6971-82F5-04A9-8CE19B60D805}"/>
              </a:ext>
            </a:extLst>
          </p:cNvPr>
          <p:cNvSpPr txBox="1"/>
          <p:nvPr/>
        </p:nvSpPr>
        <p:spPr>
          <a:xfrm>
            <a:off x="825136" y="5510443"/>
            <a:ext cx="777893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※ B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급 이상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, B_EC, B_HWSW, B_4NEW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급은 표준 일정 대비 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30% 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이상 단축하여 수립 하거나 실행 시는 사업부장 승인되어야 한다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+mn-cs"/>
              </a:rPr>
              <a:t>.</a:t>
            </a:r>
            <a:endParaRPr kumimoji="1" lang="ko-KR" altLang="en-US" sz="11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굴림체" pitchFamily="49" charset="-127"/>
              <a:ea typeface="굴림체" pitchFamily="49" charset="-127"/>
              <a:cs typeface="+mn-cs"/>
            </a:endParaRPr>
          </a:p>
        </p:txBody>
      </p:sp>
      <p:sp>
        <p:nvSpPr>
          <p:cNvPr id="5" name="Rectangle 157">
            <a:extLst>
              <a:ext uri="{FF2B5EF4-FFF2-40B4-BE49-F238E27FC236}">
                <a16:creationId xmlns:a16="http://schemas.microsoft.com/office/drawing/2014/main" id="{C74C412A-9C76-D878-4353-8390AEC9505F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2393806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ko-KR" altLang="en-US" sz="1662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표준 개발 일정 </a:t>
            </a:r>
            <a:r>
              <a:rPr lang="en-US" altLang="ko-KR" sz="1800"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</a:t>
            </a:r>
            <a:r>
              <a:rPr lang="ko-KR" altLang="en-US" sz="1800"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참고자료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969815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ChangeArrowheads="1"/>
          </p:cNvSpPr>
          <p:nvPr/>
        </p:nvSpPr>
        <p:spPr bwMode="auto">
          <a:xfrm>
            <a:off x="220023" y="1474916"/>
            <a:ext cx="532197" cy="2776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075" tIns="46038" rIns="92075" bIns="46038">
            <a:sp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[</a:t>
            </a:r>
            <a:r>
              <a:rPr kumimoji="0" lang="ko-KR" altLang="en-US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오븐</a:t>
            </a:r>
            <a:r>
              <a:rPr kumimoji="0" lang="en-US" altLang="ko-KR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]</a:t>
            </a:r>
          </a:p>
        </p:txBody>
      </p:sp>
      <p:sp>
        <p:nvSpPr>
          <p:cNvPr id="9" name="Rectangle 2"/>
          <p:cNvSpPr>
            <a:spLocks noChangeArrowheads="1"/>
          </p:cNvSpPr>
          <p:nvPr/>
        </p:nvSpPr>
        <p:spPr bwMode="auto">
          <a:xfrm>
            <a:off x="2306224" y="1474916"/>
            <a:ext cx="945772" cy="2776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075" tIns="46038" rIns="92075" bIns="46038">
            <a:sp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[</a:t>
            </a:r>
            <a:r>
              <a:rPr kumimoji="0" lang="ko-KR" altLang="en-US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전자레인지</a:t>
            </a:r>
            <a:r>
              <a:rPr kumimoji="0" lang="en-US" altLang="ko-KR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]</a:t>
            </a:r>
          </a:p>
        </p:txBody>
      </p:sp>
      <p:sp>
        <p:nvSpPr>
          <p:cNvPr id="11" name="Text Box 346"/>
          <p:cNvSpPr txBox="1">
            <a:spLocks noChangeArrowheads="1"/>
          </p:cNvSpPr>
          <p:nvPr/>
        </p:nvSpPr>
        <p:spPr bwMode="auto">
          <a:xfrm>
            <a:off x="272480" y="672951"/>
            <a:ext cx="2400016" cy="307777"/>
          </a:xfrm>
          <a:prstGeom prst="rect">
            <a:avLst/>
          </a:prstGeom>
          <a:noFill/>
          <a:ln w="12699">
            <a:noFill/>
            <a:miter lim="800000"/>
            <a:headEnd type="none" w="sm" len="sm"/>
            <a:tailEnd type="none" w="sm" len="sm"/>
          </a:ln>
        </p:spPr>
        <p:txBody>
          <a:bodyPr wrap="none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100" kern="1200">
                <a:solidFill>
                  <a:schemeClr val="tx1"/>
                </a:solidFill>
                <a:latin typeface="굴림체" pitchFamily="49" charset="-127"/>
                <a:ea typeface="굴림체" pitchFamily="49" charset="-127"/>
                <a:cs typeface="+mn-cs"/>
              </a:defRPr>
            </a:lvl9pPr>
          </a:lstStyle>
          <a:p>
            <a:pPr defTabSz="762000" eaLnBrk="0" latinLnBrk="0" hangingPunct="0"/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■ 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제품별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개발등급별 투입인원</a:t>
            </a:r>
            <a:endParaRPr lang="en-US" altLang="ko-KR" sz="1400" b="1"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15" name="표 14"/>
          <p:cNvGraphicFramePr>
            <a:graphicFrameLocks noGrp="1"/>
          </p:cNvGraphicFramePr>
          <p:nvPr/>
        </p:nvGraphicFramePr>
        <p:xfrm>
          <a:off x="4520952" y="1778850"/>
          <a:ext cx="1962363" cy="369791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23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996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개발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등급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표준 역량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역량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기준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표준</a:t>
                      </a:r>
                      <a:endParaRPr lang="ko-KR" altLang="en-US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지수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직급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인원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687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S/A 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30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9687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B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8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23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9687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 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13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96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Ca_SW</a:t>
                      </a:r>
                    </a:p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Cb,Cc,</a:t>
                      </a:r>
                    </a:p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Csw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6" name="Rectangle 2"/>
          <p:cNvSpPr>
            <a:spLocks noChangeArrowheads="1"/>
          </p:cNvSpPr>
          <p:nvPr/>
        </p:nvSpPr>
        <p:spPr bwMode="auto">
          <a:xfrm>
            <a:off x="4420803" y="1474916"/>
            <a:ext cx="532197" cy="2776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2075" tIns="46038" rIns="92075" bIns="46038">
            <a:sp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[</a:t>
            </a:r>
            <a:r>
              <a:rPr kumimoji="0" lang="ko-KR" altLang="en-US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쿡탑</a:t>
            </a:r>
            <a:r>
              <a:rPr kumimoji="0" lang="en-US" altLang="ko-KR" sz="120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]</a:t>
            </a:r>
          </a:p>
        </p:txBody>
      </p:sp>
      <p:graphicFrame>
        <p:nvGraphicFramePr>
          <p:cNvPr id="17" name="표 16"/>
          <p:cNvGraphicFramePr>
            <a:graphicFrameLocks noGrp="1"/>
          </p:cNvGraphicFramePr>
          <p:nvPr/>
        </p:nvGraphicFramePr>
        <p:xfrm>
          <a:off x="252726" y="1778850"/>
          <a:ext cx="1980750" cy="369791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9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0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996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개발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등급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표준 역량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역량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기준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표준</a:t>
                      </a:r>
                      <a:endParaRPr lang="ko-KR" altLang="en-US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지수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직급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인원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687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S/A 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43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15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9687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B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8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30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9687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 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20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96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Ca_SW</a:t>
                      </a:r>
                    </a:p>
                    <a:p>
                      <a:pPr algn="ctr" rtl="0" fontAlgn="ctr"/>
                      <a:r>
                        <a:rPr 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Cb,Cc,</a:t>
                      </a:r>
                    </a:p>
                    <a:p>
                      <a:pPr algn="ctr" rtl="0" fontAlgn="ctr"/>
                      <a:r>
                        <a:rPr 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Csw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graphicFrame>
        <p:nvGraphicFramePr>
          <p:cNvPr id="18" name="표 17"/>
          <p:cNvGraphicFramePr>
            <a:graphicFrameLocks noGrp="1"/>
          </p:cNvGraphicFramePr>
          <p:nvPr/>
        </p:nvGraphicFramePr>
        <p:xfrm>
          <a:off x="2401918" y="1778850"/>
          <a:ext cx="1980284" cy="369791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996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개발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등급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표준 역량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역량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기준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표준</a:t>
                      </a:r>
                      <a:endParaRPr lang="ko-KR" altLang="en-US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지수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직급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인원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687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S/A 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32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9687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B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8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25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3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9687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 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18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96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Ca_SW</a:t>
                      </a:r>
                    </a:p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Cb,Cc,</a:t>
                      </a:r>
                    </a:p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Csw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9687"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graphicFrame>
        <p:nvGraphicFramePr>
          <p:cNvPr id="19" name="표 18"/>
          <p:cNvGraphicFramePr>
            <a:graphicFrameLocks noGrp="1"/>
          </p:cNvGraphicFramePr>
          <p:nvPr/>
        </p:nvGraphicFramePr>
        <p:xfrm>
          <a:off x="6736812" y="1744071"/>
          <a:ext cx="1986957" cy="1198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7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83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직급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구분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기본 지수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  <a:r>
                        <a:rPr lang="ko-KR" altLang="en-US" sz="11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이상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  <a:r>
                        <a:rPr lang="ko-KR" altLang="en-US" sz="11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이하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  <a:r>
                        <a:rPr lang="ko-KR" altLang="en-US" sz="11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이상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4</a:t>
                      </a:r>
                      <a:r>
                        <a:rPr lang="ko-KR" altLang="en-US" sz="11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이하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연구원 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" name="Text Box 2"/>
          <p:cNvSpPr txBox="1">
            <a:spLocks noChangeArrowheads="1"/>
          </p:cNvSpPr>
          <p:nvPr/>
        </p:nvSpPr>
        <p:spPr bwMode="auto">
          <a:xfrm>
            <a:off x="6517160" y="1480218"/>
            <a:ext cx="1729569" cy="2503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ko-KR" altLang="en-US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□ 직급 별 기본 역량 지수</a:t>
            </a:r>
            <a:endParaRPr lang="en-US" altLang="ko-KR" sz="1200">
              <a:solidFill>
                <a:schemeClr val="tx1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6511455" y="3259091"/>
            <a:ext cx="1186150" cy="2503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ko-KR" altLang="en-US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□ </a:t>
            </a:r>
            <a:r>
              <a:rPr lang="en-US" altLang="ko-KR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PJT </a:t>
            </a:r>
            <a:r>
              <a:rPr lang="ko-KR" altLang="en-US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리더 기준</a:t>
            </a:r>
            <a:endParaRPr lang="en-US" altLang="ko-KR" sz="1200">
              <a:solidFill>
                <a:schemeClr val="tx1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22" name="표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811663"/>
              </p:ext>
            </p:extLst>
          </p:nvPr>
        </p:nvGraphicFramePr>
        <p:xfrm>
          <a:off x="6653349" y="3522944"/>
          <a:ext cx="3036566" cy="14957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219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15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3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9408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등급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직급</a:t>
                      </a:r>
                      <a:r>
                        <a:rPr lang="en-US" altLang="ko-KR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/</a:t>
                      </a:r>
                      <a:r>
                        <a:rPr lang="ko-KR" altLang="en-US" sz="1100" b="1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</a:t>
                      </a:r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기준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경험기준</a:t>
                      </a:r>
                      <a:endParaRPr lang="en-US" altLang="ko-KR" sz="11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S/A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책임급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급 이상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P/Leader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유 경험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B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5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 이상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급 이상 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P/Leader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유 경험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선임</a:t>
                      </a:r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1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년차 이상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P/Leader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유 경험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Ca_SW</a:t>
                      </a:r>
                    </a:p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Cb,Cc,Csw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sng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D</a:t>
                      </a:r>
                      <a:endParaRPr lang="ko-KR" altLang="en-US" sz="11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sng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3" name="Text Box 2"/>
          <p:cNvSpPr txBox="1">
            <a:spLocks noChangeArrowheads="1"/>
          </p:cNvSpPr>
          <p:nvPr/>
        </p:nvSpPr>
        <p:spPr bwMode="auto">
          <a:xfrm>
            <a:off x="480300" y="960464"/>
            <a:ext cx="5955085" cy="2503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65052" tIns="32528" rIns="65052" bIns="32528">
            <a:spAutoFit/>
          </a:bodyPr>
          <a:lstStyle/>
          <a:p>
            <a:pPr defTabSz="646862">
              <a:spcBef>
                <a:spcPct val="10000"/>
              </a:spcBef>
              <a:spcAft>
                <a:spcPct val="10000"/>
              </a:spcAft>
            </a:pPr>
            <a:r>
              <a:rPr lang="ko-KR" altLang="en-US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제품군별 등급별 개발 표준 역량</a:t>
            </a:r>
            <a:r>
              <a:rPr lang="en-US" altLang="ko-KR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(</a:t>
            </a:r>
            <a:r>
              <a:rPr lang="ko-KR" altLang="en-US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인원</a:t>
            </a:r>
            <a:r>
              <a:rPr lang="en-US" altLang="ko-KR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)</a:t>
            </a:r>
            <a:r>
              <a:rPr lang="ko-KR" altLang="en-US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은 하기를 참고하여 적정 인원을 선정하여 개발 진행한다</a:t>
            </a:r>
            <a:r>
              <a:rPr lang="en-US" altLang="ko-KR" sz="1200">
                <a:solidFill>
                  <a:schemeClr val="tx1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</a:p>
        </p:txBody>
      </p:sp>
      <p:sp>
        <p:nvSpPr>
          <p:cNvPr id="4" name="Rectangle 157">
            <a:extLst>
              <a:ext uri="{FF2B5EF4-FFF2-40B4-BE49-F238E27FC236}">
                <a16:creationId xmlns:a16="http://schemas.microsoft.com/office/drawing/2014/main" id="{585211AF-D9C3-A80E-ED1D-2BCB759EE1A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716283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8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제품별</a:t>
            </a:r>
            <a:r>
              <a:rPr lang="en-US" altLang="ko-KR" sz="18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lang="ko-KR" altLang="en-US" sz="18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개발등급별 투입인원 </a:t>
            </a:r>
            <a:r>
              <a:rPr kumimoji="1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-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참고자료</a:t>
            </a:r>
            <a:endParaRPr kumimoji="1" lang="en-US" altLang="ko-KR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079240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512404-C9BE-DE1C-91DD-9F3F4F639E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Rectangle 157">
            <a:extLst>
              <a:ext uri="{FF2B5EF4-FFF2-40B4-BE49-F238E27FC236}">
                <a16:creationId xmlns:a16="http://schemas.microsoft.com/office/drawing/2014/main" id="{1917A644-6958-0CA9-FA0E-57EB6CE14A60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621706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lang="en-US" altLang="ko-KR" sz="1662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lang="ko-KR" altLang="en-US" sz="1800" b="1">
                <a:latin typeface="LG스마트체 Regular" pitchFamily="50" charset="-127"/>
                <a:ea typeface="LG스마트체 Regular" pitchFamily="50" charset="-127"/>
              </a:rPr>
              <a:t>단계별 실행 </a:t>
            </a:r>
            <a:r>
              <a:rPr lang="en-US" altLang="ko-KR" sz="1800" b="1">
                <a:latin typeface="LG스마트체 Regular" pitchFamily="50" charset="-127"/>
                <a:ea typeface="LG스마트체 Regular" pitchFamily="50" charset="-127"/>
              </a:rPr>
              <a:t>Activity </a:t>
            </a:r>
            <a:r>
              <a:rPr lang="ko-KR" altLang="en-US" sz="1800" b="1">
                <a:latin typeface="LG스마트체 Regular" pitchFamily="50" charset="-127"/>
                <a:ea typeface="LG스마트체 Regular" pitchFamily="50" charset="-127"/>
              </a:rPr>
              <a:t>조정 결과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E6936AC-FE2A-25E6-7150-E0F6A85F34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8137676"/>
              </p:ext>
            </p:extLst>
          </p:nvPr>
        </p:nvGraphicFramePr>
        <p:xfrm>
          <a:off x="137583" y="841608"/>
          <a:ext cx="9625160" cy="5020072"/>
        </p:xfrm>
        <a:graphic>
          <a:graphicData uri="http://schemas.openxmlformats.org/drawingml/2006/table">
            <a:tbl>
              <a:tblPr/>
              <a:tblGrid>
                <a:gridCol w="17311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3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619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987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적용 개발유형</a:t>
                      </a:r>
                      <a:endParaRPr kumimoji="0" lang="ko-KR" altLang="en-US" sz="1100" b="0" i="0" u="none" strike="noStrike" cap="none" normalizeH="0" baseline="3000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개발유형 및 등급심의 </a:t>
                      </a:r>
                      <a:r>
                        <a:rPr kumimoji="0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메인페이지의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개발유형 참조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710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단계 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조정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(Skip 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또는 필수 변경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내용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조정 사유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211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Pre-CP</a:t>
                      </a:r>
                      <a:r>
                        <a:rPr kumimoji="0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단계 </a:t>
                      </a:r>
                      <a:r>
                        <a:rPr kumimoji="0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Activity</a:t>
                      </a: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수익성 검토 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Skip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Pre-CP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간소화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(HS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NXI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 커미티 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/ 1.23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배포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)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에 따름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211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CP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단계 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Activity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0211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DV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단계 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Activity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0211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PV</a:t>
                      </a:r>
                      <a:r>
                        <a:rPr kumimoji="0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단계 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Activity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0211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Pre MP</a:t>
                      </a:r>
                      <a:r>
                        <a:rPr kumimoji="0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단계 </a:t>
                      </a: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Activity 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</a:rPr>
                        <a:t>N/A</a:t>
                      </a: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8B4B2AC-9A33-2BA1-AD75-DDC512D60D38}"/>
              </a:ext>
            </a:extLst>
          </p:cNvPr>
          <p:cNvSpPr/>
          <p:nvPr/>
        </p:nvSpPr>
        <p:spPr>
          <a:xfrm>
            <a:off x="163841" y="6063073"/>
            <a:ext cx="6761466" cy="41549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※ 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개발 유형</a:t>
            </a:r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/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등급 결정시  시스템상에 기 </a:t>
            </a:r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Setting 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되어진 </a:t>
            </a:r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 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필수</a:t>
            </a:r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/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옵션 </a:t>
            </a:r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Activity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를 기준하여  협의 후 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</a:rPr>
              <a:t>제외 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</a:rPr>
              <a:t>(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</a:rPr>
              <a:t>필수 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  <a:sym typeface="Wingdings" pitchFamily="2" charset="2"/>
              </a:rPr>
              <a:t>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  <a:sym typeface="Wingdings" pitchFamily="2" charset="2"/>
              </a:rPr>
              <a:t>제외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  <a:sym typeface="Wingdings" pitchFamily="2" charset="2"/>
              </a:rPr>
              <a:t>),  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</a:rPr>
              <a:t> 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</a:rPr>
              <a:t>추가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</a:rPr>
              <a:t>(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</a:rPr>
              <a:t>옵션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  <a:sym typeface="Wingdings" pitchFamily="2" charset="2"/>
              </a:rPr>
              <a:t> 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  <a:sym typeface="Wingdings" pitchFamily="2" charset="2"/>
              </a:rPr>
              <a:t>필수</a:t>
            </a:r>
            <a:r>
              <a:rPr lang="en-US" altLang="ko-KR" sz="900" b="0" u="sng" dirty="0">
                <a:latin typeface="Arial Narrow" panose="020B0606020202030204" pitchFamily="34" charset="0"/>
                <a:ea typeface="LG스마트체 Regular" pitchFamily="50" charset="-127"/>
              </a:rPr>
              <a:t>)</a:t>
            </a:r>
            <a:r>
              <a:rPr lang="ko-KR" altLang="en-US" sz="900" b="0" u="sng" dirty="0">
                <a:latin typeface="Arial Narrow" panose="020B0606020202030204" pitchFamily="34" charset="0"/>
                <a:ea typeface="LG스마트체 Regular" pitchFamily="50" charset="-127"/>
              </a:rPr>
              <a:t>되는 내용을 기록</a:t>
            </a:r>
            <a:endParaRPr lang="en-US" altLang="ko-KR" sz="900" b="0" u="sng" dirty="0">
              <a:latin typeface="Arial Narrow" panose="020B0606020202030204" pitchFamily="34" charset="0"/>
              <a:ea typeface="LG스마트체 Regular" pitchFamily="50" charset="-127"/>
            </a:endParaRPr>
          </a:p>
          <a:p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    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(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필수 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Event  Skip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시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: 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연구소장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/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사업담당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, 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개발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/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부품품질담당 승인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,  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필수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Activity 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및 제어 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Event Skip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시 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: DQA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팀장 승인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, </a:t>
            </a:r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개발진행중 발생시에도 동일 적용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)</a:t>
            </a:r>
          </a:p>
          <a:p>
            <a:r>
              <a:rPr lang="ko-KR" altLang="en-US" sz="900" b="0">
                <a:latin typeface="Arial Narrow" panose="020B0606020202030204" pitchFamily="34" charset="0"/>
                <a:ea typeface="LG스마트체 Regular" pitchFamily="50" charset="-127"/>
              </a:rPr>
              <a:t> </a:t>
            </a:r>
            <a:r>
              <a:rPr lang="en-US" altLang="ko-KR" sz="900" b="0">
                <a:latin typeface="Arial Narrow" panose="020B0606020202030204" pitchFamily="34" charset="0"/>
                <a:ea typeface="LG스마트체 Regular" pitchFamily="50" charset="-127"/>
              </a:rPr>
              <a:t>※ 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시스템내의  </a:t>
            </a:r>
            <a:r>
              <a:rPr lang="en-US" altLang="ko-KR" sz="900" b="0" dirty="0">
                <a:latin typeface="Arial Narrow" panose="020B0606020202030204" pitchFamily="34" charset="0"/>
                <a:ea typeface="LG스마트체 Regular" pitchFamily="50" charset="-127"/>
              </a:rPr>
              <a:t>WBS List</a:t>
            </a:r>
            <a:r>
              <a:rPr lang="ko-KR" altLang="en-US" sz="900" b="0" dirty="0">
                <a:latin typeface="Arial Narrow" panose="020B0606020202030204" pitchFamily="34" charset="0"/>
                <a:ea typeface="LG스마트체 Regular" pitchFamily="50" charset="-127"/>
              </a:rPr>
              <a:t>를 다운 받아서  변동 내용 기록하여 첨부 가능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B85B0C8-B873-912F-439A-D066F4FABF94}"/>
              </a:ext>
            </a:extLst>
          </p:cNvPr>
          <p:cNvSpPr txBox="1"/>
          <p:nvPr/>
        </p:nvSpPr>
        <p:spPr>
          <a:xfrm>
            <a:off x="6547927" y="580076"/>
            <a:ext cx="279756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</a:rPr>
              <a:t>▶ 필요 시 개발 유형별 </a:t>
            </a:r>
            <a:r>
              <a:rPr lang="en-US" altLang="ko-KR" sz="105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</a:rPr>
              <a:t>Activity list </a:t>
            </a:r>
            <a:r>
              <a:rPr lang="ko-KR" altLang="en-US" sz="105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</a:rPr>
              <a:t>양식 사용 가능</a:t>
            </a:r>
            <a:endParaRPr lang="ko-KR" altLang="en-US" sz="105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</a:endParaRPr>
          </a:p>
        </p:txBody>
      </p:sp>
      <p:sp>
        <p:nvSpPr>
          <p:cNvPr id="7" name="실행 단추: 앞으로 또는 다음 19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62365C7-7867-0F50-2E48-7657A16F5BE0}"/>
              </a:ext>
            </a:extLst>
          </p:cNvPr>
          <p:cNvSpPr/>
          <p:nvPr/>
        </p:nvSpPr>
        <p:spPr>
          <a:xfrm>
            <a:off x="9270002" y="583108"/>
            <a:ext cx="288000" cy="180000"/>
          </a:xfrm>
          <a:prstGeom prst="actionButtonForwardNext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" name="그림 8" descr="텍스트, 스크린샷, 폰트, 번호이(가) 표시된 사진&#10;&#10;자동 생성된 설명">
            <a:extLst>
              <a:ext uri="{FF2B5EF4-FFF2-40B4-BE49-F238E27FC236}">
                <a16:creationId xmlns:a16="http://schemas.microsoft.com/office/drawing/2014/main" id="{AB12BA65-8E0F-9A82-BBCA-B951D23BD61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0998" y="1919510"/>
            <a:ext cx="3648118" cy="2473754"/>
          </a:xfrm>
          <a:prstGeom prst="rect">
            <a:avLst/>
          </a:prstGeom>
        </p:spPr>
      </p:pic>
      <p:sp>
        <p:nvSpPr>
          <p:cNvPr id="10" name="실행 단추: 돌아가기 9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6CE4B03B-5D13-89AA-F018-37BBD53E5FBE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909269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7">
            <a:extLst>
              <a:ext uri="{FF2B5EF4-FFF2-40B4-BE49-F238E27FC236}">
                <a16:creationId xmlns:a16="http://schemas.microsoft.com/office/drawing/2014/main" id="{D1DEBB00-69E3-A6AB-0A25-631D260FBB32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2794557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5.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파생 모델 개발 계통도</a:t>
            </a:r>
            <a:endParaRPr kumimoji="1" lang="en-US" altLang="ko-KR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31E3B9E-51D1-467E-EBED-6D5409C284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381" y="875654"/>
            <a:ext cx="9463147" cy="5347086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D420C5DC-F818-FBF5-CDBB-DA4EBE49E653}"/>
              </a:ext>
            </a:extLst>
          </p:cNvPr>
          <p:cNvSpPr/>
          <p:nvPr/>
        </p:nvSpPr>
        <p:spPr>
          <a:xfrm flipH="1">
            <a:off x="3562909" y="526338"/>
            <a:ext cx="476660" cy="3497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square" lIns="36000" tIns="36000" rIns="36000" bIns="36000" rtlCol="0" anchor="ctr">
            <a:spAutoFit/>
          </a:bodyPr>
          <a:lstStyle/>
          <a:p>
            <a:pPr algn="ctr"/>
            <a:r>
              <a:rPr lang="ko-KR" altLang="en-US" sz="1800">
                <a:latin typeface="Arial Narrow" panose="020B0606020202030204" pitchFamily="34" charset="0"/>
                <a:ea typeface="LG스마트체 Regular" pitchFamily="50" charset="-127"/>
              </a:rPr>
              <a:t>파생</a:t>
            </a:r>
            <a:endParaRPr lang="ko-KR" altLang="en-US" sz="1800" dirty="0">
              <a:latin typeface="Arial Narrow" panose="020B0606020202030204" pitchFamily="34" charset="0"/>
              <a:ea typeface="LG스마트체 Regular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D0DB0B0-5374-93F4-25AA-FCCC3864B458}"/>
              </a:ext>
            </a:extLst>
          </p:cNvPr>
          <p:cNvSpPr/>
          <p:nvPr/>
        </p:nvSpPr>
        <p:spPr>
          <a:xfrm flipH="1">
            <a:off x="5232683" y="526338"/>
            <a:ext cx="476660" cy="3497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square" lIns="36000" tIns="36000" rIns="36000" bIns="36000" rtlCol="0" anchor="ctr">
            <a:spAutoFit/>
          </a:bodyPr>
          <a:lstStyle/>
          <a:p>
            <a:pPr algn="ctr"/>
            <a:r>
              <a:rPr lang="ko-KR" altLang="en-US" sz="1800">
                <a:latin typeface="Arial Narrow" panose="020B0606020202030204" pitchFamily="34" charset="0"/>
                <a:ea typeface="LG스마트체 Regular" pitchFamily="50" charset="-127"/>
              </a:rPr>
              <a:t>파생</a:t>
            </a:r>
            <a:endParaRPr lang="ko-KR" altLang="en-US" sz="1800" dirty="0">
              <a:latin typeface="Arial Narrow" panose="020B0606020202030204" pitchFamily="34" charset="0"/>
              <a:ea typeface="LG스마트체 Regular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EAED0C0-C1E7-2743-230B-DF5C2434AA8C}"/>
              </a:ext>
            </a:extLst>
          </p:cNvPr>
          <p:cNvSpPr/>
          <p:nvPr/>
        </p:nvSpPr>
        <p:spPr>
          <a:xfrm flipH="1">
            <a:off x="8588134" y="526338"/>
            <a:ext cx="476660" cy="3497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square" lIns="36000" tIns="36000" rIns="36000" bIns="36000" rtlCol="0" anchor="ctr">
            <a:spAutoFit/>
          </a:bodyPr>
          <a:lstStyle/>
          <a:p>
            <a:pPr algn="ctr"/>
            <a:r>
              <a:rPr lang="ko-KR" altLang="en-US" sz="1800">
                <a:latin typeface="Arial Narrow" panose="020B0606020202030204" pitchFamily="34" charset="0"/>
                <a:ea typeface="LG스마트체 Regular" pitchFamily="50" charset="-127"/>
              </a:rPr>
              <a:t>파생</a:t>
            </a:r>
            <a:endParaRPr lang="ko-KR" altLang="en-US" sz="1800" dirty="0">
              <a:latin typeface="Arial Narrow" panose="020B0606020202030204" pitchFamily="34" charset="0"/>
              <a:ea typeface="LG스마트체 Regular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A09846D-672D-5DA3-D7E9-87C12F87E36C}"/>
              </a:ext>
            </a:extLst>
          </p:cNvPr>
          <p:cNvSpPr/>
          <p:nvPr/>
        </p:nvSpPr>
        <p:spPr>
          <a:xfrm flipH="1">
            <a:off x="6926311" y="526338"/>
            <a:ext cx="476660" cy="349702"/>
          </a:xfrm>
          <a:prstGeom prst="rect">
            <a:avLst/>
          </a:prstGeom>
          <a:solidFill>
            <a:srgbClr val="00FF00"/>
          </a:solidFill>
          <a:ln>
            <a:noFill/>
          </a:ln>
        </p:spPr>
        <p:txBody>
          <a:bodyPr wrap="square" lIns="36000" tIns="36000" rIns="36000" bIns="36000" rtlCol="0" anchor="ctr">
            <a:spAutoFit/>
          </a:bodyPr>
          <a:lstStyle/>
          <a:p>
            <a:pPr algn="ctr"/>
            <a:r>
              <a:rPr lang="ko-KR" altLang="en-US" sz="1800">
                <a:latin typeface="Arial Narrow" panose="020B0606020202030204" pitchFamily="34" charset="0"/>
                <a:ea typeface="LG스마트체 Regular" pitchFamily="50" charset="-127"/>
              </a:rPr>
              <a:t>대표</a:t>
            </a:r>
            <a:endParaRPr lang="ko-KR" altLang="en-US" sz="1800" dirty="0">
              <a:latin typeface="Arial Narrow" panose="020B0606020202030204" pitchFamily="34" charset="0"/>
              <a:ea typeface="LG스마트체 Regular" pitchFamily="50" charset="-127"/>
            </a:endParaRPr>
          </a:p>
        </p:txBody>
      </p:sp>
      <p:sp>
        <p:nvSpPr>
          <p:cNvPr id="9" name="실행 단추: 돌아가기 8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4AD7543-F648-92DC-3576-54CCFC370E90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949959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7">
            <a:extLst>
              <a:ext uri="{FF2B5EF4-FFF2-40B4-BE49-F238E27FC236}">
                <a16:creationId xmlns:a16="http://schemas.microsoft.com/office/drawing/2014/main" id="{7CE28BF4-098E-CC0F-2BC1-1D210F6A1BD9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2570" y="87232"/>
            <a:ext cx="3798036" cy="362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kumimoji="1" lang="ko-KR" altLang="en-US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 </a:t>
            </a:r>
            <a:r>
              <a:rPr kumimoji="1" lang="en-US" altLang="ko-KR" sz="1662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6.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Field Worst </a:t>
            </a:r>
            <a:r>
              <a:rPr kumimoji="1" lang="ko-KR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불량 개선항목 </a:t>
            </a:r>
            <a:r>
              <a:rPr kumimoji="1" lang="en-US" altLang="ko-KR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(B↑)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4F4D975-AFAB-8A4F-134C-A6255FD9E33E}"/>
              </a:ext>
            </a:extLst>
          </p:cNvPr>
          <p:cNvSpPr/>
          <p:nvPr/>
        </p:nvSpPr>
        <p:spPr>
          <a:xfrm>
            <a:off x="34148" y="615949"/>
            <a:ext cx="3503382" cy="284247"/>
          </a:xfrm>
          <a:prstGeom prst="rect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FFFFFF">
                <a:lumMod val="75000"/>
              </a:srgbClr>
            </a:solidFill>
            <a:prstDash val="solid"/>
          </a:ln>
          <a:effectLst/>
        </p:spPr>
        <p:txBody>
          <a:bodyPr rtlCol="0" anchor="t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신모델 고객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CDR 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기준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목표</a:t>
            </a:r>
          </a:p>
        </p:txBody>
      </p:sp>
      <p:sp>
        <p:nvSpPr>
          <p:cNvPr id="42" name="Text Box 37">
            <a:extLst>
              <a:ext uri="{FF2B5EF4-FFF2-40B4-BE49-F238E27FC236}">
                <a16:creationId xmlns:a16="http://schemas.microsoft.com/office/drawing/2014/main" id="{6AD7078A-BBF3-5DB4-C5ED-F5480BFDAC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414" y="3741173"/>
            <a:ext cx="723655" cy="507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0834" tIns="45433" rIns="90834" bIns="45433">
            <a:spAutoFit/>
          </a:bodyPr>
          <a:lstStyle/>
          <a:p>
            <a:pPr algn="ctr"/>
            <a:r>
              <a:rPr lang="en-US" altLang="ko-KR" sz="9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Base</a:t>
            </a:r>
          </a:p>
          <a:p>
            <a:pPr algn="ctr"/>
            <a:r>
              <a:rPr lang="en-US" altLang="ko-KR" sz="9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Model</a:t>
            </a:r>
          </a:p>
          <a:p>
            <a:pPr algn="ctr"/>
            <a:r>
              <a:rPr lang="en-US" altLang="ko-KR" sz="9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(Studio IH S)</a:t>
            </a:r>
          </a:p>
        </p:txBody>
      </p:sp>
      <p:sp>
        <p:nvSpPr>
          <p:cNvPr id="44" name="Rectangle 341">
            <a:extLst>
              <a:ext uri="{FF2B5EF4-FFF2-40B4-BE49-F238E27FC236}">
                <a16:creationId xmlns:a16="http://schemas.microsoft.com/office/drawing/2014/main" id="{17FCEC93-FDE7-CF84-5867-D38AD8738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761" y="2715984"/>
            <a:ext cx="324000" cy="1029600"/>
          </a:xfrm>
          <a:prstGeom prst="rect">
            <a:avLst/>
          </a:prstGeom>
          <a:gradFill rotWithShape="0">
            <a:gsLst>
              <a:gs pos="0">
                <a:srgbClr val="C0C0C0"/>
              </a:gs>
              <a:gs pos="100000">
                <a:srgbClr val="C0C0C0">
                  <a:gamma/>
                  <a:tint val="10196"/>
                  <a:invGamma/>
                </a:srgbClr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0" tIns="0" rIns="0" bIns="0" anchor="ctr"/>
          <a:lstStyle/>
          <a:p>
            <a:pPr algn="ctr" eaLnBrk="0" latinLnBrk="0" hangingPunct="0"/>
            <a:r>
              <a: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2.46</a:t>
            </a:r>
          </a:p>
        </p:txBody>
      </p:sp>
      <p:sp>
        <p:nvSpPr>
          <p:cNvPr id="45" name="Text Box 37">
            <a:extLst>
              <a:ext uri="{FF2B5EF4-FFF2-40B4-BE49-F238E27FC236}">
                <a16:creationId xmlns:a16="http://schemas.microsoft.com/office/drawing/2014/main" id="{CCC62230-63F0-56FC-26D2-0EF240E98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6950" y="3748790"/>
            <a:ext cx="473586" cy="2302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0834" tIns="45433" rIns="90834" bIns="45433">
            <a:spAutoFit/>
          </a:bodyPr>
          <a:lstStyle/>
          <a:p>
            <a:pPr algn="ctr"/>
            <a:r>
              <a: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Target</a:t>
            </a:r>
          </a:p>
        </p:txBody>
      </p:sp>
      <p:sp>
        <p:nvSpPr>
          <p:cNvPr id="46" name="AutoShape 346">
            <a:extLst>
              <a:ext uri="{FF2B5EF4-FFF2-40B4-BE49-F238E27FC236}">
                <a16:creationId xmlns:a16="http://schemas.microsoft.com/office/drawing/2014/main" id="{D359FAE3-6577-0C87-2818-B4D665CDF7E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316149" y="1420055"/>
            <a:ext cx="1043906" cy="301275"/>
          </a:xfrm>
          <a:prstGeom prst="homePlate">
            <a:avLst>
              <a:gd name="adj" fmla="val 32070"/>
            </a:avLst>
          </a:prstGeom>
          <a:solidFill>
            <a:srgbClr val="CCFFFF"/>
          </a:solidFill>
          <a:ln w="9525">
            <a:solidFill>
              <a:srgbClr val="808080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rot="10800000" vert="eaVert" wrap="none" lIns="0" tIns="0" rIns="0" bIns="45433" anchor="ctr"/>
          <a:lstStyle/>
          <a:p>
            <a:pPr marL="0" marR="0" lvl="0" indent="0" algn="ctr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30.0%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12BF895-5B06-B96F-ED34-3E1945C1E330}"/>
              </a:ext>
            </a:extLst>
          </p:cNvPr>
          <p:cNvSpPr/>
          <p:nvPr/>
        </p:nvSpPr>
        <p:spPr>
          <a:xfrm>
            <a:off x="463349" y="4346379"/>
            <a:ext cx="179856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[Studio IH S]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LSIS6338 (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디자인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, 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생산량 동일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)</a:t>
            </a:r>
          </a:p>
          <a:p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[Studio IH D] LTIS7338 (211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대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,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불량집계 난해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)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45D5362A-C56A-5467-EC7A-CAC29FDFC448}"/>
              </a:ext>
            </a:extLst>
          </p:cNvPr>
          <p:cNvSpPr txBox="1"/>
          <p:nvPr/>
        </p:nvSpPr>
        <p:spPr>
          <a:xfrm>
            <a:off x="64591" y="5338354"/>
            <a:ext cx="3449008" cy="1249767"/>
          </a:xfrm>
          <a:prstGeom prst="rect">
            <a:avLst/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FFFFFF">
                <a:lumMod val="65000"/>
              </a:srgbClr>
            </a:solidFill>
            <a:prstDash val="solid"/>
          </a:ln>
          <a:effectLst/>
        </p:spPr>
        <p:txBody>
          <a:bodyPr rtlCol="0" anchor="ctr"/>
          <a:lstStyle>
            <a:defPPr>
              <a:defRPr lang="ko-KR"/>
            </a:defPPr>
            <a:lvl1pPr marL="0" marR="0" lvl="0" indent="0" algn="ctr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marL="171450" marR="0" lvl="0" indent="-17145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전체 불량이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Harness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와 밀접한 관련 있으며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Controller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구조 개선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(Harness, Knob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하여 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불량률 전반 개선하겠음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171450" marR="0" lvl="0" indent="-171450" algn="l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신규 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퀵존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 오븐 인출 링크 구조의 복잡성으로 다소 상승 예상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(SKS Drawer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인출 불량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1.13),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도어 구조 단순화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및 추가 아이디어 확인 중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Rectangle 341">
            <a:extLst>
              <a:ext uri="{FF2B5EF4-FFF2-40B4-BE49-F238E27FC236}">
                <a16:creationId xmlns:a16="http://schemas.microsoft.com/office/drawing/2014/main" id="{700AA89D-DE65-1815-B201-3F6E68C60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520" y="1048740"/>
            <a:ext cx="324000" cy="2696844"/>
          </a:xfrm>
          <a:prstGeom prst="rect">
            <a:avLst/>
          </a:prstGeom>
          <a:gradFill rotWithShape="0">
            <a:gsLst>
              <a:gs pos="0">
                <a:srgbClr val="C0C0C0"/>
              </a:gs>
              <a:gs pos="100000">
                <a:srgbClr val="C0C0C0">
                  <a:gamma/>
                  <a:tint val="10196"/>
                  <a:invGamma/>
                </a:srgbClr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0" tIns="0" rIns="0" bIns="0" anchor="ctr"/>
          <a:lstStyle/>
          <a:p>
            <a:pPr algn="ctr" eaLnBrk="0" latinLnBrk="0" hangingPunct="0"/>
            <a:r>
              <a: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5.84</a:t>
            </a:r>
          </a:p>
        </p:txBody>
      </p:sp>
      <p:sp>
        <p:nvSpPr>
          <p:cNvPr id="55" name="Text Box 37">
            <a:extLst>
              <a:ext uri="{FF2B5EF4-FFF2-40B4-BE49-F238E27FC236}">
                <a16:creationId xmlns:a16="http://schemas.microsoft.com/office/drawing/2014/main" id="{0CE69955-444F-23F3-45B0-A87F81AB1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5645" y="3748790"/>
            <a:ext cx="540912" cy="368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0834" tIns="45433" rIns="90834" bIns="45433">
            <a:spAutoFit/>
          </a:bodyPr>
          <a:lstStyle/>
          <a:p>
            <a:pPr algn="ctr"/>
            <a:r>
              <a: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Base</a:t>
            </a:r>
          </a:p>
          <a:p>
            <a:pPr algn="ctr"/>
            <a:r>
              <a: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(Spec±)</a:t>
            </a:r>
          </a:p>
        </p:txBody>
      </p:sp>
      <p:cxnSp>
        <p:nvCxnSpPr>
          <p:cNvPr id="56" name="직선 연결선 54">
            <a:extLst>
              <a:ext uri="{FF2B5EF4-FFF2-40B4-BE49-F238E27FC236}">
                <a16:creationId xmlns:a16="http://schemas.microsoft.com/office/drawing/2014/main" id="{56D55AEB-294B-589C-CE6E-74592F0EACF6}"/>
              </a:ext>
            </a:extLst>
          </p:cNvPr>
          <p:cNvCxnSpPr>
            <a:cxnSpLocks noChangeShapeType="1"/>
            <a:stCxn id="54" idx="0"/>
            <a:endCxn id="46" idx="1"/>
          </p:cNvCxnSpPr>
          <p:nvPr/>
        </p:nvCxnSpPr>
        <p:spPr bwMode="auto">
          <a:xfrm>
            <a:off x="1805520" y="1048740"/>
            <a:ext cx="1032582" cy="0"/>
          </a:xfrm>
          <a:prstGeom prst="line">
            <a:avLst/>
          </a:prstGeom>
          <a:noFill/>
          <a:ln w="9525" algn="ctr">
            <a:solidFill>
              <a:srgbClr val="000000"/>
            </a:solidFill>
            <a:prstDash val="dash"/>
            <a:round/>
            <a:headEnd/>
            <a:tailEnd/>
          </a:ln>
        </p:spPr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FBB4AC1B-00A9-9198-03DC-56F3B5B84063}"/>
              </a:ext>
            </a:extLst>
          </p:cNvPr>
          <p:cNvGrpSpPr/>
          <p:nvPr/>
        </p:nvGrpSpPr>
        <p:grpSpPr>
          <a:xfrm>
            <a:off x="593271" y="2201045"/>
            <a:ext cx="263833" cy="514800"/>
            <a:chOff x="327664" y="1146431"/>
            <a:chExt cx="360000" cy="522312"/>
          </a:xfrm>
        </p:grpSpPr>
        <p:sp>
          <p:nvSpPr>
            <p:cNvPr id="58" name="아래쪽 화살표 55">
              <a:extLst>
                <a:ext uri="{FF2B5EF4-FFF2-40B4-BE49-F238E27FC236}">
                  <a16:creationId xmlns:a16="http://schemas.microsoft.com/office/drawing/2014/main" id="{8B09E1F1-0900-5C2B-E78F-5D81CB267DC5}"/>
                </a:ext>
              </a:extLst>
            </p:cNvPr>
            <p:cNvSpPr/>
            <p:nvPr/>
          </p:nvSpPr>
          <p:spPr>
            <a:xfrm flipV="1">
              <a:off x="327664" y="1146431"/>
              <a:ext cx="360000" cy="522312"/>
            </a:xfrm>
            <a:prstGeom prst="downArrow">
              <a:avLst>
                <a:gd name="adj1" fmla="val 100000"/>
                <a:gd name="adj2" fmla="val 21852"/>
              </a:avLst>
            </a:prstGeom>
            <a:solidFill>
              <a:srgbClr val="FFC000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anchor="ctr">
              <a:noAutofit/>
            </a:bodyPr>
            <a:lstStyle/>
            <a:p>
              <a:pPr algn="ctr" latinLnBrk="0">
                <a:defRPr/>
              </a:pPr>
              <a:endParaRPr lang="ko-KR" altLang="en-US" sz="1800" b="0" kern="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59" name="Text Box 14">
              <a:extLst>
                <a:ext uri="{FF2B5EF4-FFF2-40B4-BE49-F238E27FC236}">
                  <a16:creationId xmlns:a16="http://schemas.microsoft.com/office/drawing/2014/main" id="{62DB1988-97DD-F0AF-DFB0-BFF7EF787C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592" y="1344257"/>
              <a:ext cx="351072" cy="2613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1393" tIns="45696" rIns="91393" bIns="45696">
              <a:noAutofit/>
            </a:bodyPr>
            <a:lstStyle/>
            <a:p>
              <a:pPr algn="ctr"/>
              <a:r>
                <a:rPr lang="en-US" altLang="ko-KR" sz="900" dirty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0.16</a:t>
              </a:r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B77AED35-E5D6-715A-FE41-FE780FBC4318}"/>
              </a:ext>
            </a:extLst>
          </p:cNvPr>
          <p:cNvGrpSpPr/>
          <p:nvPr/>
        </p:nvGrpSpPr>
        <p:grpSpPr>
          <a:xfrm>
            <a:off x="593859" y="1048739"/>
            <a:ext cx="263833" cy="1152304"/>
            <a:chOff x="327664" y="1197820"/>
            <a:chExt cx="360000" cy="410012"/>
          </a:xfrm>
        </p:grpSpPr>
        <p:sp>
          <p:nvSpPr>
            <p:cNvPr id="61" name="아래쪽 화살표 55">
              <a:extLst>
                <a:ext uri="{FF2B5EF4-FFF2-40B4-BE49-F238E27FC236}">
                  <a16:creationId xmlns:a16="http://schemas.microsoft.com/office/drawing/2014/main" id="{513C4FFE-BC00-0BB4-1E44-E5F70345B8E8}"/>
                </a:ext>
              </a:extLst>
            </p:cNvPr>
            <p:cNvSpPr/>
            <p:nvPr/>
          </p:nvSpPr>
          <p:spPr>
            <a:xfrm flipV="1">
              <a:off x="327664" y="1197820"/>
              <a:ext cx="360000" cy="410012"/>
            </a:xfrm>
            <a:prstGeom prst="downArrow">
              <a:avLst>
                <a:gd name="adj1" fmla="val 100000"/>
                <a:gd name="adj2" fmla="val 21852"/>
              </a:avLst>
            </a:prstGeom>
            <a:solidFill>
              <a:srgbClr val="FFC000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anchor="ctr">
              <a:noAutofit/>
            </a:bodyPr>
            <a:lstStyle/>
            <a:p>
              <a:pPr algn="ctr" latinLnBrk="0">
                <a:defRPr/>
              </a:pPr>
              <a:endParaRPr lang="ko-KR" altLang="en-US" sz="1800" b="0" kern="0" dirty="0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2" name="Text Box 14">
              <a:extLst>
                <a:ext uri="{FF2B5EF4-FFF2-40B4-BE49-F238E27FC236}">
                  <a16:creationId xmlns:a16="http://schemas.microsoft.com/office/drawing/2014/main" id="{52C0B3E9-0C7D-BE60-DF62-57CD6E755A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592" y="1344257"/>
              <a:ext cx="351072" cy="94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1393" tIns="45696" rIns="91393" bIns="45696">
              <a:noAutofit/>
            </a:bodyPr>
            <a:lstStyle/>
            <a:p>
              <a:pPr algn="ctr"/>
              <a:r>
                <a:rPr lang="en-US" altLang="ko-KR" sz="900" dirty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3.22</a:t>
              </a: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24CF1B50-D627-52E8-ECCD-3D0A1E55E8CD}"/>
              </a:ext>
            </a:extLst>
          </p:cNvPr>
          <p:cNvSpPr txBox="1"/>
          <p:nvPr/>
        </p:nvSpPr>
        <p:spPr>
          <a:xfrm>
            <a:off x="785585" y="1058264"/>
            <a:ext cx="934457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ko-KR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[</a:t>
            </a:r>
            <a:r>
              <a:rPr lang="ko-KR" altLang="en-US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신기능</a:t>
            </a:r>
            <a:r>
              <a:rPr lang="en-US" altLang="ko-KR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]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*QZ </a:t>
            </a:r>
            <a:r>
              <a:rPr lang="en-US" altLang="ko-KR" sz="700" b="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Drw</a:t>
            </a: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(1.69)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**LCD(0.39), 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Button</a:t>
            </a:r>
            <a:r>
              <a:rPr lang="ko-KR" altLang="en-US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Knob(0.32)</a:t>
            </a:r>
          </a:p>
          <a:p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Hall Sensor (0.13),</a:t>
            </a:r>
          </a:p>
          <a:p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IH </a:t>
            </a:r>
            <a:r>
              <a:rPr lang="en-US" altLang="ko-KR" sz="700" b="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Probake</a:t>
            </a: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(0.21),</a:t>
            </a:r>
          </a:p>
          <a:p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Frameless Top (0.20)</a:t>
            </a:r>
          </a:p>
          <a:p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…</a:t>
            </a:r>
          </a:p>
        </p:txBody>
      </p:sp>
      <p:sp>
        <p:nvSpPr>
          <p:cNvPr id="64" name="Rectangle 341">
            <a:extLst>
              <a:ext uri="{FF2B5EF4-FFF2-40B4-BE49-F238E27FC236}">
                <a16:creationId xmlns:a16="http://schemas.microsoft.com/office/drawing/2014/main" id="{A2336682-E3AB-4EC7-E277-EB7879E5B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161" y="2092644"/>
            <a:ext cx="324000" cy="1656145"/>
          </a:xfrm>
          <a:prstGeom prst="rect">
            <a:avLst/>
          </a:prstGeom>
          <a:gradFill rotWithShape="0">
            <a:gsLst>
              <a:gs pos="0">
                <a:srgbClr val="C0C0C0"/>
              </a:gs>
              <a:gs pos="100000">
                <a:srgbClr val="C0C0C0">
                  <a:gamma/>
                  <a:tint val="10196"/>
                  <a:invGamma/>
                </a:srgbClr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0" tIns="0" rIns="0" bIns="0" anchor="ctr"/>
          <a:lstStyle/>
          <a:p>
            <a:pPr algn="ctr" eaLnBrk="0" latinLnBrk="0" hangingPunct="0"/>
            <a:r>
              <a:rPr lang="en-US" altLang="ko-KR" sz="9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4.09</a:t>
            </a:r>
          </a:p>
        </p:txBody>
      </p:sp>
      <p:cxnSp>
        <p:nvCxnSpPr>
          <p:cNvPr id="66" name="직선 연결선 54">
            <a:extLst>
              <a:ext uri="{FF2B5EF4-FFF2-40B4-BE49-F238E27FC236}">
                <a16:creationId xmlns:a16="http://schemas.microsoft.com/office/drawing/2014/main" id="{7D3CF991-EE55-BCE5-F165-ED0338CE12E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7151" y="3742378"/>
            <a:ext cx="3433762" cy="0"/>
          </a:xfrm>
          <a:prstGeom prst="line">
            <a:avLst/>
          </a:prstGeom>
          <a:noFill/>
          <a:ln w="9525" algn="ctr">
            <a:solidFill>
              <a:srgbClr val="000000"/>
            </a:solidFill>
            <a:prstDash val="solid"/>
            <a:round/>
            <a:headEnd/>
            <a:tailEnd/>
          </a:ln>
        </p:spPr>
      </p:cxnSp>
      <p:sp>
        <p:nvSpPr>
          <p:cNvPr id="68" name="TextBox 67">
            <a:extLst>
              <a:ext uri="{FF2B5EF4-FFF2-40B4-BE49-F238E27FC236}">
                <a16:creationId xmlns:a16="http://schemas.microsoft.com/office/drawing/2014/main" id="{80D99AAC-99D7-4780-C28A-03F6BD5EB7A5}"/>
              </a:ext>
            </a:extLst>
          </p:cNvPr>
          <p:cNvSpPr txBox="1"/>
          <p:nvPr/>
        </p:nvSpPr>
        <p:spPr>
          <a:xfrm>
            <a:off x="842293" y="3544072"/>
            <a:ext cx="79130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(9109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대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, 220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건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)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1F7F5734-9DB2-2A47-36BA-F29FB720530A}"/>
              </a:ext>
            </a:extLst>
          </p:cNvPr>
          <p:cNvSpPr txBox="1"/>
          <p:nvPr/>
        </p:nvSpPr>
        <p:spPr>
          <a:xfrm>
            <a:off x="784163" y="2093403"/>
            <a:ext cx="841032" cy="6309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ko-KR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[</a:t>
            </a:r>
            <a:r>
              <a:rPr lang="ko-KR" altLang="en-US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싱글</a:t>
            </a:r>
            <a:r>
              <a:rPr lang="en-US" altLang="ko-KR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lang="ko-KR" altLang="en-US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→ 더블</a:t>
            </a:r>
            <a:r>
              <a:rPr lang="en-US" altLang="ko-KR" sz="7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]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Cavity (0.07)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Thermostat(0.04)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Door(0.03) </a:t>
            </a:r>
          </a:p>
          <a:p>
            <a:pPr>
              <a:defRPr/>
            </a:pPr>
            <a:r>
              <a:rPr lang="en-US" altLang="ko-KR" sz="7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Tact s/w(0.02)</a:t>
            </a: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8D55BBF5-7D96-5B9D-CDF1-AC47673B11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118428"/>
              </p:ext>
            </p:extLst>
          </p:nvPr>
        </p:nvGraphicFramePr>
        <p:xfrm>
          <a:off x="3599077" y="620689"/>
          <a:ext cx="6264697" cy="5990880"/>
        </p:xfrm>
        <a:graphic>
          <a:graphicData uri="http://schemas.openxmlformats.org/drawingml/2006/table">
            <a:tbl>
              <a:tblPr/>
              <a:tblGrid>
                <a:gridCol w="561835">
                  <a:extLst>
                    <a:ext uri="{9D8B030D-6E8A-4147-A177-3AD203B41FA5}">
                      <a16:colId xmlns:a16="http://schemas.microsoft.com/office/drawing/2014/main" val="156385042"/>
                    </a:ext>
                  </a:extLst>
                </a:gridCol>
                <a:gridCol w="1670414">
                  <a:extLst>
                    <a:ext uri="{9D8B030D-6E8A-4147-A177-3AD203B41FA5}">
                      <a16:colId xmlns:a16="http://schemas.microsoft.com/office/drawing/2014/main" val="3412647500"/>
                    </a:ext>
                  </a:extLst>
                </a:gridCol>
                <a:gridCol w="324036">
                  <a:extLst>
                    <a:ext uri="{9D8B030D-6E8A-4147-A177-3AD203B41FA5}">
                      <a16:colId xmlns:a16="http://schemas.microsoft.com/office/drawing/2014/main" val="3424966259"/>
                    </a:ext>
                  </a:extLst>
                </a:gridCol>
                <a:gridCol w="324036">
                  <a:extLst>
                    <a:ext uri="{9D8B030D-6E8A-4147-A177-3AD203B41FA5}">
                      <a16:colId xmlns:a16="http://schemas.microsoft.com/office/drawing/2014/main" val="2814469703"/>
                    </a:ext>
                  </a:extLst>
                </a:gridCol>
                <a:gridCol w="324036">
                  <a:extLst>
                    <a:ext uri="{9D8B030D-6E8A-4147-A177-3AD203B41FA5}">
                      <a16:colId xmlns:a16="http://schemas.microsoft.com/office/drawing/2014/main" val="739332611"/>
                    </a:ext>
                  </a:extLst>
                </a:gridCol>
                <a:gridCol w="324036">
                  <a:extLst>
                    <a:ext uri="{9D8B030D-6E8A-4147-A177-3AD203B41FA5}">
                      <a16:colId xmlns:a16="http://schemas.microsoft.com/office/drawing/2014/main" val="811605925"/>
                    </a:ext>
                  </a:extLst>
                </a:gridCol>
                <a:gridCol w="2434042">
                  <a:extLst>
                    <a:ext uri="{9D8B030D-6E8A-4147-A177-3AD203B41FA5}">
                      <a16:colId xmlns:a16="http://schemas.microsoft.com/office/drawing/2014/main" val="3133718345"/>
                    </a:ext>
                  </a:extLst>
                </a:gridCol>
                <a:gridCol w="302262">
                  <a:extLst>
                    <a:ext uri="{9D8B030D-6E8A-4147-A177-3AD203B41FA5}">
                      <a16:colId xmlns:a16="http://schemas.microsoft.com/office/drawing/2014/main" val="1764071616"/>
                    </a:ext>
                  </a:extLst>
                </a:gridCol>
              </a:tblGrid>
              <a:tr h="223951">
                <a:tc rowSpan="2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 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Base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신모델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CDR</a:t>
                      </a:r>
                    </a:p>
                    <a:p>
                      <a:pPr algn="ctr" rtl="0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(DV</a:t>
                      </a:r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simul.)</a:t>
                      </a:r>
                      <a:endParaRPr lang="ko-KR" altLang="en-US" sz="900" b="1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계획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830758"/>
                  </a:ext>
                </a:extLst>
              </a:tr>
              <a:tr h="1119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FDR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FDR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59587158"/>
                  </a:ext>
                </a:extLst>
              </a:tr>
              <a:tr h="44790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Rotary </a:t>
                      </a:r>
                    </a:p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S/W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rtl="0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느슨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커넥터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덜삽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</a:p>
                    <a:p>
                      <a:pPr algn="l" rtl="0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스위치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탈거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등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Harness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최적화로 결선 개선 및 검사 용이화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6836200"/>
                  </a:ext>
                </a:extLst>
              </a:tr>
              <a:tr h="253572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Explanation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노크온에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점등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 부재 등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6.8 LCD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시나리오 내 각 기능에 대한 최초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pop-up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반영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노크온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(30%)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on-off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옵션 제공 및 관련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CIC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안내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4479561"/>
                  </a:ext>
                </a:extLst>
              </a:tr>
              <a:tr h="22395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PCB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전원무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무발열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표시부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미반응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배치 개선으로 조립 시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PCB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터치 최소화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예정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Wiring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개선율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56%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반영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2639399"/>
                  </a:ext>
                </a:extLst>
              </a:tr>
              <a:tr h="253572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Return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단순 변심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6,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외관손상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</a:t>
                      </a:r>
                    </a:p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전원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가열불량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440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부위 별 검사 명확화 불량 부위 중점관리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177085"/>
                  </a:ext>
                </a:extLst>
              </a:tr>
              <a:tr h="335926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Oven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Temp</a:t>
                      </a:r>
                      <a:endParaRPr 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온도상승 불만족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바이메탈 온도계와 편차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온도 조정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PCB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이상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1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 등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바이메탈 온도계와의 차이점 인쇄물 명기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CIC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및 서비스 교육 출장 예정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신모델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급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Auto conversion Off default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반영 예정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523210"/>
                  </a:ext>
                </a:extLst>
              </a:tr>
              <a:tr h="22395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Wiring </a:t>
                      </a:r>
                    </a:p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Harness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미체결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결선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느슨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등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Controller Harness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배치 최적화하여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Knob, controller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 불량률 전반 개선 예정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6972328"/>
                  </a:ext>
                </a:extLst>
              </a:tr>
              <a:tr h="44790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Knob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Knob light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결선파손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 불량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440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Ring </a:t>
                      </a:r>
                      <a:r>
                        <a:rPr lang="en-US" altLang="ko-KR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assy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’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체결구조 단순화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</a:p>
                    <a:p>
                      <a:pPr marL="0" marR="0" lvl="0" indent="0" algn="l" defTabSz="91440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Knob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체결부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단면 평탄화로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외관불량건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개선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2445617"/>
                  </a:ext>
                </a:extLst>
              </a:tr>
              <a:tr h="335926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Cavity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가스켓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조정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코너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가스켓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탈거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치핑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더블 </a:t>
                      </a:r>
                      <a:r>
                        <a:rPr lang="en-US" altLang="ko-KR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배수 고려</a:t>
                      </a:r>
                      <a:endParaRPr lang="en-US" altLang="ko-KR" sz="7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상부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Full glass type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및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월오븐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코너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가스켓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적용 예정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534061"/>
                  </a:ext>
                </a:extLst>
              </a:tr>
              <a:tr h="335926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Cooktop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실런트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 손상 등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Full-glass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시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실런트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 불량 감소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(75%). Controller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조립구조 최적화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1942"/>
                  </a:ext>
                </a:extLst>
              </a:tr>
              <a:tr h="223951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Thermostat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셀프클린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후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Cutoff 2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 등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더블 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배수 고려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쾌속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셀프크린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적용예정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0579647"/>
                  </a:ext>
                </a:extLst>
              </a:tr>
              <a:tr h="135590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…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…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…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…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…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440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…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2654927"/>
                  </a:ext>
                </a:extLst>
              </a:tr>
              <a:tr h="1090212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신기능</a:t>
                      </a:r>
                      <a:endParaRPr 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 QZ drawer (1.69)*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 6.8 LCD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(0.39)**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3. Button Knob (0.32)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4. Hall Sensor (0.13)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5. Invertor 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ProBake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(0.21)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6. Frameless Top(0.20)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7.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전면 </a:t>
                      </a: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실런트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도어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(0.04)</a:t>
                      </a:r>
                    </a:p>
                    <a:p>
                      <a:pPr marL="0" indent="0" algn="l" rtl="0" font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8. NFC (0.24)</a:t>
                      </a:r>
                    </a:p>
                    <a:p>
                      <a:pPr marL="0" indent="0" algn="l" rtl="0" font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3.22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marL="0" marR="0" lvl="0" indent="0" algn="l" defTabSz="913434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DV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단계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설계명확화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후 상세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simulation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도출 예정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8152536"/>
                  </a:ext>
                </a:extLst>
              </a:tr>
              <a:tr h="543387"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algn="l" fontAlgn="ctr"/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1pPr>
                      <a:lvl2pPr marL="422039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2pPr>
                      <a:lvl3pPr marL="844078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3pPr>
                      <a:lvl4pPr marL="1266117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4pPr>
                      <a:lvl5pPr marL="168815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5pPr>
                      <a:lvl6pPr marL="2110195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6pPr>
                      <a:lvl7pPr marL="2532233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7pPr>
                      <a:lvl8pPr marL="2954272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8pPr>
                      <a:lvl9pPr marL="3376311" algn="l" defTabSz="844078" rtl="0" eaLnBrk="1" latinLnBrk="1" hangingPunct="1">
                        <a:defRPr sz="1662" kern="1200">
                          <a:solidFill>
                            <a:schemeClr val="tx1"/>
                          </a:solidFill>
                          <a:latin typeface="Arial Narrow"/>
                          <a:ea typeface="LG스마트체 Light"/>
                        </a:defRPr>
                      </a:lvl9pPr>
                    </a:lstStyle>
                    <a:p>
                      <a:pPr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6589100"/>
                  </a:ext>
                </a:extLst>
              </a:tr>
            </a:tbl>
          </a:graphicData>
        </a:graphic>
      </p:graphicFrame>
      <p:cxnSp>
        <p:nvCxnSpPr>
          <p:cNvPr id="75" name="직선 연결선 54">
            <a:extLst>
              <a:ext uri="{FF2B5EF4-FFF2-40B4-BE49-F238E27FC236}">
                <a16:creationId xmlns:a16="http://schemas.microsoft.com/office/drawing/2014/main" id="{F9F11904-D0E1-F0C2-DBD7-23A76093CDF5}"/>
              </a:ext>
            </a:extLst>
          </p:cNvPr>
          <p:cNvCxnSpPr>
            <a:cxnSpLocks noChangeShapeType="1"/>
            <a:stCxn id="61" idx="2"/>
            <a:endCxn id="54" idx="0"/>
          </p:cNvCxnSpPr>
          <p:nvPr/>
        </p:nvCxnSpPr>
        <p:spPr bwMode="auto">
          <a:xfrm>
            <a:off x="725776" y="1048739"/>
            <a:ext cx="1079744" cy="1"/>
          </a:xfrm>
          <a:prstGeom prst="line">
            <a:avLst/>
          </a:prstGeom>
          <a:noFill/>
          <a:ln w="9525" algn="ctr">
            <a:solidFill>
              <a:srgbClr val="FFFFFF">
                <a:lumMod val="75000"/>
              </a:srgbClr>
            </a:solidFill>
            <a:prstDash val="dash"/>
            <a:round/>
            <a:headEnd/>
            <a:tailEnd/>
          </a:ln>
        </p:spPr>
      </p:cxnSp>
      <p:sp>
        <p:nvSpPr>
          <p:cNvPr id="76" name="TextBox 75">
            <a:extLst>
              <a:ext uri="{FF2B5EF4-FFF2-40B4-BE49-F238E27FC236}">
                <a16:creationId xmlns:a16="http://schemas.microsoft.com/office/drawing/2014/main" id="{E2952C05-23D7-E702-216B-0E8A6B4CAAFC}"/>
              </a:ext>
            </a:extLst>
          </p:cNvPr>
          <p:cNvSpPr txBox="1"/>
          <p:nvPr/>
        </p:nvSpPr>
        <p:spPr>
          <a:xfrm>
            <a:off x="406631" y="4623080"/>
            <a:ext cx="235670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*Drawer : Sharp ODM drawer (SKS) </a:t>
            </a:r>
          </a:p>
          <a:p>
            <a:pPr>
              <a:defRPr/>
            </a:pP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               </a:t>
            </a:r>
            <a:r>
              <a:rPr lang="ko-KR" altLang="en-US" sz="800" b="0" u="sng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인출 </a:t>
            </a:r>
            <a:r>
              <a:rPr lang="ko-KR" altLang="en-US" sz="800" b="0" u="sng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불량건</a:t>
            </a:r>
            <a:r>
              <a:rPr lang="ko-KR" altLang="en-US" sz="800" b="0" u="sng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lang="en-US" altLang="ko-KR" sz="800" b="0" u="sng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1.13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포함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(1155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대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, 13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건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)</a:t>
            </a:r>
          </a:p>
          <a:p>
            <a:pPr>
              <a:defRPr/>
            </a:pPr>
            <a:endParaRPr lang="en-US" altLang="ko-KR" sz="800" b="0" dirty="0">
              <a:solidFill>
                <a:srgbClr val="0066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  <a:sym typeface="Wingdings" panose="05000000000000000000" pitchFamily="2" charset="2"/>
            </a:endParaRPr>
          </a:p>
          <a:p>
            <a:pPr>
              <a:defRPr/>
            </a:pP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**LCD : 7” </a:t>
            </a:r>
            <a:r>
              <a:rPr lang="en-US" altLang="ko-KR" sz="800" b="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WallOV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L12M 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0.39 (5624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대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, 22</a:t>
            </a:r>
            <a:r>
              <a:rPr lang="ko-KR" altLang="en-US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건</a:t>
            </a:r>
            <a:r>
              <a:rPr lang="en-US" altLang="ko-KR" sz="8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  <a:sym typeface="Wingdings" panose="05000000000000000000" pitchFamily="2" charset="2"/>
              </a:rPr>
              <a:t>)</a:t>
            </a:r>
          </a:p>
        </p:txBody>
      </p:sp>
      <p:sp>
        <p:nvSpPr>
          <p:cNvPr id="79" name="실행 단추: 돌아가기 78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A9A34B1-7DBF-B20B-D28A-E06E07E28DB2}"/>
              </a:ext>
            </a:extLst>
          </p:cNvPr>
          <p:cNvSpPr>
            <a:spLocks noChangeAspect="1"/>
          </p:cNvSpPr>
          <p:nvPr/>
        </p:nvSpPr>
        <p:spPr>
          <a:xfrm>
            <a:off x="9504547" y="100259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굴림"/>
              <a:ea typeface="굴림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110314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1DF4C1-AE84-6A5C-F53E-A5C948054D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02" name="Group 2">
            <a:extLst>
              <a:ext uri="{FF2B5EF4-FFF2-40B4-BE49-F238E27FC236}">
                <a16:creationId xmlns:a16="http://schemas.microsoft.com/office/drawing/2014/main" id="{C097C245-7AA1-A7AA-AF9E-02BC27252DBB}"/>
              </a:ext>
            </a:extLst>
          </p:cNvPr>
          <p:cNvGraphicFramePr>
            <a:graphicFrameLocks noGrp="1"/>
          </p:cNvGraphicFramePr>
          <p:nvPr/>
        </p:nvGraphicFramePr>
        <p:xfrm>
          <a:off x="492370" y="620690"/>
          <a:ext cx="8979877" cy="6104345"/>
        </p:xfrm>
        <a:graphic>
          <a:graphicData uri="http://schemas.openxmlformats.org/drawingml/2006/table">
            <a:tbl>
              <a:tblPr/>
              <a:tblGrid>
                <a:gridCol w="8979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8294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NPI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내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Activity </a:t>
                      </a: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선정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심의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확정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10975" marR="110975" marT="57707" marB="57707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06051">
                <a:tc>
                  <a:txBody>
                    <a:bodyPr/>
                    <a:lstStyle/>
                    <a:p>
                      <a:pPr marL="552450" marR="0" lvl="0" indent="-55245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0975" marR="110975" marT="57707" marB="57707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406" name="Text Box 314">
            <a:extLst>
              <a:ext uri="{FF2B5EF4-FFF2-40B4-BE49-F238E27FC236}">
                <a16:creationId xmlns:a16="http://schemas.microsoft.com/office/drawing/2014/main" id="{C6D4AD1A-0813-B135-54AD-D0F8BE555D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5130" y="692696"/>
            <a:ext cx="2151551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실행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Activity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선정 시 “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 X”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표기 할 것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1274BA69-8B82-B12E-AA91-74F04B2889F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92369" y="80832"/>
            <a:ext cx="8964000" cy="484188"/>
          </a:xfrm>
          <a:prstGeom prst="rect">
            <a:avLst/>
          </a:prstGeom>
          <a:noFill/>
          <a:ln w="19050">
            <a:solidFill>
              <a:srgbClr val="000080"/>
            </a:solidFill>
            <a:miter lim="800000"/>
            <a:headEnd/>
            <a:tailEnd/>
          </a:ln>
        </p:spPr>
        <p:txBody>
          <a:bodyPr rot="10800000" wrap="none" lIns="95728" tIns="47863" rIns="95728" bIns="47863" anchor="ctr"/>
          <a:lstStyle/>
          <a:p>
            <a:pPr algn="ctr" defTabSz="960087"/>
            <a:endParaRPr lang="ko-KR" altLang="ko-KR" sz="22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0" name="Rectangle 662">
            <a:extLst>
              <a:ext uri="{FF2B5EF4-FFF2-40B4-BE49-F238E27FC236}">
                <a16:creationId xmlns:a16="http://schemas.microsoft.com/office/drawing/2014/main" id="{2EFB1073-5B87-AAB9-ADAE-5CC62CFE4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4882" y="322132"/>
            <a:ext cx="498475" cy="236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892" tIns="45892" rIns="45892" bIns="45892" anchor="ctr"/>
          <a:lstStyle/>
          <a:p>
            <a:pPr algn="ctr" defTabSz="960087">
              <a:spcBef>
                <a:spcPct val="20000"/>
              </a:spcBef>
            </a:pPr>
            <a:endParaRPr lang="ko-KR" altLang="ko-KR" sz="9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1" name="Rectangle 661">
            <a:extLst>
              <a:ext uri="{FF2B5EF4-FFF2-40B4-BE49-F238E27FC236}">
                <a16:creationId xmlns:a16="http://schemas.microsoft.com/office/drawing/2014/main" id="{9C7F9410-3D32-DD0F-B983-72BA2B9FB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6317" y="322132"/>
            <a:ext cx="498475" cy="236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892" tIns="45892" rIns="45892" bIns="45892" anchor="ctr"/>
          <a:lstStyle/>
          <a:p>
            <a:pPr algn="ctr" defTabSz="960087">
              <a:spcBef>
                <a:spcPct val="20000"/>
              </a:spcBef>
            </a:pPr>
            <a:r>
              <a:rPr lang="en-US" altLang="ko-KR" sz="9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●</a:t>
            </a:r>
          </a:p>
        </p:txBody>
      </p:sp>
      <p:sp>
        <p:nvSpPr>
          <p:cNvPr id="22" name="Rectangle 659">
            <a:extLst>
              <a:ext uri="{FF2B5EF4-FFF2-40B4-BE49-F238E27FC236}">
                <a16:creationId xmlns:a16="http://schemas.microsoft.com/office/drawing/2014/main" id="{AFB9DA14-1A5C-8BFF-4E13-356D896FC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4881" y="82420"/>
            <a:ext cx="498475" cy="239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892" tIns="45892" rIns="45892" bIns="45892" anchor="ctr"/>
          <a:lstStyle/>
          <a:p>
            <a:pPr algn="ctr" defTabSz="960087">
              <a:spcBef>
                <a:spcPct val="20000"/>
              </a:spcBef>
            </a:pPr>
            <a:r>
              <a:rPr lang="ko-KR" altLang="en-US" sz="9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회의록</a:t>
            </a:r>
          </a:p>
        </p:txBody>
      </p:sp>
      <p:sp>
        <p:nvSpPr>
          <p:cNvPr id="23" name="Rectangle 658">
            <a:extLst>
              <a:ext uri="{FF2B5EF4-FFF2-40B4-BE49-F238E27FC236}">
                <a16:creationId xmlns:a16="http://schemas.microsoft.com/office/drawing/2014/main" id="{180DEBCE-E1FF-857D-54CB-92CBDEFE0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6407" y="82420"/>
            <a:ext cx="498475" cy="239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892" tIns="45892" rIns="45892" bIns="45892" anchor="ctr"/>
          <a:lstStyle/>
          <a:p>
            <a:pPr algn="ctr" defTabSz="960087">
              <a:spcBef>
                <a:spcPct val="20000"/>
              </a:spcBef>
            </a:pPr>
            <a:r>
              <a:rPr lang="ko-KR" altLang="en-US" sz="9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의뢰서</a:t>
            </a:r>
          </a:p>
        </p:txBody>
      </p:sp>
      <p:sp>
        <p:nvSpPr>
          <p:cNvPr id="24" name="Line 667">
            <a:extLst>
              <a:ext uri="{FF2B5EF4-FFF2-40B4-BE49-F238E27FC236}">
                <a16:creationId xmlns:a16="http://schemas.microsoft.com/office/drawing/2014/main" id="{2F202436-21B7-380C-2617-2FB155F109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56399" y="82420"/>
            <a:ext cx="0" cy="476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lIns="35988" tIns="35988" rIns="35988" bIns="35988" anchor="ctr"/>
          <a:lstStyle/>
          <a:p>
            <a:endParaRPr lang="ko-KR" altLang="en-US" sz="19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5" name="Line 668">
            <a:extLst>
              <a:ext uri="{FF2B5EF4-FFF2-40B4-BE49-F238E27FC236}">
                <a16:creationId xmlns:a16="http://schemas.microsoft.com/office/drawing/2014/main" id="{A6300BC4-07E1-4B85-3E3F-C26968F8DAF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54874" y="82420"/>
            <a:ext cx="0" cy="476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lIns="35988" tIns="35988" rIns="35988" bIns="35988" anchor="ctr"/>
          <a:lstStyle/>
          <a:p>
            <a:endParaRPr lang="ko-KR" altLang="en-US" sz="19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6" name="Line 691">
            <a:extLst>
              <a:ext uri="{FF2B5EF4-FFF2-40B4-BE49-F238E27FC236}">
                <a16:creationId xmlns:a16="http://schemas.microsoft.com/office/drawing/2014/main" id="{6F9E5AA4-94AA-8B6A-E789-B127735FCF0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56403" y="322132"/>
            <a:ext cx="9969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lIns="35988" tIns="35988" rIns="35988" bIns="35988" anchor="ctr"/>
          <a:lstStyle/>
          <a:p>
            <a:endParaRPr lang="ko-KR" altLang="en-US" sz="19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27" name="Text Box 723">
            <a:extLst>
              <a:ext uri="{FF2B5EF4-FFF2-40B4-BE49-F238E27FC236}">
                <a16:creationId xmlns:a16="http://schemas.microsoft.com/office/drawing/2014/main" id="{05ED8372-A5AA-FD2A-0883-F41F03A1E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69091" y="25270"/>
            <a:ext cx="260652" cy="265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5728" tIns="47863" rIns="95728" bIns="47863">
            <a:spAutoFit/>
          </a:bodyPr>
          <a:lstStyle/>
          <a:p>
            <a:pPr defTabSz="960087"/>
            <a:r>
              <a:rPr lang="en-US" altLang="ko-KR" sz="1100" dirty="0">
                <a:solidFill>
                  <a:srgbClr val="FF0000"/>
                </a:solidFill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*</a:t>
            </a:r>
          </a:p>
        </p:txBody>
      </p:sp>
      <p:sp>
        <p:nvSpPr>
          <p:cNvPr id="28" name="Rectangle 1442">
            <a:extLst>
              <a:ext uri="{FF2B5EF4-FFF2-40B4-BE49-F238E27FC236}">
                <a16:creationId xmlns:a16="http://schemas.microsoft.com/office/drawing/2014/main" id="{B60BC73F-7B54-571C-6634-BF83B5FC23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371446" y="107820"/>
            <a:ext cx="5163108" cy="431800"/>
          </a:xfrm>
          <a:ln>
            <a:miter lim="800000"/>
            <a:headEnd/>
            <a:tailEnd/>
          </a:ln>
        </p:spPr>
        <p:txBody>
          <a:bodyPr vert="horz" wrap="square" lIns="91407" tIns="45704" rIns="91407" bIns="45704" numCol="1" anchor="t" anchorCtr="0" compatLnSpc="1">
            <a:prstTxWarp prst="textNoShape">
              <a:avLst/>
            </a:prstTxWarp>
            <a:normAutofit/>
          </a:bodyPr>
          <a:lstStyle/>
          <a:p>
            <a:pPr eaLnBrk="1" hangingPunct="1">
              <a:defRPr/>
            </a:pPr>
            <a:r>
              <a:rPr lang="ko-KR" altLang="en-US" sz="2100" b="1" dirty="0"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itchFamily="50" charset="-127"/>
                <a:ea typeface="LG스마트체 Regular" pitchFamily="50" charset="-127"/>
                <a:cs typeface="Arial" pitchFamily="34" charset="0"/>
              </a:rPr>
              <a:t>개발 유형 및 등급 확정 심의회</a:t>
            </a:r>
          </a:p>
        </p:txBody>
      </p:sp>
      <p:sp>
        <p:nvSpPr>
          <p:cNvPr id="33" name="Text Box 314">
            <a:extLst>
              <a:ext uri="{FF2B5EF4-FFF2-40B4-BE49-F238E27FC236}">
                <a16:creationId xmlns:a16="http://schemas.microsoft.com/office/drawing/2014/main" id="{CF4BEA1F-8EF7-571E-CDFC-29798D5BE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369" y="654598"/>
            <a:ext cx="210826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100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1-1.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개발유형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일반제품개발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(NXI Ca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29" name="Text Box 314">
            <a:extLst>
              <a:ext uri="{FF2B5EF4-FFF2-40B4-BE49-F238E27FC236}">
                <a16:creationId xmlns:a16="http://schemas.microsoft.com/office/drawing/2014/main" id="{F1023C42-20EB-D1B1-4A0C-6A2FFAC09B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5251" y="725047"/>
            <a:ext cx="1345241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algn="r" defTabSz="886575"/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R: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필수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Y: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옵션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빈칸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N/A</a:t>
            </a:r>
          </a:p>
        </p:txBody>
      </p:sp>
      <p:sp>
        <p:nvSpPr>
          <p:cNvPr id="32" name="실행 단추: 돌아가기 3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3FB8D9B-CD32-3AAF-E3B1-1E560CACC161}"/>
              </a:ext>
            </a:extLst>
          </p:cNvPr>
          <p:cNvSpPr>
            <a:spLocks noChangeAspect="1"/>
          </p:cNvSpPr>
          <p:nvPr/>
        </p:nvSpPr>
        <p:spPr>
          <a:xfrm>
            <a:off x="8039305" y="159868"/>
            <a:ext cx="288000" cy="288000"/>
          </a:xfrm>
          <a:prstGeom prst="actionButtonReturn">
            <a:avLst/>
          </a:prstGeom>
          <a:ln w="3175"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94DA6D9-3F0C-6510-F0A9-46DD325601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6245764"/>
              </p:ext>
            </p:extLst>
          </p:nvPr>
        </p:nvGraphicFramePr>
        <p:xfrm>
          <a:off x="904101" y="1141084"/>
          <a:ext cx="8297373" cy="4909830"/>
        </p:xfrm>
        <a:graphic>
          <a:graphicData uri="http://schemas.openxmlformats.org/drawingml/2006/table">
            <a:tbl>
              <a:tblPr/>
              <a:tblGrid>
                <a:gridCol w="2104683">
                  <a:extLst>
                    <a:ext uri="{9D8B030D-6E8A-4147-A177-3AD203B41FA5}">
                      <a16:colId xmlns:a16="http://schemas.microsoft.com/office/drawing/2014/main" val="2438379807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3904553420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532181445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101229905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20859526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42985049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427212730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3078507630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45216265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32763307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188651277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1840892455"/>
                    </a:ext>
                  </a:extLst>
                </a:gridCol>
                <a:gridCol w="1440162">
                  <a:extLst>
                    <a:ext uri="{9D8B030D-6E8A-4147-A177-3AD203B41FA5}">
                      <a16:colId xmlns:a16="http://schemas.microsoft.com/office/drawing/2014/main" val="1360929181"/>
                    </a:ext>
                  </a:extLst>
                </a:gridCol>
              </a:tblGrid>
              <a:tr h="13597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ACTIVITY_NAME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ROLE_NAME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B_EC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B_HWSW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B_4NEW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Ca_Mi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심의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9406027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Pre CP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871226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상품화 워크샵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8642120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컨셉 고객경험 평가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694642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디자인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영업요구조건 의뢰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4449511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디자인 의뢰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1260883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통합 렌더링 리뷰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6835561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통합 디자인 리뷰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157684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경쟁사 현상 분석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19507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CMR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경쟁력 분석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목표설정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2537240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AI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경쟁력 분석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목표설정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4862190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시장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 품질 목표 설정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3118679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디자인 구현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3F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목표설정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3F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4766877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선행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FMEA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2205350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UXP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구현 설계서 작성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21352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UXP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구현 설계 심의회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4786528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연구소 선행기술 완성도점검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0710454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통합 목업 리뷰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825545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통합 렌더링 품평회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디자인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8046181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영업요구조건서 등록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영업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9412507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수익성 검토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Pre-CP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간소화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(1.23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배포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6542621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통합 목업 심의회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디자인담당자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1404945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LGE) Pre-CP Final Review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3039416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Pre-CP(G2)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Gate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6534498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CP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4614658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프로젝트 확정 등록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팀원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1401618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목업품 고객경험 평가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7669886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고객경험 평가 리뷰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138231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프로젝트 수익성 분석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01530"/>
                  </a:ext>
                </a:extLst>
              </a:tr>
              <a:tr h="13597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CP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품평회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47392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541315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02" name="Group 2"/>
          <p:cNvGraphicFramePr>
            <a:graphicFrameLocks noGrp="1"/>
          </p:cNvGraphicFramePr>
          <p:nvPr/>
        </p:nvGraphicFramePr>
        <p:xfrm>
          <a:off x="492370" y="144425"/>
          <a:ext cx="8979877" cy="6596945"/>
        </p:xfrm>
        <a:graphic>
          <a:graphicData uri="http://schemas.openxmlformats.org/drawingml/2006/table">
            <a:tbl>
              <a:tblPr/>
              <a:tblGrid>
                <a:gridCol w="8979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2236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NPI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내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Activity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선정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심의 확정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10975" marR="110975" marT="57707" marB="57707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74580">
                <a:tc>
                  <a:txBody>
                    <a:bodyPr/>
                    <a:lstStyle/>
                    <a:p>
                      <a:pPr marL="552450" marR="0" lvl="0" indent="-55245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0975" marR="110975" marT="57707" marB="57707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406" name="Text Box 314"/>
          <p:cNvSpPr txBox="1">
            <a:spLocks noChangeArrowheads="1"/>
          </p:cNvSpPr>
          <p:nvPr/>
        </p:nvSpPr>
        <p:spPr bwMode="auto">
          <a:xfrm>
            <a:off x="6105129" y="216431"/>
            <a:ext cx="2151551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실행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Activity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선정 시 “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 X”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표기 할 것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33" name="Text Box 314"/>
          <p:cNvSpPr txBox="1">
            <a:spLocks noChangeArrowheads="1"/>
          </p:cNvSpPr>
          <p:nvPr/>
        </p:nvSpPr>
        <p:spPr bwMode="auto">
          <a:xfrm>
            <a:off x="492369" y="178332"/>
            <a:ext cx="212750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1-1.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개발유형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일반제품개발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(NXI Ca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00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6A148F-6B6C-D2E2-FF70-2E3C4F6B6B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1612287"/>
              </p:ext>
            </p:extLst>
          </p:nvPr>
        </p:nvGraphicFramePr>
        <p:xfrm>
          <a:off x="704528" y="583820"/>
          <a:ext cx="8640960" cy="5852284"/>
        </p:xfrm>
        <a:graphic>
          <a:graphicData uri="http://schemas.openxmlformats.org/drawingml/2006/table">
            <a:tbl>
              <a:tblPr/>
              <a:tblGrid>
                <a:gridCol w="2559572">
                  <a:extLst>
                    <a:ext uri="{9D8B030D-6E8A-4147-A177-3AD203B41FA5}">
                      <a16:colId xmlns:a16="http://schemas.microsoft.com/office/drawing/2014/main" val="3710897472"/>
                    </a:ext>
                  </a:extLst>
                </a:gridCol>
                <a:gridCol w="1159685">
                  <a:extLst>
                    <a:ext uri="{9D8B030D-6E8A-4147-A177-3AD203B41FA5}">
                      <a16:colId xmlns:a16="http://schemas.microsoft.com/office/drawing/2014/main" val="420044745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2951237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796075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094282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9702551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09032050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140497791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219221120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05646289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4065237547"/>
                    </a:ext>
                  </a:extLst>
                </a:gridCol>
                <a:gridCol w="323908">
                  <a:extLst>
                    <a:ext uri="{9D8B030D-6E8A-4147-A177-3AD203B41FA5}">
                      <a16:colId xmlns:a16="http://schemas.microsoft.com/office/drawing/2014/main" val="261092554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3387573746"/>
                    </a:ext>
                  </a:extLst>
                </a:gridCol>
              </a:tblGrid>
              <a:tr h="12798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ACTIVITY_NAME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ROLE_NAME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B_EC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B_HWSW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B_4NEW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Ca_Mi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심의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83487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DV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3395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상품화 방향보고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66157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CMR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경쟁력 분석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목표설정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833089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개발부품 마스터 등록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2023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모듈러 디자인 검토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42010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FMEA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09106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FMEA(B_HW/SW, B_4NEW, Ca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 이하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17008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UXP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 및 마케팅 활동 계획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마케팅 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929919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제어요구 조건서 송부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726505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PL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안전성 리뷰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949427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시장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공정품질개선리뷰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(Ca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 이하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08933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친환경 검토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친환경담당자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3605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친환경 검토 결과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(Ca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등급 이하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친환경담당자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7066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특허 점검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특허 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5390214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상표권 점검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마케팅 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85836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서비스성 및 공용화 검토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70323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디자인 의장시방서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디자인담당자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332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글로벌 동시 론칭 계획 확정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마케팅 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521463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고객경험 설계 구조구성 리뷰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89162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고객경험 설계기준서 확정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35681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도면 심의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확정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17459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투자비 심의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394632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App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의뢰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063180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BOM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심의 확정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5089989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표시광고 사전점검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마케팅 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77969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고객경험 가상검증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인정시험 기획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02962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부품 인정시험 기획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4926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신뢰성 시험 기획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4815189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금형품 제작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809589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금형품 검증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38015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설계 완료 리뷰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7923084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개발일정변경기준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4945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LGE) DV DGMS C/List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승인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901726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목표 재료비 리뷰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부품개발구매담당자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528899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제품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Spec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(PV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미실시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PJT)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0637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168971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C6AD0-8404-7154-F6FA-F4CFEFAEBD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02" name="Group 2">
            <a:extLst>
              <a:ext uri="{FF2B5EF4-FFF2-40B4-BE49-F238E27FC236}">
                <a16:creationId xmlns:a16="http://schemas.microsoft.com/office/drawing/2014/main" id="{7CB81FF0-8095-4AD6-EE28-0EF6F2544BB6}"/>
              </a:ext>
            </a:extLst>
          </p:cNvPr>
          <p:cNvGraphicFramePr>
            <a:graphicFrameLocks noGrp="1"/>
          </p:cNvGraphicFramePr>
          <p:nvPr/>
        </p:nvGraphicFramePr>
        <p:xfrm>
          <a:off x="492370" y="144425"/>
          <a:ext cx="8979877" cy="6596945"/>
        </p:xfrm>
        <a:graphic>
          <a:graphicData uri="http://schemas.openxmlformats.org/drawingml/2006/table">
            <a:tbl>
              <a:tblPr/>
              <a:tblGrid>
                <a:gridCol w="8979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2236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NPI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내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Activity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선정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심의 확정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10975" marR="110975" marT="57707" marB="57707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74580">
                <a:tc>
                  <a:txBody>
                    <a:bodyPr/>
                    <a:lstStyle/>
                    <a:p>
                      <a:pPr marL="552450" marR="0" lvl="0" indent="-55245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0975" marR="110975" marT="57707" marB="57707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406" name="Text Box 314">
            <a:extLst>
              <a:ext uri="{FF2B5EF4-FFF2-40B4-BE49-F238E27FC236}">
                <a16:creationId xmlns:a16="http://schemas.microsoft.com/office/drawing/2014/main" id="{4BCE060C-6890-0C86-1035-204A86E8F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5129" y="216431"/>
            <a:ext cx="2151551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실행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Activity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선정 시 “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 X”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표기 할 것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33" name="Text Box 314">
            <a:extLst>
              <a:ext uri="{FF2B5EF4-FFF2-40B4-BE49-F238E27FC236}">
                <a16:creationId xmlns:a16="http://schemas.microsoft.com/office/drawing/2014/main" id="{8AD3AA47-E556-D2F0-5C77-FD15D0E692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369" y="178332"/>
            <a:ext cx="210826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1-1.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개발유형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일반제품개발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(NXI Ca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00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3E7D419-9F9F-1A76-A635-9042DD0A48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982268"/>
              </p:ext>
            </p:extLst>
          </p:nvPr>
        </p:nvGraphicFramePr>
        <p:xfrm>
          <a:off x="704528" y="574326"/>
          <a:ext cx="8640960" cy="6098473"/>
        </p:xfrm>
        <a:graphic>
          <a:graphicData uri="http://schemas.openxmlformats.org/drawingml/2006/table">
            <a:tbl>
              <a:tblPr/>
              <a:tblGrid>
                <a:gridCol w="2559572">
                  <a:extLst>
                    <a:ext uri="{9D8B030D-6E8A-4147-A177-3AD203B41FA5}">
                      <a16:colId xmlns:a16="http://schemas.microsoft.com/office/drawing/2014/main" val="3710897472"/>
                    </a:ext>
                  </a:extLst>
                </a:gridCol>
                <a:gridCol w="1159685">
                  <a:extLst>
                    <a:ext uri="{9D8B030D-6E8A-4147-A177-3AD203B41FA5}">
                      <a16:colId xmlns:a16="http://schemas.microsoft.com/office/drawing/2014/main" val="420044745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2951237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796075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094282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9702551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09032050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140497791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219221120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05646289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4065237547"/>
                    </a:ext>
                  </a:extLst>
                </a:gridCol>
                <a:gridCol w="323908">
                  <a:extLst>
                    <a:ext uri="{9D8B030D-6E8A-4147-A177-3AD203B41FA5}">
                      <a16:colId xmlns:a16="http://schemas.microsoft.com/office/drawing/2014/main" val="261092554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3387573746"/>
                    </a:ext>
                  </a:extLst>
                </a:gridCol>
              </a:tblGrid>
              <a:tr h="12798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ACTIVITY_NAME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ROLE_NAME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B_EC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B_HWSW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B_4NEW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Ca_Mi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심의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83487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DV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3395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규격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규제 검토 의뢰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계획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(DV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규격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833089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규격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규제 검토의뢰 및 승인결과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규격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2023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DV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제작 준비점검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42010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DV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시작기술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09106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FMEA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업데이트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17008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인쇄물 점검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929919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프로젝트 수익성 분석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(DV Event)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726505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안전성 리뷰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949427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Pain Point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08933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시장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 품질 개선 리뷰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3605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Data NXI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지표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데이터플랫폼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Task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7066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P-Gate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시작기술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5390214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협력사 양산성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부품개발구매담당자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85836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SQE Pre-IQ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SQE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70323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3F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평가 결과 점검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3F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332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신규 부품 개발완료 점검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제품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부품개발구매담당자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521463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마케팅 활동 점검 및 계획 확정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마케팅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89162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친환경 검토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친환경담당자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35681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고객품질연구소 신제품 평가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고객품질연구소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17459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고객품질연구소 신제품 평가 대책결과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394632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금형품 고객경험 평가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신제품 평가 담당자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개발품질심사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063180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실사용 고객경험 평가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5089989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서비스 준비 점검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77969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고객경험 가상검증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인정시험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02962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신뢰성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DRBTR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4926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DV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고객경험 평가 리뷰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4815189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Virtual Production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용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 Data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D2C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컨텐츠운영팀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809589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FRP(Final Review for Production)-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북미향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유럽향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38015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3rd Party Test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7923084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LGE) DV Final 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4945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DV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품평회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90172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814563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CB5015-D69A-9403-1B4C-DEDBB47C9E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02" name="Group 2">
            <a:extLst>
              <a:ext uri="{FF2B5EF4-FFF2-40B4-BE49-F238E27FC236}">
                <a16:creationId xmlns:a16="http://schemas.microsoft.com/office/drawing/2014/main" id="{2A045DE7-B857-D1FA-7D1F-5A2FE5C8EEA8}"/>
              </a:ext>
            </a:extLst>
          </p:cNvPr>
          <p:cNvGraphicFramePr>
            <a:graphicFrameLocks noGrp="1"/>
          </p:cNvGraphicFramePr>
          <p:nvPr/>
        </p:nvGraphicFramePr>
        <p:xfrm>
          <a:off x="492370" y="144425"/>
          <a:ext cx="8979877" cy="6596945"/>
        </p:xfrm>
        <a:graphic>
          <a:graphicData uri="http://schemas.openxmlformats.org/drawingml/2006/table">
            <a:tbl>
              <a:tblPr/>
              <a:tblGrid>
                <a:gridCol w="8979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2236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NPI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내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Activity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선정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심의 확정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10975" marR="110975" marT="57707" marB="57707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74580">
                <a:tc>
                  <a:txBody>
                    <a:bodyPr/>
                    <a:lstStyle/>
                    <a:p>
                      <a:pPr marL="552450" marR="0" lvl="0" indent="-55245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0975" marR="110975" marT="57707" marB="57707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406" name="Text Box 314">
            <a:extLst>
              <a:ext uri="{FF2B5EF4-FFF2-40B4-BE49-F238E27FC236}">
                <a16:creationId xmlns:a16="http://schemas.microsoft.com/office/drawing/2014/main" id="{7BD925AF-BD76-4670-B960-8BDEA3F82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5129" y="216431"/>
            <a:ext cx="2151551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실행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Activity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선정 시 “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 X”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표기 할 것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33" name="Text Box 314">
            <a:extLst>
              <a:ext uri="{FF2B5EF4-FFF2-40B4-BE49-F238E27FC236}">
                <a16:creationId xmlns:a16="http://schemas.microsoft.com/office/drawing/2014/main" id="{1AB638C8-199A-7C3F-28AB-EBF384AE6B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369" y="178332"/>
            <a:ext cx="210826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1-1.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개발유형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일반제품개발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(NXI Ca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00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EC1B0E2-FCB0-0E81-5D9F-5DF99B2C61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5490105"/>
              </p:ext>
            </p:extLst>
          </p:nvPr>
        </p:nvGraphicFramePr>
        <p:xfrm>
          <a:off x="704528" y="574326"/>
          <a:ext cx="8640960" cy="3387556"/>
        </p:xfrm>
        <a:graphic>
          <a:graphicData uri="http://schemas.openxmlformats.org/drawingml/2006/table">
            <a:tbl>
              <a:tblPr/>
              <a:tblGrid>
                <a:gridCol w="2559572">
                  <a:extLst>
                    <a:ext uri="{9D8B030D-6E8A-4147-A177-3AD203B41FA5}">
                      <a16:colId xmlns:a16="http://schemas.microsoft.com/office/drawing/2014/main" val="3710897472"/>
                    </a:ext>
                  </a:extLst>
                </a:gridCol>
                <a:gridCol w="1159685">
                  <a:extLst>
                    <a:ext uri="{9D8B030D-6E8A-4147-A177-3AD203B41FA5}">
                      <a16:colId xmlns:a16="http://schemas.microsoft.com/office/drawing/2014/main" val="420044745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2951237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796075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094282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9702551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09032050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140497791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219221120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05646289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4065237547"/>
                    </a:ext>
                  </a:extLst>
                </a:gridCol>
                <a:gridCol w="323908">
                  <a:extLst>
                    <a:ext uri="{9D8B030D-6E8A-4147-A177-3AD203B41FA5}">
                      <a16:colId xmlns:a16="http://schemas.microsoft.com/office/drawing/2014/main" val="261092554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3387573746"/>
                    </a:ext>
                  </a:extLst>
                </a:gridCol>
              </a:tblGrid>
              <a:tr h="12798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ACTIVITY_NAME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ROLE_NAME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B_EC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B_HWSW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B_4NEW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Ca_Mi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심의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83487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PV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833089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PV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시작기술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2023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표시광고 사전점검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(2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마케팅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42010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규격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규제 승인 결과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(PV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규격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09106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제품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Spec.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17008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3F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평가 결과 점검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3F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929919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인쇄물 점검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726505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프로젝트 수익성 분석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(PV Event)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개발리더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P/Leader)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949427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P-Gate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시작기술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08933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LGE) PV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인정 시험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3605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Post NXI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활동 계획 수립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7066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LGE)PV Final 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시작기술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5390214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PV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품평회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시작기술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85836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Pre MP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70323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규격등록정보 일치성 점검결과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332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Pre MP / 1st MP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제조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521463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889162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M+6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품질 개선 활동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Task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35681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Post NXI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1745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548229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02" name="Group 2"/>
          <p:cNvGraphicFramePr>
            <a:graphicFrameLocks noGrp="1"/>
          </p:cNvGraphicFramePr>
          <p:nvPr/>
        </p:nvGraphicFramePr>
        <p:xfrm>
          <a:off x="492370" y="144425"/>
          <a:ext cx="8979877" cy="6596945"/>
        </p:xfrm>
        <a:graphic>
          <a:graphicData uri="http://schemas.openxmlformats.org/drawingml/2006/table">
            <a:tbl>
              <a:tblPr/>
              <a:tblGrid>
                <a:gridCol w="8979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22365">
                <a:tc>
                  <a:txBody>
                    <a:bodyPr/>
                    <a:lstStyle/>
                    <a:p>
                      <a:pPr marL="0" marR="0" lvl="0" indent="0" algn="ctr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NPI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내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Activity 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선정 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심의 확정</a:t>
                      </a: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10975" marR="110975" marT="57707" marB="57707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74580">
                <a:tc>
                  <a:txBody>
                    <a:bodyPr/>
                    <a:lstStyle/>
                    <a:p>
                      <a:pPr marL="552450" marR="0" lvl="0" indent="-552450" algn="l" defTabSz="960438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10975" marR="110975" marT="57707" marB="57707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406" name="Text Box 314"/>
          <p:cNvSpPr txBox="1">
            <a:spLocks noChangeArrowheads="1"/>
          </p:cNvSpPr>
          <p:nvPr/>
        </p:nvSpPr>
        <p:spPr bwMode="auto">
          <a:xfrm>
            <a:off x="6105129" y="216431"/>
            <a:ext cx="2151551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실행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Activity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선정 시 “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 X” </a:t>
            </a:r>
            <a:r>
              <a:rPr lang="ko-KR" altLang="en-US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</a:t>
            </a:r>
            <a:r>
              <a:rPr lang="ko-KR" altLang="en-US" sz="900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표기 할 것</a:t>
            </a:r>
            <a:r>
              <a:rPr lang="en-US" altLang="ko-KR" sz="900" b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33" name="Text Box 314"/>
          <p:cNvSpPr txBox="1">
            <a:spLocks noChangeArrowheads="1"/>
          </p:cNvSpPr>
          <p:nvPr/>
        </p:nvSpPr>
        <p:spPr bwMode="auto">
          <a:xfrm>
            <a:off x="492369" y="178332"/>
            <a:ext cx="210826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316529" indent="-316529" defTabSz="886575"/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1-1.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개발유형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일반제품개발 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(NXI Ca</a:t>
            </a:r>
            <a:r>
              <a:rPr lang="ko-KR" altLang="en-US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</a:t>
            </a:r>
            <a:r>
              <a:rPr lang="en-US" altLang="ko-KR" sz="100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00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537A690-7FF1-814F-0CAD-4D89D3E6A3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7968305"/>
              </p:ext>
            </p:extLst>
          </p:nvPr>
        </p:nvGraphicFramePr>
        <p:xfrm>
          <a:off x="704528" y="574326"/>
          <a:ext cx="8640960" cy="4330531"/>
        </p:xfrm>
        <a:graphic>
          <a:graphicData uri="http://schemas.openxmlformats.org/drawingml/2006/table">
            <a:tbl>
              <a:tblPr/>
              <a:tblGrid>
                <a:gridCol w="2559572">
                  <a:extLst>
                    <a:ext uri="{9D8B030D-6E8A-4147-A177-3AD203B41FA5}">
                      <a16:colId xmlns:a16="http://schemas.microsoft.com/office/drawing/2014/main" val="3710897472"/>
                    </a:ext>
                  </a:extLst>
                </a:gridCol>
                <a:gridCol w="1159685">
                  <a:extLst>
                    <a:ext uri="{9D8B030D-6E8A-4147-A177-3AD203B41FA5}">
                      <a16:colId xmlns:a16="http://schemas.microsoft.com/office/drawing/2014/main" val="420044745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2951237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796075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57094282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97025513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3090320501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1404977915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219221120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2305646289"/>
                    </a:ext>
                  </a:extLst>
                </a:gridCol>
                <a:gridCol w="374851">
                  <a:extLst>
                    <a:ext uri="{9D8B030D-6E8A-4147-A177-3AD203B41FA5}">
                      <a16:colId xmlns:a16="http://schemas.microsoft.com/office/drawing/2014/main" val="4065237547"/>
                    </a:ext>
                  </a:extLst>
                </a:gridCol>
                <a:gridCol w="323908">
                  <a:extLst>
                    <a:ext uri="{9D8B030D-6E8A-4147-A177-3AD203B41FA5}">
                      <a16:colId xmlns:a16="http://schemas.microsoft.com/office/drawing/2014/main" val="261092554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3387573746"/>
                    </a:ext>
                  </a:extLst>
                </a:gridCol>
              </a:tblGrid>
              <a:tr h="12798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ACTIVITY_NAME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ROLE_NAME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B_EC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B_HWSW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B_4NEW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Ca_Mi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Ca_SW</a:t>
                      </a: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심의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181" marR="6181" marT="61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83487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3395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HW FMEA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8330898"/>
                  </a:ext>
                </a:extLst>
              </a:tr>
              <a:tr h="10137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Artwork 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2023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HW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설계기준서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42010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회로부품 인정시험 기획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회로부품품질보증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09106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회로부품 신뢰성시험기획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회로부품품질보증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17008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HW 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929919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설계 완료 리뷰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726505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HW FMEA Update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949427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회로부품 신뢰성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DRBTR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회로부품품질보증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08933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HW Final 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360571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제어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0662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RD(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요구사항 정의 단계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5390214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요구사항 정의단계 상세 활동 수행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PL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85836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요구사항 확정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워크숍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상품기획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703237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Dev(SW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단계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PL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332205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개발단계 상세 활동 수행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521463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SW Feature Complete FDR / FC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PL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891620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LGE) QP(SW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인정시험단계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356810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인정시험단계 상세 활동 수행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PL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17459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SW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승인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DQA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3946328"/>
                  </a:ext>
                </a:extLst>
              </a:tr>
              <a:tr h="12798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Control Final DR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SW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 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817" marR="5817" marT="581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06318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75954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Line 14"/>
          <p:cNvSpPr>
            <a:spLocks noChangeShapeType="1"/>
          </p:cNvSpPr>
          <p:nvPr/>
        </p:nvSpPr>
        <p:spPr bwMode="auto">
          <a:xfrm>
            <a:off x="0" y="497375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662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TextBox 16"/>
          <p:cNvSpPr txBox="1"/>
          <p:nvPr/>
        </p:nvSpPr>
        <p:spPr>
          <a:xfrm>
            <a:off x="0" y="63497"/>
            <a:ext cx="543610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46859">
              <a:spcBef>
                <a:spcPct val="10000"/>
              </a:spcBef>
              <a:spcAft>
                <a:spcPct val="10000"/>
              </a:spcAft>
            </a:pP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유첨</a:t>
            </a: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유형 및 등급 확정 심의회 운영 기준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_NXI</a:t>
            </a:r>
            <a:endParaRPr lang="ko-KR" altLang="en-US" sz="20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13" name="Rectangle 157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057456" y="169859"/>
            <a:ext cx="362801" cy="255716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108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NXI</a:t>
            </a:r>
            <a:endParaRPr lang="ko-KR" altLang="en-US" sz="1108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7" name="Text Box 237">
            <a:extLst>
              <a:ext uri="{FF2B5EF4-FFF2-40B4-BE49-F238E27FC236}">
                <a16:creationId xmlns:a16="http://schemas.microsoft.com/office/drawing/2014/main" id="{AE3CD579-BD48-8952-829D-336EFEA3B1B1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14230" y="702579"/>
            <a:ext cx="3052342" cy="309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89696" tIns="46643" rIns="89696" bIns="46643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1300" b="1">
                <a:solidFill>
                  <a:schemeClr val="tx1"/>
                </a:solidFill>
                <a:latin typeface="Tahoma" pitchFamily="34" charset="0"/>
                <a:ea typeface="굴림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400" u="sng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 유형 및 등급 확정 심의회 </a:t>
            </a:r>
            <a:r>
              <a:rPr lang="ko-KR" altLang="en-US" sz="1400" u="sng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운영 기준</a:t>
            </a:r>
            <a:endParaRPr lang="en-US" altLang="ko-KR" sz="1400" u="sng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0E2E2CF-5ECA-3FF4-58B5-D0FB10F6AF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194" y="978142"/>
            <a:ext cx="8684254" cy="8617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rIns="0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09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179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26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35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444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533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199622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6710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marL="92075" indent="-92075" eaLnBrk="0" latinLnBrk="0" hangingPunct="0">
              <a:buFont typeface="Wingdings" panose="05000000000000000000" pitchFamily="2" charset="2"/>
              <a:buChar char="§"/>
            </a:pP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모든 개발 모델에 대하여 개발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PJT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등록 전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개발팀에서 개발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컨셉과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변경점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상세 검토를 통해 개발 유형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실행 </a:t>
            </a:r>
            <a:r>
              <a:rPr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Activity</a:t>
            </a:r>
            <a:r>
              <a:rPr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를 선정하고</a:t>
            </a:r>
            <a:r>
              <a:rPr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</a:p>
          <a:p>
            <a:pPr eaLnBrk="0" latinLnBrk="0" hangingPunct="0"/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 시 예상되는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Q,C,D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우려점을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사전 검토하여 해결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대응 방안을 수립한다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marL="88900" indent="-88900" eaLnBrk="0" latinLnBrk="0" hangingPunct="0">
              <a:buFont typeface="Wingdings" panose="05000000000000000000" pitchFamily="2" charset="2"/>
              <a:buChar char="§"/>
            </a:pP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개발팀은 개발등급심의회 참석 기준에 따라 개발등급심의회를 오프라인 또는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서면으로 실시하여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변경점에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근거하여 개발 유형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및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해야할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일을 협의하여 결정한다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marL="88900" indent="-88900" eaLnBrk="0" latinLnBrk="0" hangingPunct="0">
              <a:buFont typeface="Wingdings" panose="05000000000000000000" pitchFamily="2" charset="2"/>
              <a:buChar char="§"/>
            </a:pP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 등급에 따른 필수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Event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와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Activity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는 관련부서와 협의 하에 조정하여 결정하며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개발등록 시 개발등급심의회 회의록을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유첨하여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승인 기준에 따라 결재를 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진행한다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  <a:b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개발등록 주관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B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이상</a:t>
            </a:r>
            <a:r>
              <a:rPr kumimoji="0"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en-US" altLang="ko-KR" sz="1000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B_EC</a:t>
            </a:r>
            <a:r>
              <a:rPr kumimoji="0" lang="ko-KR" altLang="en-US" sz="1000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</a:t>
            </a:r>
            <a:r>
              <a:rPr kumimoji="0"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- 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상품기획</a:t>
            </a:r>
            <a:r>
              <a:rPr kumimoji="0"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en-US" altLang="ko-KR" sz="1000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B_HWSW, B_4NEW, </a:t>
            </a:r>
            <a:r>
              <a:rPr kumimoji="0"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이하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- 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제품개발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)</a:t>
            </a:r>
            <a:r>
              <a:rPr kumimoji="0"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endParaRPr lang="en-US" altLang="ko-KR" sz="100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14EC3B6-C8E7-8F8E-59CA-E0E19EC8C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132" y="1851009"/>
            <a:ext cx="4244235" cy="13542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36000" rIns="0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09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179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26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35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444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533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199622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6710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eaLnBrk="0" latinLnBrk="0" hangingPunct="0"/>
            <a:r>
              <a:rPr kumimoji="0" lang="en-US" altLang="ko-KR" sz="12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1. </a:t>
            </a:r>
            <a:r>
              <a:rPr kumimoji="0" lang="ko-KR" altLang="en-US" sz="12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한국 개발</a:t>
            </a:r>
            <a:endParaRPr kumimoji="0" lang="en-US" altLang="ko-KR" sz="1200" dirty="0">
              <a:solidFill>
                <a:prstClr val="black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endParaRPr kumimoji="0" lang="en-US" altLang="ko-KR" sz="1000" u="sng" dirty="0">
              <a:solidFill>
                <a:prstClr val="black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개발팀에서 선정한 개발등급이 </a:t>
            </a:r>
            <a:endParaRPr kumimoji="0" lang="en-US" altLang="ko-KR" sz="100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1) B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 주관으로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오프라인 개발등급심의회를 실시한다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b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2) C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개발팀에서 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개발컨셉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/</a:t>
            </a:r>
            <a:r>
              <a:rPr kumimoji="0" lang="ko-KR" altLang="en-US" sz="1000" b="0" dirty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변경점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/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/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실행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Activity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를 관련 부서에 송부하여 </a:t>
            </a:r>
            <a:b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서면 개발등급심의회를 실시한다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단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관련 부서 이의 있는 경우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b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오프라인 개발등급심의회를 실시한다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eaLnBrk="0" latinLnBrk="0" hangingPunct="0"/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3) D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D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점검 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C/List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에 준하여 점검하고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개발등록 시 점검결과 포함한다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508BC4D-0331-40C4-F188-C2125BB0AB49}"/>
              </a:ext>
            </a:extLst>
          </p:cNvPr>
          <p:cNvSpPr/>
          <p:nvPr/>
        </p:nvSpPr>
        <p:spPr>
          <a:xfrm>
            <a:off x="502725" y="3178578"/>
            <a:ext cx="4281751" cy="1077218"/>
          </a:xfrm>
          <a:prstGeom prst="rect">
            <a:avLst/>
          </a:prstGeom>
          <a:solidFill>
            <a:sysClr val="window" lastClr="FFFFFF">
              <a:lumMod val="85000"/>
            </a:sysClr>
          </a:solidFill>
        </p:spPr>
        <p:txBody>
          <a:bodyPr wrap="square" lIns="0" tIns="0" rIns="0" bIns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 점검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C/list]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sng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하기 모든 질문에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Yes</a:t>
            </a:r>
            <a:r>
              <a:rPr kumimoji="0" lang="ko-KR" altLang="en-US" sz="1000" b="0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일때만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별도 개발등급심의회 없이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 개발이 가능함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공정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변경없이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단순 외관 색상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공용 도료 사용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인쇄 변경인 개발인가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?(Yes/No) 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Base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모델과 정격이 동일한가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?(Yes/No)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b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ko-KR" altLang="en-US" sz="1000" b="0" i="0" u="none" strike="sng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동일 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정격의 타 국가 개발이면서 제품인정시험 </a:t>
            </a:r>
            <a:r>
              <a:rPr kumimoji="0" lang="ko-KR" altLang="en-US" sz="1000" b="0" i="0" u="none" strike="sng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조건이 같은가</a:t>
            </a:r>
            <a:r>
              <a:rPr kumimoji="0" lang="en-US" altLang="ko-KR" sz="1000" b="0" i="0" u="none" strike="sng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?(Yes/No)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상기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조항 외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급의 </a:t>
            </a:r>
            <a:r>
              <a:rPr kumimoji="0" lang="ko-KR" altLang="en-US" sz="1000" b="0" i="0" u="none" strike="sng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경우에는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변경이 있을 경우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등급심의회를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실시하여 결정한다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F052F43-4A7C-15FF-615B-1226FF15F1F1}"/>
              </a:ext>
            </a:extLst>
          </p:cNvPr>
          <p:cNvSpPr/>
          <p:nvPr/>
        </p:nvSpPr>
        <p:spPr>
          <a:xfrm>
            <a:off x="4980979" y="2564693"/>
            <a:ext cx="199926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latinLnBrk="0" hangingPunct="0"/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[</a:t>
            </a:r>
            <a:r>
              <a:rPr kumimoji="0" lang="ko-KR" altLang="en-US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참석자 및 프로젝트 등록 승인 기준</a:t>
            </a:r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]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3609953-27A9-0FA0-770C-1442193392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9071" y="1874807"/>
            <a:ext cx="2458489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36000" rIns="0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09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179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26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35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444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533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199622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6710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eaLnBrk="0" latinLnBrk="0" hangingPunct="0"/>
            <a:r>
              <a:rPr kumimoji="0" lang="en-US" altLang="ko-KR" sz="12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2. </a:t>
            </a:r>
            <a:r>
              <a:rPr kumimoji="0" lang="ko-KR" altLang="en-US" sz="12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법인 독자 개발</a:t>
            </a:r>
            <a:endParaRPr kumimoji="0" lang="en-US" altLang="ko-KR" sz="1200" dirty="0">
              <a:solidFill>
                <a:prstClr val="black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endParaRPr kumimoji="0" lang="en-US" altLang="ko-KR" sz="1000" dirty="0">
              <a:solidFill>
                <a:prstClr val="black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r>
              <a:rPr kumimoji="0" lang="ko-KR" altLang="en-US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전 등급 오프라인 개발등급 심의회를 실시한다</a:t>
            </a:r>
            <a:r>
              <a:rPr kumimoji="0" lang="en-US" altLang="ko-KR" sz="100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8C28867-A914-75FA-0551-1F5344CE2AD0}"/>
              </a:ext>
            </a:extLst>
          </p:cNvPr>
          <p:cNvSpPr/>
          <p:nvPr/>
        </p:nvSpPr>
        <p:spPr>
          <a:xfrm>
            <a:off x="399212" y="4327034"/>
            <a:ext cx="199926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latinLnBrk="0" hangingPunct="0"/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[</a:t>
            </a:r>
            <a:r>
              <a:rPr kumimoji="0" lang="ko-KR" altLang="en-US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참석자 및 프로젝트 등록 승인 기준</a:t>
            </a:r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] 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048613F-283A-5993-6DC9-85A12468FBAE}"/>
              </a:ext>
            </a:extLst>
          </p:cNvPr>
          <p:cNvGrpSpPr/>
          <p:nvPr/>
        </p:nvGrpSpPr>
        <p:grpSpPr>
          <a:xfrm>
            <a:off x="494633" y="4532795"/>
            <a:ext cx="4170343" cy="2000548"/>
            <a:chOff x="494633" y="4532795"/>
            <a:chExt cx="4170343" cy="2000548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61B35B98-EE5C-FCAE-A862-0568BBA27614}"/>
                </a:ext>
              </a:extLst>
            </p:cNvPr>
            <p:cNvSpPr/>
            <p:nvPr/>
          </p:nvSpPr>
          <p:spPr>
            <a:xfrm>
              <a:off x="494633" y="4532795"/>
              <a:ext cx="4170343" cy="2000548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</p:spPr>
          <p:txBody>
            <a:bodyPr wrap="square" lIns="0" tIns="0" rIns="0" bIns="0">
              <a:spAutoFit/>
            </a:bodyPr>
            <a:lstStyle/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1)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필수 참석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(or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P/L), 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시작기술팀장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STC, 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(Ca Only) MD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부서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</a:t>
              </a: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2)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필요 참석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: SW DQA, CAE,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선행 </a:t>
              </a:r>
              <a:r>
                <a:rPr kumimoji="0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모듈러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QE,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제어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HW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     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제어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SW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(</a:t>
              </a:r>
              <a:r>
                <a:rPr kumimoji="0" lang="en-US" altLang="ko-KR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Ca_SW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등급 예상 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시 필수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),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     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신뢰성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부품개발구매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제조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본부개발품질심사원</a:t>
              </a: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※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필수 참석자는 해외 출장 등 장기 부재일 경우에만 위임 품의하며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위임 품의에 따라 선임자 또는 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PJT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실무 담당자가 참석한다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.</a:t>
              </a: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3)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승인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개발등급심의회 결과를 첨부하여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PJT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등록 승인을 진행 시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사업부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팀장이 반드시 포함되어야 한다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.</a:t>
              </a: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- S/A/B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: 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SW DQA </a:t>
              </a:r>
              <a:r>
                <a:rPr kumimoji="0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파트장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사업담당→ 사업부장</a:t>
              </a: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- </a:t>
              </a:r>
              <a:r>
                <a:rPr kumimoji="0" lang="en-US" altLang="ko-KR" sz="1000" b="0" i="0" u="none" strike="sng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Ca, </a:t>
              </a:r>
              <a:r>
                <a:rPr kumimoji="0" lang="en-US" altLang="ko-KR" sz="1000" b="0" i="0" u="none" strike="sngStrike" kern="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Ca_SW</a:t>
              </a:r>
              <a:r>
                <a:rPr kumimoji="0" lang="en-US" altLang="ko-KR" sz="1000" b="0" i="0" u="none" strike="sng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Cb</a:t>
              </a:r>
              <a:r>
                <a:rPr kumimoji="0" lang="en-US" altLang="ko-KR" sz="1000" b="0" i="0" u="none" strike="sng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Cc</a:t>
              </a:r>
              <a:r>
                <a:rPr kumimoji="0" lang="en-US" altLang="ko-KR" sz="1000" b="0" i="0" u="none" strike="sng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Csw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C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SW DQA </a:t>
              </a:r>
              <a:r>
                <a:rPr kumimoji="0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파트장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개발실장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- D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팀장→ 개발팀장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33AF6DB5-A4FD-0904-CC4B-2123112C8478}"/>
                </a:ext>
              </a:extLst>
            </p:cNvPr>
            <p:cNvSpPr/>
            <p:nvPr/>
          </p:nvSpPr>
          <p:spPr>
            <a:xfrm>
              <a:off x="839916" y="6061059"/>
              <a:ext cx="3537020" cy="460511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결재선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: ‘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개발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Event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 기준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’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참고</a:t>
              </a: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CF6CB4BA-329A-918F-1167-14ECB7963AD5}"/>
              </a:ext>
            </a:extLst>
          </p:cNvPr>
          <p:cNvGrpSpPr/>
          <p:nvPr/>
        </p:nvGrpSpPr>
        <p:grpSpPr>
          <a:xfrm>
            <a:off x="5071961" y="2779447"/>
            <a:ext cx="4568917" cy="3277820"/>
            <a:chOff x="5071961" y="2779447"/>
            <a:chExt cx="4568917" cy="3277820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1AD1713F-545A-59BC-7A74-01297EA12E1B}"/>
                </a:ext>
              </a:extLst>
            </p:cNvPr>
            <p:cNvSpPr/>
            <p:nvPr/>
          </p:nvSpPr>
          <p:spPr>
            <a:xfrm>
              <a:off x="5071961" y="2779447"/>
              <a:ext cx="4568917" cy="3277820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</p:spPr>
          <p:txBody>
            <a:bodyPr wrap="square" lIns="0" tIns="0" rIns="0" bIns="0">
              <a:spAutoFit/>
            </a:bodyPr>
            <a:lstStyle/>
            <a:p>
              <a:pPr marL="87313" marR="0" lvl="0" indent="-87313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 이상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(</a:t>
              </a:r>
              <a:r>
                <a:rPr kumimoji="0" lang="en-US" altLang="ko-KR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Ca_SW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포함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)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1)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필수 참석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-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법인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P/L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R&amp;D FSE, QA FSE, 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시작기술팀장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   -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창원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개발팀장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STC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</a:b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2)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승인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법인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팀장→ 사업부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SW DQA</a:t>
              </a:r>
              <a:r>
                <a:rPr kumimoji="0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파트장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법인 개발실장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    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사업담당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(S/A/B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)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사업부장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(S/A/B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)</a:t>
              </a:r>
            </a:p>
            <a:p>
              <a:pPr marL="87313" marR="0" lvl="0" indent="-87313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</a:t>
              </a:r>
              <a:r>
                <a:rPr kumimoji="0" lang="en-US" altLang="ko-KR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Cb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Cc, </a:t>
              </a:r>
              <a:r>
                <a:rPr kumimoji="0" lang="en-US" altLang="ko-KR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Csw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1)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필수 참석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    -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법인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개발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P/L, R&amp;D FSE, QA FSE (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한국인원 필수 참석 불요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)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2)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승인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법인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팀장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(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점검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사업부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NXI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담당자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)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            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R&amp;D FSE, QA FSE,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사업부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팀장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SW DQA</a:t>
              </a:r>
              <a:r>
                <a:rPr kumimoji="0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파트장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법인 개발실장</a:t>
              </a: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D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1)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필수 참석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</a:t>
              </a:r>
              <a:r>
                <a:rPr kumimoji="0" lang="en-US" altLang="ko-KR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Cb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, Cc, </a:t>
              </a:r>
              <a:r>
                <a:rPr kumimoji="0" lang="en-US" altLang="ko-KR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Csw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급 기준과 동일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  2)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승인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: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법인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DQA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팀장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(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점검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사업부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NXI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담당자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) </a:t>
              </a:r>
              <a:b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</a:b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                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R&amp;D FSE, QA FSE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→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법인 개발실장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 </a:t>
              </a: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endParaRPr>
            </a:p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※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필요 참석 부서 및 위임 기준은 한국개발 기준을 참고한다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itchFamily="50" charset="-127"/>
                  <a:cs typeface="Arial" pitchFamily="34" charset="0"/>
                </a:rPr>
                <a:t>.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00686A00-6152-48C3-C3E5-95AE9DF5B9E9}"/>
                </a:ext>
              </a:extLst>
            </p:cNvPr>
            <p:cNvSpPr/>
            <p:nvPr/>
          </p:nvSpPr>
          <p:spPr>
            <a:xfrm>
              <a:off x="5580822" y="3498011"/>
              <a:ext cx="3373397" cy="418381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결재선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: ‘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개발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Event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 기준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’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참고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93D0FFC-97F4-5BBB-F626-2052CE8C95BA}"/>
                </a:ext>
              </a:extLst>
            </p:cNvPr>
            <p:cNvSpPr/>
            <p:nvPr/>
          </p:nvSpPr>
          <p:spPr>
            <a:xfrm>
              <a:off x="5580824" y="5378571"/>
              <a:ext cx="2684544" cy="297612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결재선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: ‘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개발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Event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 기준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’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참고</a:t>
              </a: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66C98EA3-88FF-40D2-8463-C5F4FF303892}"/>
                </a:ext>
              </a:extLst>
            </p:cNvPr>
            <p:cNvSpPr/>
            <p:nvPr/>
          </p:nvSpPr>
          <p:spPr>
            <a:xfrm>
              <a:off x="5580824" y="4586091"/>
              <a:ext cx="3650262" cy="308126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solidFill>
                <a:srgbClr val="5B9BD5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결재선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: ‘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개발 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Event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결재 기준</a:t>
              </a:r>
              <a:r>
                <a:rPr kumimoji="0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’ </a:t>
              </a:r>
              <a:r>
                <a:rPr kumimoji="0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참고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5665676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Line 14"/>
          <p:cNvSpPr>
            <a:spLocks noChangeShapeType="1"/>
          </p:cNvSpPr>
          <p:nvPr/>
        </p:nvSpPr>
        <p:spPr bwMode="auto">
          <a:xfrm>
            <a:off x="0" y="497375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662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TextBox 16"/>
          <p:cNvSpPr txBox="1"/>
          <p:nvPr/>
        </p:nvSpPr>
        <p:spPr>
          <a:xfrm>
            <a:off x="0" y="63497"/>
            <a:ext cx="744146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46859">
              <a:spcBef>
                <a:spcPct val="10000"/>
              </a:spcBef>
              <a:spcAft>
                <a:spcPct val="10000"/>
              </a:spcAft>
            </a:pP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유첨</a:t>
            </a: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유형 및 등급 확정 심의회 운영 기준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_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해외라인업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/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생산지 이관</a:t>
            </a:r>
            <a:endParaRPr lang="ko-KR" altLang="en-US" sz="20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34DBBAB-7B56-3F13-7678-C87937E63184}"/>
              </a:ext>
            </a:extLst>
          </p:cNvPr>
          <p:cNvSpPr/>
          <p:nvPr/>
        </p:nvSpPr>
        <p:spPr>
          <a:xfrm>
            <a:off x="494633" y="4532795"/>
            <a:ext cx="4170343" cy="2000548"/>
          </a:xfrm>
          <a:prstGeom prst="rect">
            <a:avLst/>
          </a:prstGeom>
          <a:solidFill>
            <a:srgbClr val="FFFFFF">
              <a:lumMod val="85000"/>
            </a:srgbClr>
          </a:solidFill>
        </p:spPr>
        <p:txBody>
          <a:bodyPr wrap="square" lIns="0" tIns="0" rIns="0" bIns="0">
            <a:spAutoFit/>
          </a:bodyPr>
          <a:lstStyle/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1)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필수 참석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(or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P/L), 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시작기술팀장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STC,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(Ca Only) MD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부서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2)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필요 참석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: SW DQA, CAE,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선행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모듈러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QE,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제어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HW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   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제어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SW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</a:t>
            </a:r>
            <a:r>
              <a:rPr kumimoji="0" lang="en-US" altLang="ko-KR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Ca_SW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등급 예상 시 필수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),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   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신뢰성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부품개발구매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본부개발품질심사원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※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필수 참석자는 해외 출장 등 장기 부재일 경우에만 위임 품의하며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위임 품의에 따라 선임자 또는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PJT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실무 담당자가 참석한다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3)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승인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개발등급심의회 결과를 첨부하여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PJT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등록 승인을 진행 시 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사업부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팀장이 반드시 포함되어야 한다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- S/A/B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: 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SW DQA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파트장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→ 사업담당→ 사업부장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-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Ca, </a:t>
            </a:r>
            <a:r>
              <a:rPr kumimoji="0" lang="en-US" altLang="ko-KR" sz="1000" b="0" i="0" u="none" strike="sng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Ca_SW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en-US" altLang="ko-KR" sz="1000" b="0" i="0" u="none" strike="sng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Cb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Cc, </a:t>
            </a:r>
            <a:r>
              <a:rPr kumimoji="0" lang="en-US" altLang="ko-KR" sz="1000" b="0" i="0" u="none" strike="sng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Csw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C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SW DQA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파트장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→ 개발실장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- 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팀장→ 개발팀장</a:t>
            </a:r>
          </a:p>
        </p:txBody>
      </p:sp>
      <p:sp>
        <p:nvSpPr>
          <p:cNvPr id="47" name="Text Box 237">
            <a:extLst>
              <a:ext uri="{FF2B5EF4-FFF2-40B4-BE49-F238E27FC236}">
                <a16:creationId xmlns:a16="http://schemas.microsoft.com/office/drawing/2014/main" id="{C97FA948-55FE-7780-59EC-6CA8143684DC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14230" y="702579"/>
            <a:ext cx="3052342" cy="309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89696" tIns="46643" rIns="89696" bIns="46643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1300" b="1">
                <a:solidFill>
                  <a:schemeClr val="tx1"/>
                </a:solidFill>
                <a:latin typeface="Tahoma" pitchFamily="34" charset="0"/>
                <a:ea typeface="굴림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9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400" u="sng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 유형 및 등급 확정 심의회 </a:t>
            </a:r>
            <a:r>
              <a:rPr lang="ko-KR" altLang="en-US" sz="1400" u="sng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운영 기준</a:t>
            </a:r>
            <a:endParaRPr lang="en-US" altLang="ko-KR" sz="1400" u="sng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6E1D19B-CBE5-5C1B-614C-46A528CACF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194" y="1020221"/>
            <a:ext cx="8684254" cy="8617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rIns="0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09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179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26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35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444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533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199622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6710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marL="92075" indent="-92075" eaLnBrk="0" latinLnBrk="0" hangingPunct="0">
              <a:buFont typeface="Wingdings" panose="05000000000000000000" pitchFamily="2" charset="2"/>
              <a:buChar char="§"/>
            </a:pP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모든 개발 모델에 대하여 개발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PJT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등록 전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개발팀에서 개발 컨셉과 </a:t>
            </a:r>
            <a:r>
              <a:rPr kumimoji="0" lang="ko-KR" altLang="en-US" sz="1000" b="0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변경점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상세 검토를 통해 개발 유형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실행 </a:t>
            </a:r>
            <a:r>
              <a:rPr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Activity</a:t>
            </a:r>
            <a:r>
              <a:rPr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를 선정하고</a:t>
            </a:r>
            <a:r>
              <a:rPr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</a:p>
          <a:p>
            <a:pPr eaLnBrk="0" latinLnBrk="0" hangingPunct="0"/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 시 예상되는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Q,C,D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우려점을 사전 검토하여 해결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대응 방안을 수립한다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marL="88900" indent="-88900" eaLnBrk="0" latinLnBrk="0" hangingPunct="0">
              <a:buFont typeface="Wingdings" panose="05000000000000000000" pitchFamily="2" charset="2"/>
              <a:buChar char="§"/>
            </a:pP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개발팀은 개발등급심의회 참석 기준에 따라 개발등급심의회를 오프라인 또는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서면으로 실시하여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변경점에 근거하여 개발 유형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및 </a:t>
            </a:r>
            <a:r>
              <a:rPr kumimoji="0" lang="ko-KR" altLang="en-US" sz="1000" b="0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해야할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일을 협의하여 결정한다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marL="88900" indent="-88900" eaLnBrk="0" latinLnBrk="0" hangingPunct="0">
              <a:buFont typeface="Wingdings" panose="05000000000000000000" pitchFamily="2" charset="2"/>
              <a:buChar char="§"/>
            </a:pP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 등급에 따른 필수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Event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와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Activity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는 관련부서와 협의 하에 조정하여 결정하며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개발등록 시 개발등급심의회 회의록을 </a:t>
            </a:r>
            <a:r>
              <a:rPr kumimoji="0" lang="ko-KR" altLang="en-US" sz="1000" b="0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유첨하여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승인 기준에 따라 결재를 진행한다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  <a:b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개발등록 주관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B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이상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en-US" altLang="ko-KR" sz="1000" b="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B_EC</a:t>
            </a:r>
            <a:r>
              <a:rPr kumimoji="0" lang="ko-KR" altLang="en-US" sz="1000" b="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–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상품기획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en-US" altLang="ko-KR" sz="1000" b="0" dirty="0">
                <a:solidFill>
                  <a:srgbClr val="FF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B_HWSW, B_4NEW,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C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이하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–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제품개발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)</a:t>
            </a:r>
            <a:endParaRPr lang="en-US" altLang="ko-KR" sz="10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84D25B-D078-12B1-6F97-1004A323DF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132" y="1851009"/>
            <a:ext cx="4244235" cy="13542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36000" rIns="0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09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179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26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35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444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533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199622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6710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eaLnBrk="0" latinLnBrk="0" hangingPunct="0"/>
            <a:r>
              <a:rPr kumimoji="0"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1. </a:t>
            </a:r>
            <a:r>
              <a:rPr kumimoji="0" lang="ko-KR" altLang="en-US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해외라인업 개발</a:t>
            </a:r>
            <a:endParaRPr kumimoji="0" lang="en-US" altLang="ko-KR" sz="120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endParaRPr kumimoji="0" lang="en-US" altLang="ko-KR" sz="1000" u="sng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개발팀에서 선정한 개발등급이 </a:t>
            </a:r>
            <a:endParaRPr kumimoji="0" lang="en-US" altLang="ko-KR" sz="10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1) B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 주관으로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오프라인 개발등급심의회를 실시한다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b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2) C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개발팀에서 </a:t>
            </a:r>
            <a:r>
              <a:rPr kumimoji="0" lang="ko-KR" altLang="en-US" sz="1000" b="0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개발컨셉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/</a:t>
            </a:r>
            <a:r>
              <a:rPr kumimoji="0" lang="ko-KR" altLang="en-US" sz="1000" b="0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변경점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/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개발등급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/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실행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Activity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를 관련 부서에 송부하여 </a:t>
            </a:r>
            <a:b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서면 개발등급심의회를 실시한다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단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관련 부서 이의 있는 경우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b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             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오프라인 개발등급심의회를 실시한다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  <a:p>
            <a:pPr eaLnBrk="0" latinLnBrk="0" hangingPunct="0"/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 3) D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D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급 점검 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C/List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에 준하여 점검하고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,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개발등록 시 점검결과 포함한다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0935741-FE70-1E63-2082-D7C0519ADAB5}"/>
              </a:ext>
            </a:extLst>
          </p:cNvPr>
          <p:cNvSpPr/>
          <p:nvPr/>
        </p:nvSpPr>
        <p:spPr>
          <a:xfrm>
            <a:off x="502725" y="3178578"/>
            <a:ext cx="4281751" cy="1077218"/>
          </a:xfrm>
          <a:prstGeom prst="rect">
            <a:avLst/>
          </a:prstGeom>
          <a:solidFill>
            <a:srgbClr val="FFFFFF">
              <a:lumMod val="85000"/>
            </a:srgbClr>
          </a:solidFill>
        </p:spPr>
        <p:txBody>
          <a:bodyPr wrap="square" lIns="0" tIns="0" rIns="0" bIns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 점검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C/list]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sng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하기 모든 질문에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Yes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일때만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별도 개발등급심의회 없이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 개발이 가능함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공정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변경없이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단순 외관 색상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공용 도료 사용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인쇄 변경인 개발인가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?(Yes/No) 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2)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Base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모델과 정격이 동일한가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?(Yes/No)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동일 정격의 타 국가 개발이면서 제품인정시험 조건이 같은가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?(Yes/No)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상기 조항 외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급의 경우에는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변경이 있을 경우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등급심의회를 실시하여 결정한다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585FFA4-BF8E-EAD3-6A6B-850FBFC32867}"/>
              </a:ext>
            </a:extLst>
          </p:cNvPr>
          <p:cNvSpPr/>
          <p:nvPr/>
        </p:nvSpPr>
        <p:spPr>
          <a:xfrm>
            <a:off x="5071961" y="2870801"/>
            <a:ext cx="4568917" cy="1538883"/>
          </a:xfrm>
          <a:prstGeom prst="rect">
            <a:avLst/>
          </a:prstGeom>
          <a:solidFill>
            <a:srgbClr val="FFFFFF">
              <a:lumMod val="85000"/>
            </a:srgbClr>
          </a:solidFill>
        </p:spPr>
        <p:txBody>
          <a:bodyPr wrap="square" lIns="0" tIns="0" rIns="0" bIns="0">
            <a:spAutoFit/>
          </a:bodyPr>
          <a:lstStyle/>
          <a:p>
            <a:pPr marL="87313" marR="0" lvl="0" indent="-87313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T1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이상 전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등급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1)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필수 참석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STC,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시작기술팀장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사업부 신뢰성 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SQA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부품개발구매팀장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승인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개발담당자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&gt; 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팀장 → 개발실장 → 사업담당 → 사업부장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(T3 Only)</a:t>
            </a: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en-US" altLang="ko-KR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Cb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등급 이상 독자개발권한 가진 법인에서 개발한 모델을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C/SKD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로 이관하는 경우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7313" marR="0" lvl="0" indent="-87313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T1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등급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Only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필수 참석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이관지 개발팀장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이관지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팀장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이관지 구매팀장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2)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승인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이관지 개발담당자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&gt;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이관지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DQA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팀장 →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R&amp;D FSE, QA FSE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→ 사업담당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E5F7CB8-9BD2-4D54-CAB4-20476F467B10}"/>
              </a:ext>
            </a:extLst>
          </p:cNvPr>
          <p:cNvSpPr/>
          <p:nvPr/>
        </p:nvSpPr>
        <p:spPr>
          <a:xfrm>
            <a:off x="4980979" y="2658974"/>
            <a:ext cx="199926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latinLnBrk="0" hangingPunct="0"/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[</a:t>
            </a:r>
            <a:r>
              <a:rPr kumimoji="0" lang="ko-KR" altLang="en-US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참석자 및 프로젝트 등록 승인 기준</a:t>
            </a:r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] 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F630605-4510-6109-6BBB-8C5E149A7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9071" y="1874807"/>
            <a:ext cx="2400781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36000" rIns="0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09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179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26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356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444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533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199622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6710" algn="l" defTabSz="914179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eaLnBrk="0" latinLnBrk="0" hangingPunct="0"/>
            <a:r>
              <a:rPr kumimoji="0" lang="en-US" altLang="ko-KR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2. </a:t>
            </a:r>
            <a:r>
              <a:rPr kumimoji="0" lang="ko-KR" altLang="en-US" sz="12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생산지 이관 개발</a:t>
            </a:r>
            <a:endParaRPr kumimoji="0" lang="en-US" altLang="ko-KR" sz="120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endParaRPr kumimoji="0" lang="en-US" altLang="ko-KR" sz="100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  <a:p>
            <a:pPr eaLnBrk="0" latinLnBrk="0" hangingPunct="0"/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 전 등급 오프라인 개발등급 심의회를 실시한다</a:t>
            </a:r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.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B589E1C-56D3-7A3C-CECE-27F132A5AEAA}"/>
              </a:ext>
            </a:extLst>
          </p:cNvPr>
          <p:cNvSpPr/>
          <p:nvPr/>
        </p:nvSpPr>
        <p:spPr>
          <a:xfrm>
            <a:off x="399212" y="4327034"/>
            <a:ext cx="199926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latinLnBrk="0" hangingPunct="0"/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[</a:t>
            </a:r>
            <a:r>
              <a:rPr kumimoji="0" lang="ko-KR" altLang="en-US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참석자 및 프로젝트 등록 승인 기준</a:t>
            </a:r>
            <a:r>
              <a:rPr kumimoji="0" lang="en-US" altLang="ko-KR" sz="100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] 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05F977F-1B1E-3AC9-5A35-1F06E5FA1827}"/>
              </a:ext>
            </a:extLst>
          </p:cNvPr>
          <p:cNvSpPr/>
          <p:nvPr/>
        </p:nvSpPr>
        <p:spPr>
          <a:xfrm>
            <a:off x="8645093" y="2658974"/>
            <a:ext cx="995785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latinLnBrk="0" hangingPunct="0"/>
            <a:r>
              <a:rPr kumimoji="0" lang="en-US" altLang="ko-KR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(  ) : </a:t>
            </a:r>
            <a:r>
              <a:rPr kumimoji="0" lang="ko-KR" altLang="en-US" sz="10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Arial" pitchFamily="34" charset="0"/>
              </a:rPr>
              <a:t>필요시 참석</a:t>
            </a:r>
            <a:endParaRPr kumimoji="0" lang="en-US" altLang="ko-KR" sz="10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75722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09DB22-9F3F-7D51-6744-432D220E74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Line 14">
            <a:extLst>
              <a:ext uri="{FF2B5EF4-FFF2-40B4-BE49-F238E27FC236}">
                <a16:creationId xmlns:a16="http://schemas.microsoft.com/office/drawing/2014/main" id="{F115D002-3C3A-8380-BC80-20F4B8CEE788}"/>
              </a:ext>
            </a:extLst>
          </p:cNvPr>
          <p:cNvSpPr>
            <a:spLocks noChangeShapeType="1"/>
          </p:cNvSpPr>
          <p:nvPr/>
        </p:nvSpPr>
        <p:spPr bwMode="auto">
          <a:xfrm>
            <a:off x="0" y="592746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ko-KR" altLang="en-US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6">
            <a:extLst>
              <a:ext uri="{FF2B5EF4-FFF2-40B4-BE49-F238E27FC236}">
                <a16:creationId xmlns:a16="http://schemas.microsoft.com/office/drawing/2014/main" id="{A08B4D9F-D6B3-55AE-5C0C-4470E2D1D904}"/>
              </a:ext>
            </a:extLst>
          </p:cNvPr>
          <p:cNvSpPr txBox="1"/>
          <p:nvPr/>
        </p:nvSpPr>
        <p:spPr>
          <a:xfrm>
            <a:off x="9103940" y="307256"/>
            <a:ext cx="7008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2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제품 </a:t>
            </a:r>
            <a:r>
              <a:rPr lang="en-US" altLang="ko-KR" sz="12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NXI</a:t>
            </a:r>
            <a:endParaRPr lang="en-US" altLang="ko-KR" sz="1200" dirty="0"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9" name="Text Box 237">
            <a:extLst>
              <a:ext uri="{FF2B5EF4-FFF2-40B4-BE49-F238E27FC236}">
                <a16:creationId xmlns:a16="http://schemas.microsoft.com/office/drawing/2014/main" id="{A88830B9-D433-8BA4-D8F6-80ECB55A1B21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1885" y="121427"/>
            <a:ext cx="2068493" cy="371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buChar char="•"/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buChar char="•"/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buChar char="•"/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buChar char="•"/>
              <a:defRPr kumimoji="1" sz="1200" b="1">
                <a:solidFill>
                  <a:schemeClr val="tx1"/>
                </a:solidFill>
                <a:latin typeface="Arial" charset="0"/>
                <a:ea typeface="돋움" pitchFamily="50" charset="-127"/>
              </a:defRPr>
            </a:lvl9pPr>
          </a:lstStyle>
          <a:p>
            <a:r>
              <a:rPr lang="ko-KR" altLang="en-US" sz="18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개발 </a:t>
            </a:r>
            <a:r>
              <a:rPr lang="en-US" altLang="ko-KR" sz="18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Event </a:t>
            </a:r>
            <a:r>
              <a:rPr lang="ko-KR" altLang="en-US" sz="1800"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결재 기준</a:t>
            </a:r>
            <a:endParaRPr lang="en-US" altLang="ko-KR" sz="1800" dirty="0"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F87A2AE7-1891-27BF-5607-49C447BDF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217" y="744953"/>
            <a:ext cx="2295500" cy="2622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pPr latinLnBrk="0"/>
            <a:r>
              <a:rPr lang="en-US" altLang="ko-KR" sz="1100" b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[R&amp;D </a:t>
            </a:r>
            <a:r>
              <a:rPr lang="en-US" altLang="ko-KR" sz="11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PMS Project </a:t>
            </a:r>
            <a:r>
              <a:rPr lang="ko-KR" altLang="en-US" sz="1100" b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신규 등록 </a:t>
            </a:r>
            <a:r>
              <a:rPr lang="ko-KR" altLang="en-US" sz="1100" b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결재 기준</a:t>
            </a:r>
            <a:r>
              <a:rPr lang="en-US" altLang="ko-KR" sz="1100" b="0">
                <a:solidFill>
                  <a:srgbClr val="000000"/>
                </a:solidFill>
                <a:latin typeface="Arial Narrow" panose="020B0606020202030204" pitchFamily="34" charset="0"/>
                <a:ea typeface="LG스마트체 Regular" pitchFamily="50" charset="-127"/>
                <a:cs typeface="+mn-cs"/>
              </a:rPr>
              <a:t>]</a:t>
            </a:r>
            <a:endParaRPr lang="ko-KR" altLang="en-US" sz="110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08AAB45-833C-562C-DD2A-A0914E2E99E8}"/>
              </a:ext>
            </a:extLst>
          </p:cNvPr>
          <p:cNvSpPr txBox="1"/>
          <p:nvPr/>
        </p:nvSpPr>
        <p:spPr>
          <a:xfrm>
            <a:off x="201217" y="5135310"/>
            <a:ext cx="4084773" cy="2485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15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단</a:t>
            </a:r>
            <a:r>
              <a:rPr lang="en-US" altLang="ko-KR" sz="1015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, PJT</a:t>
            </a:r>
            <a:r>
              <a:rPr lang="ko-KR" altLang="en-US" sz="1015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등록 이후 재 심의 시 에는 </a:t>
            </a:r>
            <a:r>
              <a:rPr lang="en-US" altLang="ko-KR" sz="1015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PJT</a:t>
            </a:r>
            <a:r>
              <a:rPr lang="ko-KR" altLang="en-US" sz="1015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등록 시 승인권자의 재 승인을 받을 것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2D65F1A-650C-70A1-0F69-1D1B88C36CA5}"/>
              </a:ext>
            </a:extLst>
          </p:cNvPr>
          <p:cNvGraphicFramePr>
            <a:graphicFrameLocks noGrp="1"/>
          </p:cNvGraphicFramePr>
          <p:nvPr/>
        </p:nvGraphicFramePr>
        <p:xfrm>
          <a:off x="323087" y="1092871"/>
          <a:ext cx="9259827" cy="3848297"/>
        </p:xfrm>
        <a:graphic>
          <a:graphicData uri="http://schemas.openxmlformats.org/drawingml/2006/table">
            <a:tbl>
              <a:tblPr/>
              <a:tblGrid>
                <a:gridCol w="591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2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50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656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54745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대상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1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차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2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차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3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차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4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차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5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차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돋움"/>
                          <a:cs typeface="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비고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40255">
                <a:tc gridSpan="2"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B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급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이상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NPI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규격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DQA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법인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DQA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(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법인독자개발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SW DQA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파트장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개발실장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 개발실장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 독자개발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)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사업담당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사업부장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심의 후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7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일 이내 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 R&amp;D PMS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등록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7033">
                <a:tc rowSpan="2"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Ca</a:t>
                      </a:r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, Ca_SW,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Cb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, Cc,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Csw</a:t>
                      </a:r>
                      <a:r>
                        <a:rPr kumimoji="0" lang="ko-KR" altLang="en-US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급</a:t>
                      </a:r>
                      <a:endParaRPr kumimoji="0" lang="en-US" altLang="ko-KR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창원 생산</a:t>
                      </a:r>
                      <a:endParaRPr kumimoji="0" lang="en-US" altLang="ko-KR" sz="1000" b="0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NPI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규격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DQA </a:t>
                      </a:r>
                      <a:r>
                        <a:rPr kumimoji="0" lang="ko-KR" altLang="en-US" sz="10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endParaRPr kumimoji="0" lang="en-US" altLang="ko-KR" sz="10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SW DQA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파트장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개발실장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endParaRPr kumimoji="0" lang="en-US" altLang="ko-KR" sz="1000" b="0" i="0" u="none" strike="sng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08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법인독자개발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NPI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규격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DQA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DQA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SW DQA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파트장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R&amp;D FSE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QA FSE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 개발실장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4056">
                <a:tc rowSpan="2"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D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급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창원 생산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NPI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규격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DQA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개발팀장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돋움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6409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42250" marR="4225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법인독자개발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NPI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규격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담당자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 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DQA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R&amp;D FSE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QA FSE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영업 팀장</a:t>
                      </a:r>
                      <a:endParaRPr kumimoji="0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charset="0"/>
                        </a:rPr>
                        <a:t>법인 개발실장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  <a:defRPr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36213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87242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0863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74485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181061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617275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053486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489699" algn="l" defTabSz="872426" rtl="0" eaLnBrk="1" latinLnBrk="1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39000" marR="39000" marT="0" marB="0" anchor="ctr" horzOverflow="overflow">
                    <a:lnL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endParaRPr kumimoji="0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charset="0"/>
                      </a:endParaRPr>
                    </a:p>
                  </a:txBody>
                  <a:tcPr marL="42250" marR="4225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Rectangle 2">
            <a:extLst>
              <a:ext uri="{FF2B5EF4-FFF2-40B4-BE49-F238E27FC236}">
                <a16:creationId xmlns:a16="http://schemas.microsoft.com/office/drawing/2014/main" id="{3B061D72-195B-884B-3E46-D0B600048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9144" y="692119"/>
            <a:ext cx="3364704" cy="400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pPr latinLnBrk="0"/>
            <a:r>
              <a:rPr lang="en-US" altLang="ko-KR" sz="1000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  <a:cs typeface="+mn-cs"/>
              </a:rPr>
              <a:t>※ </a:t>
            </a:r>
            <a:r>
              <a:rPr lang="ko-KR" altLang="en-US" sz="1000" b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연구소 프로젝트 결재 </a:t>
            </a:r>
            <a:r>
              <a:rPr lang="en-US" altLang="ko-KR" sz="1000" b="0" dirty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:  </a:t>
            </a:r>
            <a:r>
              <a:rPr lang="ko-KR" altLang="en-US" sz="1000" b="0">
                <a:solidFill>
                  <a:srgbClr val="008000"/>
                </a:solidFill>
                <a:latin typeface="LG스마트체 Regular" pitchFamily="50" charset="-127"/>
                <a:ea typeface="LG스마트체 Regular" pitchFamily="50" charset="-127"/>
              </a:rPr>
              <a:t>개발실장 → 연구소장으로 대체</a:t>
            </a:r>
            <a:endParaRPr lang="en-US" altLang="ko-KR" sz="1000" b="0">
              <a:solidFill>
                <a:srgbClr val="008000"/>
              </a:solidFill>
              <a:latin typeface="LG스마트체 Regular" pitchFamily="50" charset="-127"/>
              <a:ea typeface="LG스마트체 Regular" pitchFamily="50" charset="-127"/>
            </a:endParaRPr>
          </a:p>
          <a:p>
            <a:pPr latinLnBrk="0"/>
            <a:r>
              <a:rPr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※ </a:t>
            </a:r>
            <a:r>
              <a:rPr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현지 </a:t>
            </a:r>
            <a:r>
              <a:rPr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ISE </a:t>
            </a:r>
            <a:r>
              <a:rPr lang="ko-KR" altLang="en-US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결재라인 추가는 필요 시 법인 자체적으로 반영한다</a:t>
            </a:r>
            <a:r>
              <a:rPr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7039422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Rectangle 108"/>
          <p:cNvSpPr>
            <a:spLocks noChangeArrowheads="1"/>
          </p:cNvSpPr>
          <p:nvPr/>
        </p:nvSpPr>
        <p:spPr bwMode="auto">
          <a:xfrm>
            <a:off x="147011" y="633379"/>
            <a:ext cx="9468056" cy="40011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부품 및 구조의 개발 난이도에 따라 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개발 등급을 구분하여 관리하며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Activity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수행은 이 분류에 준해 정해진다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b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제품별 특성에 따른 개발 등급 상세 분류 기준은 사업부 표준에 준해 개발 유형 및 등급 심의회 시 결정한다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endParaRPr lang="ko-KR" altLang="en-US" sz="1000"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7" name="Group 3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2101842"/>
              </p:ext>
            </p:extLst>
          </p:nvPr>
        </p:nvGraphicFramePr>
        <p:xfrm>
          <a:off x="128464" y="1006855"/>
          <a:ext cx="9642561" cy="4309737"/>
        </p:xfrm>
        <a:graphic>
          <a:graphicData uri="http://schemas.openxmlformats.org/drawingml/2006/table">
            <a:tbl>
              <a:tblPr/>
              <a:tblGrid>
                <a:gridCol w="5760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083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378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907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81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354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정의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기구 개발 등급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제품군별 사례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3439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오븐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전자레인지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쿡탑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36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신사업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2667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LGE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의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NEW Biz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개념으로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지금까지 당사에서 생산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판매  되지 않은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2667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상품군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신사업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지금까지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LGE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에서 생산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판매 되지 않은 조리기기 상품군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(Ex.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토스터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블렌더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전기포트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  <a:endParaRPr kumimoji="1" lang="ko-KR" altLang="en-US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A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New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Platform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New Platform 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Cavity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개발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Platform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개발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Cavity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개발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Platform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개발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Base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신규개발 및</a:t>
                      </a:r>
                      <a:endParaRPr kumimoji="1" lang="en-US" altLang="ko-KR" sz="800" b="0" i="0" u="none" strike="sng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신기술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신기능 열원 적용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21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Major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Change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lvl="0" indent="-8890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Base platform 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내에서 모듈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(sub system)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Change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에 의한 개발</a:t>
                      </a:r>
                    </a:p>
                    <a:p>
                      <a:pPr marL="88900" lvl="0" indent="-8890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외관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구조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회로포함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가 대폭 변경된 제품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편리성 위해 새로운 </a:t>
                      </a:r>
                      <a:endParaRPr kumimoji="0" lang="en-US" altLang="ko-KR" sz="800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lvl="0" indent="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부가기능 적용 제품</a:t>
                      </a:r>
                      <a:endParaRPr kumimoji="0" lang="en-US" altLang="ko-KR" sz="800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0066FF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가스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전기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1)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ko-KR" altLang="en-US" sz="800" b="0" i="0" u="none" strike="noStrike" kern="1200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쿡탑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시스템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0"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모듈</a:t>
                      </a:r>
                      <a:r>
                        <a:rPr kumimoji="0"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(sub system)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개발에 따른 성능 개발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2)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오븐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시스템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0"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모듈</a:t>
                      </a:r>
                      <a:r>
                        <a:rPr kumimoji="0"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(sub system)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개발에 따른 성능 개발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전기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: 1)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열원 변경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(IH ↔ </a:t>
                      </a:r>
                      <a:r>
                        <a:rPr kumimoji="1" lang="ko-KR" altLang="en-US" sz="800" b="0" i="0" u="none" strike="sngStrike" kern="1200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라디언트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에 따른 성능 신규 개발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          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2)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오븐 시스템 개발에 따른 성능 개발</a:t>
                      </a:r>
                      <a:b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Ex)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오븐구조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버너시스템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 Air Flow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신규개발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 </a:t>
                      </a:r>
                      <a:b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      Top Plate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금형 신규 개발 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성능개발 有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Cavity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신규개발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Cavity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임피던스 매칭 신규 개발</a:t>
                      </a:r>
                      <a:endParaRPr kumimoji="1" lang="en-US" altLang="ko-KR" sz="800" b="0" i="0" u="none" strike="sng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Base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개발 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신기술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신기능 열원 적용</a:t>
                      </a:r>
                      <a:endParaRPr kumimoji="1" lang="en-US" altLang="ko-KR" sz="800" b="0" i="0" u="none" strike="sngStrike" kern="1200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(Flex 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버너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sngStrike" kern="1200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듀얼버너</a:t>
                      </a:r>
                      <a:r>
                        <a:rPr kumimoji="1" lang="ko-KR" altLang="en-US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등</a:t>
                      </a:r>
                      <a:r>
                        <a:rPr kumimoji="1" lang="en-US" altLang="ko-KR" sz="800" b="0" i="0" u="none" strike="sng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sng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819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8900" lvl="0" indent="-8890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Base platform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에 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신기술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신기능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신공법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신재질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이 적용된</a:t>
                      </a:r>
                      <a:endParaRPr kumimoji="0" lang="en-US" altLang="ko-KR" sz="80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88900" lvl="0" indent="-8890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Module </a:t>
                      </a:r>
                      <a:r>
                        <a:rPr kumimoji="0" lang="ko-KR" altLang="en-US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 </a:t>
                      </a:r>
                      <a:r>
                        <a:rPr kumimoji="0" lang="en-US" altLang="ko-KR" sz="8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(4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 기준 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자사 제품 군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3)</a:t>
                      </a:r>
                      <a:r>
                        <a:rPr kumimoji="0" lang="ko-KR" altLang="en-US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기준 최초 적용</a:t>
                      </a:r>
                      <a:r>
                        <a:rPr kumimoji="0" lang="en-US" altLang="ko-KR" sz="80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Ex)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오토 오픈 도어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sng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수비드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쿡탑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신뢰성 시험이 필요한 수준의 신규 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워킹코일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        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쿡탑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버너 신규 개발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오븐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가스 열원 모듈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컨벡션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브로일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베이크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       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전기 열원 모듈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컨벡션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Ex)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오토 오픈 도어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UV LED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- 4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 적용 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Ex) Flex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버너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sng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듀얼버너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,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자기 센서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전기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워킹코일 적용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91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B_EC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Engineering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Change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B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변경 수준이나</a:t>
                      </a: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렌더링 및 목업이 불요한 개발 </a:t>
                      </a:r>
                      <a:endParaRPr kumimoji="0" lang="en-US" altLang="ko-KR" sz="900">
                        <a:solidFill>
                          <a:srgbClr val="FF0000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좌동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91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B_HW/SW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 변경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급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 Ca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등급 이하 변경 수준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제어 변경점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B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등급 변경  수준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        제어 외 변경점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Ca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등급 이하 변경 수준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91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B_4NEW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 적용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급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lvl="0" indent="-8890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B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변경 수준이나</a:t>
                      </a: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4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 적용</a:t>
                      </a:r>
                      <a:r>
                        <a:rPr kumimoji="0" lang="ko-KR" altLang="en-US" sz="900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외 변경점은 </a:t>
                      </a: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Ca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이하 수준으로</a:t>
                      </a: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Pre-CP~CP 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진행이 불요한 개발</a:t>
                      </a:r>
                      <a:endParaRPr kumimoji="0" lang="en-US" altLang="ko-KR" sz="900">
                        <a:solidFill>
                          <a:srgbClr val="FF0000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88900" lvl="0" indent="-88900" fontAlgn="t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0" lang="en-US" altLang="ko-KR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ex) </a:t>
                      </a:r>
                      <a:r>
                        <a:rPr kumimoji="0" lang="ko-KR" altLang="en-US" sz="9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컴프 적용</a:t>
                      </a:r>
                      <a:endParaRPr kumimoji="0" lang="en-US" altLang="ko-KR" sz="900">
                        <a:solidFill>
                          <a:srgbClr val="FF0000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인덕션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재질 상판 적용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Ex) </a:t>
                      </a:r>
                      <a:r>
                        <a:rPr kumimoji="1" lang="ko-KR" altLang="en-US" sz="8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붕규산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글라스 최초 개발 적용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" name="Line 14">
            <a:extLst>
              <a:ext uri="{FF2B5EF4-FFF2-40B4-BE49-F238E27FC236}">
                <a16:creationId xmlns:a16="http://schemas.microsoft.com/office/drawing/2014/main" id="{F393AB43-4568-FD33-E9A8-29ECA98E79A3}"/>
              </a:ext>
            </a:extLst>
          </p:cNvPr>
          <p:cNvSpPr>
            <a:spLocks noChangeShapeType="1"/>
          </p:cNvSpPr>
          <p:nvPr/>
        </p:nvSpPr>
        <p:spPr bwMode="auto">
          <a:xfrm>
            <a:off x="0" y="497375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662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16">
            <a:extLst>
              <a:ext uri="{FF2B5EF4-FFF2-40B4-BE49-F238E27FC236}">
                <a16:creationId xmlns:a16="http://schemas.microsoft.com/office/drawing/2014/main" id="{32BC631F-F83D-339F-AAF4-518415AFD001}"/>
              </a:ext>
            </a:extLst>
          </p:cNvPr>
          <p:cNvSpPr txBox="1"/>
          <p:nvPr/>
        </p:nvSpPr>
        <p:spPr>
          <a:xfrm>
            <a:off x="0" y="63497"/>
            <a:ext cx="33586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46859">
              <a:spcBef>
                <a:spcPct val="10000"/>
              </a:spcBef>
              <a:spcAft>
                <a:spcPct val="10000"/>
              </a:spcAft>
            </a:pP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유첨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등급 분류 기준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_NXI</a:t>
            </a:r>
            <a:endParaRPr lang="ko-KR" altLang="en-US" sz="20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4" name="Rectangle 157">
            <a:extLst>
              <a:ext uri="{FF2B5EF4-FFF2-40B4-BE49-F238E27FC236}">
                <a16:creationId xmlns:a16="http://schemas.microsoft.com/office/drawing/2014/main" id="{723CE1EE-0F3F-6D8C-4668-5F41FD0846F4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057456" y="169859"/>
            <a:ext cx="362801" cy="255716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108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NXI</a:t>
            </a:r>
            <a:endParaRPr lang="ko-KR" altLang="en-US" sz="1108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1260742"/>
      </p:ext>
    </p:extLst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Rectangle 108"/>
          <p:cNvSpPr>
            <a:spLocks noChangeArrowheads="1"/>
          </p:cNvSpPr>
          <p:nvPr/>
        </p:nvSpPr>
        <p:spPr bwMode="auto">
          <a:xfrm>
            <a:off x="147011" y="633379"/>
            <a:ext cx="9468056" cy="40011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부품 및 구조의 개발 난이도에 따라 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개발 등급을 구분하여 관리하며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Activity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수행은 이 분류에 준해 정해진다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b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제품별 특성에 따른 개발 등급 상세 분류 기준은 사업부 표준에 준해 개발 유형 및 등급 심의회 시 결정한다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endParaRPr lang="ko-KR" altLang="en-US" sz="100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7" name="Group 329"/>
          <p:cNvGraphicFramePr>
            <a:graphicFrameLocks noGrp="1"/>
          </p:cNvGraphicFramePr>
          <p:nvPr/>
        </p:nvGraphicFramePr>
        <p:xfrm>
          <a:off x="128464" y="1006854"/>
          <a:ext cx="9642561" cy="6696781"/>
        </p:xfrm>
        <a:graphic>
          <a:graphicData uri="http://schemas.openxmlformats.org/drawingml/2006/table">
            <a:tbl>
              <a:tblPr/>
              <a:tblGrid>
                <a:gridCol w="5760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083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042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243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81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204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정의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기구 개발 등급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제품군별 사례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23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오븐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전자레인지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쿡탑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36723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Ca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Minor  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Change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이상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Base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모델이 존재하고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파생 개발을 위한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Minor Change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신규 개발 및 생산성 또는 신뢰성 까지 점검이 필요한 개발</a:t>
                      </a:r>
                      <a:r>
                        <a:rPr kumimoji="0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0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생산성 검증이 불요한 경우 </a:t>
                      </a:r>
                      <a:r>
                        <a:rPr kumimoji="0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PV</a:t>
                      </a:r>
                      <a:r>
                        <a:rPr kumimoji="0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생략 가능</a:t>
                      </a:r>
                      <a:r>
                        <a:rPr kumimoji="0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신 적용하여 개발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중 또는 완료 이후 동일 제품군 내에 파급되는 대표모델에 적용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가스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전기</a:t>
                      </a:r>
                      <a:endParaRPr kumimoji="1" lang="en-US" altLang="ko-KR" sz="80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lvl="0" indent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kumimoji="1"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1) </a:t>
                      </a:r>
                      <a:r>
                        <a:rPr kumimoji="1"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쿡탑 시스템 변경에 따른 성능 </a:t>
                      </a:r>
                      <a:r>
                        <a:rPr kumimoji="1"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Modify </a:t>
                      </a:r>
                      <a:r>
                        <a:rPr kumimoji="1"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</a:t>
                      </a:r>
                    </a:p>
                    <a:p>
                      <a:pPr lvl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</a:t>
                      </a:r>
                      <a:r>
                        <a:rPr kumimoji="1"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2) </a:t>
                      </a:r>
                      <a:r>
                        <a:rPr kumimoji="1"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오븐 시스템 변경에 따른 성능 </a:t>
                      </a:r>
                      <a:r>
                        <a:rPr kumimoji="1"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Modify </a:t>
                      </a:r>
                      <a:r>
                        <a:rPr kumimoji="1"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</a:t>
                      </a:r>
                    </a:p>
                    <a:p>
                      <a:pPr lvl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전기</a:t>
                      </a: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1) </a:t>
                      </a: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동일 열원 스펙 변경에 따른 성능 </a:t>
                      </a: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Modify </a:t>
                      </a: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</a:t>
                      </a:r>
                    </a:p>
                    <a:p>
                      <a:pPr lvl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      </a:t>
                      </a: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2) </a:t>
                      </a: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오븐 시스템 변경에 따른 성능 </a:t>
                      </a: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Modify </a:t>
                      </a: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</a:t>
                      </a:r>
                      <a:br>
                        <a:rPr kumimoji="1"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Ex) </a:t>
                      </a:r>
                      <a:r>
                        <a:rPr kumimoji="1" lang="ko-KR" altLang="en-US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알고리즘 변경</a:t>
                      </a:r>
                      <a:r>
                        <a:rPr kumimoji="1" lang="en-US" altLang="ko-KR" sz="800" strike="sng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</a:p>
                    <a:p>
                      <a:pPr lvl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en-US" altLang="ko-KR" sz="800" strike="noStrike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Spec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개발되는 버너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디자인 금형 개발</a:t>
                      </a:r>
                      <a:endParaRPr kumimoji="1" lang="en-US" altLang="ko-KR" sz="80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lvl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기능 개선을 위한 성능 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Modify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 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(22K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→ 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23K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버너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lvl="0" algn="l"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신뢰성 검증이 필요한 기 개발된 쿡탑 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버너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워킹코일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),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오븐 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컨벡션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브로일</a:t>
                      </a: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모듈 조합 개발</a:t>
                      </a:r>
                      <a:endParaRPr kumimoji="1" lang="en-US" altLang="ko-KR" sz="80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Cavity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임피던스 매칭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Modify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개발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외관디자인 변경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도어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컨트롤 판넬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디자인 금형 개발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열원의 스펙 변경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(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전기히터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가스버너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열량 변경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Air Flow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전면배기 → 후면배기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디자인 금형 개발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3586435"/>
                  </a:ext>
                </a:extLst>
              </a:tr>
              <a:tr h="4153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다른 시장에는 판매하고 있는 플랫폼이지만 한국처럼 고객 요구사항이 다양하고 까다로운 시장에 신규 </a:t>
                      </a: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Launching</a:t>
                      </a:r>
                      <a:r>
                        <a:rPr kumimoji="0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하는 개발</a:t>
                      </a:r>
                      <a:endParaRPr kumimoji="0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Ex)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에보니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-P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이태리향 → 한국향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Ex)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에보니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-S</a:t>
                      </a:r>
                      <a:b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     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이태리향 → 한국향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511227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Ca_Mi</a:t>
                      </a:r>
                    </a:p>
                  </a:txBody>
                  <a:tcPr marL="36000" marR="36000" marT="90000" marB="9000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Minor  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Change</a:t>
                      </a:r>
                    </a:p>
                  </a:txBody>
                  <a:tcPr marL="36000" marR="36000" marT="90000" marB="9000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 Ca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등급 변경 수준이나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생산성 검증이 불필요한 개발</a:t>
                      </a:r>
                      <a:b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- Cb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등급 변경 수준이나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신뢰성 검증이 필요한 개발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90000" marB="9000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좌동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7195465"/>
                  </a:ext>
                </a:extLst>
              </a:tr>
              <a:tr h="83672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Ca_SW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기구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HW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Cb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SW Ca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수준의 변경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Cb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변경 수준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기구 및 제어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HW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변경점은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Cb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변경 수준이나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SW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변경점은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Ca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 변경 수준 의 개발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11216"/>
                  </a:ext>
                </a:extLst>
              </a:tr>
              <a:tr h="836723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Cb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정격 변경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양산부품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수평전개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844083" rtl="0" eaLnBrk="1" fontAlgn="ctr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시험검증은 필요하되 생산성 점검은 필요 없는</a:t>
                      </a:r>
                      <a:r>
                        <a:rPr lang="ko-KR" altLang="en-US" sz="800" kern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개발</a:t>
                      </a:r>
                      <a:b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-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정격 변경 개발 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indent="0" eaLnBrk="1" fontAlgn="ctr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-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양산중인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Comp, Motor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수평 전개 적용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</a:p>
                    <a:p>
                      <a:pPr marL="88900" indent="-88900" eaLnBrk="1" fontAlgn="ctr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-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알고리즘 및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동일 디자인 확대 적용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1) </a:t>
                      </a:r>
                      <a:r>
                        <a:rPr lang="ko-KR" altLang="en-US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양산중인 핵심 열원</a:t>
                      </a:r>
                      <a:r>
                        <a:rPr lang="en-US" altLang="ko-KR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수평 전개 적용</a:t>
                      </a:r>
                      <a:endParaRPr lang="en-US" altLang="ko-KR" sz="800" b="0" strike="noStrike" baseline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  <a:sym typeface="Wingdings" pitchFamily="2" charset="2"/>
                      </a:endParaRPr>
                    </a:p>
                    <a:p>
                      <a:pPr marL="0" indent="0" algn="l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lang="en-US" altLang="ko-KR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   - Heater, </a:t>
                      </a:r>
                      <a:r>
                        <a:rPr lang="ko-KR" altLang="en-US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버너</a:t>
                      </a:r>
                      <a:r>
                        <a:rPr lang="en-US" altLang="ko-KR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, </a:t>
                      </a:r>
                      <a:r>
                        <a:rPr lang="ko-KR" altLang="en-US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인덕션 수평전개</a:t>
                      </a:r>
                      <a:endParaRPr lang="en-US" altLang="ko-KR" sz="800" b="0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  <a:sym typeface="Wingdings" pitchFamily="2" charset="2"/>
                      </a:endParaRPr>
                    </a:p>
                    <a:p>
                      <a:pPr marL="0" indent="0" algn="l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lang="en-US" altLang="ko-KR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     Ex) </a:t>
                      </a:r>
                      <a:r>
                        <a:rPr lang="ko-KR" altLang="en-US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가스 성분 변경 변경</a:t>
                      </a:r>
                      <a:r>
                        <a:rPr lang="en-US" altLang="ko-KR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 (LNG </a:t>
                      </a:r>
                      <a:r>
                        <a:rPr lang="ko-KR" altLang="en-US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→</a:t>
                      </a:r>
                      <a:r>
                        <a:rPr lang="en-US" altLang="ko-KR" sz="8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LPG)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2)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Handle, Knob, Grate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등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디자인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</a:t>
                      </a:r>
                      <a:b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3)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전기쿡탑 히터 배치 변경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1) </a:t>
                      </a:r>
                      <a:r>
                        <a:rPr lang="ko-KR" altLang="en-US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양산중인 핵심 열원</a:t>
                      </a:r>
                      <a:r>
                        <a:rPr lang="en-US" altLang="ko-KR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수평 전개 적용</a:t>
                      </a:r>
                      <a:endParaRPr lang="en-US" altLang="ko-KR" sz="800" baseline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MGT, HVT,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인버터 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Heater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 전개</a:t>
                      </a: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2)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Knob, Handle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등 변경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1) </a:t>
                      </a:r>
                      <a:r>
                        <a:rPr lang="ko-KR" altLang="en-US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양산중인 핵심 열원</a:t>
                      </a:r>
                      <a:r>
                        <a:rPr lang="en-US" altLang="ko-KR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800" b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수평 전개 적용</a:t>
                      </a:r>
                      <a:endParaRPr lang="en-US" altLang="ko-KR" sz="800" kern="1200" baseline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  <a:sym typeface="Wingdings" pitchFamily="2" charset="2"/>
                      </a:endParaRPr>
                    </a:p>
                    <a:p>
                      <a:pPr marL="0" indent="0" algn="l" defTabSz="914400" rtl="0" eaLnBrk="1" latinLnBrk="1" hangingPunct="1">
                        <a:buFontTx/>
                        <a:buNone/>
                      </a:pP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itchFamily="2" charset="2"/>
                        </a:rPr>
                        <a:t>- Heater, 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itchFamily="2" charset="2"/>
                        </a:rPr>
                        <a:t>버너</a:t>
                      </a: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itchFamily="2" charset="2"/>
                        </a:rPr>
                        <a:t>, 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itchFamily="2" charset="2"/>
                        </a:rPr>
                        <a:t>인덕션 수평전개</a:t>
                      </a:r>
                      <a:endParaRPr lang="en-US" altLang="ko-KR" sz="80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  <a:sym typeface="Wingdings" pitchFamily="2" charset="2"/>
                      </a:endParaRPr>
                    </a:p>
                    <a:p>
                      <a:pPr marL="0" indent="0" algn="l" defTabSz="914400" rtl="0" eaLnBrk="1" latinLnBrk="1" hangingPunct="1">
                        <a:buFontTx/>
                        <a:buNone/>
                      </a:pP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itchFamily="2" charset="2"/>
                        </a:rPr>
                        <a:t>   Ex) 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아이리스</a:t>
                      </a: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 인덕션</a:t>
                      </a:r>
                      <a:endParaRPr lang="en-US" altLang="ko-KR" sz="80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defTabSz="914400" rtl="0" eaLnBrk="1" latinLnBrk="1" hangingPunct="1">
                        <a:buFontTx/>
                        <a:buNone/>
                      </a:pP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+ 2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 라디언트</a:t>
                      </a:r>
                      <a:endParaRPr lang="en-US" altLang="ko-KR" sz="80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 algn="l" defTabSz="914400" rtl="0" eaLnBrk="1" latinLnBrk="1" hangingPunct="1">
                        <a:buFontTx/>
                        <a:buNone/>
                      </a:pP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 인덕션</a:t>
                      </a:r>
                      <a:r>
                        <a:rPr lang="en-US" altLang="ko-KR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+ 1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 라디언트</a:t>
                      </a:r>
                      <a:endParaRPr lang="en-US" altLang="ko-KR" sz="800" kern="12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2)</a:t>
                      </a:r>
                      <a:r>
                        <a:rPr lang="en-US" altLang="ko-KR" sz="800">
                          <a:solidFill>
                            <a:srgbClr val="0066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Glass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(Ex) 4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면→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면 베벨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2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eaLnBrk="1" fontAlgn="ctr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외관부품 표면 처리재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모재 개발 또는 표면처리 공정 추가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endParaRPr lang="en-US" altLang="ko-KR" sz="800" b="0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  <a:sym typeface="Wingdings" pitchFamily="2" charset="2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l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내지문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STS, BK STS, Matt BK STS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등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파급 적용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신규 금형 개발시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  <a:endParaRPr lang="en-US" altLang="ko-KR" sz="800" b="0" strike="noStrike" baseline="0">
                        <a:solidFill>
                          <a:srgbClr val="FF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  <a:sym typeface="Wingdings" pitchFamily="2" charset="2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14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Cc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환경검증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단순검증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eaLnBrk="1" fontAlgn="ctr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-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품평회 필요 없이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 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단순 검증</a:t>
                      </a: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,</a:t>
                      </a:r>
                      <a:r>
                        <a:rPr lang="ko-KR" altLang="en-US" sz="800" b="0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시장환경 변경 검증 등이 필요한 개발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eaLnBrk="1" fontAlgn="ctr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  <a:defRPr/>
                      </a:pP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- Ex) 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제품</a:t>
                      </a: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Spec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변경없이 사용환경이 다른 지역의 국가에 최초 출시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755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Csw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비성능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제품 성능 검증 없고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S/W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변경에 대한 검증만 필요한 개발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  <a:sym typeface="Wingdings" pitchFamily="2" charset="2"/>
                        </a:rPr>
                        <a:t>- Ex)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리모컨표시방식변경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: ℃ → 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Arial Narrow" panose="020B0606020202030204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3598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D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Cosmetic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Change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재료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/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공정 변경없이 단순 외관 색상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인쇄 변경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 Ex)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인쇄 문구 변경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공용  도료</a:t>
                      </a: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사용 등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sng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동일 정격의 타 국가 개발에 따른 인쇄물 개발 </a:t>
                      </a:r>
                      <a:endParaRPr kumimoji="1" lang="en-US" altLang="ko-KR" sz="800" b="0" i="0" u="none" strike="sng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lvl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제품 시험검증 필요 없고 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개발 없는 개발</a:t>
                      </a:r>
                      <a:endParaRPr lang="en-US" altLang="ko-KR" sz="800">
                        <a:solidFill>
                          <a:srgbClr val="FF0000"/>
                        </a:solidFill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lvl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동일 정격의 타 국가 개발에 따른 인쇄물 개발                                                                             </a:t>
                      </a:r>
                    </a:p>
                    <a:p>
                      <a:pPr lvl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외관 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Color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기 개발된 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Color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경우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),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인쇄문구 변경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                               </a:t>
                      </a:r>
                    </a:p>
                    <a:p>
                      <a:pPr lvl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공용도료 사용</a:t>
                      </a:r>
                      <a:r>
                        <a:rPr lang="en-US" altLang="ko-KR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, Power Cord </a:t>
                      </a:r>
                      <a:r>
                        <a:rPr lang="ko-KR" altLang="en-US" sz="80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</a:t>
                      </a:r>
                      <a:endParaRPr lang="ko-KR" altLang="en-US" sz="800">
                        <a:solidFill>
                          <a:srgbClr val="FF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외관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Color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변경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기 개발된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Color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경우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인쇄물 변경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인쇄문구 변경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공용도료 사용  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04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T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(T1,T2,T3)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생산지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이전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양산 중 제품을 생산지 이관 하기 위한 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PJT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진행 시 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(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창원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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해외법인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/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해외거래선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, 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해외법인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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창원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해외법인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 거래선</a:t>
                      </a: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)</a:t>
                      </a:r>
                      <a:endParaRPr kumimoji="1" lang="ko-KR" altLang="en-US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H&amp;A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본부 해외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Line up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업무표준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(3.0)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부표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3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생산지 이관 프로세스 운영 기준 참조</a:t>
                      </a:r>
                      <a:b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(LG(59)-A-5516)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" name="Line 14">
            <a:extLst>
              <a:ext uri="{FF2B5EF4-FFF2-40B4-BE49-F238E27FC236}">
                <a16:creationId xmlns:a16="http://schemas.microsoft.com/office/drawing/2014/main" id="{C37D0C30-12F7-2457-04F2-1BD42F4F8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0" y="497375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662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16">
            <a:extLst>
              <a:ext uri="{FF2B5EF4-FFF2-40B4-BE49-F238E27FC236}">
                <a16:creationId xmlns:a16="http://schemas.microsoft.com/office/drawing/2014/main" id="{D1BDABF4-7442-9A43-75A0-C3E10CDD15A0}"/>
              </a:ext>
            </a:extLst>
          </p:cNvPr>
          <p:cNvSpPr txBox="1"/>
          <p:nvPr/>
        </p:nvSpPr>
        <p:spPr>
          <a:xfrm>
            <a:off x="0" y="63497"/>
            <a:ext cx="33586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46859">
              <a:spcBef>
                <a:spcPct val="10000"/>
              </a:spcBef>
              <a:spcAft>
                <a:spcPct val="10000"/>
              </a:spcAft>
            </a:pP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유첨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등급 분류 기준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_NXI</a:t>
            </a:r>
            <a:endParaRPr lang="ko-KR" altLang="en-US" sz="20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4" name="Rectangle 157">
            <a:extLst>
              <a:ext uri="{FF2B5EF4-FFF2-40B4-BE49-F238E27FC236}">
                <a16:creationId xmlns:a16="http://schemas.microsoft.com/office/drawing/2014/main" id="{2C405591-B44E-EEC8-4456-8BC0A554797B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057456" y="169859"/>
            <a:ext cx="362801" cy="255716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108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NXI</a:t>
            </a:r>
            <a:endParaRPr lang="ko-KR" altLang="en-US" sz="1108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6675505"/>
      </p:ext>
    </p:extLst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Rectangle 108"/>
          <p:cNvSpPr>
            <a:spLocks noChangeArrowheads="1"/>
          </p:cNvSpPr>
          <p:nvPr/>
        </p:nvSpPr>
        <p:spPr bwMode="auto">
          <a:xfrm>
            <a:off x="147011" y="633379"/>
            <a:ext cx="9468056" cy="40011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부품 및 구조의 개발 난이도에 따라 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개발 등급을 구분하여 관리하며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Activity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수행은 이 분류에 준해 정해진다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b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제품별 특성에 따른 개발 등급 상세 분류 기준은 사업부 표준에 준해 개발 유형 및 등급 심의회 시 결정한다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endParaRPr lang="ko-KR" altLang="en-US" sz="100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7" name="Group 329"/>
          <p:cNvGraphicFramePr>
            <a:graphicFrameLocks noGrp="1"/>
          </p:cNvGraphicFramePr>
          <p:nvPr/>
        </p:nvGraphicFramePr>
        <p:xfrm>
          <a:off x="128464" y="1036037"/>
          <a:ext cx="9642560" cy="5100575"/>
        </p:xfrm>
        <a:graphic>
          <a:graphicData uri="http://schemas.openxmlformats.org/drawingml/2006/table">
            <a:tbl>
              <a:tblPr/>
              <a:tblGrid>
                <a:gridCol w="5760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77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406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5240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정의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회로 개발 등급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24923" marB="24923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86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HW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73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신사업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2667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없음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2667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24923" marB="24923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70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A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New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Platform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주요기능의 혁신을 가져오는 신기술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+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신기능이 적용된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New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플랫폼 개발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지금까지 당사에서 생산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판매되지 않은 신사업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상품군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: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공항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홈 로봇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  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계통 연계 제어 최초 개발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신규 전원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Source (Solar,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풍력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최초 적용 등 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 SW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프로그래밍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Language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변경되는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Initial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개발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24923" marB="24923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513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Major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Change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현재까지 사용하지 않았던 신규 회로 개발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IoT,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OS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적용 임베디드 모듈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성능향상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 UXP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를 위한 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Platform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모듈 개발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Gen2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→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Gen3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전환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AC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부하 →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DC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부하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동일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Platform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내 신규 마이콤 적용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indent="0" algn="l" rtl="0" fontAlgn="ctr">
                        <a:buFontTx/>
                        <a:buChar char="-"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300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1)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Feature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단위 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SW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개발 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Cycle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최초개발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: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압력제어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통합 온도 제어 최초 개발 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최초 적용된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Inverter, Converter,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제어 기술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: Cap-less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알고리즘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Interleave PFC , Boost Cap-less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OS, OS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플랫폼 변경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(OS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無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→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OS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有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OS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주 성능에 영향을 주는 신규 알고리즘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/UI/UX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585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B_EC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Engineering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Change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B_HW/SW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 변경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급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B_4NEW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신 적용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B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급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92067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Ca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Minor  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Change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FontTx/>
                        <a:buChar char="-"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동일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Maker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의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New Series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적용 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동일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Platform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내 기 적용되지 않은 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신규 기능 추가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IPM / SMPS IC Maker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</a:t>
                      </a:r>
                      <a:b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 성능 검증된 마이컴 수평 전개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(Base Model)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en-US" altLang="ko-KR" sz="800" b="0" i="0" u="none" strike="noStrike" baseline="300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1)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Feature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단위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SW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제품 주 성능에 영향을 주는 알고리즘 변경 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Comp / Motor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변경에 의한 알고리즘 변경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Web/App. :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신규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Menu/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기능 추가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제품 기능 변경 없음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340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Ca_Mi</a:t>
                      </a:r>
                    </a:p>
                  </a:txBody>
                  <a:tcPr marL="36000" marR="36000" marT="90000" marB="9000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Minor  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Change</a:t>
                      </a:r>
                    </a:p>
                  </a:txBody>
                  <a:tcPr marL="36000" marR="36000" marT="90000" marB="9000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Ca</a:t>
                      </a:r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등급 이하 변경 수준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Ca</a:t>
                      </a:r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등급 이하 변경 수준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963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Ca_SW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기구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HW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Cb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제어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SW Ca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itchFamily="50" charset="-127"/>
                          <a:cs typeface="Arial" pitchFamily="34" charset="0"/>
                        </a:rPr>
                        <a:t>수준의 변경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FontTx/>
                        <a:buNone/>
                      </a:pPr>
                      <a:r>
                        <a:rPr lang="en-US" altLang="ko-KR" sz="800" b="0" i="0" u="none" strike="noStrike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Cb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등급 변경 수준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등급 변경 수준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2" name="Line 14">
            <a:extLst>
              <a:ext uri="{FF2B5EF4-FFF2-40B4-BE49-F238E27FC236}">
                <a16:creationId xmlns:a16="http://schemas.microsoft.com/office/drawing/2014/main" id="{EE3F756A-58B0-A20E-3AD8-50D9E476E8BD}"/>
              </a:ext>
            </a:extLst>
          </p:cNvPr>
          <p:cNvSpPr>
            <a:spLocks noChangeShapeType="1"/>
          </p:cNvSpPr>
          <p:nvPr/>
        </p:nvSpPr>
        <p:spPr bwMode="auto">
          <a:xfrm>
            <a:off x="0" y="497375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662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16">
            <a:extLst>
              <a:ext uri="{FF2B5EF4-FFF2-40B4-BE49-F238E27FC236}">
                <a16:creationId xmlns:a16="http://schemas.microsoft.com/office/drawing/2014/main" id="{E233903E-5729-F019-C3DD-32EC2CB87BD2}"/>
              </a:ext>
            </a:extLst>
          </p:cNvPr>
          <p:cNvSpPr txBox="1"/>
          <p:nvPr/>
        </p:nvSpPr>
        <p:spPr>
          <a:xfrm>
            <a:off x="0" y="63497"/>
            <a:ext cx="33586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46859">
              <a:spcBef>
                <a:spcPct val="10000"/>
              </a:spcBef>
              <a:spcAft>
                <a:spcPct val="10000"/>
              </a:spcAft>
            </a:pP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유첨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등급 분류 기준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_NXI</a:t>
            </a:r>
            <a:endParaRPr lang="ko-KR" altLang="en-US" sz="20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4" name="Rectangle 157">
            <a:extLst>
              <a:ext uri="{FF2B5EF4-FFF2-40B4-BE49-F238E27FC236}">
                <a16:creationId xmlns:a16="http://schemas.microsoft.com/office/drawing/2014/main" id="{61A587A7-4A57-7D81-E03E-66552720BB22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057456" y="169859"/>
            <a:ext cx="362801" cy="255716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108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NXI</a:t>
            </a:r>
            <a:endParaRPr lang="ko-KR" altLang="en-US" sz="1108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6040434"/>
      </p:ext>
    </p:extLst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Rectangle 108"/>
          <p:cNvSpPr>
            <a:spLocks noChangeArrowheads="1"/>
          </p:cNvSpPr>
          <p:nvPr/>
        </p:nvSpPr>
        <p:spPr bwMode="auto">
          <a:xfrm>
            <a:off x="147011" y="633379"/>
            <a:ext cx="9468056" cy="40011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부품 및 구조의 개발 난이도에 따라 기구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회로 개발 등급을 구분하여 관리하며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, Activity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수행은 이 분류에 준해 정해진다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b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제품별 특성에 따른 개발 등급 상세 분류 기준은 사업부 표준에 준해 개발 유형 및 등급 심의회 시 결정한다</a:t>
            </a:r>
            <a:r>
              <a:rPr lang="en-US" altLang="ko-KR" sz="1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</a:t>
            </a:r>
            <a:endParaRPr lang="ko-KR" altLang="en-US" sz="100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7" name="Group 329"/>
          <p:cNvGraphicFramePr>
            <a:graphicFrameLocks noGrp="1"/>
          </p:cNvGraphicFramePr>
          <p:nvPr/>
        </p:nvGraphicFramePr>
        <p:xfrm>
          <a:off x="128464" y="1036037"/>
          <a:ext cx="9642560" cy="2428589"/>
        </p:xfrm>
        <a:graphic>
          <a:graphicData uri="http://schemas.openxmlformats.org/drawingml/2006/table">
            <a:tbl>
              <a:tblPr/>
              <a:tblGrid>
                <a:gridCol w="5760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77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406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5240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정의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회로 개발 등급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24923" marB="24923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86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HW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2644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Cb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정격 변경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itchFamily="50" charset="-127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양산부품</a:t>
                      </a:r>
                      <a:b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</a:b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 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수평전개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FontTx/>
                        <a:buChar char="-"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Artwork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 없이 기능 축소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확장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R, C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시정수 변경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Option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기능 추가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삭제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Char char="-"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회로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/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부품 변경 없이 작업성 개선을 위한 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 Artwork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수정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부품 간격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납땜 부위 조정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rtl="0" fontAlgn="ctr">
                        <a:buFontTx/>
                        <a:buChar char="-"/>
                      </a:pPr>
                      <a:r>
                        <a:rPr lang="en-US" altLang="ko-KR" sz="800" b="0" i="0" u="none" strike="noStrike" baseline="3000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2)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Function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단위 이하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SW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기존 알고리즘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Modify)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 검증된 제어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S/W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의 수평전개로 인한 작업추가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 검증품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 </a:t>
                      </a:r>
                      <a:b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.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성능에 영향 없는 단순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SW Data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(EEPROM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포함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  <a:b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. LCD Display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언어 변경 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None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. Comp / Motor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변경에 의한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Tuning Data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</a:t>
                      </a:r>
                      <a:b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Web/App.: OS Upgrade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대응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단순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UI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변경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다국어 전개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플랫폼 </a:t>
                      </a: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Biz. </a:t>
                      </a:r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앱</a:t>
                      </a: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(ThinQ </a:t>
                      </a:r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등</a:t>
                      </a: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 개발은 제품 개발 등급과 무관함</a:t>
                      </a: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None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- </a:t>
                      </a:r>
                      <a:r>
                        <a:rPr lang="en-US" altLang="ko-KR" sz="800" b="0" i="0" u="none" strike="noStrike" baseline="0" err="1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Cb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, </a:t>
                      </a:r>
                      <a:r>
                        <a:rPr lang="en-US" altLang="ko-KR" sz="800" b="0" i="0" u="none" strike="noStrike" baseline="0" err="1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Csw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등급 구분은 기구개발등급에 따름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  <a:p>
                      <a:pPr algn="l" rtl="0" fontAlgn="ctr">
                        <a:buFontTx/>
                        <a:buNone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481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Cc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환경검증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,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itchFamily="50" charset="-127"/>
                          <a:ea typeface="LG스마트체 Regular" pitchFamily="50" charset="-127"/>
                          <a:cs typeface="Arial" pitchFamily="34" charset="0"/>
                        </a:rPr>
                        <a:t>단순검증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기구개발등급에 따름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>
                        <a:buFontTx/>
                        <a:buNone/>
                      </a:pP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481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Csw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비성능</a:t>
                      </a:r>
                      <a:endParaRPr kumimoji="1" lang="en-US" altLang="ko-KR" sz="8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SW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변경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>
                        <a:buFontTx/>
                        <a:buChar char="-"/>
                      </a:pP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>
                        <a:buFontTx/>
                        <a:buNone/>
                      </a:pP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64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D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Cosmetic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Change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없음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제어 주관 제품 개발은 제품 기준 따름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latin typeface="Arial Narrow" pitchFamily="34" charset="0"/>
                          <a:ea typeface="LG스마트체 Regular" pitchFamily="50" charset="-127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>
                        <a:lnSpc>
                          <a:spcPts val="1200"/>
                        </a:lnSpc>
                      </a:pPr>
                      <a:endParaRPr lang="ko-KR" altLang="en-US" sz="900" dirty="0">
                        <a:solidFill>
                          <a:schemeClr val="tx1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36000" marR="36000" marT="24923" marB="24923" anchor="ctr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T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등급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(T1,T2,T3)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생산지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이전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양산 중 제품을 생산지 이관 하기 위한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PJT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진행 시 </a:t>
                      </a:r>
                      <a:endParaRPr kumimoji="1" lang="en-US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  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</a:rPr>
                        <a:t>창원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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해외법인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해외거래선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, 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해외법인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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창원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해외법인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해외 거래선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) , 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LG(59)-A-5577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해외법인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Line up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개발 업무 기준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”</a:t>
                      </a:r>
                      <a:r>
                        <a:rPr lang="en-US" altLang="ko-KR" sz="800" baseline="0">
                          <a:solidFill>
                            <a:schemeClr val="tx1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itchFamily="34" charset="0"/>
                          <a:ea typeface="LG스마트체 Regular" pitchFamily="50" charset="-127"/>
                          <a:cs typeface="Arial" pitchFamily="34" charset="0"/>
                          <a:sym typeface="Wingdings" pitchFamily="2" charset="2"/>
                        </a:rPr>
                        <a:t>참조</a:t>
                      </a:r>
                      <a:endParaRPr kumimoji="1" lang="ko-KR" alt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itchFamily="34" charset="0"/>
                        <a:ea typeface="LG스마트체 Regular" pitchFamily="50" charset="-127"/>
                        <a:cs typeface="Arial" pitchFamily="34" charset="0"/>
                      </a:endParaRPr>
                    </a:p>
                  </a:txBody>
                  <a:tcPr marL="36000" marR="36000" marT="0" marB="0" horzOverflow="overflow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" name="Line 14">
            <a:extLst>
              <a:ext uri="{FF2B5EF4-FFF2-40B4-BE49-F238E27FC236}">
                <a16:creationId xmlns:a16="http://schemas.microsoft.com/office/drawing/2014/main" id="{ACF86EDB-8026-CF82-5AD8-3081BE70E923}"/>
              </a:ext>
            </a:extLst>
          </p:cNvPr>
          <p:cNvSpPr>
            <a:spLocks noChangeShapeType="1"/>
          </p:cNvSpPr>
          <p:nvPr/>
        </p:nvSpPr>
        <p:spPr bwMode="auto">
          <a:xfrm>
            <a:off x="0" y="497375"/>
            <a:ext cx="990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662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16">
            <a:extLst>
              <a:ext uri="{FF2B5EF4-FFF2-40B4-BE49-F238E27FC236}">
                <a16:creationId xmlns:a16="http://schemas.microsoft.com/office/drawing/2014/main" id="{020F4E6D-4C44-0A97-B490-584F779CBD0A}"/>
              </a:ext>
            </a:extLst>
          </p:cNvPr>
          <p:cNvSpPr txBox="1"/>
          <p:nvPr/>
        </p:nvSpPr>
        <p:spPr>
          <a:xfrm>
            <a:off x="0" y="63497"/>
            <a:ext cx="33586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46859">
              <a:spcBef>
                <a:spcPct val="10000"/>
              </a:spcBef>
              <a:spcAft>
                <a:spcPct val="10000"/>
              </a:spcAft>
            </a:pPr>
            <a:r>
              <a:rPr lang="en-US" altLang="ko-KR" sz="2000" dirty="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유첨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. </a:t>
            </a:r>
            <a:r>
              <a:rPr lang="ko-KR" altLang="en-US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개발 등급 분류 기준</a:t>
            </a:r>
            <a:r>
              <a:rPr lang="en-US" altLang="ko-KR" sz="2000">
                <a:solidFill>
                  <a:srgbClr val="000000"/>
                </a:solidFill>
                <a:latin typeface="LG스마트체 Regular" pitchFamily="50" charset="-127"/>
                <a:ea typeface="LG스마트체 Regular" pitchFamily="50" charset="-127"/>
              </a:rPr>
              <a:t>_NXI</a:t>
            </a:r>
            <a:endParaRPr lang="ko-KR" altLang="en-US" sz="2000" dirty="0">
              <a:solidFill>
                <a:srgbClr val="00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4" name="Rectangle 157">
            <a:extLst>
              <a:ext uri="{FF2B5EF4-FFF2-40B4-BE49-F238E27FC236}">
                <a16:creationId xmlns:a16="http://schemas.microsoft.com/office/drawing/2014/main" id="{7A76717A-464C-7FA6-0068-FA06B0EDFF1C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057456" y="169859"/>
            <a:ext cx="362801" cy="255716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84396" tIns="42198" rIns="84396" bIns="42198">
            <a:spAutoFit/>
          </a:bodyPr>
          <a:lstStyle/>
          <a:p>
            <a:r>
              <a:rPr lang="en-US" altLang="ko-KR" sz="1108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NXI</a:t>
            </a:r>
            <a:endParaRPr lang="ko-KR" altLang="en-US" sz="1108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4412443"/>
      </p:ext>
    </p:extLst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72480" y="679585"/>
            <a:ext cx="3646954" cy="2420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4992" tIns="42497" rIns="84992" bIns="42497">
            <a:spAutoFit/>
          </a:bodyPr>
          <a:lstStyle/>
          <a:p>
            <a:pPr latinLnBrk="0"/>
            <a:r>
              <a:rPr kumimoji="0" lang="ko-KR" altLang="en-US" sz="1015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▶ 개발 </a:t>
            </a:r>
            <a:r>
              <a:rPr kumimoji="0" lang="en-US" altLang="ko-KR" sz="1015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PJT R&amp;D PMS </a:t>
            </a:r>
            <a:r>
              <a:rPr kumimoji="0" lang="ko-KR" altLang="en-US" sz="1015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일정 등록 시 품의 시 포함되어야 하는 내용</a:t>
            </a:r>
          </a:p>
        </p:txBody>
      </p:sp>
      <p:sp>
        <p:nvSpPr>
          <p:cNvPr id="9" name="TextBox 16"/>
          <p:cNvSpPr txBox="1"/>
          <p:nvPr/>
        </p:nvSpPr>
        <p:spPr>
          <a:xfrm>
            <a:off x="114944" y="82765"/>
            <a:ext cx="4960012" cy="3763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846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개발 </a:t>
            </a:r>
            <a:r>
              <a:rPr kumimoji="0" lang="en-US" altLang="ko-KR" sz="1846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PJT R&amp;D PMS </a:t>
            </a:r>
            <a:r>
              <a:rPr kumimoji="0" lang="ko-KR" altLang="en-US" sz="1846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일정 등록 시 품의 내용 표준화</a:t>
            </a:r>
          </a:p>
        </p:txBody>
      </p:sp>
      <p:sp>
        <p:nvSpPr>
          <p:cNvPr id="10" name="Text Box 16"/>
          <p:cNvSpPr txBox="1">
            <a:spLocks noChangeArrowheads="1"/>
          </p:cNvSpPr>
          <p:nvPr/>
        </p:nvSpPr>
        <p:spPr bwMode="auto">
          <a:xfrm>
            <a:off x="1712640" y="1198919"/>
            <a:ext cx="5049954" cy="5519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3109" tIns="31556" rIns="63109" bIns="31556">
            <a:spAutoFit/>
          </a:bodyPr>
          <a:lstStyle>
            <a:lvl1pPr eaLnBrk="0" hangingPunct="0"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300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1.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개발 목적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고객의 오븐 사용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Trend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를 반영한 신규 오븐 신규 플랫폼 개발로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,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 Daily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메뉴 특화된 제품을 출시하여 고객가치를 제공하기 위함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신규 카테고리 선점하여 시장을 선도하는 제품을 개발하고자 함</a:t>
            </a:r>
            <a:endParaRPr lang="en-US" altLang="en-US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en-US" sz="1108" b="0" dirty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lang="ko-KR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개발 등급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 A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급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ko-KR" sz="1108" b="0" dirty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주요 변경점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신규 플랫폼 캐비티 용량구성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퀵존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2.0,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오븐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5.1)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디자인 변경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 · Edge to Edge Cooktop Glass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 ·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사각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Controller +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경사형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Display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 · Wide View Door Glass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퀵존 특화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Accessory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적용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쾌속 셀프클린 법랑 적용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- 6.8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인치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LCD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적용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인버터 프로베이크 적용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에어프라이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,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피자 특화 조리모드 제공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ko-KR" sz="1108" b="0" dirty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4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.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물량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: Total 18.8k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대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Best 11.9k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대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Better 6.9k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대</a:t>
            </a: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- Good, Extra TBD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ko-KR" sz="1108" b="0" dirty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5.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등록일정</a:t>
            </a:r>
            <a:r>
              <a:rPr lang="en-US" altLang="ko-KR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(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목표일정</a:t>
            </a:r>
            <a:r>
              <a:rPr lang="en-US" altLang="ko-KR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)</a:t>
            </a:r>
            <a:endParaRPr lang="en-US" altLang="ko-KR" sz="1108" dirty="0">
              <a:solidFill>
                <a:srgbClr val="023CBE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- CP </a:t>
            </a: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 '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25.12.22 ('26.03.25)</a:t>
            </a:r>
            <a:endParaRPr lang="en-US" altLang="ko-KR" sz="1108" b="0" dirty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- </a:t>
            </a:r>
            <a:r>
              <a:rPr lang="en-US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DV </a:t>
            </a: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 '26.07.15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('26.08.04)</a:t>
            </a:r>
            <a:endParaRPr lang="en-US" altLang="ko-KR" sz="1108" dirty="0">
              <a:solidFill>
                <a:srgbClr val="023CBE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</a:t>
            </a:r>
            <a:r>
              <a:rPr lang="en-US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- PV </a:t>
            </a: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 '26.08.23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('26.08.31)</a:t>
            </a:r>
            <a:endParaRPr lang="en-US" altLang="ko-KR" sz="1108" dirty="0">
              <a:solidFill>
                <a:srgbClr val="023CBE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</a:t>
            </a:r>
            <a:r>
              <a:rPr lang="en-US" altLang="en-US" sz="1108" b="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- Pre MP </a:t>
            </a: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 '26.09.24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('26.09.21)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ko-KR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6. Skip Activity List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 </a:t>
            </a:r>
            <a:r>
              <a:rPr lang="en-US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- CP /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수익성 검토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*Pre-CP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간소화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(HS NXI 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커미티 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 1.23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배포</a:t>
            </a:r>
            <a:r>
              <a:rPr lang="en-US" altLang="ko-KR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)</a:t>
            </a:r>
            <a:r>
              <a:rPr lang="ko-KR" altLang="en-US" sz="1108" b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에 따름</a:t>
            </a:r>
            <a:endParaRPr lang="en-US" altLang="en-US" sz="1108" b="0">
              <a:solidFill>
                <a:prstClr val="black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" name="Line 39"/>
          <p:cNvSpPr>
            <a:spLocks noChangeShapeType="1"/>
          </p:cNvSpPr>
          <p:nvPr/>
        </p:nvSpPr>
        <p:spPr bwMode="auto">
          <a:xfrm>
            <a:off x="0" y="574438"/>
            <a:ext cx="9906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</p:spPr>
        <p:txBody>
          <a:bodyPr lIns="84341" tIns="42173" rIns="84341" bIns="42173"/>
          <a:lstStyle/>
          <a:p>
            <a:pPr>
              <a:defRPr/>
            </a:pPr>
            <a:endParaRPr lang="ko-KR" altLang="en-US" sz="1846" dirty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88504" y="1218378"/>
            <a:ext cx="1063112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NXI </a:t>
            </a:r>
            <a:r>
              <a:rPr lang="en-US" altLang="ko-KR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</a:t>
            </a:r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859593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6891F6-B044-8257-ABB5-E3BF88755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98" name="직선 연결선 897">
            <a:extLst>
              <a:ext uri="{FF2B5EF4-FFF2-40B4-BE49-F238E27FC236}">
                <a16:creationId xmlns:a16="http://schemas.microsoft.com/office/drawing/2014/main" id="{63E1B17A-287E-5238-827C-9F7A1386A988}"/>
              </a:ext>
            </a:extLst>
          </p:cNvPr>
          <p:cNvCxnSpPr>
            <a:cxnSpLocks/>
            <a:stCxn id="887" idx="0"/>
            <a:endCxn id="776" idx="2"/>
          </p:cNvCxnSpPr>
          <p:nvPr/>
        </p:nvCxnSpPr>
        <p:spPr>
          <a:xfrm flipV="1">
            <a:off x="5483602" y="2492495"/>
            <a:ext cx="143460" cy="325270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prstDash val="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직선 연결선 450">
            <a:extLst>
              <a:ext uri="{FF2B5EF4-FFF2-40B4-BE49-F238E27FC236}">
                <a16:creationId xmlns:a16="http://schemas.microsoft.com/office/drawing/2014/main" id="{D1D830A3-FF20-6A1D-FC82-F33EDCF2E499}"/>
              </a:ext>
            </a:extLst>
          </p:cNvPr>
          <p:cNvCxnSpPr>
            <a:cxnSpLocks/>
            <a:stCxn id="829" idx="0"/>
            <a:endCxn id="781" idx="2"/>
          </p:cNvCxnSpPr>
          <p:nvPr/>
        </p:nvCxnSpPr>
        <p:spPr>
          <a:xfrm flipV="1">
            <a:off x="4234419" y="2492495"/>
            <a:ext cx="415831" cy="142877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prstDash val="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7" name="직선 연결선 896">
            <a:extLst>
              <a:ext uri="{FF2B5EF4-FFF2-40B4-BE49-F238E27FC236}">
                <a16:creationId xmlns:a16="http://schemas.microsoft.com/office/drawing/2014/main" id="{D2D65125-A408-C6B5-683E-B99F9AB4CF33}"/>
              </a:ext>
            </a:extLst>
          </p:cNvPr>
          <p:cNvCxnSpPr>
            <a:cxnSpLocks/>
            <a:stCxn id="893" idx="0"/>
            <a:endCxn id="781" idx="2"/>
          </p:cNvCxnSpPr>
          <p:nvPr/>
        </p:nvCxnSpPr>
        <p:spPr>
          <a:xfrm flipV="1">
            <a:off x="3937476" y="2492495"/>
            <a:ext cx="712774" cy="2430007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prstDash val="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실행 단추: 돌아가기 2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AC0F545-4623-AD4E-C967-E6A0FDD4EA5E}"/>
              </a:ext>
            </a:extLst>
          </p:cNvPr>
          <p:cNvSpPr/>
          <p:nvPr/>
        </p:nvSpPr>
        <p:spPr>
          <a:xfrm>
            <a:off x="9577187" y="742830"/>
            <a:ext cx="218515" cy="218515"/>
          </a:xfrm>
          <a:prstGeom prst="actionButtonReturn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4295" tIns="37148" rIns="74295" bIns="3714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ED64BD-A81A-2782-BD3C-296F4ABCAA0B}"/>
              </a:ext>
            </a:extLst>
          </p:cNvPr>
          <p:cNvSpPr/>
          <p:nvPr/>
        </p:nvSpPr>
        <p:spPr bwMode="auto">
          <a:xfrm>
            <a:off x="168296" y="1228538"/>
            <a:ext cx="9572072" cy="334929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  <a:noAutofit/>
          </a:bodyPr>
          <a:lstStyle/>
          <a:p>
            <a:pPr defTabSz="685604" fontAlgn="auto">
              <a:spcBef>
                <a:spcPct val="50000"/>
              </a:spcBef>
              <a:spcAft>
                <a:spcPts val="0"/>
              </a:spcAft>
            </a:pPr>
            <a:endParaRPr kumimoji="0" lang="ko-KR" altLang="en-US" sz="105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F5316F6E-C18A-F9C3-D6E3-4789ACAB2136}"/>
              </a:ext>
            </a:extLst>
          </p:cNvPr>
          <p:cNvCxnSpPr>
            <a:cxnSpLocks/>
          </p:cNvCxnSpPr>
          <p:nvPr/>
        </p:nvCxnSpPr>
        <p:spPr>
          <a:xfrm>
            <a:off x="3178390" y="1228538"/>
            <a:ext cx="0" cy="48676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0369A599-5A7B-E9C7-0990-6ACD5AE52623}"/>
              </a:ext>
            </a:extLst>
          </p:cNvPr>
          <p:cNvCxnSpPr>
            <a:cxnSpLocks/>
          </p:cNvCxnSpPr>
          <p:nvPr/>
        </p:nvCxnSpPr>
        <p:spPr>
          <a:xfrm>
            <a:off x="4543606" y="1228538"/>
            <a:ext cx="0" cy="48676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84CBD5B-F101-5D7C-778C-9B1232649752}"/>
              </a:ext>
            </a:extLst>
          </p:cNvPr>
          <p:cNvCxnSpPr>
            <a:cxnSpLocks/>
          </p:cNvCxnSpPr>
          <p:nvPr/>
        </p:nvCxnSpPr>
        <p:spPr>
          <a:xfrm>
            <a:off x="5907676" y="1228538"/>
            <a:ext cx="0" cy="48676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730D8763-0019-AB02-75E6-A75FC7A3E775}"/>
              </a:ext>
            </a:extLst>
          </p:cNvPr>
          <p:cNvCxnSpPr>
            <a:cxnSpLocks/>
          </p:cNvCxnSpPr>
          <p:nvPr/>
        </p:nvCxnSpPr>
        <p:spPr>
          <a:xfrm>
            <a:off x="8867276" y="1228538"/>
            <a:ext cx="0" cy="48676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5290734E-F94B-5A0A-D03D-2AA5BDF3DDE6}"/>
              </a:ext>
            </a:extLst>
          </p:cNvPr>
          <p:cNvCxnSpPr>
            <a:cxnSpLocks/>
          </p:cNvCxnSpPr>
          <p:nvPr/>
        </p:nvCxnSpPr>
        <p:spPr>
          <a:xfrm>
            <a:off x="1725711" y="1228538"/>
            <a:ext cx="0" cy="48676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왼쪽 대괄호 11">
            <a:extLst>
              <a:ext uri="{FF2B5EF4-FFF2-40B4-BE49-F238E27FC236}">
                <a16:creationId xmlns:a16="http://schemas.microsoft.com/office/drawing/2014/main" id="{1F33FA2D-7C4D-C0CD-8DC7-0DFBEEE99BD0}"/>
              </a:ext>
            </a:extLst>
          </p:cNvPr>
          <p:cNvSpPr/>
          <p:nvPr/>
        </p:nvSpPr>
        <p:spPr>
          <a:xfrm rot="5400000">
            <a:off x="7297505" y="1208459"/>
            <a:ext cx="59547" cy="1052937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3" name="왼쪽 대괄호 12">
            <a:extLst>
              <a:ext uri="{FF2B5EF4-FFF2-40B4-BE49-F238E27FC236}">
                <a16:creationId xmlns:a16="http://schemas.microsoft.com/office/drawing/2014/main" id="{EB63770A-7150-3ABE-23D5-788590E5B9EB}"/>
              </a:ext>
            </a:extLst>
          </p:cNvPr>
          <p:cNvSpPr/>
          <p:nvPr/>
        </p:nvSpPr>
        <p:spPr>
          <a:xfrm rot="5400000">
            <a:off x="5550852" y="1192526"/>
            <a:ext cx="58129" cy="1083376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" name="왼쪽 대괄호 13">
            <a:extLst>
              <a:ext uri="{FF2B5EF4-FFF2-40B4-BE49-F238E27FC236}">
                <a16:creationId xmlns:a16="http://schemas.microsoft.com/office/drawing/2014/main" id="{B5F6728B-BD7D-9CE9-4F11-E8DB204D2569}"/>
              </a:ext>
            </a:extLst>
          </p:cNvPr>
          <p:cNvSpPr/>
          <p:nvPr/>
        </p:nvSpPr>
        <p:spPr>
          <a:xfrm rot="5400000">
            <a:off x="4732165" y="1544761"/>
            <a:ext cx="58130" cy="378912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왼쪽 대괄호 14">
            <a:extLst>
              <a:ext uri="{FF2B5EF4-FFF2-40B4-BE49-F238E27FC236}">
                <a16:creationId xmlns:a16="http://schemas.microsoft.com/office/drawing/2014/main" id="{009049C9-3C68-168C-C320-A2DFCA513C0F}"/>
              </a:ext>
            </a:extLst>
          </p:cNvPr>
          <p:cNvSpPr/>
          <p:nvPr/>
        </p:nvSpPr>
        <p:spPr>
          <a:xfrm rot="5400000">
            <a:off x="4060284" y="1343165"/>
            <a:ext cx="58133" cy="782105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6" name="왼쪽 대괄호 15">
            <a:extLst>
              <a:ext uri="{FF2B5EF4-FFF2-40B4-BE49-F238E27FC236}">
                <a16:creationId xmlns:a16="http://schemas.microsoft.com/office/drawing/2014/main" id="{4DD0FF27-CE85-926E-349F-C80F7953D70E}"/>
              </a:ext>
            </a:extLst>
          </p:cNvPr>
          <p:cNvSpPr/>
          <p:nvPr/>
        </p:nvSpPr>
        <p:spPr>
          <a:xfrm rot="5400000">
            <a:off x="2269906" y="434818"/>
            <a:ext cx="58133" cy="2598797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7" name="Rectangle 24">
            <a:extLst>
              <a:ext uri="{FF2B5EF4-FFF2-40B4-BE49-F238E27FC236}">
                <a16:creationId xmlns:a16="http://schemas.microsoft.com/office/drawing/2014/main" id="{AC22A496-2A76-7F91-626A-3FFE5618D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521" y="1229119"/>
            <a:ext cx="9577847" cy="486708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endParaRPr kumimoji="0" lang="ko-KR" altLang="ko-KR" sz="1350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8" name="Line 19">
            <a:extLst>
              <a:ext uri="{FF2B5EF4-FFF2-40B4-BE49-F238E27FC236}">
                <a16:creationId xmlns:a16="http://schemas.microsoft.com/office/drawing/2014/main" id="{E13D1DB1-FFD0-5B32-192B-16352EFEA073}"/>
              </a:ext>
            </a:extLst>
          </p:cNvPr>
          <p:cNvSpPr>
            <a:spLocks noChangeShapeType="1"/>
          </p:cNvSpPr>
          <p:nvPr/>
        </p:nvSpPr>
        <p:spPr bwMode="auto">
          <a:xfrm>
            <a:off x="162521" y="1564048"/>
            <a:ext cx="957784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endParaRPr kumimoji="0" lang="ko-KR" altLang="en-US" sz="675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6483CF-752B-7795-85B0-A8AC1079B718}"/>
              </a:ext>
            </a:extLst>
          </p:cNvPr>
          <p:cNvSpPr/>
          <p:nvPr/>
        </p:nvSpPr>
        <p:spPr>
          <a:xfrm>
            <a:off x="236674" y="1830614"/>
            <a:ext cx="327695" cy="98594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급 </a:t>
            </a: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440</a:t>
            </a: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28" b="0">
              <a:solidFill>
                <a:srgbClr val="FFFFFF">
                  <a:lumMod val="75000"/>
                </a:srgb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3EB77F7-0AEA-0212-9E23-3E30248284C7}"/>
              </a:ext>
            </a:extLst>
          </p:cNvPr>
          <p:cNvSpPr txBox="1"/>
          <p:nvPr/>
        </p:nvSpPr>
        <p:spPr>
          <a:xfrm>
            <a:off x="235843" y="1660788"/>
            <a:ext cx="324488" cy="12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 dirty="0">
                <a:solidFill>
                  <a:srgbClr val="000000"/>
                </a:solidFill>
              </a:rPr>
              <a:t>표준일정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21" name="TextBox 87">
            <a:extLst>
              <a:ext uri="{FF2B5EF4-FFF2-40B4-BE49-F238E27FC236}">
                <a16:creationId xmlns:a16="http://schemas.microsoft.com/office/drawing/2014/main" id="{BF6538AD-AD62-DCCE-77B0-C2A27C84F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906" y="1292357"/>
            <a:ext cx="292428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'25.11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25" name="TextBox 87">
            <a:extLst>
              <a:ext uri="{FF2B5EF4-FFF2-40B4-BE49-F238E27FC236}">
                <a16:creationId xmlns:a16="http://schemas.microsoft.com/office/drawing/2014/main" id="{E4B668FB-D0CE-88DF-1EC5-C3318C273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8625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7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26" name="TextBox 87">
            <a:extLst>
              <a:ext uri="{FF2B5EF4-FFF2-40B4-BE49-F238E27FC236}">
                <a16:creationId xmlns:a16="http://schemas.microsoft.com/office/drawing/2014/main" id="{1C53954D-F41F-5489-88F0-0017A4A75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5072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9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F1C2167-D2D1-8552-0060-38ED5BC2FBD3}"/>
              </a:ext>
            </a:extLst>
          </p:cNvPr>
          <p:cNvSpPr txBox="1"/>
          <p:nvPr/>
        </p:nvSpPr>
        <p:spPr>
          <a:xfrm>
            <a:off x="842346" y="1824771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상품화</a:t>
            </a:r>
            <a:endParaRPr kumimoji="0" lang="en-US" altLang="ko-KR" sz="569" b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워크샵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710B408-9C91-0035-7C45-D046739F6B50}"/>
              </a:ext>
            </a:extLst>
          </p:cNvPr>
          <p:cNvSpPr txBox="1"/>
          <p:nvPr/>
        </p:nvSpPr>
        <p:spPr>
          <a:xfrm>
            <a:off x="822310" y="1615921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11/17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48B54F2A-06C9-43B3-AC61-F501D774066D}"/>
              </a:ext>
            </a:extLst>
          </p:cNvPr>
          <p:cNvCxnSpPr>
            <a:cxnSpLocks/>
            <a:stCxn id="32" idx="6"/>
            <a:endCxn id="463" idx="6"/>
          </p:cNvCxnSpPr>
          <p:nvPr/>
        </p:nvCxnSpPr>
        <p:spPr>
          <a:xfrm>
            <a:off x="999574" y="1766453"/>
            <a:ext cx="787932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6F5B5726-05C8-EE6F-764E-F886257B9ECF}"/>
              </a:ext>
            </a:extLst>
          </p:cNvPr>
          <p:cNvSpPr/>
          <p:nvPr/>
        </p:nvSpPr>
        <p:spPr>
          <a:xfrm>
            <a:off x="911826" y="1722479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08F2783-9E71-B964-5737-BC2DFB867AD1}"/>
              </a:ext>
            </a:extLst>
          </p:cNvPr>
          <p:cNvSpPr txBox="1"/>
          <p:nvPr/>
        </p:nvSpPr>
        <p:spPr>
          <a:xfrm>
            <a:off x="8727284" y="16159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3/22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2789458-F971-653B-1FBF-D9E0CC01C0F1}"/>
              </a:ext>
            </a:extLst>
          </p:cNvPr>
          <p:cNvSpPr txBox="1"/>
          <p:nvPr/>
        </p:nvSpPr>
        <p:spPr>
          <a:xfrm>
            <a:off x="8696025" y="1824771"/>
            <a:ext cx="27800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Pre-MP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C4A65D1-90D5-DE08-D212-565452A06D9C}"/>
              </a:ext>
            </a:extLst>
          </p:cNvPr>
          <p:cNvSpPr txBox="1"/>
          <p:nvPr/>
        </p:nvSpPr>
        <p:spPr>
          <a:xfrm>
            <a:off x="3512066" y="1824771"/>
            <a:ext cx="26036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Pre-CP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16B6CE2-4338-3668-7EB3-55F6882EA930}"/>
              </a:ext>
            </a:extLst>
          </p:cNvPr>
          <p:cNvSpPr txBox="1"/>
          <p:nvPr/>
        </p:nvSpPr>
        <p:spPr>
          <a:xfrm>
            <a:off x="3560157" y="1615921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5/4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9B6547C-3E5E-4B6B-B68A-AD6A8902ED74}"/>
              </a:ext>
            </a:extLst>
          </p:cNvPr>
          <p:cNvSpPr/>
          <p:nvPr/>
        </p:nvSpPr>
        <p:spPr>
          <a:xfrm>
            <a:off x="3598377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7E1F9FB-70E0-9665-07F6-47B6DE113692}"/>
              </a:ext>
            </a:extLst>
          </p:cNvPr>
          <p:cNvSpPr txBox="1"/>
          <p:nvPr/>
        </p:nvSpPr>
        <p:spPr>
          <a:xfrm>
            <a:off x="8286408" y="16159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2/16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5346C45B-04B9-E868-6FAE-DE8C0D0FB51E}"/>
              </a:ext>
            </a:extLst>
          </p:cNvPr>
          <p:cNvSpPr/>
          <p:nvPr/>
        </p:nvSpPr>
        <p:spPr>
          <a:xfrm>
            <a:off x="8350276" y="1722479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DB3AAFE-5531-1D2A-19FC-A57E15152C74}"/>
              </a:ext>
            </a:extLst>
          </p:cNvPr>
          <p:cNvSpPr txBox="1"/>
          <p:nvPr/>
        </p:nvSpPr>
        <p:spPr>
          <a:xfrm>
            <a:off x="8313659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6C91C9B-71B9-75F8-E0EB-B6E1ED84B6DE}"/>
              </a:ext>
            </a:extLst>
          </p:cNvPr>
          <p:cNvSpPr txBox="1"/>
          <p:nvPr/>
        </p:nvSpPr>
        <p:spPr>
          <a:xfrm>
            <a:off x="4443793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05BEE48-D3CD-AAE7-68E9-E39369851F18}"/>
              </a:ext>
            </a:extLst>
          </p:cNvPr>
          <p:cNvSpPr txBox="1"/>
          <p:nvPr/>
        </p:nvSpPr>
        <p:spPr>
          <a:xfrm>
            <a:off x="4416542" y="16159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6/22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8FA475C2-9942-B8D5-08E7-07E77E72CA76}"/>
              </a:ext>
            </a:extLst>
          </p:cNvPr>
          <p:cNvSpPr/>
          <p:nvPr/>
        </p:nvSpPr>
        <p:spPr>
          <a:xfrm>
            <a:off x="4480410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63" name="타원 462">
            <a:extLst>
              <a:ext uri="{FF2B5EF4-FFF2-40B4-BE49-F238E27FC236}">
                <a16:creationId xmlns:a16="http://schemas.microsoft.com/office/drawing/2014/main" id="{5F449517-163C-B530-4A00-314D02271184}"/>
              </a:ext>
            </a:extLst>
          </p:cNvPr>
          <p:cNvSpPr/>
          <p:nvPr/>
        </p:nvSpPr>
        <p:spPr>
          <a:xfrm>
            <a:off x="8791153" y="1722479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4" name="TextBox 87">
            <a:extLst>
              <a:ext uri="{FF2B5EF4-FFF2-40B4-BE49-F238E27FC236}">
                <a16:creationId xmlns:a16="http://schemas.microsoft.com/office/drawing/2014/main" id="{2130CEC7-45F2-875C-DAAA-76FDD67E8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4636" y="1292357"/>
            <a:ext cx="25395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'27.1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465" name="TextBox 87">
            <a:extLst>
              <a:ext uri="{FF2B5EF4-FFF2-40B4-BE49-F238E27FC236}">
                <a16:creationId xmlns:a16="http://schemas.microsoft.com/office/drawing/2014/main" id="{A65A85E2-974A-8331-C2F2-86E9DFBDEE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8953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4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9B5929BD-37C0-0310-6E56-4CC0540A5E61}"/>
              </a:ext>
            </a:extLst>
          </p:cNvPr>
          <p:cNvSpPr txBox="1"/>
          <p:nvPr/>
        </p:nvSpPr>
        <p:spPr>
          <a:xfrm>
            <a:off x="2343092" y="1628336"/>
            <a:ext cx="166712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150</a:t>
            </a:r>
            <a:r>
              <a:rPr kumimoji="0" lang="ko-KR" altLang="en-US" sz="569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CDE07529-2FE0-1A95-35B6-B4CBA4884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3191" y="1292357"/>
            <a:ext cx="180218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12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469" name="TextBox 468">
            <a:extLst>
              <a:ext uri="{FF2B5EF4-FFF2-40B4-BE49-F238E27FC236}">
                <a16:creationId xmlns:a16="http://schemas.microsoft.com/office/drawing/2014/main" id="{711D0F71-C5CE-257D-6E66-EB05BC62BBFF}"/>
              </a:ext>
            </a:extLst>
          </p:cNvPr>
          <p:cNvSpPr txBox="1"/>
          <p:nvPr/>
        </p:nvSpPr>
        <p:spPr>
          <a:xfrm>
            <a:off x="6089023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금형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BE32F05F-7B5C-D672-9BCA-F4EF585B76A1}"/>
              </a:ext>
            </a:extLst>
          </p:cNvPr>
          <p:cNvSpPr txBox="1"/>
          <p:nvPr/>
        </p:nvSpPr>
        <p:spPr>
          <a:xfrm>
            <a:off x="6036125" y="1615921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10/15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471" name="타원 470">
            <a:extLst>
              <a:ext uri="{FF2B5EF4-FFF2-40B4-BE49-F238E27FC236}">
                <a16:creationId xmlns:a16="http://schemas.microsoft.com/office/drawing/2014/main" id="{20E82677-6E46-C720-6816-FD49957B3184}"/>
              </a:ext>
            </a:extLst>
          </p:cNvPr>
          <p:cNvSpPr/>
          <p:nvPr/>
        </p:nvSpPr>
        <p:spPr>
          <a:xfrm>
            <a:off x="6125641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863BD86C-34A4-7AF4-BC1C-A26A52629CC0}"/>
              </a:ext>
            </a:extLst>
          </p:cNvPr>
          <p:cNvSpPr txBox="1"/>
          <p:nvPr/>
        </p:nvSpPr>
        <p:spPr>
          <a:xfrm>
            <a:off x="6669648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DF35DB5A-DCB3-C002-F718-D0DF2BC54EFA}"/>
              </a:ext>
            </a:extLst>
          </p:cNvPr>
          <p:cNvSpPr txBox="1"/>
          <p:nvPr/>
        </p:nvSpPr>
        <p:spPr>
          <a:xfrm>
            <a:off x="6616749" y="1615921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11/15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478" name="타원 477">
            <a:extLst>
              <a:ext uri="{FF2B5EF4-FFF2-40B4-BE49-F238E27FC236}">
                <a16:creationId xmlns:a16="http://schemas.microsoft.com/office/drawing/2014/main" id="{3F281177-84F2-FDFA-9416-79BC714B44B4}"/>
              </a:ext>
            </a:extLst>
          </p:cNvPr>
          <p:cNvSpPr/>
          <p:nvPr/>
        </p:nvSpPr>
        <p:spPr>
          <a:xfrm>
            <a:off x="6706266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C059411-A36E-03B1-93D9-0A6D3BB11CA5}"/>
              </a:ext>
            </a:extLst>
          </p:cNvPr>
          <p:cNvSpPr txBox="1"/>
          <p:nvPr/>
        </p:nvSpPr>
        <p:spPr>
          <a:xfrm>
            <a:off x="6381389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 err="1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초품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77B978C0-9F6F-346E-4BB0-5302A593454F}"/>
              </a:ext>
            </a:extLst>
          </p:cNvPr>
          <p:cNvSpPr txBox="1"/>
          <p:nvPr/>
        </p:nvSpPr>
        <p:spPr>
          <a:xfrm>
            <a:off x="6328490" y="1615921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10/30</a:t>
            </a: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0342B9B8-CBBA-E87E-B209-6BC3E574B927}"/>
              </a:ext>
            </a:extLst>
          </p:cNvPr>
          <p:cNvSpPr/>
          <p:nvPr/>
        </p:nvSpPr>
        <p:spPr>
          <a:xfrm>
            <a:off x="6418007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12" name="Line 19">
            <a:extLst>
              <a:ext uri="{FF2B5EF4-FFF2-40B4-BE49-F238E27FC236}">
                <a16:creationId xmlns:a16="http://schemas.microsoft.com/office/drawing/2014/main" id="{D4D73824-CE92-AAF1-633D-2E3A7EAEE34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343" y="1228538"/>
            <a:ext cx="0" cy="486766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endParaRPr kumimoji="0" lang="ko-KR" altLang="en-US" sz="675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5" name="TextBox 87">
            <a:extLst>
              <a:ext uri="{FF2B5EF4-FFF2-40B4-BE49-F238E27FC236}">
                <a16:creationId xmlns:a16="http://schemas.microsoft.com/office/drawing/2014/main" id="{689CECB8-627D-83DF-A97E-CD883F752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2177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6" name="TextBox 87">
            <a:extLst>
              <a:ext uri="{FF2B5EF4-FFF2-40B4-BE49-F238E27FC236}">
                <a16:creationId xmlns:a16="http://schemas.microsoft.com/office/drawing/2014/main" id="{CA0E8BAC-0969-BE54-58D2-66AD0A8AFB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5401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6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17" name="TextBox 87">
            <a:extLst>
              <a:ext uri="{FF2B5EF4-FFF2-40B4-BE49-F238E27FC236}">
                <a16:creationId xmlns:a16="http://schemas.microsoft.com/office/drawing/2014/main" id="{523A0C5D-A901-F71D-112B-7A909F746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1849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8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70F900B-8FA6-32AC-5192-A269FBD26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8597" y="1292357"/>
            <a:ext cx="180218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10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C173446-30C4-1FA0-AE4E-32688B9C87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0894" y="1292357"/>
            <a:ext cx="180218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11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51E9A2BC-8FB7-975F-911E-59AC8DFFADBE}"/>
              </a:ext>
            </a:extLst>
          </p:cNvPr>
          <p:cNvSpPr txBox="1"/>
          <p:nvPr/>
        </p:nvSpPr>
        <p:spPr>
          <a:xfrm>
            <a:off x="7749805" y="1824771"/>
            <a:ext cx="295634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신뢰성 </a:t>
            </a:r>
            <a:r>
              <a:rPr kumimoji="0" lang="en-US" altLang="ko-KR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&amp;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인정시험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25" name="TextBox 524">
            <a:extLst>
              <a:ext uri="{FF2B5EF4-FFF2-40B4-BE49-F238E27FC236}">
                <a16:creationId xmlns:a16="http://schemas.microsoft.com/office/drawing/2014/main" id="{25B8BC27-F6CF-D3E6-D436-3CC4C66062F6}"/>
              </a:ext>
            </a:extLst>
          </p:cNvPr>
          <p:cNvSpPr txBox="1"/>
          <p:nvPr/>
        </p:nvSpPr>
        <p:spPr>
          <a:xfrm>
            <a:off x="7789880" y="16159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1/21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3F7EDC14-703F-D14D-2D7F-F547F80FACB9}"/>
              </a:ext>
            </a:extLst>
          </p:cNvPr>
          <p:cNvSpPr/>
          <p:nvPr/>
        </p:nvSpPr>
        <p:spPr>
          <a:xfrm>
            <a:off x="7853749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1" name="TextBox 530">
            <a:extLst>
              <a:ext uri="{FF2B5EF4-FFF2-40B4-BE49-F238E27FC236}">
                <a16:creationId xmlns:a16="http://schemas.microsoft.com/office/drawing/2014/main" id="{443B9A23-5C16-E8A3-E7E7-EA1B0282FA96}"/>
              </a:ext>
            </a:extLst>
          </p:cNvPr>
          <p:cNvSpPr txBox="1"/>
          <p:nvPr/>
        </p:nvSpPr>
        <p:spPr>
          <a:xfrm>
            <a:off x="8064546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2" name="TextBox 531">
            <a:extLst>
              <a:ext uri="{FF2B5EF4-FFF2-40B4-BE49-F238E27FC236}">
                <a16:creationId xmlns:a16="http://schemas.microsoft.com/office/drawing/2014/main" id="{D2E7ECDD-BFDF-CFF1-48CF-84918C331FE8}"/>
              </a:ext>
            </a:extLst>
          </p:cNvPr>
          <p:cNvSpPr txBox="1"/>
          <p:nvPr/>
        </p:nvSpPr>
        <p:spPr>
          <a:xfrm>
            <a:off x="8037295" y="16159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1/28</a:t>
            </a:r>
            <a:endParaRPr kumimoji="0" lang="en-US" altLang="ko-KR" sz="650" b="0" strike="noStrike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533" name="타원 532">
            <a:extLst>
              <a:ext uri="{FF2B5EF4-FFF2-40B4-BE49-F238E27FC236}">
                <a16:creationId xmlns:a16="http://schemas.microsoft.com/office/drawing/2014/main" id="{B0AAE7A5-5AAF-841E-F06C-0AAA79EB4188}"/>
              </a:ext>
            </a:extLst>
          </p:cNvPr>
          <p:cNvSpPr/>
          <p:nvPr/>
        </p:nvSpPr>
        <p:spPr>
          <a:xfrm>
            <a:off x="8101163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4" name="TextBox 533">
            <a:extLst>
              <a:ext uri="{FF2B5EF4-FFF2-40B4-BE49-F238E27FC236}">
                <a16:creationId xmlns:a16="http://schemas.microsoft.com/office/drawing/2014/main" id="{BF96C3C3-11C8-03BC-0125-085A0F43D3F4}"/>
              </a:ext>
            </a:extLst>
          </p:cNvPr>
          <p:cNvSpPr txBox="1"/>
          <p:nvPr/>
        </p:nvSpPr>
        <p:spPr>
          <a:xfrm>
            <a:off x="4023265" y="1628336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45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5" name="TextBox 534">
            <a:extLst>
              <a:ext uri="{FF2B5EF4-FFF2-40B4-BE49-F238E27FC236}">
                <a16:creationId xmlns:a16="http://schemas.microsoft.com/office/drawing/2014/main" id="{9B4891A0-BD92-6552-95A7-E6F79F51FA2A}"/>
              </a:ext>
            </a:extLst>
          </p:cNvPr>
          <p:cNvSpPr txBox="1"/>
          <p:nvPr/>
        </p:nvSpPr>
        <p:spPr>
          <a:xfrm>
            <a:off x="4910242" y="1824771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도면</a:t>
            </a:r>
            <a:endParaRPr kumimoji="0" lang="en-US" altLang="ko-KR" sz="569" b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확정</a:t>
            </a:r>
            <a:endParaRPr kumimoji="0" lang="en-US" altLang="ko-KR" sz="569" b="0" dirty="0">
              <a:solidFill>
                <a:prstClr val="white">
                  <a:lumMod val="50000"/>
                </a:prst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6" name="TextBox 535">
            <a:extLst>
              <a:ext uri="{FF2B5EF4-FFF2-40B4-BE49-F238E27FC236}">
                <a16:creationId xmlns:a16="http://schemas.microsoft.com/office/drawing/2014/main" id="{0D87E96F-1449-0840-E74C-4D0F930CEF15}"/>
              </a:ext>
            </a:extLst>
          </p:cNvPr>
          <p:cNvSpPr txBox="1"/>
          <p:nvPr/>
        </p:nvSpPr>
        <p:spPr>
          <a:xfrm>
            <a:off x="4882992" y="16159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white">
                    <a:lumMod val="50000"/>
                  </a:prstClr>
                </a:solidFill>
                <a:latin typeface="LG스마트체 Regular" panose="020B0600000101010101" pitchFamily="50" charset="-127"/>
                <a:cs typeface="+mn-cs"/>
              </a:rPr>
              <a:t>7/25</a:t>
            </a:r>
          </a:p>
        </p:txBody>
      </p:sp>
      <p:sp>
        <p:nvSpPr>
          <p:cNvPr id="537" name="타원 536">
            <a:extLst>
              <a:ext uri="{FF2B5EF4-FFF2-40B4-BE49-F238E27FC236}">
                <a16:creationId xmlns:a16="http://schemas.microsoft.com/office/drawing/2014/main" id="{5C59DE50-4B38-4793-710B-464FF6738729}"/>
              </a:ext>
            </a:extLst>
          </p:cNvPr>
          <p:cNvSpPr/>
          <p:nvPr/>
        </p:nvSpPr>
        <p:spPr>
          <a:xfrm>
            <a:off x="4946860" y="172247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8" name="TextBox 537">
            <a:extLst>
              <a:ext uri="{FF2B5EF4-FFF2-40B4-BE49-F238E27FC236}">
                <a16:creationId xmlns:a16="http://schemas.microsoft.com/office/drawing/2014/main" id="{8CCCC2A4-E3BD-1107-3EA4-CAD4BB5C93B9}"/>
              </a:ext>
            </a:extLst>
          </p:cNvPr>
          <p:cNvSpPr txBox="1"/>
          <p:nvPr/>
        </p:nvSpPr>
        <p:spPr>
          <a:xfrm>
            <a:off x="4698209" y="1628336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30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9" name="TextBox 538">
            <a:extLst>
              <a:ext uri="{FF2B5EF4-FFF2-40B4-BE49-F238E27FC236}">
                <a16:creationId xmlns:a16="http://schemas.microsoft.com/office/drawing/2014/main" id="{4C627664-7432-6AA6-F13F-3E45EBDF8FC2}"/>
              </a:ext>
            </a:extLst>
          </p:cNvPr>
          <p:cNvSpPr txBox="1"/>
          <p:nvPr/>
        </p:nvSpPr>
        <p:spPr>
          <a:xfrm>
            <a:off x="5491209" y="1628336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75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0" name="TextBox 539">
            <a:extLst>
              <a:ext uri="{FF2B5EF4-FFF2-40B4-BE49-F238E27FC236}">
                <a16:creationId xmlns:a16="http://schemas.microsoft.com/office/drawing/2014/main" id="{8ED48AC9-8E53-A9E9-5B1C-6A74671ABBA3}"/>
              </a:ext>
            </a:extLst>
          </p:cNvPr>
          <p:cNvSpPr txBox="1"/>
          <p:nvPr/>
        </p:nvSpPr>
        <p:spPr>
          <a:xfrm>
            <a:off x="7247619" y="1629343"/>
            <a:ext cx="144818" cy="7066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60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4" name="TextBox 87">
            <a:extLst>
              <a:ext uri="{FF2B5EF4-FFF2-40B4-BE49-F238E27FC236}">
                <a16:creationId xmlns:a16="http://schemas.microsoft.com/office/drawing/2014/main" id="{DAC520DE-5A7A-6EAE-489A-1110E5EEF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475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5" name="TextBox 87">
            <a:extLst>
              <a:ext uri="{FF2B5EF4-FFF2-40B4-BE49-F238E27FC236}">
                <a16:creationId xmlns:a16="http://schemas.microsoft.com/office/drawing/2014/main" id="{89FF19AC-361C-E50F-7272-CDC7EEFAD5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65699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6" name="TextBox 87">
            <a:extLst>
              <a:ext uri="{FF2B5EF4-FFF2-40B4-BE49-F238E27FC236}">
                <a16:creationId xmlns:a16="http://schemas.microsoft.com/office/drawing/2014/main" id="{E548F68F-8F35-0018-18CA-43AD8C8EC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923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4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7" name="TextBox 87">
            <a:extLst>
              <a:ext uri="{FF2B5EF4-FFF2-40B4-BE49-F238E27FC236}">
                <a16:creationId xmlns:a16="http://schemas.microsoft.com/office/drawing/2014/main" id="{856F5723-79A0-B1EC-895F-7013F6107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2144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5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448" name="직선 연결선 447">
            <a:extLst>
              <a:ext uri="{FF2B5EF4-FFF2-40B4-BE49-F238E27FC236}">
                <a16:creationId xmlns:a16="http://schemas.microsoft.com/office/drawing/2014/main" id="{C9B96A7B-F263-2C7D-AFBC-5686613C56AA}"/>
              </a:ext>
            </a:extLst>
          </p:cNvPr>
          <p:cNvCxnSpPr>
            <a:cxnSpLocks/>
          </p:cNvCxnSpPr>
          <p:nvPr/>
        </p:nvCxnSpPr>
        <p:spPr>
          <a:xfrm>
            <a:off x="7399819" y="1228538"/>
            <a:ext cx="0" cy="48676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왼쪽 대괄호 448">
            <a:extLst>
              <a:ext uri="{FF2B5EF4-FFF2-40B4-BE49-F238E27FC236}">
                <a16:creationId xmlns:a16="http://schemas.microsoft.com/office/drawing/2014/main" id="{6E219B69-F612-BDAC-A38D-72F9DDBC8DE9}"/>
              </a:ext>
            </a:extLst>
          </p:cNvPr>
          <p:cNvSpPr/>
          <p:nvPr/>
        </p:nvSpPr>
        <p:spPr>
          <a:xfrm rot="5400000">
            <a:off x="8584404" y="1558774"/>
            <a:ext cx="59551" cy="352308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E741A261-502C-FC05-2867-7E91F0B24B1E}"/>
              </a:ext>
            </a:extLst>
          </p:cNvPr>
          <p:cNvSpPr txBox="1"/>
          <p:nvPr/>
        </p:nvSpPr>
        <p:spPr>
          <a:xfrm>
            <a:off x="8555445" y="1628336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30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5" name="Line 19">
            <a:extLst>
              <a:ext uri="{FF2B5EF4-FFF2-40B4-BE49-F238E27FC236}">
                <a16:creationId xmlns:a16="http://schemas.microsoft.com/office/drawing/2014/main" id="{6CFD242D-5731-A97C-3F21-C9CC1467A7BA}"/>
              </a:ext>
            </a:extLst>
          </p:cNvPr>
          <p:cNvSpPr>
            <a:spLocks noChangeShapeType="1"/>
          </p:cNvSpPr>
          <p:nvPr/>
        </p:nvSpPr>
        <p:spPr bwMode="auto">
          <a:xfrm>
            <a:off x="162521" y="2044781"/>
            <a:ext cx="957784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</a:pPr>
            <a:endParaRPr kumimoji="0" lang="ko-KR" altLang="en-US" sz="675" b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6" name="TextBox 87">
            <a:extLst>
              <a:ext uri="{FF2B5EF4-FFF2-40B4-BE49-F238E27FC236}">
                <a16:creationId xmlns:a16="http://schemas.microsoft.com/office/drawing/2014/main" id="{0BCC5AC2-63CB-E868-1853-BCB2168F5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7944" y="1292357"/>
            <a:ext cx="25395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'26.1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42" name="TextBox 87">
            <a:extLst>
              <a:ext uri="{FF2B5EF4-FFF2-40B4-BE49-F238E27FC236}">
                <a16:creationId xmlns:a16="http://schemas.microsoft.com/office/drawing/2014/main" id="{7C7AE46F-E160-B215-59CE-F7431B9FD7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0567" y="1292357"/>
            <a:ext cx="180218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defTabSz="685604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12</a:t>
            </a:r>
            <a:r>
              <a:rPr kumimoji="0" lang="ko-KR" altLang="en-US" sz="66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</a:p>
        </p:txBody>
      </p:sp>
      <p:sp>
        <p:nvSpPr>
          <p:cNvPr id="51" name="TextBox 87">
            <a:extLst>
              <a:ext uri="{FF2B5EF4-FFF2-40B4-BE49-F238E27FC236}">
                <a16:creationId xmlns:a16="http://schemas.microsoft.com/office/drawing/2014/main" id="{3BBC951F-9050-C099-7265-FDA6C9D9AE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3731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54" name="TextBox 87">
            <a:extLst>
              <a:ext uri="{FF2B5EF4-FFF2-40B4-BE49-F238E27FC236}">
                <a16:creationId xmlns:a16="http://schemas.microsoft.com/office/drawing/2014/main" id="{220E27FD-5F46-F768-043F-C1ACC58F58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1381" y="1292357"/>
            <a:ext cx="141746" cy="131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685604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</a:t>
            </a:r>
            <a:r>
              <a:rPr kumimoji="0" lang="ko-KR" altLang="en-US" sz="66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0" lang="ko-KR" altLang="en-US" sz="66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747" name="직선 연결선 746">
            <a:extLst>
              <a:ext uri="{FF2B5EF4-FFF2-40B4-BE49-F238E27FC236}">
                <a16:creationId xmlns:a16="http://schemas.microsoft.com/office/drawing/2014/main" id="{3F435C9F-B371-7633-B8F0-7B7AEFF055AB}"/>
              </a:ext>
            </a:extLst>
          </p:cNvPr>
          <p:cNvCxnSpPr>
            <a:cxnSpLocks/>
          </p:cNvCxnSpPr>
          <p:nvPr/>
        </p:nvCxnSpPr>
        <p:spPr>
          <a:xfrm>
            <a:off x="2480183" y="1563467"/>
            <a:ext cx="0" cy="4532737"/>
          </a:xfrm>
          <a:prstGeom prst="line">
            <a:avLst/>
          </a:prstGeom>
          <a:ln w="6350">
            <a:solidFill>
              <a:srgbClr val="C0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9D465178-7CA0-B51E-19C6-4C763284E4E9}"/>
              </a:ext>
            </a:extLst>
          </p:cNvPr>
          <p:cNvSpPr/>
          <p:nvPr/>
        </p:nvSpPr>
        <p:spPr>
          <a:xfrm>
            <a:off x="249320" y="2307792"/>
            <a:ext cx="298841" cy="114559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 b="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Best (IH)</a:t>
            </a:r>
          </a:p>
        </p:txBody>
      </p:sp>
      <p:sp>
        <p:nvSpPr>
          <p:cNvPr id="749" name="TextBox 748">
            <a:extLst>
              <a:ext uri="{FF2B5EF4-FFF2-40B4-BE49-F238E27FC236}">
                <a16:creationId xmlns:a16="http://schemas.microsoft.com/office/drawing/2014/main" id="{FAB1D670-3E01-547C-438E-C7E975A694A5}"/>
              </a:ext>
            </a:extLst>
          </p:cNvPr>
          <p:cNvSpPr txBox="1"/>
          <p:nvPr/>
        </p:nvSpPr>
        <p:spPr>
          <a:xfrm>
            <a:off x="235843" y="2158001"/>
            <a:ext cx="324488" cy="12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내부일정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50" name="TextBox 749">
            <a:extLst>
              <a:ext uri="{FF2B5EF4-FFF2-40B4-BE49-F238E27FC236}">
                <a16:creationId xmlns:a16="http://schemas.microsoft.com/office/drawing/2014/main" id="{C7339658-82AA-5C4F-CE5B-CE3A5FB0F87A}"/>
              </a:ext>
            </a:extLst>
          </p:cNvPr>
          <p:cNvSpPr txBox="1"/>
          <p:nvPr/>
        </p:nvSpPr>
        <p:spPr>
          <a:xfrm>
            <a:off x="252674" y="3525432"/>
            <a:ext cx="290826" cy="12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제어</a:t>
            </a:r>
            <a:r>
              <a:rPr kumimoji="0" lang="en-US" altLang="ko-KR" sz="650">
                <a:solidFill>
                  <a:srgbClr val="000000"/>
                </a:solidFill>
              </a:rPr>
              <a:t>HW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51" name="TextBox 750">
            <a:extLst>
              <a:ext uri="{FF2B5EF4-FFF2-40B4-BE49-F238E27FC236}">
                <a16:creationId xmlns:a16="http://schemas.microsoft.com/office/drawing/2014/main" id="{8C3FF76C-00C9-D7E2-67C4-307B65A857D4}"/>
              </a:ext>
            </a:extLst>
          </p:cNvPr>
          <p:cNvSpPr txBox="1"/>
          <p:nvPr/>
        </p:nvSpPr>
        <p:spPr>
          <a:xfrm>
            <a:off x="255079" y="3802699"/>
            <a:ext cx="286016" cy="129563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제어</a:t>
            </a:r>
            <a:r>
              <a:rPr kumimoji="0" lang="en-US" altLang="ko-KR" sz="650">
                <a:solidFill>
                  <a:srgbClr val="000000"/>
                </a:solidFill>
              </a:rPr>
              <a:t>SW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52" name="TextBox 751">
            <a:extLst>
              <a:ext uri="{FF2B5EF4-FFF2-40B4-BE49-F238E27FC236}">
                <a16:creationId xmlns:a16="http://schemas.microsoft.com/office/drawing/2014/main" id="{061F6C03-B658-661D-4DF0-B1EAD2D603A6}"/>
              </a:ext>
            </a:extLst>
          </p:cNvPr>
          <p:cNvSpPr txBox="1"/>
          <p:nvPr/>
        </p:nvSpPr>
        <p:spPr>
          <a:xfrm>
            <a:off x="309581" y="5225353"/>
            <a:ext cx="177012" cy="12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규격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E2D4C6E2-AA07-8967-132C-EADB454E2E8C}"/>
              </a:ext>
            </a:extLst>
          </p:cNvPr>
          <p:cNvSpPr/>
          <p:nvPr/>
        </p:nvSpPr>
        <p:spPr>
          <a:xfrm>
            <a:off x="255735" y="3962273"/>
            <a:ext cx="286016" cy="194581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Oven &amp;</a:t>
            </a:r>
          </a:p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Cooktop</a:t>
            </a:r>
            <a:endParaRPr kumimoji="0" lang="en-US" altLang="ko-KR" sz="65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54" name="TextBox 753">
            <a:extLst>
              <a:ext uri="{FF2B5EF4-FFF2-40B4-BE49-F238E27FC236}">
                <a16:creationId xmlns:a16="http://schemas.microsoft.com/office/drawing/2014/main" id="{3719C3E7-73F6-31B4-E8E0-808432EC36B0}"/>
              </a:ext>
            </a:extLst>
          </p:cNvPr>
          <p:cNvSpPr txBox="1"/>
          <p:nvPr/>
        </p:nvSpPr>
        <p:spPr>
          <a:xfrm>
            <a:off x="235843" y="4856990"/>
            <a:ext cx="324488" cy="12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모듈개발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55" name="직사각형 754">
            <a:extLst>
              <a:ext uri="{FF2B5EF4-FFF2-40B4-BE49-F238E27FC236}">
                <a16:creationId xmlns:a16="http://schemas.microsoft.com/office/drawing/2014/main" id="{A86B9CDF-8795-1F03-029C-1612BB44CD82}"/>
              </a:ext>
            </a:extLst>
          </p:cNvPr>
          <p:cNvSpPr/>
          <p:nvPr/>
        </p:nvSpPr>
        <p:spPr>
          <a:xfrm>
            <a:off x="200433" y="4225795"/>
            <a:ext cx="396624" cy="114559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LCD/UI/GUI</a:t>
            </a:r>
            <a:endParaRPr kumimoji="0" lang="en-US" altLang="ko-KR" sz="65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56" name="직사각형 755">
            <a:extLst>
              <a:ext uri="{FF2B5EF4-FFF2-40B4-BE49-F238E27FC236}">
                <a16:creationId xmlns:a16="http://schemas.microsoft.com/office/drawing/2014/main" id="{CB1092BC-A88C-72B7-5DDA-95372DC5F0EF}"/>
              </a:ext>
            </a:extLst>
          </p:cNvPr>
          <p:cNvSpPr/>
          <p:nvPr/>
        </p:nvSpPr>
        <p:spPr>
          <a:xfrm>
            <a:off x="214058" y="5052982"/>
            <a:ext cx="369373" cy="114559"/>
          </a:xfrm>
          <a:prstGeom prst="rect">
            <a:avLst/>
          </a:prstGeom>
          <a:solidFill>
            <a:srgbClr val="FFFF00"/>
          </a:solidFill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법랑</a:t>
            </a: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쾌속</a:t>
            </a: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en-US" altLang="ko-KR" sz="65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57" name="직사각형 756">
            <a:extLst>
              <a:ext uri="{FF2B5EF4-FFF2-40B4-BE49-F238E27FC236}">
                <a16:creationId xmlns:a16="http://schemas.microsoft.com/office/drawing/2014/main" id="{6777C568-89CC-B000-2FE1-90B050ACC088}"/>
              </a:ext>
            </a:extLst>
          </p:cNvPr>
          <p:cNvSpPr/>
          <p:nvPr/>
        </p:nvSpPr>
        <p:spPr>
          <a:xfrm>
            <a:off x="190015" y="5396227"/>
            <a:ext cx="417462" cy="194581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안전</a:t>
            </a: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에너지</a:t>
            </a:r>
            <a:endParaRPr kumimoji="0" lang="en-US" altLang="ko-KR" sz="650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EMC</a:t>
            </a:r>
            <a:endParaRPr kumimoji="0" lang="en-US" altLang="ko-KR" sz="65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58" name="직사각형 757">
            <a:extLst>
              <a:ext uri="{FF2B5EF4-FFF2-40B4-BE49-F238E27FC236}">
                <a16:creationId xmlns:a16="http://schemas.microsoft.com/office/drawing/2014/main" id="{099A4C47-9210-5B6C-C1A8-1A1EAB03D4E5}"/>
              </a:ext>
            </a:extLst>
          </p:cNvPr>
          <p:cNvSpPr/>
          <p:nvPr/>
        </p:nvSpPr>
        <p:spPr>
          <a:xfrm>
            <a:off x="210853" y="4544258"/>
            <a:ext cx="375785" cy="114559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ThinQ App.</a:t>
            </a:r>
            <a:endParaRPr kumimoji="0" lang="en-US" altLang="ko-KR" sz="650" b="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F5DFE24D-AC71-4BD0-A63F-BB08D22FAAEF}"/>
              </a:ext>
            </a:extLst>
          </p:cNvPr>
          <p:cNvSpPr/>
          <p:nvPr/>
        </p:nvSpPr>
        <p:spPr>
          <a:xfrm>
            <a:off x="269427" y="4328215"/>
            <a:ext cx="252354" cy="98594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6.8" LCD</a:t>
            </a:r>
            <a:endParaRPr kumimoji="0" lang="en-US" altLang="ko-KR" sz="528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60" name="TextBox 759">
            <a:extLst>
              <a:ext uri="{FF2B5EF4-FFF2-40B4-BE49-F238E27FC236}">
                <a16:creationId xmlns:a16="http://schemas.microsoft.com/office/drawing/2014/main" id="{5F27CD58-57CE-0163-C291-F77E76623BB9}"/>
              </a:ext>
            </a:extLst>
          </p:cNvPr>
          <p:cNvSpPr txBox="1"/>
          <p:nvPr/>
        </p:nvSpPr>
        <p:spPr>
          <a:xfrm>
            <a:off x="253477" y="5704271"/>
            <a:ext cx="289222" cy="129563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50">
                <a:solidFill>
                  <a:srgbClr val="000000"/>
                </a:solidFill>
              </a:rPr>
              <a:t>3</a:t>
            </a:r>
            <a:r>
              <a:rPr kumimoji="0" lang="ko-KR" altLang="en-US" sz="650">
                <a:solidFill>
                  <a:srgbClr val="000000"/>
                </a:solidFill>
              </a:rPr>
              <a:t>자인증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61" name="직사각형 760">
            <a:extLst>
              <a:ext uri="{FF2B5EF4-FFF2-40B4-BE49-F238E27FC236}">
                <a16:creationId xmlns:a16="http://schemas.microsoft.com/office/drawing/2014/main" id="{4804E523-B8FF-7854-93EA-67C493C8C9AB}"/>
              </a:ext>
            </a:extLst>
          </p:cNvPr>
          <p:cNvSpPr/>
          <p:nvPr/>
        </p:nvSpPr>
        <p:spPr>
          <a:xfrm>
            <a:off x="247917" y="5837527"/>
            <a:ext cx="319680" cy="98594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시카고 </a:t>
            </a: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Lab</a:t>
            </a:r>
            <a:endParaRPr kumimoji="0" lang="en-US" altLang="ko-KR" sz="528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62" name="TextBox 761">
            <a:extLst>
              <a:ext uri="{FF2B5EF4-FFF2-40B4-BE49-F238E27FC236}">
                <a16:creationId xmlns:a16="http://schemas.microsoft.com/office/drawing/2014/main" id="{CF8B8B54-D64E-FE08-9FF7-6E902AEF2F33}"/>
              </a:ext>
            </a:extLst>
          </p:cNvPr>
          <p:cNvSpPr txBox="1"/>
          <p:nvPr/>
        </p:nvSpPr>
        <p:spPr>
          <a:xfrm>
            <a:off x="226226" y="2582308"/>
            <a:ext cx="343724" cy="229590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금형</a:t>
            </a:r>
            <a:r>
              <a:rPr kumimoji="0" lang="en-US" altLang="ko-KR" sz="650">
                <a:solidFill>
                  <a:srgbClr val="000000"/>
                </a:solidFill>
              </a:rPr>
              <a:t>/</a:t>
            </a:r>
            <a:r>
              <a:rPr kumimoji="0" lang="ko-KR" altLang="en-US" sz="650">
                <a:solidFill>
                  <a:srgbClr val="000000"/>
                </a:solidFill>
              </a:rPr>
              <a:t>부품</a:t>
            </a:r>
            <a:endParaRPr kumimoji="0" lang="en-US" altLang="ko-KR" sz="650">
              <a:solidFill>
                <a:srgbClr val="000000"/>
              </a:solidFill>
            </a:endParaRPr>
          </a:p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개발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63" name="TextBox 762">
            <a:extLst>
              <a:ext uri="{FF2B5EF4-FFF2-40B4-BE49-F238E27FC236}">
                <a16:creationId xmlns:a16="http://schemas.microsoft.com/office/drawing/2014/main" id="{74C72C2D-18DF-1269-6650-4CA42C6847CE}"/>
              </a:ext>
            </a:extLst>
          </p:cNvPr>
          <p:cNvSpPr txBox="1"/>
          <p:nvPr/>
        </p:nvSpPr>
        <p:spPr>
          <a:xfrm>
            <a:off x="309581" y="3092885"/>
            <a:ext cx="177012" cy="129563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4625" tIns="14625" rIns="14625" bIns="14625" anchor="ctr" anchorCtr="0">
            <a:spAutoFit/>
          </a:bodyPr>
          <a:lstStyle>
            <a:defPPr>
              <a:defRPr lang="ko-KR"/>
            </a:defPPr>
            <a:lvl1pPr defTabSz="992183" latinLnBrk="0">
              <a:defRPr sz="800" b="1">
                <a:solidFill>
                  <a:srgbClr val="008000"/>
                </a:solidFill>
                <a:latin typeface="Arial Narrow" pitchFamily="34" charset="0"/>
                <a:ea typeface="LG스마트체 Regular" pitchFamily="50" charset="-127"/>
                <a:cs typeface="Arial" pitchFamily="34" charset="0"/>
              </a:defRPr>
            </a:lvl1pPr>
          </a:lstStyle>
          <a:p>
            <a:pPr algn="ctr" defTabSz="806149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650">
                <a:solidFill>
                  <a:srgbClr val="000000"/>
                </a:solidFill>
              </a:rPr>
              <a:t>성능</a:t>
            </a:r>
            <a:endParaRPr kumimoji="0" lang="en-US" altLang="ko-KR" sz="650" dirty="0">
              <a:solidFill>
                <a:srgbClr val="000000"/>
              </a:solidFill>
            </a:endParaRPr>
          </a:p>
        </p:txBody>
      </p:sp>
      <p:sp>
        <p:nvSpPr>
          <p:cNvPr id="764" name="왼쪽 대괄호 763">
            <a:extLst>
              <a:ext uri="{FF2B5EF4-FFF2-40B4-BE49-F238E27FC236}">
                <a16:creationId xmlns:a16="http://schemas.microsoft.com/office/drawing/2014/main" id="{E2255E8A-306A-F27C-ED16-48E40A65FF89}"/>
              </a:ext>
            </a:extLst>
          </p:cNvPr>
          <p:cNvSpPr/>
          <p:nvPr/>
        </p:nvSpPr>
        <p:spPr>
          <a:xfrm rot="5400000">
            <a:off x="1835191" y="1379185"/>
            <a:ext cx="61237" cy="1716680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65" name="TextBox 764">
            <a:extLst>
              <a:ext uri="{FF2B5EF4-FFF2-40B4-BE49-F238E27FC236}">
                <a16:creationId xmlns:a16="http://schemas.microsoft.com/office/drawing/2014/main" id="{B877DF2D-1C49-0B51-D437-733241AEABCA}"/>
              </a:ext>
            </a:extLst>
          </p:cNvPr>
          <p:cNvSpPr txBox="1"/>
          <p:nvPr/>
        </p:nvSpPr>
        <p:spPr>
          <a:xfrm>
            <a:off x="842347" y="2321702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상품화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워크샵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66" name="TextBox 765">
            <a:extLst>
              <a:ext uri="{FF2B5EF4-FFF2-40B4-BE49-F238E27FC236}">
                <a16:creationId xmlns:a16="http://schemas.microsoft.com/office/drawing/2014/main" id="{966939F8-757F-9ED4-96CD-477F3FC6A95A}"/>
              </a:ext>
            </a:extLst>
          </p:cNvPr>
          <p:cNvSpPr txBox="1"/>
          <p:nvPr/>
        </p:nvSpPr>
        <p:spPr>
          <a:xfrm>
            <a:off x="822310" y="2117917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11/17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67" name="직선 연결선 766">
            <a:extLst>
              <a:ext uri="{FF2B5EF4-FFF2-40B4-BE49-F238E27FC236}">
                <a16:creationId xmlns:a16="http://schemas.microsoft.com/office/drawing/2014/main" id="{E02AA916-24DC-CE86-9151-9AD221838399}"/>
              </a:ext>
            </a:extLst>
          </p:cNvPr>
          <p:cNvCxnSpPr>
            <a:cxnSpLocks/>
            <a:stCxn id="768" idx="6"/>
            <a:endCxn id="780" idx="6"/>
          </p:cNvCxnSpPr>
          <p:nvPr/>
        </p:nvCxnSpPr>
        <p:spPr>
          <a:xfrm flipV="1">
            <a:off x="999576" y="2266931"/>
            <a:ext cx="5412409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타원 767">
            <a:extLst>
              <a:ext uri="{FF2B5EF4-FFF2-40B4-BE49-F238E27FC236}">
                <a16:creationId xmlns:a16="http://schemas.microsoft.com/office/drawing/2014/main" id="{D6F080FE-6E0E-03E5-41F7-519734CF0428}"/>
              </a:ext>
            </a:extLst>
          </p:cNvPr>
          <p:cNvSpPr/>
          <p:nvPr/>
        </p:nvSpPr>
        <p:spPr>
          <a:xfrm>
            <a:off x="911827" y="2225126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69" name="TextBox 768">
            <a:extLst>
              <a:ext uri="{FF2B5EF4-FFF2-40B4-BE49-F238E27FC236}">
                <a16:creationId xmlns:a16="http://schemas.microsoft.com/office/drawing/2014/main" id="{FACD962E-5420-D84E-92F2-9E50B6274822}"/>
              </a:ext>
            </a:extLst>
          </p:cNvPr>
          <p:cNvSpPr txBox="1"/>
          <p:nvPr/>
        </p:nvSpPr>
        <p:spPr>
          <a:xfrm>
            <a:off x="6260368" y="211791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9/21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70" name="TextBox 769">
            <a:extLst>
              <a:ext uri="{FF2B5EF4-FFF2-40B4-BE49-F238E27FC236}">
                <a16:creationId xmlns:a16="http://schemas.microsoft.com/office/drawing/2014/main" id="{61D8CD55-9E6B-3651-D931-2C19FE0B5043}"/>
              </a:ext>
            </a:extLst>
          </p:cNvPr>
          <p:cNvSpPr txBox="1"/>
          <p:nvPr/>
        </p:nvSpPr>
        <p:spPr>
          <a:xfrm>
            <a:off x="6229109" y="2321702"/>
            <a:ext cx="27800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Pre-MP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71" name="TextBox 770">
            <a:extLst>
              <a:ext uri="{FF2B5EF4-FFF2-40B4-BE49-F238E27FC236}">
                <a16:creationId xmlns:a16="http://schemas.microsoft.com/office/drawing/2014/main" id="{0B88ABC3-F9D2-BE35-2DA7-6D4B0A356ABE}"/>
              </a:ext>
            </a:extLst>
          </p:cNvPr>
          <p:cNvSpPr txBox="1"/>
          <p:nvPr/>
        </p:nvSpPr>
        <p:spPr>
          <a:xfrm>
            <a:off x="2397807" y="2321702"/>
            <a:ext cx="26036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Pre-CP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72" name="TextBox 771">
            <a:extLst>
              <a:ext uri="{FF2B5EF4-FFF2-40B4-BE49-F238E27FC236}">
                <a16:creationId xmlns:a16="http://schemas.microsoft.com/office/drawing/2014/main" id="{08D67C09-7062-D2BA-EEE5-7FB5AE296FB9}"/>
              </a:ext>
            </a:extLst>
          </p:cNvPr>
          <p:cNvSpPr txBox="1"/>
          <p:nvPr/>
        </p:nvSpPr>
        <p:spPr>
          <a:xfrm>
            <a:off x="2420250" y="211791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3/16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73" name="타원 772">
            <a:extLst>
              <a:ext uri="{FF2B5EF4-FFF2-40B4-BE49-F238E27FC236}">
                <a16:creationId xmlns:a16="http://schemas.microsoft.com/office/drawing/2014/main" id="{E7C0655F-8CD6-CB68-994C-C16E7E883758}"/>
              </a:ext>
            </a:extLst>
          </p:cNvPr>
          <p:cNvSpPr/>
          <p:nvPr/>
        </p:nvSpPr>
        <p:spPr>
          <a:xfrm>
            <a:off x="2484118" y="222512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74" name="TextBox 773">
            <a:extLst>
              <a:ext uri="{FF2B5EF4-FFF2-40B4-BE49-F238E27FC236}">
                <a16:creationId xmlns:a16="http://schemas.microsoft.com/office/drawing/2014/main" id="{04FD87F7-8F5A-FF8B-11F0-A522A1816268}"/>
              </a:ext>
            </a:extLst>
          </p:cNvPr>
          <p:cNvSpPr txBox="1"/>
          <p:nvPr/>
        </p:nvSpPr>
        <p:spPr>
          <a:xfrm>
            <a:off x="5519321" y="211791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8/31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75" name="타원 774">
            <a:extLst>
              <a:ext uri="{FF2B5EF4-FFF2-40B4-BE49-F238E27FC236}">
                <a16:creationId xmlns:a16="http://schemas.microsoft.com/office/drawing/2014/main" id="{475FADAB-93FE-DBDC-92D4-BAFA019D142A}"/>
              </a:ext>
            </a:extLst>
          </p:cNvPr>
          <p:cNvSpPr/>
          <p:nvPr/>
        </p:nvSpPr>
        <p:spPr>
          <a:xfrm>
            <a:off x="5583189" y="2219412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76" name="TextBox 775">
            <a:extLst>
              <a:ext uri="{FF2B5EF4-FFF2-40B4-BE49-F238E27FC236}">
                <a16:creationId xmlns:a16="http://schemas.microsoft.com/office/drawing/2014/main" id="{2E1D9C56-1C5D-820F-CC45-50D21FB1FA83}"/>
              </a:ext>
            </a:extLst>
          </p:cNvPr>
          <p:cNvSpPr txBox="1"/>
          <p:nvPr/>
        </p:nvSpPr>
        <p:spPr>
          <a:xfrm>
            <a:off x="5546571" y="2321702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77" name="TextBox 776">
            <a:extLst>
              <a:ext uri="{FF2B5EF4-FFF2-40B4-BE49-F238E27FC236}">
                <a16:creationId xmlns:a16="http://schemas.microsoft.com/office/drawing/2014/main" id="{FB878A6D-6DD1-5AB3-818B-870C634CA4FB}"/>
              </a:ext>
            </a:extLst>
          </p:cNvPr>
          <p:cNvSpPr txBox="1"/>
          <p:nvPr/>
        </p:nvSpPr>
        <p:spPr>
          <a:xfrm>
            <a:off x="2689178" y="2321702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78" name="TextBox 777">
            <a:extLst>
              <a:ext uri="{FF2B5EF4-FFF2-40B4-BE49-F238E27FC236}">
                <a16:creationId xmlns:a16="http://schemas.microsoft.com/office/drawing/2014/main" id="{3555DE57-B988-569A-173B-22A705C4084C}"/>
              </a:ext>
            </a:extLst>
          </p:cNvPr>
          <p:cNvSpPr txBox="1"/>
          <p:nvPr/>
        </p:nvSpPr>
        <p:spPr>
          <a:xfrm>
            <a:off x="2661927" y="211791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3/18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79" name="타원 778">
            <a:extLst>
              <a:ext uri="{FF2B5EF4-FFF2-40B4-BE49-F238E27FC236}">
                <a16:creationId xmlns:a16="http://schemas.microsoft.com/office/drawing/2014/main" id="{4EA438DF-7025-CD59-2C90-8A33B97158A9}"/>
              </a:ext>
            </a:extLst>
          </p:cNvPr>
          <p:cNvSpPr/>
          <p:nvPr/>
        </p:nvSpPr>
        <p:spPr>
          <a:xfrm>
            <a:off x="2725796" y="222512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80" name="타원 779">
            <a:extLst>
              <a:ext uri="{FF2B5EF4-FFF2-40B4-BE49-F238E27FC236}">
                <a16:creationId xmlns:a16="http://schemas.microsoft.com/office/drawing/2014/main" id="{F9F304A3-8248-94E5-4FFF-C39906593085}"/>
              </a:ext>
            </a:extLst>
          </p:cNvPr>
          <p:cNvSpPr/>
          <p:nvPr/>
        </p:nvSpPr>
        <p:spPr>
          <a:xfrm>
            <a:off x="6324236" y="2222957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81" name="TextBox 780">
            <a:extLst>
              <a:ext uri="{FF2B5EF4-FFF2-40B4-BE49-F238E27FC236}">
                <a16:creationId xmlns:a16="http://schemas.microsoft.com/office/drawing/2014/main" id="{9153FFE0-A86C-57C4-9BF0-AA41FF832D0D}"/>
              </a:ext>
            </a:extLst>
          </p:cNvPr>
          <p:cNvSpPr txBox="1"/>
          <p:nvPr/>
        </p:nvSpPr>
        <p:spPr>
          <a:xfrm>
            <a:off x="4569759" y="2321702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82" name="TextBox 781">
            <a:extLst>
              <a:ext uri="{FF2B5EF4-FFF2-40B4-BE49-F238E27FC236}">
                <a16:creationId xmlns:a16="http://schemas.microsoft.com/office/drawing/2014/main" id="{4106D30B-A60D-3691-3575-D1E872E5DC3D}"/>
              </a:ext>
            </a:extLst>
          </p:cNvPr>
          <p:cNvSpPr txBox="1"/>
          <p:nvPr/>
        </p:nvSpPr>
        <p:spPr>
          <a:xfrm>
            <a:off x="4542508" y="211791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6/19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83" name="타원 782">
            <a:extLst>
              <a:ext uri="{FF2B5EF4-FFF2-40B4-BE49-F238E27FC236}">
                <a16:creationId xmlns:a16="http://schemas.microsoft.com/office/drawing/2014/main" id="{8F423BD7-DDB5-A518-EF35-1C3DA08C01E4}"/>
              </a:ext>
            </a:extLst>
          </p:cNvPr>
          <p:cNvSpPr/>
          <p:nvPr/>
        </p:nvSpPr>
        <p:spPr>
          <a:xfrm>
            <a:off x="4606376" y="222512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84" name="TextBox 783">
            <a:extLst>
              <a:ext uri="{FF2B5EF4-FFF2-40B4-BE49-F238E27FC236}">
                <a16:creationId xmlns:a16="http://schemas.microsoft.com/office/drawing/2014/main" id="{398FDB12-C92C-31C3-B1A2-269B700C47E2}"/>
              </a:ext>
            </a:extLst>
          </p:cNvPr>
          <p:cNvSpPr txBox="1"/>
          <p:nvPr/>
        </p:nvSpPr>
        <p:spPr>
          <a:xfrm>
            <a:off x="5139254" y="2321702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85" name="TextBox 784">
            <a:extLst>
              <a:ext uri="{FF2B5EF4-FFF2-40B4-BE49-F238E27FC236}">
                <a16:creationId xmlns:a16="http://schemas.microsoft.com/office/drawing/2014/main" id="{46CA06CB-3E42-1C34-0F4C-C7523BF3C282}"/>
              </a:ext>
            </a:extLst>
          </p:cNvPr>
          <p:cNvSpPr txBox="1"/>
          <p:nvPr/>
        </p:nvSpPr>
        <p:spPr>
          <a:xfrm>
            <a:off x="5137650" y="2117917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8/4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86" name="타원 785">
            <a:extLst>
              <a:ext uri="{FF2B5EF4-FFF2-40B4-BE49-F238E27FC236}">
                <a16:creationId xmlns:a16="http://schemas.microsoft.com/office/drawing/2014/main" id="{974DD7B7-1C90-A657-1FC0-F9B7448E0139}"/>
              </a:ext>
            </a:extLst>
          </p:cNvPr>
          <p:cNvSpPr/>
          <p:nvPr/>
        </p:nvSpPr>
        <p:spPr>
          <a:xfrm>
            <a:off x="5175871" y="222512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87" name="TextBox 786">
            <a:extLst>
              <a:ext uri="{FF2B5EF4-FFF2-40B4-BE49-F238E27FC236}">
                <a16:creationId xmlns:a16="http://schemas.microsoft.com/office/drawing/2014/main" id="{64D2AC0B-86F5-D480-436A-2A7A69CD9BAB}"/>
              </a:ext>
            </a:extLst>
          </p:cNvPr>
          <p:cNvSpPr txBox="1"/>
          <p:nvPr/>
        </p:nvSpPr>
        <p:spPr>
          <a:xfrm>
            <a:off x="2704356" y="321353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스펙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확정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88" name="TextBox 787">
            <a:extLst>
              <a:ext uri="{FF2B5EF4-FFF2-40B4-BE49-F238E27FC236}">
                <a16:creationId xmlns:a16="http://schemas.microsoft.com/office/drawing/2014/main" id="{B225EB28-5E88-377C-D17E-B6DB387507B7}"/>
              </a:ext>
            </a:extLst>
          </p:cNvPr>
          <p:cNvSpPr txBox="1"/>
          <p:nvPr/>
        </p:nvSpPr>
        <p:spPr>
          <a:xfrm>
            <a:off x="2677105" y="300620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3/19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89" name="직선 연결선 788">
            <a:extLst>
              <a:ext uri="{FF2B5EF4-FFF2-40B4-BE49-F238E27FC236}">
                <a16:creationId xmlns:a16="http://schemas.microsoft.com/office/drawing/2014/main" id="{80D48C70-681E-8A0E-44A6-ED6852320EB2}"/>
              </a:ext>
            </a:extLst>
          </p:cNvPr>
          <p:cNvCxnSpPr>
            <a:cxnSpLocks/>
            <a:stCxn id="790" idx="6"/>
            <a:endCxn id="793" idx="6"/>
          </p:cNvCxnSpPr>
          <p:nvPr/>
        </p:nvCxnSpPr>
        <p:spPr>
          <a:xfrm flipV="1">
            <a:off x="2828721" y="3155219"/>
            <a:ext cx="2434437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0" name="타원 789">
            <a:extLst>
              <a:ext uri="{FF2B5EF4-FFF2-40B4-BE49-F238E27FC236}">
                <a16:creationId xmlns:a16="http://schemas.microsoft.com/office/drawing/2014/main" id="{CB29D7E0-E2D8-E84E-9AAD-39146E689595}"/>
              </a:ext>
            </a:extLst>
          </p:cNvPr>
          <p:cNvSpPr/>
          <p:nvPr/>
        </p:nvSpPr>
        <p:spPr>
          <a:xfrm>
            <a:off x="2740973" y="311341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91" name="TextBox 790">
            <a:extLst>
              <a:ext uri="{FF2B5EF4-FFF2-40B4-BE49-F238E27FC236}">
                <a16:creationId xmlns:a16="http://schemas.microsoft.com/office/drawing/2014/main" id="{498A5D6A-1D3B-138C-820B-35C73C7864AB}"/>
              </a:ext>
            </a:extLst>
          </p:cNvPr>
          <p:cNvSpPr txBox="1"/>
          <p:nvPr/>
        </p:nvSpPr>
        <p:spPr>
          <a:xfrm>
            <a:off x="5137190" y="3006205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8/4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92" name="TextBox 791">
            <a:extLst>
              <a:ext uri="{FF2B5EF4-FFF2-40B4-BE49-F238E27FC236}">
                <a16:creationId xmlns:a16="http://schemas.microsoft.com/office/drawing/2014/main" id="{1156F88E-295F-0178-D555-1CCF12FE19BB}"/>
              </a:ext>
            </a:extLst>
          </p:cNvPr>
          <p:cNvSpPr txBox="1"/>
          <p:nvPr/>
        </p:nvSpPr>
        <p:spPr>
          <a:xfrm>
            <a:off x="5071467" y="3213535"/>
            <a:ext cx="295634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신뢰성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&amp;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인정완료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93" name="타원 792">
            <a:extLst>
              <a:ext uri="{FF2B5EF4-FFF2-40B4-BE49-F238E27FC236}">
                <a16:creationId xmlns:a16="http://schemas.microsoft.com/office/drawing/2014/main" id="{ECB6716C-2C92-584E-A81E-628C6382C95E}"/>
              </a:ext>
            </a:extLst>
          </p:cNvPr>
          <p:cNvSpPr/>
          <p:nvPr/>
        </p:nvSpPr>
        <p:spPr>
          <a:xfrm>
            <a:off x="5175410" y="3111245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94" name="TextBox 793">
            <a:extLst>
              <a:ext uri="{FF2B5EF4-FFF2-40B4-BE49-F238E27FC236}">
                <a16:creationId xmlns:a16="http://schemas.microsoft.com/office/drawing/2014/main" id="{B84A9F96-9DB5-0C20-EDDF-F5FCDC914F96}"/>
              </a:ext>
            </a:extLst>
          </p:cNvPr>
          <p:cNvSpPr txBox="1"/>
          <p:nvPr/>
        </p:nvSpPr>
        <p:spPr>
          <a:xfrm>
            <a:off x="3493429" y="3213535"/>
            <a:ext cx="22510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차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PT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검토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95" name="TextBox 794">
            <a:extLst>
              <a:ext uri="{FF2B5EF4-FFF2-40B4-BE49-F238E27FC236}">
                <a16:creationId xmlns:a16="http://schemas.microsoft.com/office/drawing/2014/main" id="{4F7124CD-E94D-94CF-30DD-48D5F319EE9C}"/>
              </a:ext>
            </a:extLst>
          </p:cNvPr>
          <p:cNvSpPr txBox="1"/>
          <p:nvPr/>
        </p:nvSpPr>
        <p:spPr>
          <a:xfrm>
            <a:off x="3498238" y="300620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4/17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796" name="타원 795">
            <a:extLst>
              <a:ext uri="{FF2B5EF4-FFF2-40B4-BE49-F238E27FC236}">
                <a16:creationId xmlns:a16="http://schemas.microsoft.com/office/drawing/2014/main" id="{E6DA4B05-A5A2-567B-D1ED-DC5763F396A8}"/>
              </a:ext>
            </a:extLst>
          </p:cNvPr>
          <p:cNvSpPr/>
          <p:nvPr/>
        </p:nvSpPr>
        <p:spPr>
          <a:xfrm>
            <a:off x="3562106" y="311341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97" name="TextBox 796">
            <a:extLst>
              <a:ext uri="{FF2B5EF4-FFF2-40B4-BE49-F238E27FC236}">
                <a16:creationId xmlns:a16="http://schemas.microsoft.com/office/drawing/2014/main" id="{A1342978-7093-5A70-9B04-34E7BC8668CE}"/>
              </a:ext>
            </a:extLst>
          </p:cNvPr>
          <p:cNvSpPr txBox="1"/>
          <p:nvPr/>
        </p:nvSpPr>
        <p:spPr>
          <a:xfrm>
            <a:off x="866297" y="4353197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개발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의뢰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67F43A7B-8073-6FCD-C655-E2439C80951B}"/>
              </a:ext>
            </a:extLst>
          </p:cNvPr>
          <p:cNvSpPr txBox="1"/>
          <p:nvPr/>
        </p:nvSpPr>
        <p:spPr>
          <a:xfrm>
            <a:off x="843854" y="4152326"/>
            <a:ext cx="205866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10</a:t>
            </a:r>
            <a:r>
              <a:rPr kumimoji="0" lang="ko-KR" altLang="en-US" sz="650" b="0" strike="noStrike">
                <a:latin typeface="LG스마트체 Regular" panose="020B0600000101010101" pitchFamily="50" charset="-127"/>
                <a:cs typeface="+mn-cs"/>
              </a:rPr>
              <a:t>월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99" name="직선 연결선 798">
            <a:extLst>
              <a:ext uri="{FF2B5EF4-FFF2-40B4-BE49-F238E27FC236}">
                <a16:creationId xmlns:a16="http://schemas.microsoft.com/office/drawing/2014/main" id="{E56FBAF5-A00D-365B-C0C7-783D3F015743}"/>
              </a:ext>
            </a:extLst>
          </p:cNvPr>
          <p:cNvCxnSpPr>
            <a:cxnSpLocks/>
            <a:stCxn id="800" idx="6"/>
            <a:endCxn id="803" idx="2"/>
          </p:cNvCxnSpPr>
          <p:nvPr/>
        </p:nvCxnSpPr>
        <p:spPr>
          <a:xfrm>
            <a:off x="990662" y="4303508"/>
            <a:ext cx="1060955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0" name="타원 799">
            <a:extLst>
              <a:ext uri="{FF2B5EF4-FFF2-40B4-BE49-F238E27FC236}">
                <a16:creationId xmlns:a16="http://schemas.microsoft.com/office/drawing/2014/main" id="{64AF0939-38F8-4956-37FC-66A965DF5326}"/>
              </a:ext>
            </a:extLst>
          </p:cNvPr>
          <p:cNvSpPr/>
          <p:nvPr/>
        </p:nvSpPr>
        <p:spPr>
          <a:xfrm>
            <a:off x="902914" y="4259535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1" name="TextBox 800">
            <a:extLst>
              <a:ext uri="{FF2B5EF4-FFF2-40B4-BE49-F238E27FC236}">
                <a16:creationId xmlns:a16="http://schemas.microsoft.com/office/drawing/2014/main" id="{6DAD5915-CDCB-0E51-7E96-E6CFAE1B1CBE}"/>
              </a:ext>
            </a:extLst>
          </p:cNvPr>
          <p:cNvSpPr txBox="1"/>
          <p:nvPr/>
        </p:nvSpPr>
        <p:spPr>
          <a:xfrm>
            <a:off x="2015000" y="4353197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GUI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2" name="TextBox 801">
            <a:extLst>
              <a:ext uri="{FF2B5EF4-FFF2-40B4-BE49-F238E27FC236}">
                <a16:creationId xmlns:a16="http://schemas.microsoft.com/office/drawing/2014/main" id="{1BB99AF8-C299-5561-D323-749DAEB56500}"/>
              </a:ext>
            </a:extLst>
          </p:cNvPr>
          <p:cNvSpPr txBox="1"/>
          <p:nvPr/>
        </p:nvSpPr>
        <p:spPr>
          <a:xfrm>
            <a:off x="1987749" y="4152326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1/19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03" name="타원 802">
            <a:extLst>
              <a:ext uri="{FF2B5EF4-FFF2-40B4-BE49-F238E27FC236}">
                <a16:creationId xmlns:a16="http://schemas.microsoft.com/office/drawing/2014/main" id="{95828CE6-8226-69C4-300E-E01278BFAE81}"/>
              </a:ext>
            </a:extLst>
          </p:cNvPr>
          <p:cNvSpPr/>
          <p:nvPr/>
        </p:nvSpPr>
        <p:spPr>
          <a:xfrm>
            <a:off x="2051617" y="4259535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4" name="TextBox 803">
            <a:extLst>
              <a:ext uri="{FF2B5EF4-FFF2-40B4-BE49-F238E27FC236}">
                <a16:creationId xmlns:a16="http://schemas.microsoft.com/office/drawing/2014/main" id="{8EB61728-0267-584C-8F96-277B50711ACB}"/>
              </a:ext>
            </a:extLst>
          </p:cNvPr>
          <p:cNvSpPr txBox="1"/>
          <p:nvPr/>
        </p:nvSpPr>
        <p:spPr>
          <a:xfrm>
            <a:off x="1508856" y="4353197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UI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5" name="TextBox 804">
            <a:extLst>
              <a:ext uri="{FF2B5EF4-FFF2-40B4-BE49-F238E27FC236}">
                <a16:creationId xmlns:a16="http://schemas.microsoft.com/office/drawing/2014/main" id="{14B0135D-C55A-3F9C-0B82-FAA36F6776EF}"/>
              </a:ext>
            </a:extLst>
          </p:cNvPr>
          <p:cNvSpPr txBox="1"/>
          <p:nvPr/>
        </p:nvSpPr>
        <p:spPr>
          <a:xfrm>
            <a:off x="1455957" y="4152326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12/16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06" name="타원 805">
            <a:extLst>
              <a:ext uri="{FF2B5EF4-FFF2-40B4-BE49-F238E27FC236}">
                <a16:creationId xmlns:a16="http://schemas.microsoft.com/office/drawing/2014/main" id="{9C1F1C8D-82A3-57C3-1067-64CE5C70A14D}"/>
              </a:ext>
            </a:extLst>
          </p:cNvPr>
          <p:cNvSpPr/>
          <p:nvPr/>
        </p:nvSpPr>
        <p:spPr>
          <a:xfrm>
            <a:off x="1545474" y="4259535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7" name="TextBox 806">
            <a:extLst>
              <a:ext uri="{FF2B5EF4-FFF2-40B4-BE49-F238E27FC236}">
                <a16:creationId xmlns:a16="http://schemas.microsoft.com/office/drawing/2014/main" id="{95100E9D-4A89-FD29-6868-5A697ABE389A}"/>
              </a:ext>
            </a:extLst>
          </p:cNvPr>
          <p:cNvSpPr txBox="1"/>
          <p:nvPr/>
        </p:nvSpPr>
        <p:spPr>
          <a:xfrm>
            <a:off x="2182147" y="3606789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스펙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확정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8" name="TextBox 807">
            <a:extLst>
              <a:ext uri="{FF2B5EF4-FFF2-40B4-BE49-F238E27FC236}">
                <a16:creationId xmlns:a16="http://schemas.microsoft.com/office/drawing/2014/main" id="{BBD14A1E-BBD5-BDE2-C9F0-598FEEC55097}"/>
              </a:ext>
            </a:extLst>
          </p:cNvPr>
          <p:cNvSpPr txBox="1"/>
          <p:nvPr/>
        </p:nvSpPr>
        <p:spPr>
          <a:xfrm>
            <a:off x="2154895" y="3399458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1/31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09" name="직선 연결선 808">
            <a:extLst>
              <a:ext uri="{FF2B5EF4-FFF2-40B4-BE49-F238E27FC236}">
                <a16:creationId xmlns:a16="http://schemas.microsoft.com/office/drawing/2014/main" id="{C173EB49-DB52-3917-137A-B592E606870D}"/>
              </a:ext>
            </a:extLst>
          </p:cNvPr>
          <p:cNvCxnSpPr>
            <a:cxnSpLocks/>
            <a:stCxn id="810" idx="6"/>
            <a:endCxn id="813" idx="6"/>
          </p:cNvCxnSpPr>
          <p:nvPr/>
        </p:nvCxnSpPr>
        <p:spPr>
          <a:xfrm flipV="1">
            <a:off x="2306511" y="3548472"/>
            <a:ext cx="2551224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0" name="타원 809">
            <a:extLst>
              <a:ext uri="{FF2B5EF4-FFF2-40B4-BE49-F238E27FC236}">
                <a16:creationId xmlns:a16="http://schemas.microsoft.com/office/drawing/2014/main" id="{1CCB5334-83A0-1EC2-060C-AC8AFCD614B4}"/>
              </a:ext>
            </a:extLst>
          </p:cNvPr>
          <p:cNvSpPr/>
          <p:nvPr/>
        </p:nvSpPr>
        <p:spPr>
          <a:xfrm>
            <a:off x="2218763" y="3506667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1" name="TextBox 810">
            <a:extLst>
              <a:ext uri="{FF2B5EF4-FFF2-40B4-BE49-F238E27FC236}">
                <a16:creationId xmlns:a16="http://schemas.microsoft.com/office/drawing/2014/main" id="{F9BB2E21-6BEA-AA5C-ABB0-2BC4E9DAEDD6}"/>
              </a:ext>
            </a:extLst>
          </p:cNvPr>
          <p:cNvSpPr txBox="1"/>
          <p:nvPr/>
        </p:nvSpPr>
        <p:spPr>
          <a:xfrm>
            <a:off x="4731767" y="3399458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7/8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12" name="TextBox 811">
            <a:extLst>
              <a:ext uri="{FF2B5EF4-FFF2-40B4-BE49-F238E27FC236}">
                <a16:creationId xmlns:a16="http://schemas.microsoft.com/office/drawing/2014/main" id="{6998C263-DB99-4DBD-73C9-A398B3D1E98E}"/>
              </a:ext>
            </a:extLst>
          </p:cNvPr>
          <p:cNvSpPr txBox="1"/>
          <p:nvPr/>
        </p:nvSpPr>
        <p:spPr>
          <a:xfrm>
            <a:off x="4733369" y="3606789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초품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3" name="타원 812">
            <a:extLst>
              <a:ext uri="{FF2B5EF4-FFF2-40B4-BE49-F238E27FC236}">
                <a16:creationId xmlns:a16="http://schemas.microsoft.com/office/drawing/2014/main" id="{ABE40226-BB76-A863-7BE5-3FD28C89E321}"/>
              </a:ext>
            </a:extLst>
          </p:cNvPr>
          <p:cNvSpPr/>
          <p:nvPr/>
        </p:nvSpPr>
        <p:spPr>
          <a:xfrm>
            <a:off x="4769987" y="3504498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14" name="TextBox 813">
            <a:extLst>
              <a:ext uri="{FF2B5EF4-FFF2-40B4-BE49-F238E27FC236}">
                <a16:creationId xmlns:a16="http://schemas.microsoft.com/office/drawing/2014/main" id="{B5DB8CE0-5004-F9F9-0E23-727AF9819150}"/>
              </a:ext>
            </a:extLst>
          </p:cNvPr>
          <p:cNvSpPr txBox="1"/>
          <p:nvPr/>
        </p:nvSpPr>
        <p:spPr>
          <a:xfrm>
            <a:off x="4075594" y="3606789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신뢰성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시작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5" name="TextBox 814">
            <a:extLst>
              <a:ext uri="{FF2B5EF4-FFF2-40B4-BE49-F238E27FC236}">
                <a16:creationId xmlns:a16="http://schemas.microsoft.com/office/drawing/2014/main" id="{DDF8C79B-54CD-A024-5546-B27A1A92CAF8}"/>
              </a:ext>
            </a:extLst>
          </p:cNvPr>
          <p:cNvSpPr txBox="1"/>
          <p:nvPr/>
        </p:nvSpPr>
        <p:spPr>
          <a:xfrm>
            <a:off x="4106853" y="3399458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16" name="타원 815">
            <a:extLst>
              <a:ext uri="{FF2B5EF4-FFF2-40B4-BE49-F238E27FC236}">
                <a16:creationId xmlns:a16="http://schemas.microsoft.com/office/drawing/2014/main" id="{E8A34A36-C40E-1B45-490C-16CAE233482E}"/>
              </a:ext>
            </a:extLst>
          </p:cNvPr>
          <p:cNvSpPr/>
          <p:nvPr/>
        </p:nvSpPr>
        <p:spPr>
          <a:xfrm>
            <a:off x="4145074" y="3506667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7" name="TextBox 816">
            <a:extLst>
              <a:ext uri="{FF2B5EF4-FFF2-40B4-BE49-F238E27FC236}">
                <a16:creationId xmlns:a16="http://schemas.microsoft.com/office/drawing/2014/main" id="{D19377D7-4221-A698-C857-797C9D144834}"/>
              </a:ext>
            </a:extLst>
          </p:cNvPr>
          <p:cNvSpPr txBox="1"/>
          <p:nvPr/>
        </p:nvSpPr>
        <p:spPr>
          <a:xfrm>
            <a:off x="3303530" y="3606789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테스트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보드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18" name="TextBox 817">
            <a:extLst>
              <a:ext uri="{FF2B5EF4-FFF2-40B4-BE49-F238E27FC236}">
                <a16:creationId xmlns:a16="http://schemas.microsoft.com/office/drawing/2014/main" id="{91C4582B-4003-1A68-B09B-077BB3874062}"/>
              </a:ext>
            </a:extLst>
          </p:cNvPr>
          <p:cNvSpPr txBox="1"/>
          <p:nvPr/>
        </p:nvSpPr>
        <p:spPr>
          <a:xfrm>
            <a:off x="3309140" y="3399458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4/10</a:t>
            </a:r>
          </a:p>
        </p:txBody>
      </p:sp>
      <p:sp>
        <p:nvSpPr>
          <p:cNvPr id="819" name="타원 818">
            <a:extLst>
              <a:ext uri="{FF2B5EF4-FFF2-40B4-BE49-F238E27FC236}">
                <a16:creationId xmlns:a16="http://schemas.microsoft.com/office/drawing/2014/main" id="{0D73CE1E-17AB-3DD6-5FED-A4C0C9E4DECD}"/>
              </a:ext>
            </a:extLst>
          </p:cNvPr>
          <p:cNvSpPr/>
          <p:nvPr/>
        </p:nvSpPr>
        <p:spPr>
          <a:xfrm>
            <a:off x="3373009" y="3506667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0" name="TextBox 819">
            <a:extLst>
              <a:ext uri="{FF2B5EF4-FFF2-40B4-BE49-F238E27FC236}">
                <a16:creationId xmlns:a16="http://schemas.microsoft.com/office/drawing/2014/main" id="{8DF1C665-FF5B-8AD4-3130-4CD09113CCA5}"/>
              </a:ext>
            </a:extLst>
          </p:cNvPr>
          <p:cNvSpPr txBox="1"/>
          <p:nvPr/>
        </p:nvSpPr>
        <p:spPr>
          <a:xfrm>
            <a:off x="2388919" y="4021388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요구조건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확정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1" name="TextBox 820">
            <a:extLst>
              <a:ext uri="{FF2B5EF4-FFF2-40B4-BE49-F238E27FC236}">
                <a16:creationId xmlns:a16="http://schemas.microsoft.com/office/drawing/2014/main" id="{032FC5F5-F549-375C-2C93-E8F64A87988F}"/>
              </a:ext>
            </a:extLst>
          </p:cNvPr>
          <p:cNvSpPr txBox="1"/>
          <p:nvPr/>
        </p:nvSpPr>
        <p:spPr>
          <a:xfrm>
            <a:off x="2427389" y="381405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3/16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02BCA185-077F-715C-7D00-8AC2DBA91D7D}"/>
              </a:ext>
            </a:extLst>
          </p:cNvPr>
          <p:cNvCxnSpPr>
            <a:cxnSpLocks/>
            <a:stCxn id="823" idx="6"/>
            <a:endCxn id="826" idx="6"/>
          </p:cNvCxnSpPr>
          <p:nvPr/>
        </p:nvCxnSpPr>
        <p:spPr>
          <a:xfrm flipV="1">
            <a:off x="2579006" y="3963071"/>
            <a:ext cx="2276762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3" name="타원 822">
            <a:extLst>
              <a:ext uri="{FF2B5EF4-FFF2-40B4-BE49-F238E27FC236}">
                <a16:creationId xmlns:a16="http://schemas.microsoft.com/office/drawing/2014/main" id="{4F7638CC-DA9D-FF4F-03C4-31C75046027C}"/>
              </a:ext>
            </a:extLst>
          </p:cNvPr>
          <p:cNvSpPr/>
          <p:nvPr/>
        </p:nvSpPr>
        <p:spPr>
          <a:xfrm>
            <a:off x="2491258" y="392126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4" name="TextBox 823">
            <a:extLst>
              <a:ext uri="{FF2B5EF4-FFF2-40B4-BE49-F238E27FC236}">
                <a16:creationId xmlns:a16="http://schemas.microsoft.com/office/drawing/2014/main" id="{AEE5A6EC-8D91-06EC-FCA6-5E0D1BD2FF67}"/>
              </a:ext>
            </a:extLst>
          </p:cNvPr>
          <p:cNvSpPr txBox="1"/>
          <p:nvPr/>
        </p:nvSpPr>
        <p:spPr>
          <a:xfrm>
            <a:off x="4729799" y="3814057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7/8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25" name="TextBox 824">
            <a:extLst>
              <a:ext uri="{FF2B5EF4-FFF2-40B4-BE49-F238E27FC236}">
                <a16:creationId xmlns:a16="http://schemas.microsoft.com/office/drawing/2014/main" id="{FB79AFB6-3E69-C3B9-B801-813AD5EDEA96}"/>
              </a:ext>
            </a:extLst>
          </p:cNvPr>
          <p:cNvSpPr txBox="1"/>
          <p:nvPr/>
        </p:nvSpPr>
        <p:spPr>
          <a:xfrm>
            <a:off x="4665678" y="4021388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SW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인정시험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876EC943-180D-C0C8-F91F-929C00EC27D5}"/>
              </a:ext>
            </a:extLst>
          </p:cNvPr>
          <p:cNvSpPr/>
          <p:nvPr/>
        </p:nvSpPr>
        <p:spPr>
          <a:xfrm>
            <a:off x="4768019" y="3919097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27" name="TextBox 826">
            <a:extLst>
              <a:ext uri="{FF2B5EF4-FFF2-40B4-BE49-F238E27FC236}">
                <a16:creationId xmlns:a16="http://schemas.microsoft.com/office/drawing/2014/main" id="{2A3811DB-5DD5-6246-727B-A04557F67049}"/>
              </a:ext>
            </a:extLst>
          </p:cNvPr>
          <p:cNvSpPr txBox="1"/>
          <p:nvPr/>
        </p:nvSpPr>
        <p:spPr>
          <a:xfrm>
            <a:off x="4088204" y="4021388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설계평가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28" name="TextBox 827">
            <a:extLst>
              <a:ext uri="{FF2B5EF4-FFF2-40B4-BE49-F238E27FC236}">
                <a16:creationId xmlns:a16="http://schemas.microsoft.com/office/drawing/2014/main" id="{13025460-18C2-6BE7-D47F-6992B3E90275}"/>
              </a:ext>
            </a:extLst>
          </p:cNvPr>
          <p:cNvSpPr txBox="1"/>
          <p:nvPr/>
        </p:nvSpPr>
        <p:spPr>
          <a:xfrm>
            <a:off x="4126676" y="381405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5/27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29" name="타원 828">
            <a:extLst>
              <a:ext uri="{FF2B5EF4-FFF2-40B4-BE49-F238E27FC236}">
                <a16:creationId xmlns:a16="http://schemas.microsoft.com/office/drawing/2014/main" id="{5F72A8E5-ACB8-D8DB-2B8A-2AC8C6D589A4}"/>
              </a:ext>
            </a:extLst>
          </p:cNvPr>
          <p:cNvSpPr/>
          <p:nvPr/>
        </p:nvSpPr>
        <p:spPr>
          <a:xfrm>
            <a:off x="4190545" y="392126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0" name="TextBox 829">
            <a:extLst>
              <a:ext uri="{FF2B5EF4-FFF2-40B4-BE49-F238E27FC236}">
                <a16:creationId xmlns:a16="http://schemas.microsoft.com/office/drawing/2014/main" id="{49914497-BDC0-93FC-759A-55FB85C345BE}"/>
              </a:ext>
            </a:extLst>
          </p:cNvPr>
          <p:cNvSpPr txBox="1"/>
          <p:nvPr/>
        </p:nvSpPr>
        <p:spPr>
          <a:xfrm>
            <a:off x="4408767" y="4021388"/>
            <a:ext cx="247544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SW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통합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FC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1" name="TextBox 830">
            <a:extLst>
              <a:ext uri="{FF2B5EF4-FFF2-40B4-BE49-F238E27FC236}">
                <a16:creationId xmlns:a16="http://schemas.microsoft.com/office/drawing/2014/main" id="{63238F6E-F4CE-79C9-1AFF-F164DB602795}"/>
              </a:ext>
            </a:extLst>
          </p:cNvPr>
          <p:cNvSpPr txBox="1"/>
          <p:nvPr/>
        </p:nvSpPr>
        <p:spPr>
          <a:xfrm>
            <a:off x="4424798" y="381405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6/10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32" name="타원 831">
            <a:extLst>
              <a:ext uri="{FF2B5EF4-FFF2-40B4-BE49-F238E27FC236}">
                <a16:creationId xmlns:a16="http://schemas.microsoft.com/office/drawing/2014/main" id="{38FC80B1-4455-9EDC-1D6A-4DE62E72C0E4}"/>
              </a:ext>
            </a:extLst>
          </p:cNvPr>
          <p:cNvSpPr/>
          <p:nvPr/>
        </p:nvSpPr>
        <p:spPr>
          <a:xfrm>
            <a:off x="4488666" y="392126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3" name="TextBox 832">
            <a:extLst>
              <a:ext uri="{FF2B5EF4-FFF2-40B4-BE49-F238E27FC236}">
                <a16:creationId xmlns:a16="http://schemas.microsoft.com/office/drawing/2014/main" id="{5B9A6C08-0C00-46F5-D8BE-826533162064}"/>
              </a:ext>
            </a:extLst>
          </p:cNvPr>
          <p:cNvSpPr txBox="1"/>
          <p:nvPr/>
        </p:nvSpPr>
        <p:spPr>
          <a:xfrm>
            <a:off x="3770563" y="4021388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설계평가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의뢰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4" name="TextBox 833">
            <a:extLst>
              <a:ext uri="{FF2B5EF4-FFF2-40B4-BE49-F238E27FC236}">
                <a16:creationId xmlns:a16="http://schemas.microsoft.com/office/drawing/2014/main" id="{6FAC7801-711D-58F8-F1EF-C8ABA8714676}"/>
              </a:ext>
            </a:extLst>
          </p:cNvPr>
          <p:cNvSpPr txBox="1"/>
          <p:nvPr/>
        </p:nvSpPr>
        <p:spPr>
          <a:xfrm>
            <a:off x="3809034" y="381405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5/13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35" name="타원 834">
            <a:extLst>
              <a:ext uri="{FF2B5EF4-FFF2-40B4-BE49-F238E27FC236}">
                <a16:creationId xmlns:a16="http://schemas.microsoft.com/office/drawing/2014/main" id="{BE33165A-182C-E73F-1CD0-0620B1C60F77}"/>
              </a:ext>
            </a:extLst>
          </p:cNvPr>
          <p:cNvSpPr/>
          <p:nvPr/>
        </p:nvSpPr>
        <p:spPr>
          <a:xfrm>
            <a:off x="3872903" y="392126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6" name="TextBox 835">
            <a:extLst>
              <a:ext uri="{FF2B5EF4-FFF2-40B4-BE49-F238E27FC236}">
                <a16:creationId xmlns:a16="http://schemas.microsoft.com/office/drawing/2014/main" id="{A3E0A68D-8A7C-2C41-C058-C345A8C2F325}"/>
              </a:ext>
            </a:extLst>
          </p:cNvPr>
          <p:cNvSpPr txBox="1"/>
          <p:nvPr/>
        </p:nvSpPr>
        <p:spPr>
          <a:xfrm>
            <a:off x="1144599" y="4353197"/>
            <a:ext cx="178614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UI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V0.9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9D903B9D-4FDA-A280-80C8-E5CB70FFE191}"/>
              </a:ext>
            </a:extLst>
          </p:cNvPr>
          <p:cNvSpPr txBox="1"/>
          <p:nvPr/>
        </p:nvSpPr>
        <p:spPr>
          <a:xfrm>
            <a:off x="1100517" y="4152326"/>
            <a:ext cx="26678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11/29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38" name="타원 837">
            <a:extLst>
              <a:ext uri="{FF2B5EF4-FFF2-40B4-BE49-F238E27FC236}">
                <a16:creationId xmlns:a16="http://schemas.microsoft.com/office/drawing/2014/main" id="{E42B2EED-2776-8D26-793B-0BC6149C1620}"/>
              </a:ext>
            </a:extLst>
          </p:cNvPr>
          <p:cNvSpPr/>
          <p:nvPr/>
        </p:nvSpPr>
        <p:spPr>
          <a:xfrm>
            <a:off x="1190033" y="4259535"/>
            <a:ext cx="87748" cy="87947"/>
          </a:xfrm>
          <a:prstGeom prst="ellipse">
            <a:avLst/>
          </a:prstGeom>
          <a:solidFill>
            <a:srgbClr val="92D050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9" name="TextBox 838">
            <a:extLst>
              <a:ext uri="{FF2B5EF4-FFF2-40B4-BE49-F238E27FC236}">
                <a16:creationId xmlns:a16="http://schemas.microsoft.com/office/drawing/2014/main" id="{BFFE1E4E-AC7D-6585-3CB6-F507EB28B429}"/>
              </a:ext>
            </a:extLst>
          </p:cNvPr>
          <p:cNvSpPr txBox="1"/>
          <p:nvPr/>
        </p:nvSpPr>
        <p:spPr>
          <a:xfrm>
            <a:off x="2631793" y="4601347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요구조건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확정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40" name="TextBox 839">
            <a:extLst>
              <a:ext uri="{FF2B5EF4-FFF2-40B4-BE49-F238E27FC236}">
                <a16:creationId xmlns:a16="http://schemas.microsoft.com/office/drawing/2014/main" id="{D7A5C0E4-F973-9E94-7E3F-247A25CD1C42}"/>
              </a:ext>
            </a:extLst>
          </p:cNvPr>
          <p:cNvSpPr txBox="1"/>
          <p:nvPr/>
        </p:nvSpPr>
        <p:spPr>
          <a:xfrm>
            <a:off x="2670263" y="440693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3/18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41" name="직선 연결선 840">
            <a:extLst>
              <a:ext uri="{FF2B5EF4-FFF2-40B4-BE49-F238E27FC236}">
                <a16:creationId xmlns:a16="http://schemas.microsoft.com/office/drawing/2014/main" id="{19D6A77C-DA3F-A5D5-FCBD-ECB499A67C1D}"/>
              </a:ext>
            </a:extLst>
          </p:cNvPr>
          <p:cNvCxnSpPr>
            <a:cxnSpLocks/>
            <a:stCxn id="842" idx="6"/>
            <a:endCxn id="845" idx="6"/>
          </p:cNvCxnSpPr>
          <p:nvPr/>
        </p:nvCxnSpPr>
        <p:spPr>
          <a:xfrm flipV="1">
            <a:off x="2821880" y="4549491"/>
            <a:ext cx="1128604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2" name="타원 841">
            <a:extLst>
              <a:ext uri="{FF2B5EF4-FFF2-40B4-BE49-F238E27FC236}">
                <a16:creationId xmlns:a16="http://schemas.microsoft.com/office/drawing/2014/main" id="{3DB6A3CE-8202-46B8-31E4-4518BE7D2E68}"/>
              </a:ext>
            </a:extLst>
          </p:cNvPr>
          <p:cNvSpPr/>
          <p:nvPr/>
        </p:nvSpPr>
        <p:spPr>
          <a:xfrm>
            <a:off x="2734132" y="4507685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43" name="TextBox 842">
            <a:extLst>
              <a:ext uri="{FF2B5EF4-FFF2-40B4-BE49-F238E27FC236}">
                <a16:creationId xmlns:a16="http://schemas.microsoft.com/office/drawing/2014/main" id="{8A8067EF-41A6-453D-039D-10BE5D7804B2}"/>
              </a:ext>
            </a:extLst>
          </p:cNvPr>
          <p:cNvSpPr txBox="1"/>
          <p:nvPr/>
        </p:nvSpPr>
        <p:spPr>
          <a:xfrm>
            <a:off x="3798867" y="440693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5/13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44" name="TextBox 843">
            <a:extLst>
              <a:ext uri="{FF2B5EF4-FFF2-40B4-BE49-F238E27FC236}">
                <a16:creationId xmlns:a16="http://schemas.microsoft.com/office/drawing/2014/main" id="{BE706DDA-EB67-B4D3-6B1D-3A628099D538}"/>
              </a:ext>
            </a:extLst>
          </p:cNvPr>
          <p:cNvSpPr txBox="1"/>
          <p:nvPr/>
        </p:nvSpPr>
        <p:spPr>
          <a:xfrm>
            <a:off x="3760395" y="4601347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설계평가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의뢰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45" name="타원 844">
            <a:extLst>
              <a:ext uri="{FF2B5EF4-FFF2-40B4-BE49-F238E27FC236}">
                <a16:creationId xmlns:a16="http://schemas.microsoft.com/office/drawing/2014/main" id="{64E52DD5-702B-E9EC-DC87-5F07C3485C1E}"/>
              </a:ext>
            </a:extLst>
          </p:cNvPr>
          <p:cNvSpPr/>
          <p:nvPr/>
        </p:nvSpPr>
        <p:spPr>
          <a:xfrm>
            <a:off x="3862736" y="4505517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46" name="TextBox 845">
            <a:extLst>
              <a:ext uri="{FF2B5EF4-FFF2-40B4-BE49-F238E27FC236}">
                <a16:creationId xmlns:a16="http://schemas.microsoft.com/office/drawing/2014/main" id="{919FD797-66E3-0935-64DE-B50F6CA76FA8}"/>
              </a:ext>
            </a:extLst>
          </p:cNvPr>
          <p:cNvSpPr txBox="1"/>
          <p:nvPr/>
        </p:nvSpPr>
        <p:spPr>
          <a:xfrm>
            <a:off x="3578043" y="4601347"/>
            <a:ext cx="1738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Test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App.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47" name="TextBox 846">
            <a:extLst>
              <a:ext uri="{FF2B5EF4-FFF2-40B4-BE49-F238E27FC236}">
                <a16:creationId xmlns:a16="http://schemas.microsoft.com/office/drawing/2014/main" id="{12A7499D-5C81-A154-5F11-1D5C3F6B2212}"/>
              </a:ext>
            </a:extLst>
          </p:cNvPr>
          <p:cNvSpPr txBox="1"/>
          <p:nvPr/>
        </p:nvSpPr>
        <p:spPr>
          <a:xfrm>
            <a:off x="3557202" y="440693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4/29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48" name="타원 847">
            <a:extLst>
              <a:ext uri="{FF2B5EF4-FFF2-40B4-BE49-F238E27FC236}">
                <a16:creationId xmlns:a16="http://schemas.microsoft.com/office/drawing/2014/main" id="{D032D696-E8B2-1C9D-AB75-1CFE4BFEEEF2}"/>
              </a:ext>
            </a:extLst>
          </p:cNvPr>
          <p:cNvSpPr/>
          <p:nvPr/>
        </p:nvSpPr>
        <p:spPr>
          <a:xfrm>
            <a:off x="3621071" y="4507685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49" name="TextBox 848">
            <a:extLst>
              <a:ext uri="{FF2B5EF4-FFF2-40B4-BE49-F238E27FC236}">
                <a16:creationId xmlns:a16="http://schemas.microsoft.com/office/drawing/2014/main" id="{8DA5BD18-2E11-4CE4-FAB8-D81D5837DD29}"/>
              </a:ext>
            </a:extLst>
          </p:cNvPr>
          <p:cNvSpPr txBox="1"/>
          <p:nvPr/>
        </p:nvSpPr>
        <p:spPr>
          <a:xfrm>
            <a:off x="3450716" y="2321702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투자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심의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0" name="TextBox 849">
            <a:extLst>
              <a:ext uri="{FF2B5EF4-FFF2-40B4-BE49-F238E27FC236}">
                <a16:creationId xmlns:a16="http://schemas.microsoft.com/office/drawing/2014/main" id="{350ECD33-BF3B-BE1F-5306-DBCEA69EBD06}"/>
              </a:ext>
            </a:extLst>
          </p:cNvPr>
          <p:cNvSpPr txBox="1"/>
          <p:nvPr/>
        </p:nvSpPr>
        <p:spPr>
          <a:xfrm>
            <a:off x="3423466" y="2117917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3/27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51" name="타원 850">
            <a:extLst>
              <a:ext uri="{FF2B5EF4-FFF2-40B4-BE49-F238E27FC236}">
                <a16:creationId xmlns:a16="http://schemas.microsoft.com/office/drawing/2014/main" id="{6B1E0D2F-1D4A-8D45-F5CE-0210DCF09D87}"/>
              </a:ext>
            </a:extLst>
          </p:cNvPr>
          <p:cNvSpPr/>
          <p:nvPr/>
        </p:nvSpPr>
        <p:spPr>
          <a:xfrm>
            <a:off x="3487334" y="222512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2" name="TextBox 851">
            <a:extLst>
              <a:ext uri="{FF2B5EF4-FFF2-40B4-BE49-F238E27FC236}">
                <a16:creationId xmlns:a16="http://schemas.microsoft.com/office/drawing/2014/main" id="{B04C0C9F-F718-94EB-3E4E-097774D210CB}"/>
              </a:ext>
            </a:extLst>
          </p:cNvPr>
          <p:cNvSpPr txBox="1"/>
          <p:nvPr/>
        </p:nvSpPr>
        <p:spPr>
          <a:xfrm>
            <a:off x="4062136" y="2321702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금형품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3" name="TextBox 852">
            <a:extLst>
              <a:ext uri="{FF2B5EF4-FFF2-40B4-BE49-F238E27FC236}">
                <a16:creationId xmlns:a16="http://schemas.microsoft.com/office/drawing/2014/main" id="{81450769-AFE1-7737-9ACF-CB3533F4618E}"/>
              </a:ext>
            </a:extLst>
          </p:cNvPr>
          <p:cNvSpPr txBox="1"/>
          <p:nvPr/>
        </p:nvSpPr>
        <p:spPr>
          <a:xfrm>
            <a:off x="4093395" y="2117917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54" name="타원 853">
            <a:extLst>
              <a:ext uri="{FF2B5EF4-FFF2-40B4-BE49-F238E27FC236}">
                <a16:creationId xmlns:a16="http://schemas.microsoft.com/office/drawing/2014/main" id="{CA98AA04-2E0D-6F13-4417-95246DBFD6E5}"/>
              </a:ext>
            </a:extLst>
          </p:cNvPr>
          <p:cNvSpPr/>
          <p:nvPr/>
        </p:nvSpPr>
        <p:spPr>
          <a:xfrm>
            <a:off x="4131616" y="2225126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5" name="TextBox 854">
            <a:extLst>
              <a:ext uri="{FF2B5EF4-FFF2-40B4-BE49-F238E27FC236}">
                <a16:creationId xmlns:a16="http://schemas.microsoft.com/office/drawing/2014/main" id="{0EBE6CBA-5B90-EAD4-DA2A-3B6F531736C6}"/>
              </a:ext>
            </a:extLst>
          </p:cNvPr>
          <p:cNvSpPr txBox="1"/>
          <p:nvPr/>
        </p:nvSpPr>
        <p:spPr>
          <a:xfrm>
            <a:off x="2372260" y="5016164"/>
            <a:ext cx="32288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VH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용융로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가동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6" name="TextBox 855">
            <a:extLst>
              <a:ext uri="{FF2B5EF4-FFF2-40B4-BE49-F238E27FC236}">
                <a16:creationId xmlns:a16="http://schemas.microsoft.com/office/drawing/2014/main" id="{BC6190F0-F0F1-83A4-A89A-877592FB981E}"/>
              </a:ext>
            </a:extLst>
          </p:cNvPr>
          <p:cNvSpPr txBox="1"/>
          <p:nvPr/>
        </p:nvSpPr>
        <p:spPr>
          <a:xfrm>
            <a:off x="2425959" y="4808834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3/15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57" name="직선 연결선 856">
            <a:extLst>
              <a:ext uri="{FF2B5EF4-FFF2-40B4-BE49-F238E27FC236}">
                <a16:creationId xmlns:a16="http://schemas.microsoft.com/office/drawing/2014/main" id="{A3DC4A53-B952-1744-098D-558B8C6BA9EE}"/>
              </a:ext>
            </a:extLst>
          </p:cNvPr>
          <p:cNvCxnSpPr>
            <a:cxnSpLocks/>
            <a:stCxn id="858" idx="6"/>
            <a:endCxn id="861" idx="6"/>
          </p:cNvCxnSpPr>
          <p:nvPr/>
        </p:nvCxnSpPr>
        <p:spPr>
          <a:xfrm flipV="1">
            <a:off x="2577576" y="4964308"/>
            <a:ext cx="2845902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8" name="타원 857">
            <a:extLst>
              <a:ext uri="{FF2B5EF4-FFF2-40B4-BE49-F238E27FC236}">
                <a16:creationId xmlns:a16="http://schemas.microsoft.com/office/drawing/2014/main" id="{63C460F6-85A9-9A4E-2E65-1B0D944C95D9}"/>
              </a:ext>
            </a:extLst>
          </p:cNvPr>
          <p:cNvSpPr/>
          <p:nvPr/>
        </p:nvSpPr>
        <p:spPr>
          <a:xfrm>
            <a:off x="2489827" y="4922502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59" name="TextBox 858">
            <a:extLst>
              <a:ext uri="{FF2B5EF4-FFF2-40B4-BE49-F238E27FC236}">
                <a16:creationId xmlns:a16="http://schemas.microsoft.com/office/drawing/2014/main" id="{4ED31200-61DD-5BC1-728E-341BB9C1BAD4}"/>
              </a:ext>
            </a:extLst>
          </p:cNvPr>
          <p:cNvSpPr txBox="1"/>
          <p:nvPr/>
        </p:nvSpPr>
        <p:spPr>
          <a:xfrm>
            <a:off x="5302317" y="4808834"/>
            <a:ext cx="154570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</a:t>
            </a:r>
            <a:r>
              <a:rPr kumimoji="0" lang="ko-KR" altLang="en-US" sz="650" b="0" strike="noStrike">
                <a:latin typeface="LG스마트체 Regular" panose="020B0600000101010101" pitchFamily="50" charset="-127"/>
                <a:cs typeface="+mn-cs"/>
              </a:rPr>
              <a:t>월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60" name="TextBox 859">
            <a:extLst>
              <a:ext uri="{FF2B5EF4-FFF2-40B4-BE49-F238E27FC236}">
                <a16:creationId xmlns:a16="http://schemas.microsoft.com/office/drawing/2014/main" id="{6052DA4F-9305-1421-9483-40E1426617E9}"/>
              </a:ext>
            </a:extLst>
          </p:cNvPr>
          <p:cNvSpPr txBox="1"/>
          <p:nvPr/>
        </p:nvSpPr>
        <p:spPr>
          <a:xfrm>
            <a:off x="5218962" y="5016164"/>
            <a:ext cx="3212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양산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적용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출시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61" name="타원 860">
            <a:extLst>
              <a:ext uri="{FF2B5EF4-FFF2-40B4-BE49-F238E27FC236}">
                <a16:creationId xmlns:a16="http://schemas.microsoft.com/office/drawing/2014/main" id="{29554C1C-822C-77F7-02A2-63111CDE021B}"/>
              </a:ext>
            </a:extLst>
          </p:cNvPr>
          <p:cNvSpPr/>
          <p:nvPr/>
        </p:nvSpPr>
        <p:spPr>
          <a:xfrm>
            <a:off x="5335729" y="4920334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62" name="TextBox 861">
            <a:extLst>
              <a:ext uri="{FF2B5EF4-FFF2-40B4-BE49-F238E27FC236}">
                <a16:creationId xmlns:a16="http://schemas.microsoft.com/office/drawing/2014/main" id="{3418059B-AE89-85F0-273E-24F317AC7CBE}"/>
              </a:ext>
            </a:extLst>
          </p:cNvPr>
          <p:cNvSpPr txBox="1"/>
          <p:nvPr/>
        </p:nvSpPr>
        <p:spPr>
          <a:xfrm>
            <a:off x="5033454" y="5016164"/>
            <a:ext cx="183424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MPV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63" name="TextBox 862">
            <a:extLst>
              <a:ext uri="{FF2B5EF4-FFF2-40B4-BE49-F238E27FC236}">
                <a16:creationId xmlns:a16="http://schemas.microsoft.com/office/drawing/2014/main" id="{1D150759-4CA7-10DB-CE24-393E99CA897A}"/>
              </a:ext>
            </a:extLst>
          </p:cNvPr>
          <p:cNvSpPr txBox="1"/>
          <p:nvPr/>
        </p:nvSpPr>
        <p:spPr>
          <a:xfrm>
            <a:off x="5017421" y="4808834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7/22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64" name="타원 863">
            <a:extLst>
              <a:ext uri="{FF2B5EF4-FFF2-40B4-BE49-F238E27FC236}">
                <a16:creationId xmlns:a16="http://schemas.microsoft.com/office/drawing/2014/main" id="{6593AD2E-B6F5-C100-DDD2-1EF90F96C748}"/>
              </a:ext>
            </a:extLst>
          </p:cNvPr>
          <p:cNvSpPr/>
          <p:nvPr/>
        </p:nvSpPr>
        <p:spPr>
          <a:xfrm>
            <a:off x="5081289" y="4922502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65" name="TextBox 864">
            <a:extLst>
              <a:ext uri="{FF2B5EF4-FFF2-40B4-BE49-F238E27FC236}">
                <a16:creationId xmlns:a16="http://schemas.microsoft.com/office/drawing/2014/main" id="{6AA8293B-FBB9-6C9C-0E97-F7062AA1A6A3}"/>
              </a:ext>
            </a:extLst>
          </p:cNvPr>
          <p:cNvSpPr txBox="1"/>
          <p:nvPr/>
        </p:nvSpPr>
        <p:spPr>
          <a:xfrm>
            <a:off x="3049868" y="5434611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안전규격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의뢰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66" name="TextBox 865">
            <a:extLst>
              <a:ext uri="{FF2B5EF4-FFF2-40B4-BE49-F238E27FC236}">
                <a16:creationId xmlns:a16="http://schemas.microsoft.com/office/drawing/2014/main" id="{37B5936B-C033-16F1-9321-9FD557E51463}"/>
              </a:ext>
            </a:extLst>
          </p:cNvPr>
          <p:cNvSpPr txBox="1"/>
          <p:nvPr/>
        </p:nvSpPr>
        <p:spPr>
          <a:xfrm>
            <a:off x="3088338" y="52208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3/25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67" name="직선 연결선 866">
            <a:extLst>
              <a:ext uri="{FF2B5EF4-FFF2-40B4-BE49-F238E27FC236}">
                <a16:creationId xmlns:a16="http://schemas.microsoft.com/office/drawing/2014/main" id="{8BD6171D-6B69-9409-1502-805DD2A895B4}"/>
              </a:ext>
            </a:extLst>
          </p:cNvPr>
          <p:cNvCxnSpPr>
            <a:cxnSpLocks/>
            <a:stCxn id="868" idx="6"/>
            <a:endCxn id="871" idx="6"/>
          </p:cNvCxnSpPr>
          <p:nvPr/>
        </p:nvCxnSpPr>
        <p:spPr>
          <a:xfrm flipV="1">
            <a:off x="3239955" y="5376295"/>
            <a:ext cx="2276736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8" name="타원 867">
            <a:extLst>
              <a:ext uri="{FF2B5EF4-FFF2-40B4-BE49-F238E27FC236}">
                <a16:creationId xmlns:a16="http://schemas.microsoft.com/office/drawing/2014/main" id="{DB9AD629-9135-03D2-1CA4-9C90951D827D}"/>
              </a:ext>
            </a:extLst>
          </p:cNvPr>
          <p:cNvSpPr/>
          <p:nvPr/>
        </p:nvSpPr>
        <p:spPr>
          <a:xfrm>
            <a:off x="3152206" y="533448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69" name="TextBox 868">
            <a:extLst>
              <a:ext uri="{FF2B5EF4-FFF2-40B4-BE49-F238E27FC236}">
                <a16:creationId xmlns:a16="http://schemas.microsoft.com/office/drawing/2014/main" id="{20C1B660-C576-26AA-1B85-43CAEBAB77F2}"/>
              </a:ext>
            </a:extLst>
          </p:cNvPr>
          <p:cNvSpPr txBox="1"/>
          <p:nvPr/>
        </p:nvSpPr>
        <p:spPr>
          <a:xfrm>
            <a:off x="5390722" y="5220821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70" name="TextBox 869">
            <a:extLst>
              <a:ext uri="{FF2B5EF4-FFF2-40B4-BE49-F238E27FC236}">
                <a16:creationId xmlns:a16="http://schemas.microsoft.com/office/drawing/2014/main" id="{CBB91072-7E63-3F93-9EB4-E9BA0CF5FAC9}"/>
              </a:ext>
            </a:extLst>
          </p:cNvPr>
          <p:cNvSpPr txBox="1"/>
          <p:nvPr/>
        </p:nvSpPr>
        <p:spPr>
          <a:xfrm>
            <a:off x="5359463" y="5434611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에너지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승인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71" name="타원 870">
            <a:extLst>
              <a:ext uri="{FF2B5EF4-FFF2-40B4-BE49-F238E27FC236}">
                <a16:creationId xmlns:a16="http://schemas.microsoft.com/office/drawing/2014/main" id="{36D1CB34-D68F-8978-515B-D81C9323F53B}"/>
              </a:ext>
            </a:extLst>
          </p:cNvPr>
          <p:cNvSpPr/>
          <p:nvPr/>
        </p:nvSpPr>
        <p:spPr>
          <a:xfrm>
            <a:off x="5428942" y="5332321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72" name="TextBox 871">
            <a:extLst>
              <a:ext uri="{FF2B5EF4-FFF2-40B4-BE49-F238E27FC236}">
                <a16:creationId xmlns:a16="http://schemas.microsoft.com/office/drawing/2014/main" id="{A2D3F4AE-0434-D062-F376-C6B7536A1F06}"/>
              </a:ext>
            </a:extLst>
          </p:cNvPr>
          <p:cNvSpPr txBox="1"/>
          <p:nvPr/>
        </p:nvSpPr>
        <p:spPr>
          <a:xfrm>
            <a:off x="4082332" y="5434611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규격시료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송부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73" name="TextBox 872">
            <a:extLst>
              <a:ext uri="{FF2B5EF4-FFF2-40B4-BE49-F238E27FC236}">
                <a16:creationId xmlns:a16="http://schemas.microsoft.com/office/drawing/2014/main" id="{52B70F83-73D6-4FC1-07D3-1552B7BD7EDF}"/>
              </a:ext>
            </a:extLst>
          </p:cNvPr>
          <p:cNvSpPr txBox="1"/>
          <p:nvPr/>
        </p:nvSpPr>
        <p:spPr>
          <a:xfrm>
            <a:off x="4146451" y="5220821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74" name="타원 873">
            <a:extLst>
              <a:ext uri="{FF2B5EF4-FFF2-40B4-BE49-F238E27FC236}">
                <a16:creationId xmlns:a16="http://schemas.microsoft.com/office/drawing/2014/main" id="{4F261975-3B2B-92E4-33C7-BD59238B0C4C}"/>
              </a:ext>
            </a:extLst>
          </p:cNvPr>
          <p:cNvSpPr/>
          <p:nvPr/>
        </p:nvSpPr>
        <p:spPr>
          <a:xfrm>
            <a:off x="4184671" y="533448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75" name="TextBox 874">
            <a:extLst>
              <a:ext uri="{FF2B5EF4-FFF2-40B4-BE49-F238E27FC236}">
                <a16:creationId xmlns:a16="http://schemas.microsoft.com/office/drawing/2014/main" id="{DFB524FC-2DAB-69E1-424E-F18519263271}"/>
              </a:ext>
            </a:extLst>
          </p:cNvPr>
          <p:cNvSpPr txBox="1"/>
          <p:nvPr/>
        </p:nvSpPr>
        <p:spPr>
          <a:xfrm>
            <a:off x="5061766" y="5434611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안전규격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승인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76" name="TextBox 875">
            <a:extLst>
              <a:ext uri="{FF2B5EF4-FFF2-40B4-BE49-F238E27FC236}">
                <a16:creationId xmlns:a16="http://schemas.microsoft.com/office/drawing/2014/main" id="{E9727476-FCA5-E34D-7909-F4EE07CC7484}"/>
              </a:ext>
            </a:extLst>
          </p:cNvPr>
          <p:cNvSpPr txBox="1"/>
          <p:nvPr/>
        </p:nvSpPr>
        <p:spPr>
          <a:xfrm>
            <a:off x="5100236" y="52208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7/27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77" name="타원 876">
            <a:extLst>
              <a:ext uri="{FF2B5EF4-FFF2-40B4-BE49-F238E27FC236}">
                <a16:creationId xmlns:a16="http://schemas.microsoft.com/office/drawing/2014/main" id="{E852A513-DADE-75BE-125C-40A2B1A752A1}"/>
              </a:ext>
            </a:extLst>
          </p:cNvPr>
          <p:cNvSpPr/>
          <p:nvPr/>
        </p:nvSpPr>
        <p:spPr>
          <a:xfrm>
            <a:off x="5164105" y="533448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78" name="TextBox 877">
            <a:extLst>
              <a:ext uri="{FF2B5EF4-FFF2-40B4-BE49-F238E27FC236}">
                <a16:creationId xmlns:a16="http://schemas.microsoft.com/office/drawing/2014/main" id="{F4E6A88B-279B-2808-2507-8C51904A3286}"/>
              </a:ext>
            </a:extLst>
          </p:cNvPr>
          <p:cNvSpPr txBox="1"/>
          <p:nvPr/>
        </p:nvSpPr>
        <p:spPr>
          <a:xfrm>
            <a:off x="4801324" y="5434611"/>
            <a:ext cx="181821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EMC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승인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79" name="TextBox 878">
            <a:extLst>
              <a:ext uri="{FF2B5EF4-FFF2-40B4-BE49-F238E27FC236}">
                <a16:creationId xmlns:a16="http://schemas.microsoft.com/office/drawing/2014/main" id="{35C129E1-DC70-A10E-5CFA-A09A70F1712C}"/>
              </a:ext>
            </a:extLst>
          </p:cNvPr>
          <p:cNvSpPr txBox="1"/>
          <p:nvPr/>
        </p:nvSpPr>
        <p:spPr>
          <a:xfrm>
            <a:off x="4784491" y="5220821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7/13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80" name="타원 879">
            <a:extLst>
              <a:ext uri="{FF2B5EF4-FFF2-40B4-BE49-F238E27FC236}">
                <a16:creationId xmlns:a16="http://schemas.microsoft.com/office/drawing/2014/main" id="{9F10BCD4-12F4-8B5A-8C53-CF4C19F26CC7}"/>
              </a:ext>
            </a:extLst>
          </p:cNvPr>
          <p:cNvSpPr/>
          <p:nvPr/>
        </p:nvSpPr>
        <p:spPr>
          <a:xfrm>
            <a:off x="4848359" y="5334489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81" name="TextBox 880">
            <a:extLst>
              <a:ext uri="{FF2B5EF4-FFF2-40B4-BE49-F238E27FC236}">
                <a16:creationId xmlns:a16="http://schemas.microsoft.com/office/drawing/2014/main" id="{40583DDB-B5C6-B908-DCD9-75BE5E5B1D69}"/>
              </a:ext>
            </a:extLst>
          </p:cNvPr>
          <p:cNvSpPr txBox="1"/>
          <p:nvPr/>
        </p:nvSpPr>
        <p:spPr>
          <a:xfrm>
            <a:off x="4553999" y="5834565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테스트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시료송부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82" name="TextBox 881">
            <a:extLst>
              <a:ext uri="{FF2B5EF4-FFF2-40B4-BE49-F238E27FC236}">
                <a16:creationId xmlns:a16="http://schemas.microsoft.com/office/drawing/2014/main" id="{8D75A228-EE3C-C71E-B4ED-0FA70DB5FB87}"/>
              </a:ext>
            </a:extLst>
          </p:cNvPr>
          <p:cNvSpPr txBox="1"/>
          <p:nvPr/>
        </p:nvSpPr>
        <p:spPr>
          <a:xfrm>
            <a:off x="4592469" y="563369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6/25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83" name="직선 연결선 882">
            <a:extLst>
              <a:ext uri="{FF2B5EF4-FFF2-40B4-BE49-F238E27FC236}">
                <a16:creationId xmlns:a16="http://schemas.microsoft.com/office/drawing/2014/main" id="{CD8A2F0B-C918-9BA2-2CF2-152E4D39B2ED}"/>
              </a:ext>
            </a:extLst>
          </p:cNvPr>
          <p:cNvCxnSpPr>
            <a:cxnSpLocks/>
            <a:stCxn id="884" idx="6"/>
            <a:endCxn id="887" idx="6"/>
          </p:cNvCxnSpPr>
          <p:nvPr/>
        </p:nvCxnSpPr>
        <p:spPr>
          <a:xfrm flipV="1">
            <a:off x="4744085" y="5789169"/>
            <a:ext cx="783391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4" name="타원 883">
            <a:extLst>
              <a:ext uri="{FF2B5EF4-FFF2-40B4-BE49-F238E27FC236}">
                <a16:creationId xmlns:a16="http://schemas.microsoft.com/office/drawing/2014/main" id="{BCA55B80-F737-1471-5CFC-A776533F765B}"/>
              </a:ext>
            </a:extLst>
          </p:cNvPr>
          <p:cNvSpPr/>
          <p:nvPr/>
        </p:nvSpPr>
        <p:spPr>
          <a:xfrm>
            <a:off x="4656337" y="5747364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85" name="TextBox 884">
            <a:extLst>
              <a:ext uri="{FF2B5EF4-FFF2-40B4-BE49-F238E27FC236}">
                <a16:creationId xmlns:a16="http://schemas.microsoft.com/office/drawing/2014/main" id="{413598AA-1E6F-AA98-5555-0E6B33AE1FBC}"/>
              </a:ext>
            </a:extLst>
          </p:cNvPr>
          <p:cNvSpPr txBox="1"/>
          <p:nvPr/>
        </p:nvSpPr>
        <p:spPr>
          <a:xfrm>
            <a:off x="5401508" y="5633695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8/4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86" name="TextBox 885">
            <a:extLst>
              <a:ext uri="{FF2B5EF4-FFF2-40B4-BE49-F238E27FC236}">
                <a16:creationId xmlns:a16="http://schemas.microsoft.com/office/drawing/2014/main" id="{EAB6A6F3-48B2-1530-205C-D2722D082F23}"/>
              </a:ext>
            </a:extLst>
          </p:cNvPr>
          <p:cNvSpPr txBox="1"/>
          <p:nvPr/>
        </p:nvSpPr>
        <p:spPr>
          <a:xfrm>
            <a:off x="5403111" y="583456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FRP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승인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87" name="타원 886">
            <a:extLst>
              <a:ext uri="{FF2B5EF4-FFF2-40B4-BE49-F238E27FC236}">
                <a16:creationId xmlns:a16="http://schemas.microsoft.com/office/drawing/2014/main" id="{ABF9CB4B-DCCB-FA9D-27C9-017D31FA00CD}"/>
              </a:ext>
            </a:extLst>
          </p:cNvPr>
          <p:cNvSpPr/>
          <p:nvPr/>
        </p:nvSpPr>
        <p:spPr>
          <a:xfrm>
            <a:off x="5439728" y="5745195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88" name="TextBox 887">
            <a:extLst>
              <a:ext uri="{FF2B5EF4-FFF2-40B4-BE49-F238E27FC236}">
                <a16:creationId xmlns:a16="http://schemas.microsoft.com/office/drawing/2014/main" id="{8219CC75-C115-400E-1352-80B9EC56F4BC}"/>
              </a:ext>
            </a:extLst>
          </p:cNvPr>
          <p:cNvSpPr txBox="1"/>
          <p:nvPr/>
        </p:nvSpPr>
        <p:spPr>
          <a:xfrm>
            <a:off x="4970626" y="5834565"/>
            <a:ext cx="358151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필드테스트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89" name="TextBox 888">
            <a:extLst>
              <a:ext uri="{FF2B5EF4-FFF2-40B4-BE49-F238E27FC236}">
                <a16:creationId xmlns:a16="http://schemas.microsoft.com/office/drawing/2014/main" id="{DB6F0C4A-1F27-6C1B-22E6-A4C887AC2621}"/>
              </a:ext>
            </a:extLst>
          </p:cNvPr>
          <p:cNvSpPr txBox="1"/>
          <p:nvPr/>
        </p:nvSpPr>
        <p:spPr>
          <a:xfrm>
            <a:off x="5041957" y="563369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7/24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90" name="타원 889">
            <a:extLst>
              <a:ext uri="{FF2B5EF4-FFF2-40B4-BE49-F238E27FC236}">
                <a16:creationId xmlns:a16="http://schemas.microsoft.com/office/drawing/2014/main" id="{BC391473-787B-546C-8BAB-09F628674AF9}"/>
              </a:ext>
            </a:extLst>
          </p:cNvPr>
          <p:cNvSpPr/>
          <p:nvPr/>
        </p:nvSpPr>
        <p:spPr>
          <a:xfrm>
            <a:off x="5105826" y="5747364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91" name="TextBox 890">
            <a:extLst>
              <a:ext uri="{FF2B5EF4-FFF2-40B4-BE49-F238E27FC236}">
                <a16:creationId xmlns:a16="http://schemas.microsoft.com/office/drawing/2014/main" id="{59B01060-B4C7-ECA8-B8AE-61C32C48364E}"/>
              </a:ext>
            </a:extLst>
          </p:cNvPr>
          <p:cNvSpPr txBox="1"/>
          <p:nvPr/>
        </p:nvSpPr>
        <p:spPr>
          <a:xfrm>
            <a:off x="3772028" y="5016164"/>
            <a:ext cx="330900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Matching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92" name="TextBox 891">
            <a:extLst>
              <a:ext uri="{FF2B5EF4-FFF2-40B4-BE49-F238E27FC236}">
                <a16:creationId xmlns:a16="http://schemas.microsoft.com/office/drawing/2014/main" id="{AC3CCC08-8C69-DD7D-599D-EAA09AF134C6}"/>
              </a:ext>
            </a:extLst>
          </p:cNvPr>
          <p:cNvSpPr txBox="1"/>
          <p:nvPr/>
        </p:nvSpPr>
        <p:spPr>
          <a:xfrm>
            <a:off x="3829733" y="4808834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5/22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893" name="타원 892">
            <a:extLst>
              <a:ext uri="{FF2B5EF4-FFF2-40B4-BE49-F238E27FC236}">
                <a16:creationId xmlns:a16="http://schemas.microsoft.com/office/drawing/2014/main" id="{D323AD66-5FCD-7A8D-CF9D-C824AFA07FF7}"/>
              </a:ext>
            </a:extLst>
          </p:cNvPr>
          <p:cNvSpPr/>
          <p:nvPr/>
        </p:nvSpPr>
        <p:spPr>
          <a:xfrm>
            <a:off x="3893602" y="4922502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94" name="TextBox 893">
            <a:extLst>
              <a:ext uri="{FF2B5EF4-FFF2-40B4-BE49-F238E27FC236}">
                <a16:creationId xmlns:a16="http://schemas.microsoft.com/office/drawing/2014/main" id="{55F0EA69-2766-35A7-73BB-EE856818CB05}"/>
              </a:ext>
            </a:extLst>
          </p:cNvPr>
          <p:cNvSpPr txBox="1"/>
          <p:nvPr/>
        </p:nvSpPr>
        <p:spPr>
          <a:xfrm>
            <a:off x="4133919" y="5016164"/>
            <a:ext cx="188233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MDV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95" name="TextBox 894">
            <a:extLst>
              <a:ext uri="{FF2B5EF4-FFF2-40B4-BE49-F238E27FC236}">
                <a16:creationId xmlns:a16="http://schemas.microsoft.com/office/drawing/2014/main" id="{10B231D7-3F20-8FF3-6C24-24B4A28D752A}"/>
              </a:ext>
            </a:extLst>
          </p:cNvPr>
          <p:cNvSpPr txBox="1"/>
          <p:nvPr/>
        </p:nvSpPr>
        <p:spPr>
          <a:xfrm>
            <a:off x="4145938" y="4808834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6/1</a:t>
            </a:r>
          </a:p>
        </p:txBody>
      </p:sp>
      <p:sp>
        <p:nvSpPr>
          <p:cNvPr id="896" name="타원 895">
            <a:extLst>
              <a:ext uri="{FF2B5EF4-FFF2-40B4-BE49-F238E27FC236}">
                <a16:creationId xmlns:a16="http://schemas.microsoft.com/office/drawing/2014/main" id="{96E8E2FD-137C-AB5C-0CA1-0A6CB659ADAA}"/>
              </a:ext>
            </a:extLst>
          </p:cNvPr>
          <p:cNvSpPr/>
          <p:nvPr/>
        </p:nvSpPr>
        <p:spPr>
          <a:xfrm>
            <a:off x="4184158" y="4922502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99" name="TextBox 898">
            <a:extLst>
              <a:ext uri="{FF2B5EF4-FFF2-40B4-BE49-F238E27FC236}">
                <a16:creationId xmlns:a16="http://schemas.microsoft.com/office/drawing/2014/main" id="{BD9871E1-7A0B-3A51-A5E9-2972CC021BF3}"/>
              </a:ext>
            </a:extLst>
          </p:cNvPr>
          <p:cNvSpPr txBox="1"/>
          <p:nvPr/>
        </p:nvSpPr>
        <p:spPr>
          <a:xfrm>
            <a:off x="7410381" y="2064846"/>
            <a:ext cx="2323433" cy="379888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세부 수행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Activity : FMEA, PL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점검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친환경점검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서비스기술자료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설계기준서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                          BOM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등록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인정시험기획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신뢰성시험기획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설계완료리뷰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                          DGMS,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목표재료비리뷰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규격의뢰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DV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제작준비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                         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인쇄물개발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심의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수익성분석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CDR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리뷰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FRP,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3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자인증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등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00" name="왼쪽 대괄호 899">
            <a:extLst>
              <a:ext uri="{FF2B5EF4-FFF2-40B4-BE49-F238E27FC236}">
                <a16:creationId xmlns:a16="http://schemas.microsoft.com/office/drawing/2014/main" id="{AC13E97D-B0D1-AE10-363D-76A38EB1ED63}"/>
              </a:ext>
            </a:extLst>
          </p:cNvPr>
          <p:cNvSpPr/>
          <p:nvPr/>
        </p:nvSpPr>
        <p:spPr>
          <a:xfrm rot="5400000">
            <a:off x="4913647" y="2891660"/>
            <a:ext cx="56956" cy="470535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01" name="TextBox 900">
            <a:extLst>
              <a:ext uri="{FF2B5EF4-FFF2-40B4-BE49-F238E27FC236}">
                <a16:creationId xmlns:a16="http://schemas.microsoft.com/office/drawing/2014/main" id="{B21D3A91-6DAF-FF98-2173-6D17BAD3F3EA}"/>
              </a:ext>
            </a:extLst>
          </p:cNvPr>
          <p:cNvSpPr txBox="1"/>
          <p:nvPr/>
        </p:nvSpPr>
        <p:spPr>
          <a:xfrm>
            <a:off x="4804445" y="3007412"/>
            <a:ext cx="274114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60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44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02" name="TextBox 901">
            <a:extLst>
              <a:ext uri="{FF2B5EF4-FFF2-40B4-BE49-F238E27FC236}">
                <a16:creationId xmlns:a16="http://schemas.microsoft.com/office/drawing/2014/main" id="{D2D911AC-96D7-4CDA-57BC-B98A8AD40958}"/>
              </a:ext>
            </a:extLst>
          </p:cNvPr>
          <p:cNvSpPr txBox="1"/>
          <p:nvPr/>
        </p:nvSpPr>
        <p:spPr>
          <a:xfrm>
            <a:off x="5781138" y="2117917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9/3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03" name="타원 902">
            <a:extLst>
              <a:ext uri="{FF2B5EF4-FFF2-40B4-BE49-F238E27FC236}">
                <a16:creationId xmlns:a16="http://schemas.microsoft.com/office/drawing/2014/main" id="{8EC1BB78-54B1-5447-A917-64967C8EB512}"/>
              </a:ext>
            </a:extLst>
          </p:cNvPr>
          <p:cNvSpPr/>
          <p:nvPr/>
        </p:nvSpPr>
        <p:spPr>
          <a:xfrm>
            <a:off x="5819358" y="2219412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04" name="TextBox 903">
            <a:extLst>
              <a:ext uri="{FF2B5EF4-FFF2-40B4-BE49-F238E27FC236}">
                <a16:creationId xmlns:a16="http://schemas.microsoft.com/office/drawing/2014/main" id="{E0C1B219-8974-2882-E74C-A08AF90BB67A}"/>
              </a:ext>
            </a:extLst>
          </p:cNvPr>
          <p:cNvSpPr txBox="1"/>
          <p:nvPr/>
        </p:nvSpPr>
        <p:spPr>
          <a:xfrm>
            <a:off x="5724233" y="2321702"/>
            <a:ext cx="27800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Pre-MP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05" name="TextBox 904">
            <a:extLst>
              <a:ext uri="{FF2B5EF4-FFF2-40B4-BE49-F238E27FC236}">
                <a16:creationId xmlns:a16="http://schemas.microsoft.com/office/drawing/2014/main" id="{F95A5597-B25B-3D66-03A6-225EF13903A9}"/>
              </a:ext>
            </a:extLst>
          </p:cNvPr>
          <p:cNvSpPr txBox="1"/>
          <p:nvPr/>
        </p:nvSpPr>
        <p:spPr>
          <a:xfrm>
            <a:off x="5330480" y="2117917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8/7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06" name="타원 905">
            <a:extLst>
              <a:ext uri="{FF2B5EF4-FFF2-40B4-BE49-F238E27FC236}">
                <a16:creationId xmlns:a16="http://schemas.microsoft.com/office/drawing/2014/main" id="{A36054B1-85A4-D0CA-A8EF-70CBB0460177}"/>
              </a:ext>
            </a:extLst>
          </p:cNvPr>
          <p:cNvSpPr/>
          <p:nvPr/>
        </p:nvSpPr>
        <p:spPr>
          <a:xfrm>
            <a:off x="5368700" y="2219412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07" name="TextBox 906">
            <a:extLst>
              <a:ext uri="{FF2B5EF4-FFF2-40B4-BE49-F238E27FC236}">
                <a16:creationId xmlns:a16="http://schemas.microsoft.com/office/drawing/2014/main" id="{7B5FA836-38C5-BC0B-EDA1-A94FA3A281C5}"/>
              </a:ext>
            </a:extLst>
          </p:cNvPr>
          <p:cNvSpPr txBox="1"/>
          <p:nvPr/>
        </p:nvSpPr>
        <p:spPr>
          <a:xfrm>
            <a:off x="5332083" y="2321702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 dirty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제작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08" name="TextBox 907">
            <a:extLst>
              <a:ext uri="{FF2B5EF4-FFF2-40B4-BE49-F238E27FC236}">
                <a16:creationId xmlns:a16="http://schemas.microsoft.com/office/drawing/2014/main" id="{DD9082C3-70E5-19E4-D522-7A6408B6C771}"/>
              </a:ext>
            </a:extLst>
          </p:cNvPr>
          <p:cNvSpPr txBox="1"/>
          <p:nvPr/>
        </p:nvSpPr>
        <p:spPr>
          <a:xfrm>
            <a:off x="2414175" y="2759715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디자인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목업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09" name="TextBox 908">
            <a:extLst>
              <a:ext uri="{FF2B5EF4-FFF2-40B4-BE49-F238E27FC236}">
                <a16:creationId xmlns:a16="http://schemas.microsoft.com/office/drawing/2014/main" id="{4FC8B429-C270-8265-4F41-986A7B78709A}"/>
              </a:ext>
            </a:extLst>
          </p:cNvPr>
          <p:cNvSpPr txBox="1"/>
          <p:nvPr/>
        </p:nvSpPr>
        <p:spPr>
          <a:xfrm>
            <a:off x="2419786" y="255238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3/18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cxnSp>
        <p:nvCxnSpPr>
          <p:cNvPr id="910" name="직선 연결선 909">
            <a:extLst>
              <a:ext uri="{FF2B5EF4-FFF2-40B4-BE49-F238E27FC236}">
                <a16:creationId xmlns:a16="http://schemas.microsoft.com/office/drawing/2014/main" id="{451647EC-7085-2A6B-EDB9-5814EED04ED0}"/>
              </a:ext>
            </a:extLst>
          </p:cNvPr>
          <p:cNvCxnSpPr>
            <a:cxnSpLocks/>
            <a:stCxn id="911" idx="6"/>
            <a:endCxn id="914" idx="6"/>
          </p:cNvCxnSpPr>
          <p:nvPr/>
        </p:nvCxnSpPr>
        <p:spPr>
          <a:xfrm flipV="1">
            <a:off x="2571403" y="2701398"/>
            <a:ext cx="2695013" cy="2169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1" name="타원 910">
            <a:extLst>
              <a:ext uri="{FF2B5EF4-FFF2-40B4-BE49-F238E27FC236}">
                <a16:creationId xmlns:a16="http://schemas.microsoft.com/office/drawing/2014/main" id="{4C0A56EF-34D6-1C5E-53D3-3D1166AAB261}"/>
              </a:ext>
            </a:extLst>
          </p:cNvPr>
          <p:cNvSpPr/>
          <p:nvPr/>
        </p:nvSpPr>
        <p:spPr>
          <a:xfrm>
            <a:off x="2483654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12" name="TextBox 911">
            <a:extLst>
              <a:ext uri="{FF2B5EF4-FFF2-40B4-BE49-F238E27FC236}">
                <a16:creationId xmlns:a16="http://schemas.microsoft.com/office/drawing/2014/main" id="{2F8CD16A-51F5-CA32-D5A4-1DC85F43D51E}"/>
              </a:ext>
            </a:extLst>
          </p:cNvPr>
          <p:cNvSpPr txBox="1"/>
          <p:nvPr/>
        </p:nvSpPr>
        <p:spPr>
          <a:xfrm>
            <a:off x="5140447" y="2552385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8/4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13" name="TextBox 912">
            <a:extLst>
              <a:ext uri="{FF2B5EF4-FFF2-40B4-BE49-F238E27FC236}">
                <a16:creationId xmlns:a16="http://schemas.microsoft.com/office/drawing/2014/main" id="{9CA4367B-AF26-9D69-ECF7-05EE6AAC8C1D}"/>
              </a:ext>
            </a:extLst>
          </p:cNvPr>
          <p:cNvSpPr txBox="1"/>
          <p:nvPr/>
        </p:nvSpPr>
        <p:spPr>
          <a:xfrm>
            <a:off x="5142050" y="275971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단가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14" name="타원 913">
            <a:extLst>
              <a:ext uri="{FF2B5EF4-FFF2-40B4-BE49-F238E27FC236}">
                <a16:creationId xmlns:a16="http://schemas.microsoft.com/office/drawing/2014/main" id="{2D9965EB-391F-2A73-4BE9-88E649C5CE45}"/>
              </a:ext>
            </a:extLst>
          </p:cNvPr>
          <p:cNvSpPr/>
          <p:nvPr/>
        </p:nvSpPr>
        <p:spPr>
          <a:xfrm>
            <a:off x="5178667" y="2657425"/>
            <a:ext cx="87748" cy="8794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15" name="TextBox 914">
            <a:extLst>
              <a:ext uri="{FF2B5EF4-FFF2-40B4-BE49-F238E27FC236}">
                <a16:creationId xmlns:a16="http://schemas.microsoft.com/office/drawing/2014/main" id="{E7AE3C7C-15F1-3511-5D89-E8BEE4708C94}"/>
              </a:ext>
            </a:extLst>
          </p:cNvPr>
          <p:cNvSpPr txBox="1"/>
          <p:nvPr/>
        </p:nvSpPr>
        <p:spPr>
          <a:xfrm>
            <a:off x="3143683" y="2759715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금형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리스트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16" name="TextBox 915">
            <a:extLst>
              <a:ext uri="{FF2B5EF4-FFF2-40B4-BE49-F238E27FC236}">
                <a16:creationId xmlns:a16="http://schemas.microsoft.com/office/drawing/2014/main" id="{58863AA5-8A03-1E85-34E2-67C452094172}"/>
              </a:ext>
            </a:extLst>
          </p:cNvPr>
          <p:cNvSpPr txBox="1"/>
          <p:nvPr/>
        </p:nvSpPr>
        <p:spPr>
          <a:xfrm>
            <a:off x="3149295" y="255238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3/31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17" name="타원 916">
            <a:extLst>
              <a:ext uri="{FF2B5EF4-FFF2-40B4-BE49-F238E27FC236}">
                <a16:creationId xmlns:a16="http://schemas.microsoft.com/office/drawing/2014/main" id="{09A017FE-A664-340A-7B49-58CF15435428}"/>
              </a:ext>
            </a:extLst>
          </p:cNvPr>
          <p:cNvSpPr/>
          <p:nvPr/>
        </p:nvSpPr>
        <p:spPr>
          <a:xfrm>
            <a:off x="3213163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18" name="TextBox 917">
            <a:extLst>
              <a:ext uri="{FF2B5EF4-FFF2-40B4-BE49-F238E27FC236}">
                <a16:creationId xmlns:a16="http://schemas.microsoft.com/office/drawing/2014/main" id="{F70300B4-3B9E-56B5-3AC9-B6C94E4951C7}"/>
              </a:ext>
            </a:extLst>
          </p:cNvPr>
          <p:cNvSpPr txBox="1"/>
          <p:nvPr/>
        </p:nvSpPr>
        <p:spPr>
          <a:xfrm>
            <a:off x="3421750" y="275971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도면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합의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19" name="TextBox 918">
            <a:extLst>
              <a:ext uri="{FF2B5EF4-FFF2-40B4-BE49-F238E27FC236}">
                <a16:creationId xmlns:a16="http://schemas.microsoft.com/office/drawing/2014/main" id="{B11D3300-E33D-DF28-5B65-E5218ADC3C32}"/>
              </a:ext>
            </a:extLst>
          </p:cNvPr>
          <p:cNvSpPr txBox="1"/>
          <p:nvPr/>
        </p:nvSpPr>
        <p:spPr>
          <a:xfrm>
            <a:off x="3420147" y="2552385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4/2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20" name="타원 919">
            <a:extLst>
              <a:ext uri="{FF2B5EF4-FFF2-40B4-BE49-F238E27FC236}">
                <a16:creationId xmlns:a16="http://schemas.microsoft.com/office/drawing/2014/main" id="{B4003870-BAFA-6640-E4BE-5EF1445B9EB2}"/>
              </a:ext>
            </a:extLst>
          </p:cNvPr>
          <p:cNvSpPr/>
          <p:nvPr/>
        </p:nvSpPr>
        <p:spPr>
          <a:xfrm>
            <a:off x="3458367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1" name="TextBox 920">
            <a:extLst>
              <a:ext uri="{FF2B5EF4-FFF2-40B4-BE49-F238E27FC236}">
                <a16:creationId xmlns:a16="http://schemas.microsoft.com/office/drawing/2014/main" id="{D14B2FD7-4B5B-A729-F1E6-9DABD36310CD}"/>
              </a:ext>
            </a:extLst>
          </p:cNvPr>
          <p:cNvSpPr txBox="1"/>
          <p:nvPr/>
        </p:nvSpPr>
        <p:spPr>
          <a:xfrm>
            <a:off x="3642942" y="275971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금형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발주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2" name="TextBox 921">
            <a:extLst>
              <a:ext uri="{FF2B5EF4-FFF2-40B4-BE49-F238E27FC236}">
                <a16:creationId xmlns:a16="http://schemas.microsoft.com/office/drawing/2014/main" id="{EAE0E4EB-6EA5-B68F-2D80-1C178134F0B9}"/>
              </a:ext>
            </a:extLst>
          </p:cNvPr>
          <p:cNvSpPr txBox="1"/>
          <p:nvPr/>
        </p:nvSpPr>
        <p:spPr>
          <a:xfrm>
            <a:off x="3641340" y="2552385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4/9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23" name="타원 922">
            <a:extLst>
              <a:ext uri="{FF2B5EF4-FFF2-40B4-BE49-F238E27FC236}">
                <a16:creationId xmlns:a16="http://schemas.microsoft.com/office/drawing/2014/main" id="{8725685E-8840-0841-2882-9E7BC996CC48}"/>
              </a:ext>
            </a:extLst>
          </p:cNvPr>
          <p:cNvSpPr/>
          <p:nvPr/>
        </p:nvSpPr>
        <p:spPr>
          <a:xfrm>
            <a:off x="3679560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4" name="TextBox 923">
            <a:extLst>
              <a:ext uri="{FF2B5EF4-FFF2-40B4-BE49-F238E27FC236}">
                <a16:creationId xmlns:a16="http://schemas.microsoft.com/office/drawing/2014/main" id="{692884E6-051B-C7DA-E81A-16475014B0F5}"/>
              </a:ext>
            </a:extLst>
          </p:cNvPr>
          <p:cNvSpPr txBox="1"/>
          <p:nvPr/>
        </p:nvSpPr>
        <p:spPr>
          <a:xfrm>
            <a:off x="4097952" y="275971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금형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5" name="TextBox 924">
            <a:extLst>
              <a:ext uri="{FF2B5EF4-FFF2-40B4-BE49-F238E27FC236}">
                <a16:creationId xmlns:a16="http://schemas.microsoft.com/office/drawing/2014/main" id="{10441721-38BC-7D6F-9740-65E1F66472CF}"/>
              </a:ext>
            </a:extLst>
          </p:cNvPr>
          <p:cNvSpPr txBox="1"/>
          <p:nvPr/>
        </p:nvSpPr>
        <p:spPr>
          <a:xfrm>
            <a:off x="4096349" y="2552385"/>
            <a:ext cx="164188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6/8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26" name="타원 925">
            <a:extLst>
              <a:ext uri="{FF2B5EF4-FFF2-40B4-BE49-F238E27FC236}">
                <a16:creationId xmlns:a16="http://schemas.microsoft.com/office/drawing/2014/main" id="{1CDBFB9A-836A-1B1D-DE92-2B31C84710D1}"/>
              </a:ext>
            </a:extLst>
          </p:cNvPr>
          <p:cNvSpPr/>
          <p:nvPr/>
        </p:nvSpPr>
        <p:spPr>
          <a:xfrm>
            <a:off x="4134570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8" name="왼쪽 대괄호 927">
            <a:extLst>
              <a:ext uri="{FF2B5EF4-FFF2-40B4-BE49-F238E27FC236}">
                <a16:creationId xmlns:a16="http://schemas.microsoft.com/office/drawing/2014/main" id="{6236BAFD-11B3-2256-611F-6C4EF31FC793}"/>
              </a:ext>
            </a:extLst>
          </p:cNvPr>
          <p:cNvSpPr/>
          <p:nvPr/>
        </p:nvSpPr>
        <p:spPr>
          <a:xfrm rot="5400000">
            <a:off x="3928350" y="2492322"/>
            <a:ext cx="53241" cy="361569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29" name="TextBox 928">
            <a:extLst>
              <a:ext uri="{FF2B5EF4-FFF2-40B4-BE49-F238E27FC236}">
                <a16:creationId xmlns:a16="http://schemas.microsoft.com/office/drawing/2014/main" id="{5882339B-7D0F-E1E0-8B31-A9E2E03586A3}"/>
              </a:ext>
            </a:extLst>
          </p:cNvPr>
          <p:cNvSpPr txBox="1"/>
          <p:nvPr/>
        </p:nvSpPr>
        <p:spPr>
          <a:xfrm>
            <a:off x="3809776" y="2555449"/>
            <a:ext cx="274114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75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61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30" name="왼쪽 대괄호 929">
            <a:extLst>
              <a:ext uri="{FF2B5EF4-FFF2-40B4-BE49-F238E27FC236}">
                <a16:creationId xmlns:a16="http://schemas.microsoft.com/office/drawing/2014/main" id="{847BB9BF-741E-CD7B-A7A2-810EA826EDA6}"/>
              </a:ext>
            </a:extLst>
          </p:cNvPr>
          <p:cNvSpPr/>
          <p:nvPr/>
        </p:nvSpPr>
        <p:spPr>
          <a:xfrm rot="5400000">
            <a:off x="6084454" y="2028908"/>
            <a:ext cx="58810" cy="414814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32" name="직사각형 931">
            <a:extLst>
              <a:ext uri="{FF2B5EF4-FFF2-40B4-BE49-F238E27FC236}">
                <a16:creationId xmlns:a16="http://schemas.microsoft.com/office/drawing/2014/main" id="{1FC91629-4AD6-289D-B0E6-5BEB0D47C1A4}"/>
              </a:ext>
            </a:extLst>
          </p:cNvPr>
          <p:cNvSpPr/>
          <p:nvPr/>
        </p:nvSpPr>
        <p:spPr>
          <a:xfrm>
            <a:off x="6573905" y="2206920"/>
            <a:ext cx="468759" cy="163611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Total 8</a:t>
            </a: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개월</a:t>
            </a:r>
            <a:endParaRPr kumimoji="0" lang="en-US" altLang="ko-KR" sz="528" b="0" dirty="0">
              <a:solidFill>
                <a:srgbClr val="FFFFFF">
                  <a:lumMod val="75000"/>
                </a:srgb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(CP</a:t>
            </a: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</a:t>
            </a: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~</a:t>
            </a:r>
            <a:r>
              <a:rPr kumimoji="0" lang="en-US" altLang="ko-KR" sz="528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PreMP)</a:t>
            </a:r>
          </a:p>
        </p:txBody>
      </p:sp>
      <p:sp>
        <p:nvSpPr>
          <p:cNvPr id="933" name="TextBox 932">
            <a:extLst>
              <a:ext uri="{FF2B5EF4-FFF2-40B4-BE49-F238E27FC236}">
                <a16:creationId xmlns:a16="http://schemas.microsoft.com/office/drawing/2014/main" id="{E6E4C7B2-0690-D738-81AF-296C88566AF6}"/>
              </a:ext>
            </a:extLst>
          </p:cNvPr>
          <p:cNvSpPr txBox="1"/>
          <p:nvPr/>
        </p:nvSpPr>
        <p:spPr>
          <a:xfrm>
            <a:off x="4510934" y="3213535"/>
            <a:ext cx="292428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DV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인정입고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34" name="TextBox 933">
            <a:extLst>
              <a:ext uri="{FF2B5EF4-FFF2-40B4-BE49-F238E27FC236}">
                <a16:creationId xmlns:a16="http://schemas.microsoft.com/office/drawing/2014/main" id="{25554076-208E-2D4E-98A0-7104BCFB2291}"/>
              </a:ext>
            </a:extLst>
          </p:cNvPr>
          <p:cNvSpPr txBox="1"/>
          <p:nvPr/>
        </p:nvSpPr>
        <p:spPr>
          <a:xfrm>
            <a:off x="4549405" y="300620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6/25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35" name="타원 934">
            <a:extLst>
              <a:ext uri="{FF2B5EF4-FFF2-40B4-BE49-F238E27FC236}">
                <a16:creationId xmlns:a16="http://schemas.microsoft.com/office/drawing/2014/main" id="{8DDD785A-C3F5-D2F6-D2DF-E39C56ECCDB5}"/>
              </a:ext>
            </a:extLst>
          </p:cNvPr>
          <p:cNvSpPr/>
          <p:nvPr/>
        </p:nvSpPr>
        <p:spPr>
          <a:xfrm>
            <a:off x="4613273" y="311341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36" name="TextBox 935">
            <a:extLst>
              <a:ext uri="{FF2B5EF4-FFF2-40B4-BE49-F238E27FC236}">
                <a16:creationId xmlns:a16="http://schemas.microsoft.com/office/drawing/2014/main" id="{24E7DB06-4956-2C9F-2C5C-10EA582AA744}"/>
              </a:ext>
            </a:extLst>
          </p:cNvPr>
          <p:cNvSpPr txBox="1"/>
          <p:nvPr/>
        </p:nvSpPr>
        <p:spPr>
          <a:xfrm>
            <a:off x="3777869" y="3213535"/>
            <a:ext cx="22510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2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차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PT</a:t>
            </a: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검토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37" name="TextBox 936">
            <a:extLst>
              <a:ext uri="{FF2B5EF4-FFF2-40B4-BE49-F238E27FC236}">
                <a16:creationId xmlns:a16="http://schemas.microsoft.com/office/drawing/2014/main" id="{37A3A1E0-12AC-7B50-DE74-1737209D33A7}"/>
              </a:ext>
            </a:extLst>
          </p:cNvPr>
          <p:cNvSpPr txBox="1"/>
          <p:nvPr/>
        </p:nvSpPr>
        <p:spPr>
          <a:xfrm>
            <a:off x="3782678" y="300620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4/29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38" name="타원 937">
            <a:extLst>
              <a:ext uri="{FF2B5EF4-FFF2-40B4-BE49-F238E27FC236}">
                <a16:creationId xmlns:a16="http://schemas.microsoft.com/office/drawing/2014/main" id="{F200A528-3D76-7A57-E397-8B52C5FFE822}"/>
              </a:ext>
            </a:extLst>
          </p:cNvPr>
          <p:cNvSpPr/>
          <p:nvPr/>
        </p:nvSpPr>
        <p:spPr>
          <a:xfrm>
            <a:off x="3846546" y="311341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39" name="TextBox 938">
            <a:extLst>
              <a:ext uri="{FF2B5EF4-FFF2-40B4-BE49-F238E27FC236}">
                <a16:creationId xmlns:a16="http://schemas.microsoft.com/office/drawing/2014/main" id="{2A46F76A-2434-ED87-6B33-D4AA80B96C8F}"/>
              </a:ext>
            </a:extLst>
          </p:cNvPr>
          <p:cNvSpPr txBox="1"/>
          <p:nvPr/>
        </p:nvSpPr>
        <p:spPr>
          <a:xfrm>
            <a:off x="4286978" y="3213535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금형품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검증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0" name="TextBox 939">
            <a:extLst>
              <a:ext uri="{FF2B5EF4-FFF2-40B4-BE49-F238E27FC236}">
                <a16:creationId xmlns:a16="http://schemas.microsoft.com/office/drawing/2014/main" id="{4A958156-DFFA-902D-FE6D-CF0A48EE90F2}"/>
              </a:ext>
            </a:extLst>
          </p:cNvPr>
          <p:cNvSpPr txBox="1"/>
          <p:nvPr/>
        </p:nvSpPr>
        <p:spPr>
          <a:xfrm>
            <a:off x="4292590" y="300620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solidFill>
                  <a:prstClr val="black"/>
                </a:solidFill>
                <a:latin typeface="LG스마트체 Regular" panose="020B0600000101010101" pitchFamily="50" charset="-127"/>
                <a:cs typeface="+mn-cs"/>
              </a:rPr>
              <a:t>6/19</a:t>
            </a:r>
            <a:endParaRPr kumimoji="0" lang="en-US" altLang="ko-KR" sz="650" b="0" strike="noStrike" dirty="0">
              <a:solidFill>
                <a:prstClr val="black"/>
              </a:solidFill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41" name="타원 940">
            <a:extLst>
              <a:ext uri="{FF2B5EF4-FFF2-40B4-BE49-F238E27FC236}">
                <a16:creationId xmlns:a16="http://schemas.microsoft.com/office/drawing/2014/main" id="{5744ECE5-EA7A-A12F-239E-AF1B98FEF6F1}"/>
              </a:ext>
            </a:extLst>
          </p:cNvPr>
          <p:cNvSpPr/>
          <p:nvPr/>
        </p:nvSpPr>
        <p:spPr>
          <a:xfrm>
            <a:off x="4356458" y="311341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2" name="TextBox 941">
            <a:extLst>
              <a:ext uri="{FF2B5EF4-FFF2-40B4-BE49-F238E27FC236}">
                <a16:creationId xmlns:a16="http://schemas.microsoft.com/office/drawing/2014/main" id="{2C02DE6C-3A2E-5AC5-2CFB-582BAF5DEED9}"/>
              </a:ext>
            </a:extLst>
          </p:cNvPr>
          <p:cNvSpPr txBox="1"/>
          <p:nvPr/>
        </p:nvSpPr>
        <p:spPr>
          <a:xfrm>
            <a:off x="4360764" y="5016164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파우더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발송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3" name="TextBox 942">
            <a:extLst>
              <a:ext uri="{FF2B5EF4-FFF2-40B4-BE49-F238E27FC236}">
                <a16:creationId xmlns:a16="http://schemas.microsoft.com/office/drawing/2014/main" id="{F326F568-9E36-FA0C-5B21-48E2F3A2FA1D}"/>
              </a:ext>
            </a:extLst>
          </p:cNvPr>
          <p:cNvSpPr txBox="1"/>
          <p:nvPr/>
        </p:nvSpPr>
        <p:spPr>
          <a:xfrm>
            <a:off x="4366373" y="4808834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6/15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44" name="타원 943">
            <a:extLst>
              <a:ext uri="{FF2B5EF4-FFF2-40B4-BE49-F238E27FC236}">
                <a16:creationId xmlns:a16="http://schemas.microsoft.com/office/drawing/2014/main" id="{306FE3C2-CC44-A294-3A72-C39DBCA9BD1B}"/>
              </a:ext>
            </a:extLst>
          </p:cNvPr>
          <p:cNvSpPr/>
          <p:nvPr/>
        </p:nvSpPr>
        <p:spPr>
          <a:xfrm>
            <a:off x="4430241" y="4922502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5" name="TextBox 944">
            <a:extLst>
              <a:ext uri="{FF2B5EF4-FFF2-40B4-BE49-F238E27FC236}">
                <a16:creationId xmlns:a16="http://schemas.microsoft.com/office/drawing/2014/main" id="{B662D4EA-B09F-DD1E-22E8-B1135B948F10}"/>
              </a:ext>
            </a:extLst>
          </p:cNvPr>
          <p:cNvSpPr txBox="1"/>
          <p:nvPr/>
        </p:nvSpPr>
        <p:spPr>
          <a:xfrm>
            <a:off x="4317913" y="275971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초품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완료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6" name="TextBox 945">
            <a:extLst>
              <a:ext uri="{FF2B5EF4-FFF2-40B4-BE49-F238E27FC236}">
                <a16:creationId xmlns:a16="http://schemas.microsoft.com/office/drawing/2014/main" id="{B5AB9215-68B5-A31B-1D4D-E89F5063E47D}"/>
              </a:ext>
            </a:extLst>
          </p:cNvPr>
          <p:cNvSpPr txBox="1"/>
          <p:nvPr/>
        </p:nvSpPr>
        <p:spPr>
          <a:xfrm>
            <a:off x="4290662" y="255238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6/22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47" name="타원 946">
            <a:extLst>
              <a:ext uri="{FF2B5EF4-FFF2-40B4-BE49-F238E27FC236}">
                <a16:creationId xmlns:a16="http://schemas.microsoft.com/office/drawing/2014/main" id="{55D00A26-E5B8-46A9-807B-19717CD41E64}"/>
              </a:ext>
            </a:extLst>
          </p:cNvPr>
          <p:cNvSpPr/>
          <p:nvPr/>
        </p:nvSpPr>
        <p:spPr>
          <a:xfrm>
            <a:off x="4354531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8" name="직사각형 947">
            <a:extLst>
              <a:ext uri="{FF2B5EF4-FFF2-40B4-BE49-F238E27FC236}">
                <a16:creationId xmlns:a16="http://schemas.microsoft.com/office/drawing/2014/main" id="{3EEE816C-8405-FA6C-5F95-310A5BC49D4F}"/>
              </a:ext>
            </a:extLst>
          </p:cNvPr>
          <p:cNvSpPr/>
          <p:nvPr/>
        </p:nvSpPr>
        <p:spPr>
          <a:xfrm>
            <a:off x="6991129" y="2629606"/>
            <a:ext cx="2642248" cy="145961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lIns="14625" tIns="14625" rIns="14625" bIns="14625" anchor="t" anchorCtr="0">
            <a:no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[W12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주차 개발 진척 현황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Pre-CP, CP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중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(~3/18)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퀵존 레인지 디자인 목업보고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(3/18,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목표재료비 달성을 위한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VI Idea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워크숍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(3/23,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endParaRPr kumimoji="0" lang="en-US" altLang="ko-KR" sz="731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신모델 예상 금형개발 리스트</a:t>
            </a:r>
            <a:endParaRPr kumimoji="0" lang="en-US" altLang="ko-KR" sz="731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·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총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77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종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(Next S/In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공용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24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종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Next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월오븐 공용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종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직발주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종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·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총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56.5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(Next S/In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공용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15.1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Next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월오븐 공용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7.6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직발주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0.6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개발일정 단축 감안 대형금형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캐비티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등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선발주 필요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en-US" altLang="ko-KR" sz="731" b="0" strike="sngStrike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4/9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3/23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endParaRPr kumimoji="0" lang="en-US" altLang="ko-KR" sz="731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CAE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를 통한 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FMEA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사전검증 실시</a:t>
            </a: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VPD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활용 인정시험 진행으로</a:t>
            </a:r>
            <a:endParaRPr kumimoji="0" lang="en-US" altLang="ko-KR" sz="731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742950"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DV </a:t>
            </a:r>
            <a:r>
              <a:rPr kumimoji="0" lang="ko-KR" altLang="en-US" sz="731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개발일정 단축</a:t>
            </a:r>
            <a:endParaRPr kumimoji="0" lang="en-US" altLang="ko-KR" sz="731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49" name="TextBox 948">
            <a:extLst>
              <a:ext uri="{FF2B5EF4-FFF2-40B4-BE49-F238E27FC236}">
                <a16:creationId xmlns:a16="http://schemas.microsoft.com/office/drawing/2014/main" id="{184E00BA-EF56-0D6E-E280-3A71F7A08484}"/>
              </a:ext>
            </a:extLst>
          </p:cNvPr>
          <p:cNvSpPr txBox="1"/>
          <p:nvPr/>
        </p:nvSpPr>
        <p:spPr>
          <a:xfrm>
            <a:off x="6838014" y="3688754"/>
            <a:ext cx="297238" cy="273192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marL="139303" indent="-139303" defTabSz="742950" fontAlgn="auto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ü"/>
              <a:tabLst>
                <a:tab pos="2825619" algn="l"/>
              </a:tabLst>
              <a:defRPr/>
            </a:pPr>
            <a:r>
              <a:rPr kumimoji="0" lang="en-US" altLang="ko-KR" sz="1950" b="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en-US" altLang="ko-KR" sz="1950" b="0" dirty="0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51" name="TextBox 950">
            <a:extLst>
              <a:ext uri="{FF2B5EF4-FFF2-40B4-BE49-F238E27FC236}">
                <a16:creationId xmlns:a16="http://schemas.microsoft.com/office/drawing/2014/main" id="{90F7DDA9-55CF-0116-716A-669275157F76}"/>
              </a:ext>
            </a:extLst>
          </p:cNvPr>
          <p:cNvSpPr txBox="1"/>
          <p:nvPr/>
        </p:nvSpPr>
        <p:spPr>
          <a:xfrm>
            <a:off x="2927583" y="2759715"/>
            <a:ext cx="160982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구조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구성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52" name="TextBox 951">
            <a:extLst>
              <a:ext uri="{FF2B5EF4-FFF2-40B4-BE49-F238E27FC236}">
                <a16:creationId xmlns:a16="http://schemas.microsoft.com/office/drawing/2014/main" id="{E18DD751-B0A6-6D18-72F7-099294D95A45}"/>
              </a:ext>
            </a:extLst>
          </p:cNvPr>
          <p:cNvSpPr txBox="1"/>
          <p:nvPr/>
        </p:nvSpPr>
        <p:spPr>
          <a:xfrm>
            <a:off x="2900333" y="255238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3/27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BACB03F2-A86E-2AA2-72B4-4A251157FA09}"/>
              </a:ext>
            </a:extLst>
          </p:cNvPr>
          <p:cNvSpPr/>
          <p:nvPr/>
        </p:nvSpPr>
        <p:spPr>
          <a:xfrm>
            <a:off x="2964201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54" name="TextBox 953">
            <a:extLst>
              <a:ext uri="{FF2B5EF4-FFF2-40B4-BE49-F238E27FC236}">
                <a16:creationId xmlns:a16="http://schemas.microsoft.com/office/drawing/2014/main" id="{6E42356D-4E21-53D3-CC66-C8566E40D930}"/>
              </a:ext>
            </a:extLst>
          </p:cNvPr>
          <p:cNvSpPr txBox="1"/>
          <p:nvPr/>
        </p:nvSpPr>
        <p:spPr>
          <a:xfrm>
            <a:off x="2664714" y="2759715"/>
            <a:ext cx="226706" cy="170793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시방서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defTabSz="742950" fontAlgn="auto"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입수</a:t>
            </a:r>
            <a:endParaRPr kumimoji="0" lang="en-US" altLang="ko-KR" sz="569" b="0" dirty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55" name="TextBox 954">
            <a:extLst>
              <a:ext uri="{FF2B5EF4-FFF2-40B4-BE49-F238E27FC236}">
                <a16:creationId xmlns:a16="http://schemas.microsoft.com/office/drawing/2014/main" id="{43DDEE3B-730D-6566-B3A3-DF08D1F1C3BE}"/>
              </a:ext>
            </a:extLst>
          </p:cNvPr>
          <p:cNvSpPr txBox="1"/>
          <p:nvPr/>
        </p:nvSpPr>
        <p:spPr>
          <a:xfrm>
            <a:off x="2670325" y="2552385"/>
            <a:ext cx="215484" cy="110776"/>
          </a:xfrm>
          <a:prstGeom prst="rect">
            <a:avLst/>
          </a:prstGeom>
          <a:noFill/>
        </p:spPr>
        <p:txBody>
          <a:bodyPr wrap="none" lIns="14625" tIns="14625" rIns="14625" bIns="14625" rtlCol="0" anchor="b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70000"/>
              </a:lnSpc>
              <a:tabLst>
                <a:tab pos="3477445" algn="l"/>
              </a:tabLst>
              <a:defRPr sz="700" strike="sngStrike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424" algn="l"/>
              </a:tabLst>
              <a:defRPr/>
            </a:pPr>
            <a:r>
              <a:rPr kumimoji="0" lang="en-US" altLang="ko-KR" sz="650" b="0" strike="noStrike">
                <a:latin typeface="LG스마트체 Regular" panose="020B0600000101010101" pitchFamily="50" charset="-127"/>
                <a:cs typeface="+mn-cs"/>
              </a:rPr>
              <a:t>3/23</a:t>
            </a:r>
            <a:endParaRPr kumimoji="0" lang="en-US" altLang="ko-KR" sz="650" b="0" strike="noStrike" dirty="0">
              <a:latin typeface="LG스마트체 Regular" panose="020B0600000101010101" pitchFamily="50" charset="-127"/>
              <a:cs typeface="+mn-cs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0C58466A-E9E1-971E-60BF-AE137781BC0E}"/>
              </a:ext>
            </a:extLst>
          </p:cNvPr>
          <p:cNvSpPr/>
          <p:nvPr/>
        </p:nvSpPr>
        <p:spPr>
          <a:xfrm>
            <a:off x="2734194" y="2659593"/>
            <a:ext cx="87748" cy="87947"/>
          </a:xfrm>
          <a:prstGeom prst="ellipse">
            <a:avLst/>
          </a:prstGeom>
          <a:solidFill>
            <a:schemeClr val="bg1"/>
          </a:solidFill>
          <a:ln w="635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31" b="0" kern="0" dirty="0">
              <a:solidFill>
                <a:srgbClr val="FFFF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57" name="이등변 삼각형 956">
            <a:extLst>
              <a:ext uri="{FF2B5EF4-FFF2-40B4-BE49-F238E27FC236}">
                <a16:creationId xmlns:a16="http://schemas.microsoft.com/office/drawing/2014/main" id="{574AB6CF-8188-5DB3-FD48-12A065C1700A}"/>
              </a:ext>
            </a:extLst>
          </p:cNvPr>
          <p:cNvSpPr/>
          <p:nvPr/>
        </p:nvSpPr>
        <p:spPr>
          <a:xfrm rot="10800000">
            <a:off x="2449867" y="1475718"/>
            <a:ext cx="70712" cy="60959"/>
          </a:xfrm>
          <a:prstGeom prst="triangl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D745F00F-D13D-5354-ACCA-E7410A9365F8}"/>
              </a:ext>
            </a:extLst>
          </p:cNvPr>
          <p:cNvSpPr/>
          <p:nvPr/>
        </p:nvSpPr>
        <p:spPr>
          <a:xfrm>
            <a:off x="9098706" y="1604975"/>
            <a:ext cx="616235" cy="163611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 </a:t>
            </a:r>
            <a:r>
              <a:rPr kumimoji="0" lang="ko-KR" altLang="en-US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일요일만 제외</a:t>
            </a:r>
            <a:endParaRPr kumimoji="0" lang="en-US" altLang="ko-KR" sz="528" b="0">
              <a:solidFill>
                <a:prstClr val="white">
                  <a:lumMod val="50000"/>
                </a:prst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토요일</a:t>
            </a:r>
            <a:r>
              <a:rPr kumimoji="0" lang="en-US" altLang="ko-KR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공휴일 근무</a:t>
            </a:r>
            <a:endParaRPr kumimoji="0" lang="en-US" altLang="ko-KR" sz="528" b="0" dirty="0">
              <a:solidFill>
                <a:prstClr val="white">
                  <a:lumMod val="50000"/>
                </a:prst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C924A6D-C515-0B51-E471-01B71796514B}"/>
              </a:ext>
            </a:extLst>
          </p:cNvPr>
          <p:cNvSpPr txBox="1"/>
          <p:nvPr/>
        </p:nvSpPr>
        <p:spPr>
          <a:xfrm>
            <a:off x="2893581" y="1861403"/>
            <a:ext cx="166712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195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왼쪽 대괄호 26">
            <a:extLst>
              <a:ext uri="{FF2B5EF4-FFF2-40B4-BE49-F238E27FC236}">
                <a16:creationId xmlns:a16="http://schemas.microsoft.com/office/drawing/2014/main" id="{EEF69B8E-FDA3-508A-A347-09DD9AB33530}"/>
              </a:ext>
            </a:extLst>
          </p:cNvPr>
          <p:cNvSpPr/>
          <p:nvPr/>
        </p:nvSpPr>
        <p:spPr>
          <a:xfrm rot="5400000" flipH="1">
            <a:off x="2711819" y="63128"/>
            <a:ext cx="54220" cy="3478712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4B5CA3-A2C3-8062-6C67-66E0E73F50A4}"/>
              </a:ext>
            </a:extLst>
          </p:cNvPr>
          <p:cNvSpPr txBox="1"/>
          <p:nvPr/>
        </p:nvSpPr>
        <p:spPr>
          <a:xfrm>
            <a:off x="2893581" y="1948809"/>
            <a:ext cx="166712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106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8" name="왼쪽 대괄호 47">
            <a:extLst>
              <a:ext uri="{FF2B5EF4-FFF2-40B4-BE49-F238E27FC236}">
                <a16:creationId xmlns:a16="http://schemas.microsoft.com/office/drawing/2014/main" id="{64476A9B-2A95-E105-2F85-AB448B299388}"/>
              </a:ext>
            </a:extLst>
          </p:cNvPr>
          <p:cNvSpPr/>
          <p:nvPr/>
        </p:nvSpPr>
        <p:spPr>
          <a:xfrm rot="5400000" flipH="1">
            <a:off x="6302901" y="32150"/>
            <a:ext cx="66314" cy="3528571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9D69E7D-F773-0760-9715-F1C2EC900130}"/>
              </a:ext>
            </a:extLst>
          </p:cNvPr>
          <p:cNvSpPr txBox="1"/>
          <p:nvPr/>
        </p:nvSpPr>
        <p:spPr>
          <a:xfrm>
            <a:off x="5567397" y="1861403"/>
            <a:ext cx="166712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200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F1D54F4-D16E-7C5C-9F84-7B2C6EC03230}"/>
              </a:ext>
            </a:extLst>
          </p:cNvPr>
          <p:cNvSpPr txBox="1"/>
          <p:nvPr/>
        </p:nvSpPr>
        <p:spPr>
          <a:xfrm>
            <a:off x="5567397" y="1948809"/>
            <a:ext cx="166712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109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76A0201-2435-AFEB-D6E1-1E306C35D98A}"/>
              </a:ext>
            </a:extLst>
          </p:cNvPr>
          <p:cNvSpPr txBox="1"/>
          <p:nvPr/>
        </p:nvSpPr>
        <p:spPr>
          <a:xfrm>
            <a:off x="8208652" y="1861403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9A0A53E-C2C0-F0A1-F2F7-460999B374F3}"/>
              </a:ext>
            </a:extLst>
          </p:cNvPr>
          <p:cNvSpPr txBox="1"/>
          <p:nvPr/>
        </p:nvSpPr>
        <p:spPr>
          <a:xfrm>
            <a:off x="8225484" y="1948809"/>
            <a:ext cx="99386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8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94F0EA4-3C7D-37F6-5C57-AF51CBD242E3}"/>
              </a:ext>
            </a:extLst>
          </p:cNvPr>
          <p:cNvSpPr txBox="1"/>
          <p:nvPr/>
        </p:nvSpPr>
        <p:spPr>
          <a:xfrm>
            <a:off x="8537709" y="1861403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30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968B07A-7AA9-F31D-A12D-6E1CF780782A}"/>
              </a:ext>
            </a:extLst>
          </p:cNvPr>
          <p:cNvSpPr txBox="1"/>
          <p:nvPr/>
        </p:nvSpPr>
        <p:spPr>
          <a:xfrm>
            <a:off x="8537709" y="1948809"/>
            <a:ext cx="133050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17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9832356-4DA4-40AB-D5B0-A545223E866B}"/>
              </a:ext>
            </a:extLst>
          </p:cNvPr>
          <p:cNvSpPr txBox="1"/>
          <p:nvPr/>
        </p:nvSpPr>
        <p:spPr>
          <a:xfrm>
            <a:off x="2614151" y="1861403"/>
            <a:ext cx="169918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표준</a:t>
            </a: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598517B-1314-C324-E257-04E7B4CA93C2}"/>
              </a:ext>
            </a:extLst>
          </p:cNvPr>
          <p:cNvSpPr txBox="1"/>
          <p:nvPr/>
        </p:nvSpPr>
        <p:spPr>
          <a:xfrm>
            <a:off x="2614151" y="1948809"/>
            <a:ext cx="169918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단축</a:t>
            </a: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950" name="그림 949" descr="텍스트, 스크린샷, 번호, 폰트이(가) 표시된 사진&#10;&#10;자동 생성된 설명">
            <a:extLst>
              <a:ext uri="{FF2B5EF4-FFF2-40B4-BE49-F238E27FC236}">
                <a16:creationId xmlns:a16="http://schemas.microsoft.com/office/drawing/2014/main" id="{3D64FB2D-52A4-5837-8D78-670065B9D91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4334" y="5293952"/>
            <a:ext cx="2379088" cy="747152"/>
          </a:xfrm>
          <a:prstGeom prst="rect">
            <a:avLst/>
          </a:prstGeom>
        </p:spPr>
      </p:pic>
      <p:sp>
        <p:nvSpPr>
          <p:cNvPr id="959" name="왼쪽 대괄호 958">
            <a:extLst>
              <a:ext uri="{FF2B5EF4-FFF2-40B4-BE49-F238E27FC236}">
                <a16:creationId xmlns:a16="http://schemas.microsoft.com/office/drawing/2014/main" id="{CDE1E974-ECAD-71E1-F278-DD2C4C5D19DA}"/>
              </a:ext>
            </a:extLst>
          </p:cNvPr>
          <p:cNvSpPr/>
          <p:nvPr/>
        </p:nvSpPr>
        <p:spPr>
          <a:xfrm rot="5400000">
            <a:off x="3968594" y="1061884"/>
            <a:ext cx="66395" cy="2356441"/>
          </a:xfrm>
          <a:prstGeom prst="leftBracket">
            <a:avLst>
              <a:gd name="adj" fmla="val 106855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102CB31-F335-E1DF-676C-8A5CE1890F70}"/>
              </a:ext>
            </a:extLst>
          </p:cNvPr>
          <p:cNvSpPr/>
          <p:nvPr/>
        </p:nvSpPr>
        <p:spPr>
          <a:xfrm>
            <a:off x="6571605" y="2351902"/>
            <a:ext cx="555321" cy="98594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 </a:t>
            </a:r>
            <a:r>
              <a:rPr kumimoji="0" lang="ko-KR" altLang="en-US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r>
              <a:rPr kumimoji="0" lang="ko-KR" altLang="en-US" sz="528" b="0"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회 특근 진행시</a:t>
            </a:r>
            <a:endParaRPr kumimoji="0" lang="en-US" altLang="ko-KR" sz="528" b="0" dirty="0">
              <a:solidFill>
                <a:prstClr val="white">
                  <a:lumMod val="50000"/>
                </a:prst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94A5D8B-30A0-DAC6-724F-1DC45C4CA474}"/>
              </a:ext>
            </a:extLst>
          </p:cNvPr>
          <p:cNvSpPr txBox="1"/>
          <p:nvPr/>
        </p:nvSpPr>
        <p:spPr>
          <a:xfrm>
            <a:off x="1856116" y="2127799"/>
            <a:ext cx="166712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150</a:t>
            </a:r>
            <a:r>
              <a:rPr kumimoji="0" lang="ko-KR" altLang="en-US" sz="569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6" name="TextBox 455">
            <a:extLst>
              <a:ext uri="{FF2B5EF4-FFF2-40B4-BE49-F238E27FC236}">
                <a16:creationId xmlns:a16="http://schemas.microsoft.com/office/drawing/2014/main" id="{1C4E1281-0260-4402-4A59-038B8D4ED374}"/>
              </a:ext>
            </a:extLst>
          </p:cNvPr>
          <p:cNvSpPr txBox="1"/>
          <p:nvPr/>
        </p:nvSpPr>
        <p:spPr>
          <a:xfrm>
            <a:off x="8986538" y="1861403"/>
            <a:ext cx="397545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Total 14.7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개월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6F8324C0-7AAA-8782-D8A3-3510849D1B3C}"/>
              </a:ext>
            </a:extLst>
          </p:cNvPr>
          <p:cNvSpPr txBox="1"/>
          <p:nvPr/>
        </p:nvSpPr>
        <p:spPr>
          <a:xfrm>
            <a:off x="9028216" y="1948809"/>
            <a:ext cx="314189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Total 8</a:t>
            </a: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개월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5F59C90-10B1-2FB8-2F27-CE73763754B6}"/>
              </a:ext>
            </a:extLst>
          </p:cNvPr>
          <p:cNvSpPr txBox="1"/>
          <p:nvPr/>
        </p:nvSpPr>
        <p:spPr>
          <a:xfrm>
            <a:off x="768847" y="2614107"/>
            <a:ext cx="1284687" cy="1343357"/>
          </a:xfrm>
          <a:prstGeom prst="rect">
            <a:avLst/>
          </a:prstGeom>
          <a:noFill/>
        </p:spPr>
        <p:txBody>
          <a:bodyPr wrap="none" lIns="14625" tIns="14625" rIns="14625" bIns="14625" rtlCol="0" anchor="t" anchorCtr="0">
            <a:spAutoFit/>
          </a:bodyPr>
          <a:lstStyle>
            <a:defPPr>
              <a:defRPr lang="ko-KR"/>
            </a:defPPr>
            <a:lvl1pPr algn="ctr" latinLnBrk="0">
              <a:lnSpc>
                <a:spcPct val="80000"/>
              </a:lnSpc>
              <a:tabLst>
                <a:tab pos="3477685" algn="l"/>
              </a:tabLst>
              <a:defRPr sz="800">
                <a:solidFill>
                  <a:srgbClr val="000000"/>
                </a:solidFill>
                <a:latin typeface="Arial Narrow" panose="020B0606020202030204" pitchFamily="34" charset="0"/>
                <a:ea typeface="+mn-ea"/>
              </a:defRPr>
            </a:lvl1pPr>
          </a:lstStyle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주요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  <a:hlinkClick r:id="rId4" action="ppaction://hlinksldjump"/>
              </a:rPr>
              <a:t>변경점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캐비티 용량 변경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신규 플랫폼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· 3.0/4.3 Cu.Ft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→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2.0/5.1 Cu.Ft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디자인 변경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쿡탑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컨트롤러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도어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· Edge to Edge Cooktop Glass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·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사각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Controller +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경사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Display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· Wide View Door Glass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· New Design Knob, Vent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  · Upper) Flat Inner Glass Door Design</a:t>
            </a: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퀵존 특화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Accessory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적용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쾌속 셀프클린 법랑기술 적용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- 6.8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인치 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LCD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적용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Lower)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인버터 프로베이크 적용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Upper)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듀얼 팬 컨백션 적용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algn="l" defTabSz="74295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>
                <a:tab pos="2825619" algn="l"/>
              </a:tabLst>
              <a:defRPr/>
            </a:pP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에어프라이</a:t>
            </a:r>
            <a:r>
              <a:rPr kumimoji="0" lang="en-US" altLang="ko-KR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569" b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피자 특화 조리모드 제공</a:t>
            </a:r>
            <a:endParaRPr kumimoji="0" lang="en-US" altLang="ko-KR" sz="569" b="0"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18F23B7-B178-559F-01A5-A22568B4F07F}"/>
              </a:ext>
            </a:extLst>
          </p:cNvPr>
          <p:cNvSpPr/>
          <p:nvPr/>
        </p:nvSpPr>
        <p:spPr>
          <a:xfrm>
            <a:off x="6281819" y="2486817"/>
            <a:ext cx="180218" cy="98594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D-190</a:t>
            </a:r>
            <a:endParaRPr kumimoji="0" lang="en-US" altLang="ko-KR" sz="528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7" name="직사각형 926">
            <a:extLst>
              <a:ext uri="{FF2B5EF4-FFF2-40B4-BE49-F238E27FC236}">
                <a16:creationId xmlns:a16="http://schemas.microsoft.com/office/drawing/2014/main" id="{9FC7E368-6A8C-D007-3477-B909F1502E04}"/>
              </a:ext>
            </a:extLst>
          </p:cNvPr>
          <p:cNvSpPr/>
          <p:nvPr/>
        </p:nvSpPr>
        <p:spPr>
          <a:xfrm>
            <a:off x="7458677" y="2173179"/>
            <a:ext cx="443111" cy="163611"/>
          </a:xfrm>
          <a:prstGeom prst="rect">
            <a:avLst/>
          </a:prstGeom>
        </p:spPr>
        <p:txBody>
          <a:bodyPr wrap="none" lIns="14625" tIns="14625" rIns="14625" bIns="14625" anchor="ctr" anchorCtr="0">
            <a:spAutoFit/>
          </a:bodyPr>
          <a:lstStyle/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금형 제작시</a:t>
            </a:r>
            <a:endParaRPr kumimoji="0" lang="en-US" altLang="ko-KR" sz="528" b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algn="ctr" defTabSz="742950" font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DV</a:t>
            </a:r>
            <a:r>
              <a:rPr kumimoji="0" lang="ko-KR" altLang="en-US" sz="528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시험 진행 중</a:t>
            </a:r>
            <a:endParaRPr kumimoji="0" lang="en-US" altLang="ko-KR" sz="528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9" name="실행 단추: 끝으로 이동 458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3CC3D128-4FA3-8FD6-28CC-80B513E7ECF0}"/>
              </a:ext>
            </a:extLst>
          </p:cNvPr>
          <p:cNvSpPr/>
          <p:nvPr/>
        </p:nvSpPr>
        <p:spPr>
          <a:xfrm>
            <a:off x="1150666" y="2349982"/>
            <a:ext cx="129101" cy="129101"/>
          </a:xfrm>
          <a:prstGeom prst="actionButtonEnd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1463" b="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0" name="TextBox 459">
            <a:extLst>
              <a:ext uri="{FF2B5EF4-FFF2-40B4-BE49-F238E27FC236}">
                <a16:creationId xmlns:a16="http://schemas.microsoft.com/office/drawing/2014/main" id="{CF378C3F-6CEC-8FA2-7E9B-4E0BCA348CFC}"/>
              </a:ext>
            </a:extLst>
          </p:cNvPr>
          <p:cNvSpPr txBox="1"/>
          <p:nvPr/>
        </p:nvSpPr>
        <p:spPr>
          <a:xfrm>
            <a:off x="1312180" y="2415166"/>
            <a:ext cx="301365" cy="7066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742950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tabLst>
                <a:tab pos="2825565" algn="l"/>
              </a:tabLst>
            </a:pPr>
            <a:r>
              <a:rPr kumimoji="0" lang="ko-KR" altLang="en-US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제품 </a:t>
            </a:r>
            <a:r>
              <a:rPr kumimoji="0" lang="en-US" altLang="ko-KR" sz="569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Spec.</a:t>
            </a:r>
            <a:endParaRPr kumimoji="0" lang="en-US" altLang="ko-KR" sz="569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62" name="제목 3">
            <a:extLst>
              <a:ext uri="{FF2B5EF4-FFF2-40B4-BE49-F238E27FC236}">
                <a16:creationId xmlns:a16="http://schemas.microsoft.com/office/drawing/2014/main" id="{30A57D9E-0274-8668-EC40-5C9EE3A23849}"/>
              </a:ext>
            </a:extLst>
          </p:cNvPr>
          <p:cNvSpPr txBox="1">
            <a:spLocks/>
          </p:cNvSpPr>
          <p:nvPr/>
        </p:nvSpPr>
        <p:spPr>
          <a:xfrm>
            <a:off x="177572" y="156572"/>
            <a:ext cx="3197991" cy="225062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2000" b="1" kern="12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j-cs"/>
              </a:defRPr>
            </a:lvl1pPr>
          </a:lstStyle>
          <a:p>
            <a:pPr defTabSz="742950">
              <a:defRPr/>
            </a:pPr>
            <a:r>
              <a:rPr lang="en-US" altLang="ko-KR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[</a:t>
            </a:r>
            <a:r>
              <a:rPr lang="ko-KR" altLang="en-US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개발일정</a:t>
            </a:r>
            <a:r>
              <a:rPr lang="en-US" altLang="ko-KR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] </a:t>
            </a:r>
            <a:r>
              <a:rPr lang="ko-KR" altLang="en-US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퀵존 레인지 </a:t>
            </a:r>
            <a:r>
              <a:rPr lang="en-US" altLang="ko-KR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(A</a:t>
            </a:r>
            <a:r>
              <a:rPr lang="ko-KR" altLang="en-US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급</a:t>
            </a:r>
            <a:r>
              <a:rPr lang="en-US" altLang="ko-KR" sz="1625">
                <a:solidFill>
                  <a:srgbClr val="000000"/>
                </a:solidFill>
                <a:latin typeface="LG스마트체 Regular" panose="020B0600000101010101" pitchFamily="50" charset="-127"/>
              </a:rPr>
              <a:t>, IH Best)</a:t>
            </a:r>
          </a:p>
        </p:txBody>
      </p:sp>
      <p:sp>
        <p:nvSpPr>
          <p:cNvPr id="466" name="Text Box 14">
            <a:hlinkClick r:id="" action="ppaction://noaction"/>
            <a:extLst>
              <a:ext uri="{FF2B5EF4-FFF2-40B4-BE49-F238E27FC236}">
                <a16:creationId xmlns:a16="http://schemas.microsoft.com/office/drawing/2014/main" id="{1751DD27-6B46-C211-EA0B-8D124382B2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9541" y="5998494"/>
            <a:ext cx="182742" cy="13760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eaLnBrk="0" fontAlgn="auto" hangingPunct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q"/>
              <a:defRPr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</a:lstStyle>
          <a:p>
            <a:pPr algn="ctr" defTabSz="742950">
              <a:buNone/>
            </a:pPr>
            <a:r>
              <a:rPr kumimoji="0" lang="en-US" altLang="ko-KR" sz="894" b="0"/>
              <a:t>5 / 8</a:t>
            </a:r>
            <a:endParaRPr kumimoji="0" lang="en-US" altLang="ko-KR" sz="894" b="0" dirty="0"/>
          </a:p>
        </p:txBody>
      </p:sp>
      <p:pic>
        <p:nvPicPr>
          <p:cNvPr id="452" name="그림 451">
            <a:extLst>
              <a:ext uri="{FF2B5EF4-FFF2-40B4-BE49-F238E27FC236}">
                <a16:creationId xmlns:a16="http://schemas.microsoft.com/office/drawing/2014/main" id="{9830600F-9146-16C3-9E6A-E09CF826748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61880" y="6926676"/>
            <a:ext cx="3308971" cy="177902"/>
          </a:xfrm>
          <a:prstGeom prst="rect">
            <a:avLst/>
          </a:prstGeom>
        </p:spPr>
      </p:pic>
      <p:pic>
        <p:nvPicPr>
          <p:cNvPr id="461" name="그림 460">
            <a:extLst>
              <a:ext uri="{FF2B5EF4-FFF2-40B4-BE49-F238E27FC236}">
                <a16:creationId xmlns:a16="http://schemas.microsoft.com/office/drawing/2014/main" id="{6D05218F-2D24-A38F-3565-C6835AB6573F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59716" y="7121128"/>
            <a:ext cx="3306450" cy="166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412394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49449E0-4DF1-4EAE-929F-E750FED0D67E}"/>
              </a:ext>
            </a:extLst>
          </p:cNvPr>
          <p:cNvGraphicFramePr>
            <a:graphicFrameLocks noGrp="1"/>
          </p:cNvGraphicFramePr>
          <p:nvPr/>
        </p:nvGraphicFramePr>
        <p:xfrm>
          <a:off x="69653" y="700925"/>
          <a:ext cx="9768694" cy="54755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6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81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81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08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381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058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03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5494">
                  <a:extLst>
                    <a:ext uri="{9D8B030D-6E8A-4147-A177-3AD203B41FA5}">
                      <a16:colId xmlns:a16="http://schemas.microsoft.com/office/drawing/2014/main" val="259084349"/>
                    </a:ext>
                  </a:extLst>
                </a:gridCol>
                <a:gridCol w="6576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48267">
                  <a:extLst>
                    <a:ext uri="{9D8B030D-6E8A-4147-A177-3AD203B41FA5}">
                      <a16:colId xmlns:a16="http://schemas.microsoft.com/office/drawing/2014/main" val="2736646717"/>
                    </a:ext>
                  </a:extLst>
                </a:gridCol>
                <a:gridCol w="18719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65442">
                  <a:extLst>
                    <a:ext uri="{9D8B030D-6E8A-4147-A177-3AD203B41FA5}">
                      <a16:colId xmlns:a16="http://schemas.microsoft.com/office/drawing/2014/main" val="4292325299"/>
                    </a:ext>
                  </a:extLst>
                </a:gridCol>
                <a:gridCol w="32407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372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46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0588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98923">
                <a:tc rowSpan="3" gridSpan="9">
                  <a:txBody>
                    <a:bodyPr/>
                    <a:lstStyle/>
                    <a:p>
                      <a:pPr algn="ctr" latinLnBrk="1"/>
                      <a:r>
                        <a:rPr lang="ko-KR" altLang="en-US" sz="20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 업 요 구 조 건 서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 sz="1000" baseline="0" dirty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 sz="1000" baseline="0" dirty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 sz="1000" baseline="0" dirty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 sz="1000" baseline="0" dirty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24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작성일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팀장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923">
                <a:tc gridSpan="9" vMerge="1">
                  <a:txBody>
                    <a:bodyPr/>
                    <a:lstStyle/>
                    <a:p>
                      <a:pPr latinLnBrk="1"/>
                      <a:endParaRPr lang="ko-KR" altLang="en-US" sz="1000" baseline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1000" baseline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1000" baseline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1000" baseline="0" dirty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1000" baseline="0" dirty="0"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’25.01.26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영업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이영호 책임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김정훈 책임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923">
                <a:tc gridSpan="9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en-US" altLang="ko-KR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이종현 선임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정의수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책임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 구분 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개발모델명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슬라이드인 </a:t>
                      </a:r>
                      <a:r>
                        <a:rPr lang="en-US" altLang="ko-KR" sz="8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Quick Zone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인덕션</a:t>
                      </a:r>
                      <a:r>
                        <a:rPr lang="ko-KR" altLang="en-US" sz="8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Best / </a:t>
                      </a:r>
                      <a:r>
                        <a:rPr lang="ko-KR" altLang="en-US" sz="8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전기 </a:t>
                      </a:r>
                      <a:r>
                        <a:rPr lang="en-US" altLang="ko-KR" sz="8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개발등급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급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목적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gridSpan="10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개발일정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입력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입력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Pre-MP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출시 일정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영업 요구 일정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’26.05.30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’26.06.30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‘26.09.24</a:t>
                      </a:r>
                      <a:endParaRPr lang="ko-KR" altLang="en-US" sz="800" b="1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`26.12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셀인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gridSpan="11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의견 일정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‘26.05.30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’26.06.30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‘26.09.24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`26.12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셀인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 협의 일정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’26.05.30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’26.06.30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‘26.09.24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`26.12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셀인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   부   내   용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바이어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유통 대상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생산지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창원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플랫폼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플랫폼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 Brand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Target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시장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High,           Mid,           Low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출시 지역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미국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 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Type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 </a:t>
                      </a:r>
                      <a:r>
                        <a:rPr lang="en-US" altLang="ko-KR" sz="10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Type</a:t>
                      </a:r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30” Range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7335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경쟁사 동향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charset="0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charset="0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8923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손익 분석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6842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기본 모델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6842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모델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Years Sales Forecast (set, net sales)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2432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l" defTabSz="6842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gridSpan="3">
                  <a:txBody>
                    <a:bodyPr/>
                    <a:lstStyle/>
                    <a:p>
                      <a:pPr marL="0" marR="0" lvl="0" indent="0" algn="l" defTabSz="6842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Y(12M)</a:t>
                      </a:r>
                      <a:endParaRPr lang="ko-KR" altLang="en-US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Y(12M)</a:t>
                      </a:r>
                      <a:endParaRPr lang="ko-KR" altLang="en-US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7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Y+1</a:t>
                      </a:r>
                      <a:endParaRPr lang="ko-KR" altLang="en-US" sz="120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Y+1</a:t>
                      </a:r>
                      <a:endParaRPr lang="ko-KR" altLang="en-US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Y+1</a:t>
                      </a:r>
                      <a:endParaRPr lang="ko-KR" altLang="en-US"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Y+2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Y+2</a:t>
                      </a:r>
                      <a:endParaRPr lang="ko-KR" altLang="en-US"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298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Set(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18.8K</a:t>
                      </a:r>
                      <a:r>
                        <a:rPr lang="ko-KR" altLang="en-US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endParaRPr lang="en-US" altLang="ko-KR" sz="700" b="1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11.9K,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6.9K)</a:t>
                      </a:r>
                      <a:endParaRPr lang="ko-KR" altLang="en-US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18.8K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11.9K,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6.9K)</a:t>
                      </a:r>
                      <a:endParaRPr lang="ko-KR" altLang="en-US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21.1K</a:t>
                      </a:r>
                      <a:r>
                        <a:rPr lang="ko-KR" altLang="en-US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endParaRPr lang="en-US" altLang="ko-KR" sz="700" b="1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13.4K,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7.7K)</a:t>
                      </a:r>
                      <a:endParaRPr lang="ko-KR" altLang="en-US" sz="120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20.7K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13.1K,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7.6K)</a:t>
                      </a:r>
                      <a:endParaRPr lang="ko-KR" altLang="en-US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23.6K</a:t>
                      </a:r>
                      <a:r>
                        <a:rPr lang="ko-KR" altLang="en-US" sz="7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</a:p>
                    <a:p>
                      <a:pPr algn="ctr" latinLnBrk="1"/>
                      <a:r>
                        <a:rPr lang="en-US" altLang="ko-KR" sz="7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15.0K, Better 8.7K)</a:t>
                      </a:r>
                      <a:endParaRPr lang="en-US" altLang="ko-KR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더블 슬라이드인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M/S</a:t>
                      </a:r>
                    </a:p>
                    <a:p>
                      <a:pPr algn="ctr" latinLnBrk="1"/>
                      <a:endParaRPr lang="en-US" altLang="ko-KR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17%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31%</a:t>
                      </a:r>
                    </a:p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Y+1</a:t>
                      </a:r>
                      <a:r>
                        <a:rPr lang="ko-KR" altLang="en-US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33%</a:t>
                      </a:r>
                    </a:p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Y+2 35%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7721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Net sales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(M$)</a:t>
                      </a:r>
                      <a:endParaRPr lang="ko-KR" altLang="en-US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39.8M$</a:t>
                      </a:r>
                    </a:p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 25.5M,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14.2M)</a:t>
                      </a:r>
                      <a:endParaRPr lang="ko-KR" altLang="en-US" sz="7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41.8M$</a:t>
                      </a: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 26.8M,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15.0M)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44.5M$</a:t>
                      </a:r>
                    </a:p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28.6M,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15.9M)</a:t>
                      </a:r>
                      <a:endParaRPr lang="ko-KR" altLang="en-US" sz="120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46.0M$</a:t>
                      </a: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29.5M,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16.5M)</a:t>
                      </a:r>
                      <a:endParaRPr lang="ko-KR" altLang="en-US" sz="9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51.2M$</a:t>
                      </a:r>
                    </a:p>
                    <a:p>
                      <a:pPr algn="ctr" latinLnBrk="1"/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(Best 32.9M,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 18.3M)</a:t>
                      </a:r>
                      <a:endParaRPr lang="en-US" altLang="ko-KR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76058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Specification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 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디자인 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제어 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USP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Sales Point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Inverter </a:t>
                      </a:r>
                      <a:r>
                        <a:rPr lang="en-US" altLang="ko-KR" sz="800" b="1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Probake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특화 조리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Speed Self cleaning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싱글 대비 빠르고 더블 대비 효율적인 ‘시장에 없던 신규 카테고리’ 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Quick Zone 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데일리 오븐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89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MKT Plan</a:t>
                      </a:r>
                      <a:endParaRPr lang="ko-KR" altLang="en-US" sz="8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6"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매일 쓰는 데일리 오븐 메시지 중심으로 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Quick Zone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속도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간편함</a:t>
                      </a:r>
                      <a:r>
                        <a:rPr lang="en-US" altLang="ko-KR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동시조리 경험 등을 강조해 레인지와 소형가전 수요 동시에 흡수하는 마케팅 전개</a:t>
                      </a:r>
                    </a:p>
                  </a:txBody>
                  <a:tcPr marL="74295" marR="74295" marT="37148" marB="3714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 Smart_Korean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D996BBD-D28D-4185-A92E-95CF347B94CA}"/>
              </a:ext>
            </a:extLst>
          </p:cNvPr>
          <p:cNvGraphicFramePr>
            <a:graphicFrameLocks noGrp="1"/>
          </p:cNvGraphicFramePr>
          <p:nvPr/>
        </p:nvGraphicFramePr>
        <p:xfrm>
          <a:off x="5584220" y="1831691"/>
          <a:ext cx="2754331" cy="5479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38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175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95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소요일정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95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인쇄물 번역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※ 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플랫폼이 해당 국가에 첫 런칭하는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95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도입자재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120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ko-KR" altLang="en-US" sz="7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※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쿡탑의 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세라믹 글라스 인쇄 변경 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경우 </a:t>
                      </a:r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120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95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※ 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비규격 지역은 해당없음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95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Color 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박스 </a:t>
                      </a:r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POP</a:t>
                      </a:r>
                      <a:endParaRPr lang="ko-KR" altLang="en-US" sz="7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</a:t>
                      </a:r>
                      <a:r>
                        <a:rPr lang="ko-KR" altLang="en-US" sz="7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※ Pitco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 시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그 외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endParaRPr lang="ko-KR" altLang="en-US" sz="7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B92FF80-D320-430A-8651-56C958A1825B}"/>
              </a:ext>
            </a:extLst>
          </p:cNvPr>
          <p:cNvSpPr txBox="1"/>
          <p:nvPr/>
        </p:nvSpPr>
        <p:spPr>
          <a:xfrm>
            <a:off x="4498566" y="1847502"/>
            <a:ext cx="1151277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650" b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우측 항목에 대한</a:t>
            </a:r>
            <a:endParaRPr kumimoji="0" lang="en-US" altLang="ko-KR" sz="650" b="0" dirty="0">
              <a:solidFill>
                <a:prstClr val="black">
                  <a:lumMod val="95000"/>
                  <a:lumOff val="5000"/>
                </a:prst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소요일정 감안하여 </a:t>
            </a:r>
            <a:r>
              <a:rPr kumimoji="0" lang="en-US" altLang="ko-KR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PR </a:t>
            </a:r>
            <a:r>
              <a:rPr kumimoji="0" lang="ko-KR" altLang="en-US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입력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F5D6E1A6-76EA-4626-8586-653C5E638B97}"/>
              </a:ext>
            </a:extLst>
          </p:cNvPr>
          <p:cNvSpPr/>
          <p:nvPr/>
        </p:nvSpPr>
        <p:spPr>
          <a:xfrm>
            <a:off x="1522261" y="3007200"/>
            <a:ext cx="292533" cy="204750"/>
          </a:xfrm>
          <a:prstGeom prst="ellipse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463" b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6207FB3-D39F-420A-8E92-708CD7D924F4}"/>
              </a:ext>
            </a:extLst>
          </p:cNvPr>
          <p:cNvSpPr txBox="1"/>
          <p:nvPr/>
        </p:nvSpPr>
        <p:spPr>
          <a:xfrm>
            <a:off x="4498566" y="2108905"/>
            <a:ext cx="106792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ODM</a:t>
            </a:r>
            <a:r>
              <a:rPr kumimoji="0" lang="ko-KR" altLang="en-US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 경우</a:t>
            </a:r>
            <a:r>
              <a:rPr kumimoji="0" lang="en-US" altLang="ko-KR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PO </a:t>
            </a:r>
            <a:r>
              <a:rPr kumimoji="0" lang="ko-KR" altLang="en-US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입력 후</a:t>
            </a:r>
            <a:endParaRPr kumimoji="0" lang="en-US" altLang="ko-KR" sz="650" b="0" dirty="0">
              <a:solidFill>
                <a:prstClr val="black">
                  <a:lumMod val="95000"/>
                  <a:lumOff val="5000"/>
                </a:prstClr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45</a:t>
            </a:r>
            <a:r>
              <a:rPr kumimoji="0" lang="ko-KR" altLang="en-US" sz="650" b="0" dirty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 이후 생산 가능</a:t>
            </a:r>
          </a:p>
        </p:txBody>
      </p:sp>
      <p:sp>
        <p:nvSpPr>
          <p:cNvPr id="9" name="Text Box 162">
            <a:extLst>
              <a:ext uri="{FF2B5EF4-FFF2-40B4-BE49-F238E27FC236}">
                <a16:creationId xmlns:a16="http://schemas.microsoft.com/office/drawing/2014/main" id="{A49A7C64-7F21-4D31-9138-31B0CDB492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6763" y="1426368"/>
            <a:ext cx="4406656" cy="262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defTabSz="684213" fontAlgn="base">
              <a:spcBef>
                <a:spcPct val="0"/>
              </a:spcBef>
              <a:spcAft>
                <a:spcPct val="0"/>
              </a:spcAft>
              <a:buFontTx/>
              <a:buChar char="•"/>
              <a:defRPr kumimoji="1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  <a:lvl2pPr marL="742950" indent="-28575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defTabSz="555923" fontAlgn="t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ko-KR" altLang="ko-KR" sz="853" dirty="0"/>
              <a:t>최근 고객의 빠르고 간편한 데일리 조리와 동시조리</a:t>
            </a:r>
            <a:r>
              <a:rPr lang="en-US" altLang="ko-KR" sz="853" dirty="0"/>
              <a:t> / </a:t>
            </a:r>
            <a:r>
              <a:rPr lang="ko-KR" altLang="ko-KR" sz="853" dirty="0"/>
              <a:t>소형가전 대체 니즈</a:t>
            </a:r>
            <a:r>
              <a:rPr lang="en-US" altLang="ko-KR" sz="853" dirty="0"/>
              <a:t> </a:t>
            </a:r>
            <a:r>
              <a:rPr lang="ko-KR" altLang="en-US" sz="853" dirty="0"/>
              <a:t>등을</a:t>
            </a:r>
            <a:r>
              <a:rPr lang="ko-KR" altLang="ko-KR" sz="853" dirty="0"/>
              <a:t> 충족하는</a:t>
            </a:r>
            <a:endParaRPr lang="en-US" altLang="ko-KR" sz="853" dirty="0"/>
          </a:p>
          <a:p>
            <a:pPr defTabSz="555923" fontAlgn="t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ko-KR" altLang="en-US" sz="853" dirty="0"/>
              <a:t>자사만의 신규 </a:t>
            </a:r>
            <a:r>
              <a:rPr lang="en-US" altLang="ko-KR" sz="853" dirty="0"/>
              <a:t>Quick Zone </a:t>
            </a:r>
            <a:r>
              <a:rPr lang="ko-KR" altLang="ko-KR" sz="853" dirty="0"/>
              <a:t>기술을 통해</a:t>
            </a:r>
            <a:r>
              <a:rPr lang="en-US" altLang="ko-KR" sz="853" dirty="0"/>
              <a:t>, </a:t>
            </a:r>
            <a:r>
              <a:rPr lang="ko-KR" altLang="ko-KR" sz="853" dirty="0"/>
              <a:t>레인지 </a:t>
            </a:r>
            <a:r>
              <a:rPr lang="ko-KR" altLang="en-US" sz="853" dirty="0"/>
              <a:t>라인업 보강하여 하이엔드 </a:t>
            </a:r>
            <a:r>
              <a:rPr lang="ko-KR" altLang="ko-KR" sz="853" dirty="0"/>
              <a:t>시장 리딩과 점유율 확대 달성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C477D52-D405-4A2B-981D-7085929E6ED5}"/>
              </a:ext>
            </a:extLst>
          </p:cNvPr>
          <p:cNvSpPr txBox="1"/>
          <p:nvPr/>
        </p:nvSpPr>
        <p:spPr>
          <a:xfrm>
            <a:off x="5424731" y="4106302"/>
            <a:ext cx="498855" cy="1923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미국</a:t>
            </a:r>
            <a:r>
              <a:rPr kumimoji="0" lang="en-US" altLang="ko-KR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기준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0649145-A5EA-4776-BDF9-C64FE9055FCC}"/>
              </a:ext>
            </a:extLst>
          </p:cNvPr>
          <p:cNvSpPr txBox="1"/>
          <p:nvPr/>
        </p:nvSpPr>
        <p:spPr>
          <a:xfrm>
            <a:off x="1596241" y="3242728"/>
            <a:ext cx="3937454" cy="6356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30000"/>
              </a:lnSpc>
              <a:defRPr sz="1200" b="1">
                <a:solidFill>
                  <a:schemeClr val="bg1">
                    <a:lumMod val="65000"/>
                  </a:schemeClr>
                </a:solidFill>
                <a:latin typeface="Arial Narrow" pitchFamily="34" charset="0"/>
                <a:ea typeface="LG스마트체 Regular" pitchFamily="50" charset="-127"/>
              </a:defRPr>
            </a:lvl1pPr>
          </a:lstStyle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AHAM </a:t>
            </a:r>
            <a:r>
              <a:rPr kumimoji="0" lang="ko-KR" altLang="en-US" sz="813" dirty="0">
                <a:solidFill>
                  <a:prstClr val="black"/>
                </a:solidFill>
                <a:cs typeface="+mn-cs"/>
              </a:rPr>
              <a:t>기준 시장규모 </a:t>
            </a: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(HPOS</a:t>
            </a:r>
            <a:r>
              <a:rPr kumimoji="0" lang="ko-KR" altLang="en-US" sz="813" dirty="0">
                <a:solidFill>
                  <a:prstClr val="black"/>
                </a:solidFill>
                <a:cs typeface="+mn-cs"/>
              </a:rPr>
              <a:t> 비중</a:t>
            </a: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)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   - 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더블 슬라이드인 수량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184K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대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, Gross 370M$, Net 297M$ (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전기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Gross 208M$, 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수량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99K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대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)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HPOS </a:t>
            </a:r>
            <a:r>
              <a:rPr kumimoji="0" lang="ko-KR" altLang="en-US" sz="813" dirty="0">
                <a:solidFill>
                  <a:prstClr val="black"/>
                </a:solidFill>
                <a:cs typeface="+mn-cs"/>
              </a:rPr>
              <a:t>기준 </a:t>
            </a: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Segment</a:t>
            </a:r>
            <a:r>
              <a:rPr kumimoji="0" lang="ko-KR" altLang="en-US" sz="813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M/S(%)</a:t>
            </a:r>
            <a:br>
              <a:rPr kumimoji="0" lang="en-US" altLang="ko-KR" sz="813" dirty="0">
                <a:solidFill>
                  <a:prstClr val="black"/>
                </a:solidFill>
                <a:cs typeface="+mn-cs"/>
              </a:rPr>
            </a:br>
            <a:r>
              <a:rPr kumimoji="0" lang="en-US" altLang="ko-KR" sz="813" dirty="0">
                <a:solidFill>
                  <a:prstClr val="black"/>
                </a:solidFill>
                <a:cs typeface="+mn-cs"/>
              </a:rPr>
              <a:t>  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- 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더블 슬라이드인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GE 57.5%, SS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19.6%,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LG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17.2% 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(</a:t>
            </a:r>
            <a:r>
              <a:rPr kumimoji="0" lang="ko-KR" altLang="en-US" sz="813" b="0" dirty="0" err="1">
                <a:solidFill>
                  <a:prstClr val="black"/>
                </a:solidFill>
                <a:cs typeface="+mn-cs"/>
              </a:rPr>
              <a:t>금액대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 비중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$2,000</a:t>
            </a:r>
            <a:r>
              <a:rPr kumimoji="0" lang="ko-KR" altLang="en-US" sz="813" b="0" dirty="0">
                <a:solidFill>
                  <a:prstClr val="black"/>
                </a:solidFill>
                <a:cs typeface="+mn-cs"/>
              </a:rPr>
              <a:t>↑ </a:t>
            </a:r>
            <a:r>
              <a:rPr kumimoji="0" lang="en-US" altLang="ko-KR" sz="813" b="0" dirty="0">
                <a:solidFill>
                  <a:prstClr val="black"/>
                </a:solidFill>
                <a:cs typeface="+mn-cs"/>
              </a:rPr>
              <a:t>94%)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5630298-BDB6-47DC-8A12-5277C4B38FDF}"/>
              </a:ext>
            </a:extLst>
          </p:cNvPr>
          <p:cNvSpPr txBox="1"/>
          <p:nvPr/>
        </p:nvSpPr>
        <p:spPr>
          <a:xfrm>
            <a:off x="5491009" y="5132753"/>
            <a:ext cx="1561646" cy="3172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 b="0">
                <a:solidFill>
                  <a:srgbClr val="00008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- 6.8 LCD control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Air Fry, </a:t>
            </a:r>
            <a:r>
              <a:rPr kumimoji="0" lang="ko-KR" altLang="en-US" sz="731" dirty="0" err="1">
                <a:solidFill>
                  <a:prstClr val="black"/>
                </a:solidFill>
                <a:cs typeface="+mn-cs"/>
              </a:rPr>
              <a:t>소물</a:t>
            </a:r>
            <a:r>
              <a:rPr kumimoji="0" lang="ko-KR" altLang="en-US" sz="731" dirty="0">
                <a:solidFill>
                  <a:prstClr val="black"/>
                </a:solidFill>
                <a:cs typeface="+mn-cs"/>
              </a:rPr>
              <a:t> 조리가전 특화요리 모드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058D4B3-811C-4D5D-B849-A529F97493B4}"/>
              </a:ext>
            </a:extLst>
          </p:cNvPr>
          <p:cNvSpPr txBox="1"/>
          <p:nvPr/>
        </p:nvSpPr>
        <p:spPr>
          <a:xfrm>
            <a:off x="7709333" y="5132754"/>
            <a:ext cx="1223412" cy="4297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 b="0">
                <a:solidFill>
                  <a:srgbClr val="000080"/>
                </a:solidFill>
                <a:latin typeface="Arial Narrow" panose="020B0606020202030204" pitchFamily="34" charset="0"/>
                <a:ea typeface="LG Smart_Korean Regular" panose="020B0600000101010101" pitchFamily="50" charset="-127"/>
              </a:defRPr>
            </a:lvl1pPr>
          </a:lstStyle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Easy &amp; Speed Self Cleaning 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en-US" altLang="ko-KR" sz="731" dirty="0" err="1">
                <a:solidFill>
                  <a:prstClr val="black"/>
                </a:solidFill>
                <a:ea typeface="LG스마트체 Regular" panose="020B0600000101010101" pitchFamily="50" charset="-127"/>
                <a:cs typeface="+mn-cs"/>
              </a:rPr>
              <a:t>ThinQ</a:t>
            </a:r>
            <a:endParaRPr kumimoji="0" lang="en-US" altLang="ko-KR" sz="731" dirty="0">
              <a:solidFill>
                <a:prstClr val="black"/>
              </a:solidFill>
              <a:ea typeface="LG스마트체 Regular" panose="020B0600000101010101" pitchFamily="50" charset="-127"/>
              <a:cs typeface="+mn-cs"/>
            </a:endParaRP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ea typeface="LG스마트체 Regular" panose="020B0600000101010101" pitchFamily="50" charset="-127"/>
                <a:cs typeface="+mn-cs"/>
              </a:rPr>
              <a:t>- Soft closing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A190A49-D9F5-4595-B013-4B504658CA73}"/>
              </a:ext>
            </a:extLst>
          </p:cNvPr>
          <p:cNvSpPr txBox="1"/>
          <p:nvPr/>
        </p:nvSpPr>
        <p:spPr>
          <a:xfrm>
            <a:off x="1605229" y="5132753"/>
            <a:ext cx="1252266" cy="5422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 b="0">
                <a:solidFill>
                  <a:srgbClr val="00008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- 7.1 </a:t>
            </a:r>
            <a:r>
              <a:rPr kumimoji="0" lang="en-US" altLang="ko-KR" sz="731" dirty="0" err="1">
                <a:solidFill>
                  <a:prstClr val="black"/>
                </a:solidFill>
                <a:cs typeface="+mn-cs"/>
              </a:rPr>
              <a:t>cu.ft</a:t>
            </a: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 (</a:t>
            </a:r>
            <a:r>
              <a:rPr kumimoji="0" lang="ko-KR" altLang="en-US" sz="731" dirty="0" err="1">
                <a:solidFill>
                  <a:prstClr val="black"/>
                </a:solidFill>
                <a:cs typeface="+mn-cs"/>
              </a:rPr>
              <a:t>상칸</a:t>
            </a:r>
            <a:r>
              <a:rPr kumimoji="0" lang="ko-KR" altLang="en-US" sz="731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2.0 + </a:t>
            </a:r>
            <a:r>
              <a:rPr kumimoji="0" lang="ko-KR" altLang="en-US" sz="731" dirty="0" err="1">
                <a:solidFill>
                  <a:prstClr val="black"/>
                </a:solidFill>
                <a:cs typeface="+mn-cs"/>
              </a:rPr>
              <a:t>하칸</a:t>
            </a:r>
            <a:r>
              <a:rPr kumimoji="0" lang="ko-KR" altLang="en-US" sz="731" dirty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5.1)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Inverter </a:t>
            </a:r>
            <a:r>
              <a:rPr kumimoji="0" lang="en-US" altLang="ko-KR" sz="731" dirty="0" err="1">
                <a:solidFill>
                  <a:prstClr val="black"/>
                </a:solidFill>
                <a:cs typeface="+mn-cs"/>
              </a:rPr>
              <a:t>Probake</a:t>
            </a:r>
            <a:endParaRPr kumimoji="0" lang="en-US" altLang="ko-KR" sz="731" dirty="0">
              <a:solidFill>
                <a:prstClr val="black"/>
              </a:solidFill>
              <a:cs typeface="+mn-cs"/>
            </a:endParaRP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</a:t>
            </a:r>
            <a:r>
              <a:rPr kumimoji="0" lang="ko-KR" altLang="en-US" sz="731" dirty="0" err="1">
                <a:solidFill>
                  <a:prstClr val="black"/>
                </a:solidFill>
                <a:cs typeface="+mn-cs"/>
              </a:rPr>
              <a:t>퀵존</a:t>
            </a:r>
            <a:r>
              <a:rPr kumimoji="0" lang="ko-KR" altLang="en-US" sz="731" dirty="0">
                <a:solidFill>
                  <a:prstClr val="black"/>
                </a:solidFill>
                <a:cs typeface="+mn-cs"/>
              </a:rPr>
              <a:t> 특화 자동조리</a:t>
            </a:r>
            <a:endParaRPr kumimoji="0" lang="en-US" altLang="ko-KR" sz="731" dirty="0">
              <a:solidFill>
                <a:prstClr val="black"/>
              </a:solidFill>
              <a:cs typeface="+mn-cs"/>
            </a:endParaRP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- 5</a:t>
            </a:r>
            <a:r>
              <a:rPr kumimoji="0" lang="ko-KR" altLang="en-US" sz="731" dirty="0">
                <a:solidFill>
                  <a:prstClr val="black"/>
                </a:solidFill>
                <a:cs typeface="+mn-cs"/>
              </a:rPr>
              <a:t>구</a:t>
            </a: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(Max power: 4.0kW)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E294F84-8211-4D57-A52E-0B2F099FF6F7}"/>
              </a:ext>
            </a:extLst>
          </p:cNvPr>
          <p:cNvSpPr txBox="1"/>
          <p:nvPr/>
        </p:nvSpPr>
        <p:spPr>
          <a:xfrm>
            <a:off x="3537479" y="5132753"/>
            <a:ext cx="1244251" cy="65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 b="0">
                <a:solidFill>
                  <a:srgbClr val="00008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Air Fry </a:t>
            </a:r>
            <a:r>
              <a:rPr kumimoji="0" lang="ko-KR" altLang="en-US" sz="731" dirty="0">
                <a:solidFill>
                  <a:prstClr val="black"/>
                </a:solidFill>
                <a:cs typeface="+mn-cs"/>
              </a:rPr>
              <a:t>특화 </a:t>
            </a: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Cavity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</a:t>
            </a:r>
            <a:r>
              <a:rPr kumimoji="0" lang="en-US" altLang="ko-KR" sz="731" dirty="0" err="1">
                <a:solidFill>
                  <a:prstClr val="black"/>
                </a:solidFill>
                <a:cs typeface="+mn-cs"/>
              </a:rPr>
              <a:t>Instaview</a:t>
            </a:r>
            <a:endParaRPr kumimoji="0" lang="en-US" altLang="ko-KR" sz="731" dirty="0">
              <a:solidFill>
                <a:prstClr val="black"/>
              </a:solidFill>
              <a:cs typeface="+mn-cs"/>
            </a:endParaRP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Knob &amp; 6.8” LCD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+mn-cs"/>
              </a:rPr>
              <a:t>- Knob Lighting</a:t>
            </a:r>
          </a:p>
          <a:p>
            <a:pPr defTabSz="37147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dirty="0">
                <a:solidFill>
                  <a:prstClr val="black"/>
                </a:solidFill>
                <a:cs typeface="Arial" panose="020B0604020202020204" pitchFamily="34" charset="0"/>
              </a:rPr>
              <a:t>- Anti-Finger STS + 3step knob</a:t>
            </a:r>
          </a:p>
        </p:txBody>
      </p:sp>
      <p:sp>
        <p:nvSpPr>
          <p:cNvPr id="19" name="Text Box 162">
            <a:extLst>
              <a:ext uri="{FF2B5EF4-FFF2-40B4-BE49-F238E27FC236}">
                <a16:creationId xmlns:a16="http://schemas.microsoft.com/office/drawing/2014/main" id="{A31443EC-8436-47E4-9FA0-B1D8107A69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2225" y="3218998"/>
            <a:ext cx="1283318" cy="7001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684213" fontAlgn="base">
              <a:spcBef>
                <a:spcPct val="0"/>
              </a:spcBef>
              <a:spcAft>
                <a:spcPct val="0"/>
              </a:spcAft>
              <a:buFontTx/>
              <a:buChar char="•"/>
              <a:defRPr kumimoji="1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  <a:lvl2pPr marL="742950" indent="-28575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defTabSz="555923" latinLnBrk="0">
              <a:buNone/>
              <a:defRPr/>
            </a:pPr>
            <a:r>
              <a:rPr lang="en-US" altLang="ko-KR" sz="650" dirty="0">
                <a:solidFill>
                  <a:prstClr val="black"/>
                </a:solidFill>
              </a:rPr>
              <a:t>Samsung ($3,199)_NSI6DG9550S</a:t>
            </a:r>
            <a:br>
              <a:rPr lang="en-US" altLang="ko-KR" sz="650" b="0" dirty="0">
                <a:solidFill>
                  <a:prstClr val="black"/>
                </a:solidFill>
              </a:rPr>
            </a:br>
            <a:r>
              <a:rPr lang="en-US" altLang="ko-KR" sz="650" b="0" dirty="0">
                <a:solidFill>
                  <a:prstClr val="black"/>
                </a:solidFill>
              </a:rPr>
              <a:t> - 5</a:t>
            </a:r>
            <a:r>
              <a:rPr lang="ko-KR" altLang="en-US" sz="650" b="0" dirty="0">
                <a:solidFill>
                  <a:prstClr val="black"/>
                </a:solidFill>
              </a:rPr>
              <a:t>구</a:t>
            </a:r>
            <a:r>
              <a:rPr lang="en-US" altLang="ko-KR" sz="650" b="0" dirty="0">
                <a:solidFill>
                  <a:prstClr val="black"/>
                </a:solidFill>
              </a:rPr>
              <a:t>(Max power: 4.3kW)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 - Ambient Edge Lighting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 - Anti- Scratch Matte Cooktop 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Glass Touch (LCD)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Dual  Conv. (Air Fry &amp; Air Sous Vide)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Steam &amp; Self Cleaning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7C5DCB90-3644-ADC2-208B-23B89F6AD76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5893" r="5101"/>
          <a:stretch/>
        </p:blipFill>
        <p:spPr>
          <a:xfrm>
            <a:off x="5594693" y="3268795"/>
            <a:ext cx="466534" cy="607037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4BD16F2F-DA9B-186E-A524-5F1E3A6D674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2939" y="3289299"/>
            <a:ext cx="572992" cy="597166"/>
          </a:xfrm>
          <a:prstGeom prst="rect">
            <a:avLst/>
          </a:prstGeom>
        </p:spPr>
      </p:pic>
      <p:sp>
        <p:nvSpPr>
          <p:cNvPr id="15" name="Text Box 162">
            <a:extLst>
              <a:ext uri="{FF2B5EF4-FFF2-40B4-BE49-F238E27FC236}">
                <a16:creationId xmlns:a16="http://schemas.microsoft.com/office/drawing/2014/main" id="{694D894A-4F63-ED92-6A58-6D5D08A72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9789" y="3218998"/>
            <a:ext cx="1283318" cy="7001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684213" fontAlgn="base">
              <a:spcBef>
                <a:spcPct val="0"/>
              </a:spcBef>
              <a:spcAft>
                <a:spcPct val="0"/>
              </a:spcAft>
              <a:buFontTx/>
              <a:buChar char="•"/>
              <a:defRPr kumimoji="1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  <a:lvl2pPr marL="742950" indent="-28575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defTabSz="684213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defTabSz="68421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defTabSz="555923" latinLnBrk="0">
              <a:buNone/>
              <a:defRPr/>
            </a:pPr>
            <a:r>
              <a:rPr lang="en-US" altLang="ko-KR" sz="650" dirty="0">
                <a:solidFill>
                  <a:prstClr val="black"/>
                </a:solidFill>
              </a:rPr>
              <a:t>GE Café ($4,999)_CHS950P2MS1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- 5</a:t>
            </a:r>
            <a:r>
              <a:rPr lang="ko-KR" altLang="en-US" sz="650" b="0" dirty="0">
                <a:solidFill>
                  <a:prstClr val="black"/>
                </a:solidFill>
              </a:rPr>
              <a:t>구</a:t>
            </a:r>
            <a:r>
              <a:rPr lang="en-US" altLang="ko-KR" sz="650" b="0" dirty="0">
                <a:solidFill>
                  <a:prstClr val="black"/>
                </a:solidFill>
              </a:rPr>
              <a:t>(Max power: 3.7kW)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Glass Touch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True Conv. (Air Fry)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Steam &amp; Self Cleaning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Probe, Wi-Fi</a:t>
            </a:r>
          </a:p>
          <a:p>
            <a:pPr defTabSz="555923" latinLnBrk="0">
              <a:buNone/>
              <a:defRPr/>
            </a:pPr>
            <a:r>
              <a:rPr lang="en-US" altLang="ko-KR" sz="650" b="0" dirty="0">
                <a:solidFill>
                  <a:prstClr val="black"/>
                </a:solidFill>
              </a:rPr>
              <a:t>- Metal Knob, ATF STS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DAEA1B0-81FD-5E90-1B92-8D9E52971A49}"/>
              </a:ext>
            </a:extLst>
          </p:cNvPr>
          <p:cNvSpPr txBox="1"/>
          <p:nvPr/>
        </p:nvSpPr>
        <p:spPr>
          <a:xfrm>
            <a:off x="2884508" y="2401326"/>
            <a:ext cx="2773491" cy="2048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9034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Pre-MP</a:t>
            </a:r>
            <a:r>
              <a:rPr kumimoji="0" lang="ko-KR" altLang="en-US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Best </a:t>
            </a:r>
            <a:r>
              <a:rPr kumimoji="0" lang="ko-KR" altLang="en-US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 </a:t>
            </a:r>
            <a:r>
              <a:rPr kumimoji="0" lang="en-US" altLang="ko-KR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9.24</a:t>
            </a:r>
            <a:r>
              <a:rPr kumimoji="0" lang="ko-KR" altLang="en-US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r>
              <a:rPr kumimoji="0" lang="en-US" altLang="ko-KR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Better </a:t>
            </a:r>
            <a:r>
              <a:rPr kumimoji="0" lang="ko-KR" altLang="en-US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 </a:t>
            </a:r>
            <a:r>
              <a:rPr kumimoji="0" lang="en-US" altLang="ko-KR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11.7</a:t>
            </a:r>
            <a:r>
              <a:rPr kumimoji="0" lang="ko-KR" altLang="en-US" sz="731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731" b="0" dirty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412" name="표 411">
            <a:extLst>
              <a:ext uri="{FF2B5EF4-FFF2-40B4-BE49-F238E27FC236}">
                <a16:creationId xmlns:a16="http://schemas.microsoft.com/office/drawing/2014/main" id="{B8CF0DCC-48AA-5397-FB8B-E833CBC83C52}"/>
              </a:ext>
            </a:extLst>
          </p:cNvPr>
          <p:cNvGraphicFramePr>
            <a:graphicFrameLocks noGrp="1"/>
          </p:cNvGraphicFramePr>
          <p:nvPr/>
        </p:nvGraphicFramePr>
        <p:xfrm>
          <a:off x="3460290" y="4193871"/>
          <a:ext cx="1856443" cy="780101"/>
        </p:xfrm>
        <a:graphic>
          <a:graphicData uri="http://schemas.openxmlformats.org/drawingml/2006/table">
            <a:tbl>
              <a:tblPr/>
              <a:tblGrid>
                <a:gridCol w="370201">
                  <a:extLst>
                    <a:ext uri="{9D8B030D-6E8A-4147-A177-3AD203B41FA5}">
                      <a16:colId xmlns:a16="http://schemas.microsoft.com/office/drawing/2014/main" val="2007788893"/>
                    </a:ext>
                  </a:extLst>
                </a:gridCol>
                <a:gridCol w="470325">
                  <a:extLst>
                    <a:ext uri="{9D8B030D-6E8A-4147-A177-3AD203B41FA5}">
                      <a16:colId xmlns:a16="http://schemas.microsoft.com/office/drawing/2014/main" val="3000563378"/>
                    </a:ext>
                  </a:extLst>
                </a:gridCol>
                <a:gridCol w="249213">
                  <a:extLst>
                    <a:ext uri="{9D8B030D-6E8A-4147-A177-3AD203B41FA5}">
                      <a16:colId xmlns:a16="http://schemas.microsoft.com/office/drawing/2014/main" val="241678382"/>
                    </a:ext>
                  </a:extLst>
                </a:gridCol>
                <a:gridCol w="517491">
                  <a:extLst>
                    <a:ext uri="{9D8B030D-6E8A-4147-A177-3AD203B41FA5}">
                      <a16:colId xmlns:a16="http://schemas.microsoft.com/office/drawing/2014/main" val="1761115381"/>
                    </a:ext>
                  </a:extLst>
                </a:gridCol>
                <a:gridCol w="249213">
                  <a:extLst>
                    <a:ext uri="{9D8B030D-6E8A-4147-A177-3AD203B41FA5}">
                      <a16:colId xmlns:a16="http://schemas.microsoft.com/office/drawing/2014/main" val="2441113367"/>
                    </a:ext>
                  </a:extLst>
                </a:gridCol>
              </a:tblGrid>
              <a:tr h="11144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견적</a:t>
                      </a:r>
                      <a:endParaRPr lang="en-US" altLang="ko-KR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</a:t>
                      </a:r>
                      <a:r>
                        <a:rPr lang="ko-KR" alt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7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인덕션</a:t>
                      </a:r>
                      <a:r>
                        <a:rPr lang="ko-KR" alt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퀵존 전기 </a:t>
                      </a:r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Better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454764"/>
                  </a:ext>
                </a:extLst>
              </a:tr>
              <a:tr h="1114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LTIQ6737XE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%</a:t>
                      </a:r>
                      <a:r>
                        <a:rPr lang="ko-KR" alt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LTEQ6735XE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%</a:t>
                      </a:r>
                      <a:r>
                        <a:rPr lang="ko-KR" alt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6241978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MAP($)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3,699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2,999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73119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NSP($)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1,878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1,426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3684777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재료비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($)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32.4%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03616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CMP(%)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774.5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41.2%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575.9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40.4%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6190604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COI(%)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234.5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12.5%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162.8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914517"/>
                  </a:ext>
                </a:extLst>
              </a:tr>
            </a:tbl>
          </a:graphicData>
        </a:graphic>
      </p:graphicFrame>
      <p:sp>
        <p:nvSpPr>
          <p:cNvPr id="413" name="TextBox 412">
            <a:extLst>
              <a:ext uri="{FF2B5EF4-FFF2-40B4-BE49-F238E27FC236}">
                <a16:creationId xmlns:a16="http://schemas.microsoft.com/office/drawing/2014/main" id="{934E106F-6AF5-0751-F2BF-0D6FA821CD0D}"/>
              </a:ext>
            </a:extLst>
          </p:cNvPr>
          <p:cNvSpPr txBox="1"/>
          <p:nvPr/>
        </p:nvSpPr>
        <p:spPr>
          <a:xfrm>
            <a:off x="2678416" y="3993564"/>
            <a:ext cx="1820150" cy="1923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9034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관세 </a:t>
            </a:r>
            <a:r>
              <a:rPr kumimoji="0" lang="en-US" altLang="ko-KR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15%+</a:t>
            </a:r>
            <a:r>
              <a:rPr kumimoji="0" lang="ko-KR" altLang="en-US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철강 </a:t>
            </a:r>
            <a:r>
              <a:rPr kumimoji="0" lang="en-US" altLang="ko-KR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50%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B92FBBB-B3D8-D625-36CE-6977EFE1174D}"/>
              </a:ext>
            </a:extLst>
          </p:cNvPr>
          <p:cNvGraphicFramePr>
            <a:graphicFrameLocks noGrp="1"/>
          </p:cNvGraphicFramePr>
          <p:nvPr/>
        </p:nvGraphicFramePr>
        <p:xfrm>
          <a:off x="1530545" y="4193871"/>
          <a:ext cx="1856442" cy="780101"/>
        </p:xfrm>
        <a:graphic>
          <a:graphicData uri="http://schemas.openxmlformats.org/drawingml/2006/table">
            <a:tbl>
              <a:tblPr/>
              <a:tblGrid>
                <a:gridCol w="385951">
                  <a:extLst>
                    <a:ext uri="{9D8B030D-6E8A-4147-A177-3AD203B41FA5}">
                      <a16:colId xmlns:a16="http://schemas.microsoft.com/office/drawing/2014/main" val="2007788893"/>
                    </a:ext>
                  </a:extLst>
                </a:gridCol>
                <a:gridCol w="480721">
                  <a:extLst>
                    <a:ext uri="{9D8B030D-6E8A-4147-A177-3AD203B41FA5}">
                      <a16:colId xmlns:a16="http://schemas.microsoft.com/office/drawing/2014/main" val="3000563378"/>
                    </a:ext>
                  </a:extLst>
                </a:gridCol>
                <a:gridCol w="273170">
                  <a:extLst>
                    <a:ext uri="{9D8B030D-6E8A-4147-A177-3AD203B41FA5}">
                      <a16:colId xmlns:a16="http://schemas.microsoft.com/office/drawing/2014/main" val="241678382"/>
                    </a:ext>
                  </a:extLst>
                </a:gridCol>
                <a:gridCol w="446384">
                  <a:extLst>
                    <a:ext uri="{9D8B030D-6E8A-4147-A177-3AD203B41FA5}">
                      <a16:colId xmlns:a16="http://schemas.microsoft.com/office/drawing/2014/main" val="1761115381"/>
                    </a:ext>
                  </a:extLst>
                </a:gridCol>
                <a:gridCol w="270216">
                  <a:extLst>
                    <a:ext uri="{9D8B030D-6E8A-4147-A177-3AD203B41FA5}">
                      <a16:colId xmlns:a16="http://schemas.microsoft.com/office/drawing/2014/main" val="2441113367"/>
                    </a:ext>
                  </a:extLst>
                </a:gridCol>
              </a:tblGrid>
              <a:tr h="11144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`25</a:t>
                      </a:r>
                      <a:r>
                        <a:rPr lang="ko-KR" alt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더블 전기 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Best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연간 관세 적용 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454764"/>
                  </a:ext>
                </a:extLst>
              </a:tr>
              <a:tr h="1114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LTEL7337F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LTEL7337F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6241978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MAP($)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3,599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3,599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73119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NSP($)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1,509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1,509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3684777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ko-KR" altLang="en-US" sz="7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재료비</a:t>
                      </a:r>
                      <a:r>
                        <a:rPr lang="en-US" altLang="ko-KR" sz="7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($)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31.7%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31.7%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03616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CMP(%)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44.2%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38.5%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6190604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COI(%)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17.9%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12.1%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914517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A772FD2-C061-228B-17D3-E5DD27B3D1F8}"/>
              </a:ext>
            </a:extLst>
          </p:cNvPr>
          <p:cNvSpPr txBox="1"/>
          <p:nvPr/>
        </p:nvSpPr>
        <p:spPr>
          <a:xfrm>
            <a:off x="4616264" y="3993564"/>
            <a:ext cx="1820150" cy="1923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9034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관세 </a:t>
            </a:r>
            <a:r>
              <a:rPr kumimoji="0" lang="en-US" altLang="ko-KR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15%+</a:t>
            </a:r>
            <a:r>
              <a:rPr kumimoji="0" lang="ko-KR" altLang="en-US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철강 </a:t>
            </a:r>
            <a:r>
              <a:rPr kumimoji="0" lang="en-US" altLang="ko-KR" sz="650" b="0" dirty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50%</a:t>
            </a:r>
          </a:p>
        </p:txBody>
      </p:sp>
      <p:sp>
        <p:nvSpPr>
          <p:cNvPr id="20" name="실행 단추: 돌아가기 19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5F6CF9E8-309F-7C0C-0A76-227B9E2CC6F1}"/>
              </a:ext>
            </a:extLst>
          </p:cNvPr>
          <p:cNvSpPr/>
          <p:nvPr/>
        </p:nvSpPr>
        <p:spPr>
          <a:xfrm>
            <a:off x="9577187" y="5843588"/>
            <a:ext cx="218515" cy="218515"/>
          </a:xfrm>
          <a:prstGeom prst="actionButtonReturn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4295" tIns="37148" rIns="74295" bIns="3714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463" b="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1CBBBF-006F-D92A-7FFB-B6CBF4AD81A8}"/>
              </a:ext>
            </a:extLst>
          </p:cNvPr>
          <p:cNvSpPr/>
          <p:nvPr/>
        </p:nvSpPr>
        <p:spPr>
          <a:xfrm>
            <a:off x="4390698" y="4092537"/>
            <a:ext cx="349135" cy="2174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39303" indent="-139303" algn="ctr" defTabSz="742950">
              <a:spcBef>
                <a:spcPct val="20000"/>
              </a:spcBef>
              <a:buFont typeface="Wingdings" panose="05000000000000000000" pitchFamily="2" charset="2"/>
              <a:buChar char="ü"/>
              <a:defRPr/>
            </a:pPr>
            <a:r>
              <a:rPr lang="en-US" altLang="ko-KR" sz="813" b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lang="ko-KR" altLang="en-US" sz="813" b="0" dirty="0">
              <a:solidFill>
                <a:srgbClr val="FF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278542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CDC7EC1-B5E2-984F-EA17-06BC6DAAA866}"/>
              </a:ext>
            </a:extLst>
          </p:cNvPr>
          <p:cNvSpPr txBox="1"/>
          <p:nvPr/>
        </p:nvSpPr>
        <p:spPr>
          <a:xfrm>
            <a:off x="197513" y="164885"/>
            <a:ext cx="1788951" cy="225062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>
              <a:lnSpc>
                <a:spcPct val="90000"/>
              </a:lnSpc>
              <a:spcBef>
                <a:spcPct val="0"/>
              </a:spcBef>
              <a:buNone/>
              <a:defRPr sz="2000" b="1">
                <a:latin typeface="Arial Narrow" panose="020B0606020202030204" pitchFamily="34" charset="0"/>
                <a:ea typeface="LG스마트체 Regular" panose="020B0600000101010101" pitchFamily="50" charset="-127"/>
                <a:cs typeface="+mj-cs"/>
              </a:defRPr>
            </a:lvl1pPr>
          </a:lstStyle>
          <a:p>
            <a:pPr defTabSz="742950" fontAlgn="auto">
              <a:spcAft>
                <a:spcPts val="0"/>
              </a:spcAft>
              <a:defRPr/>
            </a:pPr>
            <a:r>
              <a:rPr kumimoji="0" lang="ko-KR" altLang="en-US" sz="1625" dirty="0">
                <a:solidFill>
                  <a:prstClr val="black"/>
                </a:solidFill>
              </a:rPr>
              <a:t>환경 분석 및 추진방향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35F7F-5BB5-205F-2CD3-EE780945A4AF}"/>
              </a:ext>
            </a:extLst>
          </p:cNvPr>
          <p:cNvGrpSpPr/>
          <p:nvPr/>
        </p:nvGrpSpPr>
        <p:grpSpPr>
          <a:xfrm>
            <a:off x="5167969" y="1239188"/>
            <a:ext cx="4345737" cy="276580"/>
            <a:chOff x="5180627" y="1086266"/>
            <a:chExt cx="4123140" cy="340406"/>
          </a:xfrm>
        </p:grpSpPr>
        <p:sp>
          <p:nvSpPr>
            <p:cNvPr id="4" name="Line 172">
              <a:extLst>
                <a:ext uri="{FF2B5EF4-FFF2-40B4-BE49-F238E27FC236}">
                  <a16:creationId xmlns:a16="http://schemas.microsoft.com/office/drawing/2014/main" id="{A2C5C838-0C76-AF76-FBA0-6CE622884A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0627" y="1424197"/>
              <a:ext cx="4123140" cy="0"/>
            </a:xfrm>
            <a:prstGeom prst="line">
              <a:avLst/>
            </a:prstGeom>
            <a:noFill/>
            <a:ln w="3175" cap="flat" cmpd="sng" algn="ctr">
              <a:solidFill>
                <a:sysClr val="windowText" lastClr="000000">
                  <a:lumMod val="95000"/>
                  <a:lumOff val="5000"/>
                </a:sysClr>
              </a:solidFill>
              <a:prstDash val="solid"/>
            </a:ln>
            <a:effectLst/>
          </p:spPr>
          <p:txBody>
            <a:bodyPr wrap="none" anchor="ctr"/>
            <a:lstStyle/>
            <a:p>
              <a:pPr defTabSz="742931" latinLnBrk="0">
                <a:lnSpc>
                  <a:spcPct val="110000"/>
                </a:lnSpc>
                <a:spcBef>
                  <a:spcPct val="10000"/>
                </a:spcBef>
                <a:buSzPct val="80000"/>
                <a:defRPr/>
              </a:pPr>
              <a:endParaRPr lang="ko-KR" altLang="en-US" sz="825" b="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5" name="Text Box 9">
              <a:extLst>
                <a:ext uri="{FF2B5EF4-FFF2-40B4-BE49-F238E27FC236}">
                  <a16:creationId xmlns:a16="http://schemas.microsoft.com/office/drawing/2014/main" id="{E17D02E3-87E5-3E0A-7CF0-34CD2760D6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8327" y="1086266"/>
              <a:ext cx="2330190" cy="340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9053" tIns="34527" rIns="69053" bIns="34527">
              <a:spAutoFit/>
            </a:bodyPr>
            <a:lstStyle>
              <a:lvl1pPr defTabSz="762000" eaLnBrk="0" latinLnBrk="1" hangingPunct="0">
                <a:spcBef>
                  <a:spcPct val="20000"/>
                </a:spcBef>
                <a:defRPr kumimoji="1" b="1">
                  <a:solidFill>
                    <a:srgbClr val="000000"/>
                  </a:solidFill>
                  <a:latin typeface="Arial" pitchFamily="34" charset="0"/>
                  <a:ea typeface="돋움" pitchFamily="50" charset="-127"/>
                  <a:cs typeface="Arial" pitchFamily="34" charset="0"/>
                </a:defRPr>
              </a:lvl1pPr>
              <a:lvl2pPr marL="742950" indent="-285750" defTabSz="762000" eaLnBrk="0" latinLnBrk="1" hangingPunct="0">
                <a:spcBef>
                  <a:spcPct val="20000"/>
                </a:spcBef>
                <a:defRPr kumimoji="1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2pPr>
              <a:lvl3pPr marL="1143000" indent="-228600" defTabSz="762000" eaLnBrk="0" latinLnBrk="1" hangingPunct="0">
                <a:spcBef>
                  <a:spcPct val="20000"/>
                </a:spcBef>
                <a:defRPr kumimoji="1" sz="16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3pPr>
              <a:lvl4pPr marL="1600200" indent="-228600" defTabSz="762000" eaLnBrk="0" latinLnBrk="1" hangingPunct="0">
                <a:spcBef>
                  <a:spcPct val="20000"/>
                </a:spcBef>
                <a:defRPr kumimoji="1" sz="14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4pPr>
              <a:lvl5pPr marL="2057400" indent="-228600" defTabSz="762000" eaLnBrk="0" latinLnBrk="1" hangingPunct="0">
                <a:spcBef>
                  <a:spcPct val="20000"/>
                </a:spcBef>
                <a:defRPr kumimoji="1" sz="14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5pPr>
              <a:lvl6pPr marL="25146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14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6pPr>
              <a:lvl7pPr marL="29718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14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7pPr>
              <a:lvl8pPr marL="34290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14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8pPr>
              <a:lvl9pPr marL="3886200" indent="-228600" defTabSz="7620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1400">
                  <a:solidFill>
                    <a:schemeClr val="tx1"/>
                  </a:solidFill>
                  <a:latin typeface="Arial" pitchFamily="34" charset="0"/>
                  <a:ea typeface="맑은 고딕" pitchFamily="50" charset="-127"/>
                  <a:cs typeface="Arial" pitchFamily="34" charset="0"/>
                </a:defRPr>
              </a:lvl9pPr>
            </a:lstStyle>
            <a:p>
              <a:pPr algn="ctr" defTabSz="619125" eaLnBrk="1" latinLnBrk="0" hangingPunct="1">
                <a:lnSpc>
                  <a:spcPct val="130000"/>
                </a:lnSpc>
                <a:spcBef>
                  <a:spcPct val="0"/>
                </a:spcBef>
                <a:defRPr/>
              </a:pPr>
              <a:r>
                <a:rPr lang="ko-KR" altLang="en-US" sz="1138" kern="0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추진 방향</a:t>
              </a:r>
            </a:p>
          </p:txBody>
        </p:sp>
      </p:grpSp>
      <p:sp>
        <p:nvSpPr>
          <p:cNvPr id="15" name="오른쪽 화살표 248">
            <a:extLst>
              <a:ext uri="{FF2B5EF4-FFF2-40B4-BE49-F238E27FC236}">
                <a16:creationId xmlns:a16="http://schemas.microsoft.com/office/drawing/2014/main" id="{0BC9945C-D808-5E7D-1897-3F569F3EBFBC}"/>
              </a:ext>
            </a:extLst>
          </p:cNvPr>
          <p:cNvSpPr>
            <a:spLocks/>
          </p:cNvSpPr>
          <p:nvPr/>
        </p:nvSpPr>
        <p:spPr bwMode="auto">
          <a:xfrm>
            <a:off x="4927172" y="1928779"/>
            <a:ext cx="4572134" cy="182673"/>
          </a:xfrm>
          <a:prstGeom prst="rightArrow">
            <a:avLst>
              <a:gd name="adj1" fmla="val 100000"/>
              <a:gd name="adj2" fmla="val 29546"/>
            </a:avLst>
          </a:prstGeom>
          <a:solidFill>
            <a:schemeClr val="bg1">
              <a:lumMod val="85000"/>
            </a:schemeClr>
          </a:solidFill>
          <a:ln w="3175">
            <a:solidFill>
              <a:sysClr val="window" lastClr="FFFFFF">
                <a:lumMod val="75000"/>
              </a:sysClr>
            </a:solidFill>
          </a:ln>
        </p:spPr>
        <p:txBody>
          <a:bodyPr wrap="none" lIns="0" tIns="0" rIns="0" bIns="0" rtlCol="0" anchor="ctr">
            <a:noAutofit/>
          </a:bodyPr>
          <a:lstStyle/>
          <a:p>
            <a:pPr algn="ctr" defTabSz="742931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프리미엄 존 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($2,000</a:t>
            </a:r>
            <a:r>
              <a:rPr kumimoji="0" lang="ko-KR" altLang="en-US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↑싱글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&amp; </a:t>
            </a:r>
            <a:r>
              <a:rPr kumimoji="0" lang="ko-KR" altLang="en-US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더블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정체된 시장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경쟁 구도 변화시도와 시장주도</a:t>
            </a:r>
            <a:endParaRPr kumimoji="0" lang="en-US" altLang="ko-KR" sz="975" b="0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직사각형 16">
            <a:hlinkClick r:id="" action="ppaction://noaction"/>
            <a:extLst>
              <a:ext uri="{FF2B5EF4-FFF2-40B4-BE49-F238E27FC236}">
                <a16:creationId xmlns:a16="http://schemas.microsoft.com/office/drawing/2014/main" id="{05EB21B7-A4DD-8C7D-5464-19D197312EA1}"/>
              </a:ext>
            </a:extLst>
          </p:cNvPr>
          <p:cNvSpPr/>
          <p:nvPr/>
        </p:nvSpPr>
        <p:spPr>
          <a:xfrm>
            <a:off x="4967859" y="2254806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Rectangle 116">
            <a:extLst>
              <a:ext uri="{FF2B5EF4-FFF2-40B4-BE49-F238E27FC236}">
                <a16:creationId xmlns:a16="http://schemas.microsoft.com/office/drawing/2014/main" id="{BB90C36F-CED6-D530-2E86-6A0BD28D5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880" y="5459574"/>
            <a:ext cx="1582164" cy="11246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3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디자인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(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공통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ko-KR" altLang="en-US" sz="731" b="0" kern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뉴핸들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(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전기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ko-KR" altLang="en-US" sz="731" b="0" kern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풀글라스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ko-KR" altLang="en-US" sz="731" b="0" kern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쿡탑</a:t>
            </a:r>
            <a:endParaRPr lang="en-US" altLang="ko-KR" sz="731" b="0" kern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9" name="Rectangle 116">
            <a:extLst>
              <a:ext uri="{FF2B5EF4-FFF2-40B4-BE49-F238E27FC236}">
                <a16:creationId xmlns:a16="http://schemas.microsoft.com/office/drawing/2014/main" id="{62416FAB-5B90-5CD1-08FE-4C77FA2B4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879" y="5322739"/>
            <a:ext cx="1594988" cy="11246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3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시스템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가스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전기 </a:t>
            </a:r>
            <a:r>
              <a:rPr lang="ko-KR" altLang="en-US" sz="731" b="0" kern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프로베이크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적용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(6.3cu.ft)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28FE8D-F12E-A8B1-63B8-87A6529CA221}"/>
              </a:ext>
            </a:extLst>
          </p:cNvPr>
          <p:cNvSpPr/>
          <p:nvPr/>
        </p:nvSpPr>
        <p:spPr bwMode="auto">
          <a:xfrm>
            <a:off x="7322284" y="2141840"/>
            <a:ext cx="2177023" cy="385650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>
            <a:noFill/>
          </a:ln>
        </p:spPr>
        <p:txBody>
          <a:bodyPr rot="0" spcFirstLastPara="0" vertOverflow="overflow" horzOverflow="overflow" vert="horz" wrap="none" lIns="0" tIns="37095" rIns="0" bIns="370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742861" latinLnBrk="0">
              <a:spcBef>
                <a:spcPct val="50000"/>
              </a:spcBef>
              <a:defRPr/>
            </a:pPr>
            <a:endParaRPr kumimoji="0" lang="ko-KR" altLang="en-US" sz="975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pSp>
        <p:nvGrpSpPr>
          <p:cNvPr id="21" name="그룹 4">
            <a:extLst>
              <a:ext uri="{FF2B5EF4-FFF2-40B4-BE49-F238E27FC236}">
                <a16:creationId xmlns:a16="http://schemas.microsoft.com/office/drawing/2014/main" id="{8E0293AF-E838-EE32-6272-9A461BA5593B}"/>
              </a:ext>
            </a:extLst>
          </p:cNvPr>
          <p:cNvGrpSpPr/>
          <p:nvPr/>
        </p:nvGrpSpPr>
        <p:grpSpPr>
          <a:xfrm>
            <a:off x="871411" y="1267110"/>
            <a:ext cx="3987350" cy="250637"/>
            <a:chOff x="1064568" y="928471"/>
            <a:chExt cx="3960000" cy="308476"/>
          </a:xfrm>
        </p:grpSpPr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CF8C77EB-9714-6129-EB8A-045F41E765FE}"/>
                </a:ext>
              </a:extLst>
            </p:cNvPr>
            <p:cNvCxnSpPr/>
            <p:nvPr/>
          </p:nvCxnSpPr>
          <p:spPr>
            <a:xfrm>
              <a:off x="1064568" y="1236947"/>
              <a:ext cx="3960000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3" name="TextBox 3">
              <a:extLst>
                <a:ext uri="{FF2B5EF4-FFF2-40B4-BE49-F238E27FC236}">
                  <a16:creationId xmlns:a16="http://schemas.microsoft.com/office/drawing/2014/main" id="{9719D184-5260-6140-2F8C-BE7694DCE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4629" y="928471"/>
              <a:ext cx="979871" cy="30775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74211" tIns="37108" rIns="74211" bIns="37108">
              <a:spAutoFit/>
            </a:bodyPr>
            <a:lstStyle>
              <a:defPPr>
                <a:defRPr lang="ko-KR"/>
              </a:defPPr>
              <a:lvl1pPr marL="342651" indent="-342651" defTabSz="913739" eaLnBrk="0" hangingPunct="0">
                <a:defRPr sz="2000" b="1">
                  <a:latin typeface="맑은 고딕" pitchFamily="50" charset="-127"/>
                  <a:ea typeface="맑은 고딕" pitchFamily="50" charset="-127"/>
                  <a:cs typeface="Arial" pitchFamily="34" charset="0"/>
                </a:defRPr>
              </a:lvl1pPr>
            </a:lstStyle>
            <a:p>
              <a:pPr marL="278404" indent="-278404" algn="ctr" defTabSz="742413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138" kern="0">
                  <a:solidFill>
                    <a:prstClr val="black">
                      <a:lumMod val="95000"/>
                      <a:lumOff val="5000"/>
                    </a:prstClr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경쟁 현황 분석</a:t>
              </a:r>
            </a:p>
          </p:txBody>
        </p:sp>
      </p:grpSp>
      <p:sp>
        <p:nvSpPr>
          <p:cNvPr id="24" name="Rectangle 116">
            <a:extLst>
              <a:ext uri="{FF2B5EF4-FFF2-40B4-BE49-F238E27FC236}">
                <a16:creationId xmlns:a16="http://schemas.microsoft.com/office/drawing/2014/main" id="{9D24629C-2D8C-55AD-C549-5E847E8A4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297" y="5840865"/>
            <a:ext cx="947375" cy="11246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74293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매출원가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‘26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30% </a:t>
            </a:r>
            <a:r>
              <a:rPr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</a:t>
            </a:r>
            <a:r>
              <a:rPr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25" name="Text Box 9">
            <a:extLst>
              <a:ext uri="{FF2B5EF4-FFF2-40B4-BE49-F238E27FC236}">
                <a16:creationId xmlns:a16="http://schemas.microsoft.com/office/drawing/2014/main" id="{0DF92A9A-154C-4636-890F-5D09A95644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4855" y="1695624"/>
            <a:ext cx="1272927" cy="2765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9053" tIns="34527" rIns="69053" bIns="34527">
            <a:spAutoFit/>
          </a:bodyPr>
          <a:lstStyle>
            <a:lvl1pPr defTabSz="762000" eaLnBrk="0" latinLnBrk="1" hangingPunct="0">
              <a:spcBef>
                <a:spcPct val="20000"/>
              </a:spcBef>
              <a:defRPr kumimoji="1" b="1">
                <a:solidFill>
                  <a:srgbClr val="000000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742950" indent="-285750" defTabSz="762000" eaLnBrk="0" latinLnBrk="1" hangingPunct="0">
              <a:spcBef>
                <a:spcPct val="20000"/>
              </a:spcBef>
              <a:defRPr kumimoji="1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2pPr>
            <a:lvl3pPr marL="1143000" indent="-228600" defTabSz="762000" eaLnBrk="0" latinLnBrk="1" hangingPunct="0">
              <a:spcBef>
                <a:spcPct val="20000"/>
              </a:spcBef>
              <a:defRPr kumimoji="1" sz="16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3pPr>
            <a:lvl4pPr marL="1600200" indent="-228600" defTabSz="762000" eaLnBrk="0" latinLnBrk="1" hangingPunct="0">
              <a:spcBef>
                <a:spcPct val="20000"/>
              </a:spcBef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4pPr>
            <a:lvl5pPr marL="2057400" indent="-228600" defTabSz="762000" eaLnBrk="0" latinLnBrk="1" hangingPunct="0">
              <a:spcBef>
                <a:spcPct val="20000"/>
              </a:spcBef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5pPr>
            <a:lvl6pPr marL="25146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6pPr>
            <a:lvl7pPr marL="29718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7pPr>
            <a:lvl8pPr marL="34290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8pPr>
            <a:lvl9pPr marL="38862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9pPr>
          </a:lstStyle>
          <a:p>
            <a:pPr algn="ctr" defTabSz="619125" eaLnBrk="1" latinLnBrk="0" hangingPunct="1">
              <a:lnSpc>
                <a:spcPct val="130000"/>
              </a:lnSpc>
              <a:spcBef>
                <a:spcPct val="0"/>
              </a:spcBef>
              <a:defRPr/>
            </a:pPr>
            <a:r>
              <a:rPr lang="en-US" altLang="ko-KR" sz="1138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’26</a:t>
            </a:r>
            <a:r>
              <a:rPr lang="ko-KR" altLang="en-US" sz="1138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년</a:t>
            </a:r>
          </a:p>
        </p:txBody>
      </p:sp>
      <p:sp>
        <p:nvSpPr>
          <p:cNvPr id="26" name="Text Box 9">
            <a:extLst>
              <a:ext uri="{FF2B5EF4-FFF2-40B4-BE49-F238E27FC236}">
                <a16:creationId xmlns:a16="http://schemas.microsoft.com/office/drawing/2014/main" id="{858938AC-721C-A207-17E6-90A07F0D6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5952" y="1695624"/>
            <a:ext cx="1272927" cy="2765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9053" tIns="34527" rIns="69053" bIns="34527">
            <a:spAutoFit/>
          </a:bodyPr>
          <a:lstStyle>
            <a:lvl1pPr defTabSz="762000" eaLnBrk="0" latinLnBrk="1" hangingPunct="0">
              <a:spcBef>
                <a:spcPct val="20000"/>
              </a:spcBef>
              <a:defRPr kumimoji="1" b="1">
                <a:solidFill>
                  <a:srgbClr val="000000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742950" indent="-285750" defTabSz="762000" eaLnBrk="0" latinLnBrk="1" hangingPunct="0">
              <a:spcBef>
                <a:spcPct val="20000"/>
              </a:spcBef>
              <a:defRPr kumimoji="1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2pPr>
            <a:lvl3pPr marL="1143000" indent="-228600" defTabSz="762000" eaLnBrk="0" latinLnBrk="1" hangingPunct="0">
              <a:spcBef>
                <a:spcPct val="20000"/>
              </a:spcBef>
              <a:defRPr kumimoji="1" sz="16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3pPr>
            <a:lvl4pPr marL="1600200" indent="-228600" defTabSz="762000" eaLnBrk="0" latinLnBrk="1" hangingPunct="0">
              <a:spcBef>
                <a:spcPct val="20000"/>
              </a:spcBef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4pPr>
            <a:lvl5pPr marL="2057400" indent="-228600" defTabSz="762000" eaLnBrk="0" latinLnBrk="1" hangingPunct="0">
              <a:spcBef>
                <a:spcPct val="20000"/>
              </a:spcBef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5pPr>
            <a:lvl6pPr marL="25146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6pPr>
            <a:lvl7pPr marL="29718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7pPr>
            <a:lvl8pPr marL="34290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8pPr>
            <a:lvl9pPr marL="3886200" indent="-228600" defTabSz="762000" eaLnBrk="0" fontAlgn="base" hangingPunct="0">
              <a:spcBef>
                <a:spcPct val="20000"/>
              </a:spcBef>
              <a:spcAft>
                <a:spcPct val="0"/>
              </a:spcAft>
              <a:defRPr kumimoji="1" sz="1400">
                <a:solidFill>
                  <a:schemeClr val="tx1"/>
                </a:solidFill>
                <a:latin typeface="Arial" pitchFamily="34" charset="0"/>
                <a:ea typeface="맑은 고딕" pitchFamily="50" charset="-127"/>
                <a:cs typeface="Arial" pitchFamily="34" charset="0"/>
              </a:defRPr>
            </a:lvl9pPr>
          </a:lstStyle>
          <a:p>
            <a:pPr algn="ctr" defTabSz="619125" eaLnBrk="1" latinLnBrk="0" hangingPunct="1">
              <a:lnSpc>
                <a:spcPct val="130000"/>
              </a:lnSpc>
              <a:spcBef>
                <a:spcPct val="0"/>
              </a:spcBef>
              <a:defRPr/>
            </a:pPr>
            <a:r>
              <a:rPr lang="en-US" altLang="ko-KR" sz="1138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’27</a:t>
            </a:r>
            <a:r>
              <a:rPr lang="ko-KR" altLang="en-US" sz="1138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년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5B7EBF2-C473-CAE2-7328-F14882E1667D}"/>
              </a:ext>
            </a:extLst>
          </p:cNvPr>
          <p:cNvGraphicFramePr>
            <a:graphicFrameLocks noGrp="1"/>
          </p:cNvGraphicFramePr>
          <p:nvPr/>
        </p:nvGraphicFramePr>
        <p:xfrm>
          <a:off x="5469580" y="641571"/>
          <a:ext cx="1845100" cy="445772"/>
        </p:xfrm>
        <a:graphic>
          <a:graphicData uri="http://schemas.openxmlformats.org/drawingml/2006/table">
            <a:tbl>
              <a:tblPr/>
              <a:tblGrid>
                <a:gridCol w="760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920">
                  <a:extLst>
                    <a:ext uri="{9D8B030D-6E8A-4147-A177-3AD203B41FA5}">
                      <a16:colId xmlns:a16="http://schemas.microsoft.com/office/drawing/2014/main" val="3876821939"/>
                    </a:ext>
                  </a:extLst>
                </a:gridCol>
                <a:gridCol w="2169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69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69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920">
                  <a:extLst>
                    <a:ext uri="{9D8B030D-6E8A-4147-A177-3AD203B41FA5}">
                      <a16:colId xmlns:a16="http://schemas.microsoft.com/office/drawing/2014/main" val="2937296269"/>
                    </a:ext>
                  </a:extLst>
                </a:gridCol>
              </a:tblGrid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미국 레인지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리테일 시장규모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($M)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6,640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6,473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6,811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6,936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6,994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355297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자사 매출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(M$)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6991167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수요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(k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5,788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5,642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5,937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6,046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6,096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251015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D1A430A6-5131-0D86-6AAA-D6556CADE802}"/>
              </a:ext>
            </a:extLst>
          </p:cNvPr>
          <p:cNvGraphicFramePr>
            <a:graphicFrameLocks noGrp="1"/>
          </p:cNvGraphicFramePr>
          <p:nvPr/>
        </p:nvGraphicFramePr>
        <p:xfrm>
          <a:off x="7887097" y="647009"/>
          <a:ext cx="2012225" cy="668658"/>
        </p:xfrm>
        <a:graphic>
          <a:graphicData uri="http://schemas.openxmlformats.org/drawingml/2006/table">
            <a:tbl>
              <a:tblPr/>
              <a:tblGrid>
                <a:gridCol w="214536">
                  <a:extLst>
                    <a:ext uri="{9D8B030D-6E8A-4147-A177-3AD203B41FA5}">
                      <a16:colId xmlns:a16="http://schemas.microsoft.com/office/drawing/2014/main" val="1387060030"/>
                    </a:ext>
                  </a:extLst>
                </a:gridCol>
                <a:gridCol w="292500">
                  <a:extLst>
                    <a:ext uri="{9D8B030D-6E8A-4147-A177-3AD203B41FA5}">
                      <a16:colId xmlns:a16="http://schemas.microsoft.com/office/drawing/2014/main" val="3766232302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4250792659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3562460851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2531679893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1662428190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3793253298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2555597566"/>
                    </a:ext>
                  </a:extLst>
                </a:gridCol>
                <a:gridCol w="215027">
                  <a:extLst>
                    <a:ext uri="{9D8B030D-6E8A-4147-A177-3AD203B41FA5}">
                      <a16:colId xmlns:a16="http://schemas.microsoft.com/office/drawing/2014/main" val="107882565"/>
                    </a:ext>
                  </a:extLst>
                </a:gridCol>
              </a:tblGrid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M/S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브랜드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PY</a:t>
                      </a:r>
                      <a:endParaRPr lang="ko-KR" alt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6456362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30.0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  <a:r>
                        <a:rPr lang="ko-KR" altLang="en-US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↑</a:t>
                      </a:r>
                      <a:endParaRPr lang="en-US" altLang="ko-KR" sz="700" b="0" i="0" u="none" strike="noStrike" kern="120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896690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  <a:r>
                        <a:rPr lang="ko-KR" altLang="en-US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↓</a:t>
                      </a:r>
                      <a:endParaRPr lang="en-US" altLang="ko-KR" sz="700" b="0" i="0" u="none" strike="noStrike" kern="120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5567605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  <a:r>
                        <a:rPr lang="ko-KR" altLang="en-US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↑</a:t>
                      </a:r>
                      <a:endParaRPr lang="en-US" altLang="ko-KR" sz="700" b="0" i="0" u="none" strike="noStrike" kern="120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082905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12.1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11.9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  <a:r>
                        <a:rPr lang="ko-KR" altLang="en-US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↓</a:t>
                      </a:r>
                      <a:endParaRPr lang="en-US" altLang="ko-KR" sz="700" b="0" i="0" u="none" strike="noStrike" kern="120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6295644"/>
                  </a:ext>
                </a:extLst>
              </a:tr>
              <a:tr h="1114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FD</a:t>
                      </a:r>
                      <a:endParaRPr lang="en-US" sz="700" b="0" i="0" u="none" strike="noStrike" baseline="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  <a:r>
                        <a:rPr lang="ko-KR" altLang="en-US" sz="700" b="0" i="0" u="none" strike="noStrike" kern="1200">
                          <a:solidFill>
                            <a:srgbClr val="008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↓</a:t>
                      </a:r>
                      <a:endParaRPr lang="en-US" altLang="ko-KR" sz="700" b="0" i="0" u="none" strike="noStrike" kern="1200">
                        <a:solidFill>
                          <a:srgbClr val="008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7598062"/>
                  </a:ext>
                </a:extLst>
              </a:tr>
            </a:tbl>
          </a:graphicData>
        </a:graphic>
      </p:graphicFrame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E29A5A39-FF76-094C-F3A0-D0BD488B4EC2}"/>
              </a:ext>
            </a:extLst>
          </p:cNvPr>
          <p:cNvSpPr/>
          <p:nvPr/>
        </p:nvSpPr>
        <p:spPr>
          <a:xfrm>
            <a:off x="7920183" y="950030"/>
            <a:ext cx="1985817" cy="149101"/>
          </a:xfrm>
          <a:prstGeom prst="roundRect">
            <a:avLst>
              <a:gd name="adj" fmla="val 8334"/>
            </a:avLst>
          </a:prstGeom>
          <a:noFill/>
          <a:ln>
            <a:solidFill>
              <a:srgbClr val="008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463" b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B727CDF-D115-52E6-70EA-1928FD0A3751}"/>
              </a:ext>
            </a:extLst>
          </p:cNvPr>
          <p:cNvSpPr txBox="1"/>
          <p:nvPr/>
        </p:nvSpPr>
        <p:spPr>
          <a:xfrm>
            <a:off x="7226169" y="601669"/>
            <a:ext cx="379563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PY(%)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F27CF8B-28C2-5267-DC88-C35092DC411B}"/>
              </a:ext>
            </a:extLst>
          </p:cNvPr>
          <p:cNvSpPr txBox="1"/>
          <p:nvPr/>
        </p:nvSpPr>
        <p:spPr>
          <a:xfrm>
            <a:off x="7226169" y="709617"/>
            <a:ext cx="379563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742950" fontAlgn="ctr">
              <a:spcBef>
                <a:spcPts val="0"/>
              </a:spcBef>
              <a:spcAft>
                <a:spcPts val="0"/>
              </a:spcAft>
              <a:tabLst>
                <a:tab pos="438547" algn="l"/>
              </a:tabLs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0.8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E01D871-5D7C-56A9-C4B7-5CD8E7E2540F}"/>
              </a:ext>
            </a:extLst>
          </p:cNvPr>
          <p:cNvSpPr txBox="1"/>
          <p:nvPr/>
        </p:nvSpPr>
        <p:spPr>
          <a:xfrm>
            <a:off x="7226169" y="822410"/>
            <a:ext cx="379563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742950" fontAlgn="ctr">
              <a:spcBef>
                <a:spcPts val="0"/>
              </a:spcBef>
              <a:spcAft>
                <a:spcPts val="0"/>
              </a:spcAft>
              <a:tabLst>
                <a:tab pos="438547" algn="l"/>
              </a:tabLs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11.7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CFD5F17-D330-BBEA-E808-519BF191B5AB}"/>
              </a:ext>
            </a:extLst>
          </p:cNvPr>
          <p:cNvSpPr txBox="1"/>
          <p:nvPr/>
        </p:nvSpPr>
        <p:spPr>
          <a:xfrm>
            <a:off x="7219978" y="942728"/>
            <a:ext cx="379563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742950" fontAlgn="ctr">
              <a:spcBef>
                <a:spcPts val="0"/>
              </a:spcBef>
              <a:spcAft>
                <a:spcPts val="0"/>
              </a:spcAft>
              <a:tabLst>
                <a:tab pos="438547" algn="l"/>
              </a:tabLs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0.8</a:t>
            </a:r>
          </a:p>
        </p:txBody>
      </p:sp>
      <p:sp>
        <p:nvSpPr>
          <p:cNvPr id="34" name="Text Box 118">
            <a:extLst>
              <a:ext uri="{FF2B5EF4-FFF2-40B4-BE49-F238E27FC236}">
                <a16:creationId xmlns:a16="http://schemas.microsoft.com/office/drawing/2014/main" id="{62B6DA46-411E-EECB-C5DB-E8E76788AF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847" y="6009707"/>
            <a:ext cx="201731" cy="1422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180000" indent="-180000">
              <a:lnSpc>
                <a:spcPct val="120000"/>
              </a:lnSpc>
              <a:spcBef>
                <a:spcPts val="600"/>
              </a:spcBef>
              <a:spcAft>
                <a:spcPts val="700"/>
              </a:spcAft>
              <a:buFont typeface="Wingdings" pitchFamily="2" charset="2"/>
              <a:buChar char="q"/>
              <a:defRPr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indent="0" algn="ctr" defTabSz="742950" fontAlgn="auto">
              <a:spcBef>
                <a:spcPts val="488"/>
              </a:spcBef>
              <a:spcAft>
                <a:spcPts val="569"/>
              </a:spcAft>
              <a:buNone/>
              <a:defRPr/>
            </a:pPr>
            <a:r>
              <a:rPr kumimoji="0" lang="en-US" altLang="ko-KR" sz="853"/>
              <a:t>1/3</a:t>
            </a:r>
            <a:endParaRPr kumimoji="0" lang="ko-KR" altLang="en-US" sz="853"/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1DAA1AB3-CE6D-62B5-9214-4E786A716BCB}"/>
              </a:ext>
            </a:extLst>
          </p:cNvPr>
          <p:cNvGraphicFramePr>
            <a:graphicFrameLocks noGrp="1"/>
          </p:cNvGraphicFramePr>
          <p:nvPr/>
        </p:nvGraphicFramePr>
        <p:xfrm>
          <a:off x="947545" y="1956140"/>
          <a:ext cx="3606076" cy="4063601"/>
        </p:xfrm>
        <a:graphic>
          <a:graphicData uri="http://schemas.openxmlformats.org/drawingml/2006/table">
            <a:tbl>
              <a:tblPr/>
              <a:tblGrid>
                <a:gridCol w="356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2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1733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Price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Range TTL</a:t>
                      </a:r>
                    </a:p>
                  </a:txBody>
                  <a:tcPr marL="6633" marR="6633" marT="663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F/S</a:t>
                      </a:r>
                      <a:r>
                        <a:rPr lang="en-US" sz="9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single</a:t>
                      </a:r>
                      <a:endParaRPr lang="en-US" sz="9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S/in</a:t>
                      </a:r>
                      <a:r>
                        <a:rPr lang="en-US" sz="9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single</a:t>
                      </a:r>
                      <a:endParaRPr lang="en-US" sz="9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F/S</a:t>
                      </a:r>
                      <a:r>
                        <a:rPr lang="en-US" sz="9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Double</a:t>
                      </a:r>
                      <a:endParaRPr lang="en-US" sz="9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S/in Double</a:t>
                      </a:r>
                    </a:p>
                  </a:txBody>
                  <a:tcPr marL="6633" marR="6633" marT="663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25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66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3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3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3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3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3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TTL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FF0000"/>
                          </a:solidFill>
                          <a:effectLst/>
                          <a:latin typeface="Arial Unicode MS" panose="020B0604020202020204" pitchFamily="50" charset="-127"/>
                          <a:ea typeface="Arial Unicode MS" panose="020B0604020202020204" pitchFamily="50" charset="-127"/>
                        </a:rPr>
                        <a:t>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85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2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2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>
                      <a:noFill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2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endParaRPr lang="ko-KR" altLang="en-US" sz="2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2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$2,001~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$2,000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~1,501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$1,500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~1,201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$1,200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~$901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5E0B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5D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$900</a:t>
                      </a:r>
                      <a:b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~$751</a:t>
                      </a: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$750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돋움" panose="020B0600000101010101" pitchFamily="50" charset="-127"/>
                          <a:ea typeface="돋움" panose="020B0600000101010101" pitchFamily="50" charset="-127"/>
                        </a:rPr>
                        <a:t>↓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633" marR="6633" marT="6633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C7A88AC7-9E23-7E7D-7F2F-A41656225406}"/>
              </a:ext>
            </a:extLst>
          </p:cNvPr>
          <p:cNvGraphicFramePr>
            <a:graphicFrameLocks noGrp="1"/>
          </p:cNvGraphicFramePr>
          <p:nvPr/>
        </p:nvGraphicFramePr>
        <p:xfrm>
          <a:off x="1300060" y="2273539"/>
          <a:ext cx="3249226" cy="526500"/>
        </p:xfrm>
        <a:graphic>
          <a:graphicData uri="http://schemas.openxmlformats.org/drawingml/2006/table">
            <a:tbl>
              <a:tblPr/>
              <a:tblGrid>
                <a:gridCol w="213064">
                  <a:extLst>
                    <a:ext uri="{9D8B030D-6E8A-4147-A177-3AD203B41FA5}">
                      <a16:colId xmlns:a16="http://schemas.microsoft.com/office/drawing/2014/main" val="1650204318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76386094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546363945"/>
                    </a:ext>
                  </a:extLst>
                </a:gridCol>
                <a:gridCol w="53266">
                  <a:extLst>
                    <a:ext uri="{9D8B030D-6E8A-4147-A177-3AD203B41FA5}">
                      <a16:colId xmlns:a16="http://schemas.microsoft.com/office/drawing/2014/main" val="199221900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712026088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1175298400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60561960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166882187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3896970627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4186087697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56698786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3920985805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782663729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493181982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392364788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3492575847"/>
                    </a:ext>
                  </a:extLst>
                </a:gridCol>
              </a:tblGrid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01242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endParaRPr lang="en-US" altLang="ko-KR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0078311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8039321"/>
                  </a:ext>
                </a:extLst>
              </a:tr>
            </a:tbl>
          </a:graphicData>
        </a:graphic>
      </p:graphicFrame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DD7FC705-0A08-0DE7-E8A5-0C4E87C0A0EF}"/>
              </a:ext>
            </a:extLst>
          </p:cNvPr>
          <p:cNvGraphicFramePr>
            <a:graphicFrameLocks noGrp="1"/>
          </p:cNvGraphicFramePr>
          <p:nvPr/>
        </p:nvGraphicFramePr>
        <p:xfrm>
          <a:off x="958976" y="2601342"/>
          <a:ext cx="3606075" cy="3419669"/>
        </p:xfrm>
        <a:graphic>
          <a:graphicData uri="http://schemas.openxmlformats.org/drawingml/2006/table">
            <a:tbl>
              <a:tblPr/>
              <a:tblGrid>
                <a:gridCol w="356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2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0284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2328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10679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739" marR="7739" marT="7739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739" marR="7739" marT="7739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25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altLang="ko-KR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altLang="ko-KR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altLang="ko-KR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altLang="ko-KR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en-US" altLang="ko-KR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5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algn="l" defTabSz="912895" rtl="0" eaLnBrk="1" fontAlgn="ctr" latinLnBrk="0" hangingPunct="1"/>
                      <a:endParaRPr lang="ko-KR" altLang="en-US" sz="700" b="1" i="0" u="none" strike="noStrike" kern="120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633" marR="6633" marT="6633" marB="0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</a:tbl>
          </a:graphicData>
        </a:graphic>
      </p:graphicFrame>
      <p:graphicFrame>
        <p:nvGraphicFramePr>
          <p:cNvPr id="38" name="표 11">
            <a:extLst>
              <a:ext uri="{FF2B5EF4-FFF2-40B4-BE49-F238E27FC236}">
                <a16:creationId xmlns:a16="http://schemas.microsoft.com/office/drawing/2014/main" id="{57AEB74E-A959-66E4-B174-ECD3F52905E6}"/>
              </a:ext>
            </a:extLst>
          </p:cNvPr>
          <p:cNvGraphicFramePr>
            <a:graphicFrameLocks noGrp="1"/>
          </p:cNvGraphicFramePr>
          <p:nvPr/>
        </p:nvGraphicFramePr>
        <p:xfrm>
          <a:off x="157691" y="1438825"/>
          <a:ext cx="1229857" cy="436338"/>
        </p:xfrm>
        <a:graphic>
          <a:graphicData uri="http://schemas.openxmlformats.org/drawingml/2006/table">
            <a:tbl>
              <a:tblPr/>
              <a:tblGrid>
                <a:gridCol w="185904">
                  <a:extLst>
                    <a:ext uri="{9D8B030D-6E8A-4147-A177-3AD203B41FA5}">
                      <a16:colId xmlns:a16="http://schemas.microsoft.com/office/drawing/2014/main" val="2615113460"/>
                    </a:ext>
                  </a:extLst>
                </a:gridCol>
                <a:gridCol w="185904">
                  <a:extLst>
                    <a:ext uri="{9D8B030D-6E8A-4147-A177-3AD203B41FA5}">
                      <a16:colId xmlns:a16="http://schemas.microsoft.com/office/drawing/2014/main" val="2385513835"/>
                    </a:ext>
                  </a:extLst>
                </a:gridCol>
                <a:gridCol w="185904">
                  <a:extLst>
                    <a:ext uri="{9D8B030D-6E8A-4147-A177-3AD203B41FA5}">
                      <a16:colId xmlns:a16="http://schemas.microsoft.com/office/drawing/2014/main" val="3528562121"/>
                    </a:ext>
                  </a:extLst>
                </a:gridCol>
                <a:gridCol w="40878">
                  <a:extLst>
                    <a:ext uri="{9D8B030D-6E8A-4147-A177-3AD203B41FA5}">
                      <a16:colId xmlns:a16="http://schemas.microsoft.com/office/drawing/2014/main" val="3197477162"/>
                    </a:ext>
                  </a:extLst>
                </a:gridCol>
                <a:gridCol w="135202">
                  <a:extLst>
                    <a:ext uri="{9D8B030D-6E8A-4147-A177-3AD203B41FA5}">
                      <a16:colId xmlns:a16="http://schemas.microsoft.com/office/drawing/2014/main" val="2933588196"/>
                    </a:ext>
                  </a:extLst>
                </a:gridCol>
                <a:gridCol w="496065">
                  <a:extLst>
                    <a:ext uri="{9D8B030D-6E8A-4147-A177-3AD203B41FA5}">
                      <a16:colId xmlns:a16="http://schemas.microsoft.com/office/drawing/2014/main" val="115007471"/>
                    </a:ext>
                  </a:extLst>
                </a:gridCol>
              </a:tblGrid>
              <a:tr h="145446"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SS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40000"/>
                        <a:lumOff val="6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1st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739" marR="7739" marT="773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325976"/>
                  </a:ext>
                </a:extLst>
              </a:tr>
              <a:tr h="145446"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MKT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D7D31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SS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1st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739" marR="7739" marT="773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6572355"/>
                  </a:ext>
                </a:extLst>
              </a:tr>
              <a:tr h="145446"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WP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GE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1pPr>
                      <a:lvl2pPr marL="456446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2pPr>
                      <a:lvl3pPr marL="91289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3pPr>
                      <a:lvl4pPr marL="136933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4pPr>
                      <a:lvl5pPr marL="1825784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5pPr>
                      <a:lvl6pPr marL="2282227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6pPr>
                      <a:lvl7pPr marL="2738670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7pPr>
                      <a:lvl8pPr marL="3195121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8pPr>
                      <a:lvl9pPr marL="3651565" algn="l" defTabSz="912895" rtl="0" eaLnBrk="1" latinLnBrk="0" hangingPunct="1">
                        <a:defRPr sz="1700" kern="1200">
                          <a:solidFill>
                            <a:schemeClr val="tx1"/>
                          </a:solidFill>
                          <a:latin typeface="맑은 고딕" panose="020F0502020204030204"/>
                          <a:ea typeface="맑은 고딕"/>
                        </a:defRPr>
                      </a:lvl9pPr>
                    </a:lstStyle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WP, GE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1st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739" marR="7739" marT="773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2527981"/>
                  </a:ext>
                </a:extLst>
              </a:tr>
            </a:tbl>
          </a:graphicData>
        </a:graphic>
      </p:graphicFrame>
      <p:sp>
        <p:nvSpPr>
          <p:cNvPr id="39" name="Text Box 2">
            <a:extLst>
              <a:ext uri="{FF2B5EF4-FFF2-40B4-BE49-F238E27FC236}">
                <a16:creationId xmlns:a16="http://schemas.microsoft.com/office/drawing/2014/main" id="{383FBAE7-E141-878E-A080-D55D42B4E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248" y="1515049"/>
            <a:ext cx="1215982" cy="20009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74267" tIns="37134" rIns="74267" bIns="37134">
            <a:spAutoFit/>
          </a:bodyPr>
          <a:lstStyle/>
          <a:p>
            <a:pPr algn="ctr" defTabSz="742950" latinLnBrk="0">
              <a:defRPr/>
            </a:pPr>
            <a:r>
              <a:rPr kumimoji="0" lang="en-US" altLang="ko-KR" sz="813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Source: HPOS (‘25</a:t>
            </a:r>
            <a:r>
              <a:rPr kumimoji="0" lang="ko-KR" altLang="en-US" sz="813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누적</a:t>
            </a:r>
            <a:r>
              <a:rPr kumimoji="0" lang="en-US" altLang="ko-KR" sz="813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813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C0C8994-235C-68D6-B033-36632391A76D}"/>
              </a:ext>
            </a:extLst>
          </p:cNvPr>
          <p:cNvSpPr txBox="1"/>
          <p:nvPr/>
        </p:nvSpPr>
        <p:spPr>
          <a:xfrm>
            <a:off x="4019623" y="1756780"/>
            <a:ext cx="638316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813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금액 기준</a:t>
            </a:r>
            <a:r>
              <a:rPr kumimoji="0" lang="en-US" altLang="ko-KR" sz="813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813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AC0BE63D-0829-7161-193A-843B4114A6FE}"/>
              </a:ext>
            </a:extLst>
          </p:cNvPr>
          <p:cNvCxnSpPr/>
          <p:nvPr/>
        </p:nvCxnSpPr>
        <p:spPr>
          <a:xfrm>
            <a:off x="670853" y="3917301"/>
            <a:ext cx="175520" cy="0"/>
          </a:xfrm>
          <a:prstGeom prst="line">
            <a:avLst/>
          </a:prstGeom>
          <a:noFill/>
          <a:ln w="9525" cap="flat" cmpd="sng" algn="ctr">
            <a:solidFill>
              <a:srgbClr val="008000"/>
            </a:solidFill>
            <a:prstDash val="solid"/>
          </a:ln>
          <a:effectLst/>
        </p:spPr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6773E720-0B16-0DC3-C9F5-B4B124F769BB}"/>
              </a:ext>
            </a:extLst>
          </p:cNvPr>
          <p:cNvCxnSpPr/>
          <p:nvPr/>
        </p:nvCxnSpPr>
        <p:spPr>
          <a:xfrm>
            <a:off x="670853" y="4970918"/>
            <a:ext cx="175520" cy="0"/>
          </a:xfrm>
          <a:prstGeom prst="line">
            <a:avLst/>
          </a:prstGeom>
          <a:noFill/>
          <a:ln w="9525" cap="flat" cmpd="sng" algn="ctr">
            <a:solidFill>
              <a:srgbClr val="008000"/>
            </a:solidFill>
            <a:prstDash val="solid"/>
          </a:ln>
          <a:effectLst/>
        </p:spPr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0319DAD1-00DF-9D39-26F8-C593E9710F36}"/>
              </a:ext>
            </a:extLst>
          </p:cNvPr>
          <p:cNvCxnSpPr/>
          <p:nvPr/>
        </p:nvCxnSpPr>
        <p:spPr>
          <a:xfrm>
            <a:off x="670853" y="6011869"/>
            <a:ext cx="175520" cy="0"/>
          </a:xfrm>
          <a:prstGeom prst="line">
            <a:avLst/>
          </a:prstGeom>
          <a:noFill/>
          <a:ln w="9525" cap="flat" cmpd="sng" algn="ctr">
            <a:solidFill>
              <a:srgbClr val="008000"/>
            </a:solidFill>
            <a:prstDash val="solid"/>
          </a:ln>
          <a:effectLst/>
        </p:spPr>
      </p:cxn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C11E5653-8350-8F4F-931E-D4441C5429E5}"/>
              </a:ext>
            </a:extLst>
          </p:cNvPr>
          <p:cNvCxnSpPr>
            <a:cxnSpLocks/>
          </p:cNvCxnSpPr>
          <p:nvPr/>
        </p:nvCxnSpPr>
        <p:spPr>
          <a:xfrm>
            <a:off x="819401" y="3967848"/>
            <a:ext cx="0" cy="978009"/>
          </a:xfrm>
          <a:prstGeom prst="straightConnector1">
            <a:avLst/>
          </a:prstGeom>
          <a:noFill/>
          <a:ln w="9525" cap="flat" cmpd="sng" algn="ctr">
            <a:solidFill>
              <a:srgbClr val="008000"/>
            </a:solidFill>
            <a:prstDash val="solid"/>
            <a:headEnd type="triangle" w="sm" len="sm"/>
            <a:tailEnd type="triangle" w="sm" len="sm"/>
          </a:ln>
          <a:effectLst/>
        </p:spPr>
      </p:cxn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0DC3B408-D1AF-1A1B-C00A-BDC315C9170A}"/>
              </a:ext>
            </a:extLst>
          </p:cNvPr>
          <p:cNvCxnSpPr>
            <a:cxnSpLocks/>
          </p:cNvCxnSpPr>
          <p:nvPr/>
        </p:nvCxnSpPr>
        <p:spPr>
          <a:xfrm>
            <a:off x="819401" y="5013960"/>
            <a:ext cx="0" cy="940694"/>
          </a:xfrm>
          <a:prstGeom prst="straightConnector1">
            <a:avLst/>
          </a:prstGeom>
          <a:noFill/>
          <a:ln w="9525" cap="flat" cmpd="sng" algn="ctr">
            <a:solidFill>
              <a:srgbClr val="008000"/>
            </a:solidFill>
            <a:prstDash val="solid"/>
            <a:headEnd type="triangle" w="sm" len="sm"/>
            <a:tailEnd type="triangle" w="sm" len="sm"/>
          </a:ln>
          <a:effectLst/>
        </p:spPr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C43EE89B-18AD-9F26-65EF-B5FD674E6E8B}"/>
              </a:ext>
            </a:extLst>
          </p:cNvPr>
          <p:cNvCxnSpPr>
            <a:cxnSpLocks/>
          </p:cNvCxnSpPr>
          <p:nvPr/>
        </p:nvCxnSpPr>
        <p:spPr>
          <a:xfrm>
            <a:off x="819401" y="2891424"/>
            <a:ext cx="0" cy="1007929"/>
          </a:xfrm>
          <a:prstGeom prst="straightConnector1">
            <a:avLst/>
          </a:prstGeom>
          <a:noFill/>
          <a:ln w="9525" cap="flat" cmpd="sng" algn="ctr">
            <a:solidFill>
              <a:srgbClr val="008000"/>
            </a:solidFill>
            <a:prstDash val="solid"/>
            <a:headEnd type="triangle" w="sm" len="sm"/>
            <a:tailEnd type="triangle" w="sm" len="sm"/>
          </a:ln>
          <a:effectLst/>
        </p:spPr>
      </p:cxnSp>
      <p:sp>
        <p:nvSpPr>
          <p:cNvPr id="47" name="Text Box 5">
            <a:extLst>
              <a:ext uri="{FF2B5EF4-FFF2-40B4-BE49-F238E27FC236}">
                <a16:creationId xmlns:a16="http://schemas.microsoft.com/office/drawing/2014/main" id="{8D5D8B9F-4B6F-538F-C289-3BEA94658D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690" y="2933181"/>
            <a:ext cx="417102" cy="34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defPPr>
              <a:defRPr lang="ko-KR"/>
            </a:defPPr>
            <a:lvl1pPr eaLnBrk="1" hangingPunct="1">
              <a:defRPr sz="1400" b="1">
                <a:solidFill>
                  <a:prstClr val="black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13">
                <a:solidFill>
                  <a:srgbClr val="008000"/>
                </a:solidFill>
                <a:latin typeface="Arial"/>
                <a:ea typeface="맑은 고딕"/>
              </a:rPr>
              <a:t>High</a:t>
            </a:r>
          </a:p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13" i="1">
                <a:solidFill>
                  <a:srgbClr val="008000"/>
                </a:solidFill>
                <a:latin typeface="Arial"/>
                <a:ea typeface="맑은 고딕"/>
              </a:rPr>
              <a:t>24%</a:t>
            </a:r>
            <a:endParaRPr lang="ko-KR" altLang="en-US" sz="813" i="1">
              <a:solidFill>
                <a:srgbClr val="008000"/>
              </a:solidFill>
              <a:latin typeface="Arial"/>
              <a:ea typeface="맑은 고딕"/>
            </a:endParaRPr>
          </a:p>
        </p:txBody>
      </p:sp>
      <p:sp>
        <p:nvSpPr>
          <p:cNvPr id="48" name="Text Box 5">
            <a:extLst>
              <a:ext uri="{FF2B5EF4-FFF2-40B4-BE49-F238E27FC236}">
                <a16:creationId xmlns:a16="http://schemas.microsoft.com/office/drawing/2014/main" id="{11930D29-2093-38B2-CD26-0C13DFA75B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12" y="4118164"/>
            <a:ext cx="393056" cy="34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defPPr>
              <a:defRPr lang="ko-KR"/>
            </a:defPPr>
            <a:lvl1pPr eaLnBrk="1" hangingPunct="1">
              <a:defRPr sz="1400" b="1">
                <a:solidFill>
                  <a:prstClr val="black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13">
                <a:solidFill>
                  <a:srgbClr val="008000"/>
                </a:solidFill>
                <a:latin typeface="Arial"/>
                <a:ea typeface="맑은 고딕"/>
              </a:rPr>
              <a:t>Mid</a:t>
            </a:r>
          </a:p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13" i="1">
                <a:solidFill>
                  <a:srgbClr val="008000"/>
                </a:solidFill>
                <a:latin typeface="Arial"/>
                <a:ea typeface="맑은 고딕"/>
              </a:rPr>
              <a:t>30%</a:t>
            </a:r>
            <a:endParaRPr lang="ko-KR" altLang="en-US" sz="813" i="1">
              <a:solidFill>
                <a:srgbClr val="008000"/>
              </a:solidFill>
              <a:latin typeface="Arial"/>
              <a:ea typeface="맑은 고딕"/>
            </a:endParaRPr>
          </a:p>
        </p:txBody>
      </p:sp>
      <p:sp>
        <p:nvSpPr>
          <p:cNvPr id="49" name="Text Box 5">
            <a:extLst>
              <a:ext uri="{FF2B5EF4-FFF2-40B4-BE49-F238E27FC236}">
                <a16:creationId xmlns:a16="http://schemas.microsoft.com/office/drawing/2014/main" id="{4D9A7D6E-7FF1-D087-D464-B76661FC5A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10" y="5092035"/>
            <a:ext cx="394660" cy="34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defPPr>
              <a:defRPr lang="ko-KR"/>
            </a:defPPr>
            <a:lvl1pPr eaLnBrk="1" hangingPunct="1">
              <a:defRPr sz="1400" b="1">
                <a:solidFill>
                  <a:prstClr val="black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13">
                <a:solidFill>
                  <a:srgbClr val="008000"/>
                </a:solidFill>
                <a:latin typeface="Arial"/>
                <a:ea typeface="맑은 고딕"/>
              </a:rPr>
              <a:t>Low</a:t>
            </a:r>
          </a:p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13" i="1">
                <a:solidFill>
                  <a:srgbClr val="008000"/>
                </a:solidFill>
                <a:latin typeface="Arial"/>
                <a:ea typeface="맑은 고딕"/>
              </a:rPr>
              <a:t>46%</a:t>
            </a:r>
            <a:endParaRPr lang="ko-KR" altLang="en-US" sz="813" i="1">
              <a:solidFill>
                <a:srgbClr val="008000"/>
              </a:solidFill>
              <a:latin typeface="Arial"/>
              <a:ea typeface="맑은 고딕"/>
            </a:endParaRP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652331C9-BF4B-3178-1450-F13AC11102D3}"/>
              </a:ext>
            </a:extLst>
          </p:cNvPr>
          <p:cNvGraphicFramePr>
            <a:graphicFrameLocks noGrp="1"/>
          </p:cNvGraphicFramePr>
          <p:nvPr/>
        </p:nvGraphicFramePr>
        <p:xfrm>
          <a:off x="327480" y="3393846"/>
          <a:ext cx="445784" cy="399351"/>
        </p:xfrm>
        <a:graphic>
          <a:graphicData uri="http://schemas.openxmlformats.org/drawingml/2006/table">
            <a:tbl>
              <a:tblPr/>
              <a:tblGrid>
                <a:gridCol w="1476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24%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85D441B1-2999-FD0E-E601-8B3BC623B107}"/>
              </a:ext>
            </a:extLst>
          </p:cNvPr>
          <p:cNvGraphicFramePr>
            <a:graphicFrameLocks noGrp="1"/>
          </p:cNvGraphicFramePr>
          <p:nvPr/>
        </p:nvGraphicFramePr>
        <p:xfrm>
          <a:off x="325313" y="4538027"/>
          <a:ext cx="445784" cy="399351"/>
        </p:xfrm>
        <a:graphic>
          <a:graphicData uri="http://schemas.openxmlformats.org/drawingml/2006/table">
            <a:tbl>
              <a:tblPr/>
              <a:tblGrid>
                <a:gridCol w="1476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30%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765151D2-BD3D-41A3-54F0-980AE332933B}"/>
              </a:ext>
            </a:extLst>
          </p:cNvPr>
          <p:cNvSpPr/>
          <p:nvPr/>
        </p:nvSpPr>
        <p:spPr>
          <a:xfrm>
            <a:off x="328560" y="3283262"/>
            <a:ext cx="152286" cy="800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50" b="0" kern="0">
                <a:solidFill>
                  <a:srgbClr val="0000FF"/>
                </a:solidFill>
                <a:latin typeface="Arial"/>
                <a:ea typeface="맑은 고딕" panose="020B0503020000020004"/>
                <a:cs typeface="+mn-cs"/>
              </a:rPr>
              <a:t>2</a:t>
            </a:r>
            <a:r>
              <a:rPr kumimoji="0" lang="ko-KR" altLang="en-US" sz="650" b="0" kern="0">
                <a:solidFill>
                  <a:srgbClr val="0000FF"/>
                </a:solidFill>
                <a:latin typeface="Arial"/>
                <a:ea typeface="맑은 고딕" panose="020B0503020000020004"/>
                <a:cs typeface="+mn-cs"/>
              </a:rPr>
              <a:t>위 </a:t>
            </a:r>
            <a:endParaRPr kumimoji="0" lang="en-US" altLang="ko-KR" sz="650" b="0" kern="0">
              <a:solidFill>
                <a:srgbClr val="0000FF"/>
              </a:solidFill>
              <a:latin typeface="Arial"/>
              <a:ea typeface="맑은 고딕" panose="020B0503020000020004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0701B3F-B6CA-74EC-BD3B-4F07EE6D8CE3}"/>
              </a:ext>
            </a:extLst>
          </p:cNvPr>
          <p:cNvSpPr/>
          <p:nvPr/>
        </p:nvSpPr>
        <p:spPr>
          <a:xfrm>
            <a:off x="326390" y="4427686"/>
            <a:ext cx="129844" cy="800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50" b="0" kern="0">
                <a:solidFill>
                  <a:srgbClr val="0000FF"/>
                </a:solidFill>
                <a:latin typeface="Arial"/>
                <a:ea typeface="맑은 고딕" panose="020B0503020000020004"/>
                <a:cs typeface="+mn-cs"/>
              </a:rPr>
              <a:t>1</a:t>
            </a:r>
            <a:r>
              <a:rPr kumimoji="0" lang="ko-KR" altLang="en-US" sz="650" b="0" kern="0">
                <a:solidFill>
                  <a:srgbClr val="0000FF"/>
                </a:solidFill>
                <a:latin typeface="Arial"/>
                <a:ea typeface="맑은 고딕" panose="020B0503020000020004"/>
                <a:cs typeface="+mn-cs"/>
              </a:rPr>
              <a:t>위</a:t>
            </a:r>
            <a:endParaRPr kumimoji="0" lang="en-US" altLang="ko-KR" sz="650" b="0" kern="0">
              <a:solidFill>
                <a:srgbClr val="0000FF"/>
              </a:solidFill>
              <a:latin typeface="Arial"/>
              <a:ea typeface="맑은 고딕" panose="020B0503020000020004"/>
              <a:cs typeface="+mn-cs"/>
            </a:endParaRP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6A4D12FD-1C3D-5C90-3C7E-24C52B4E52BD}"/>
              </a:ext>
            </a:extLst>
          </p:cNvPr>
          <p:cNvCxnSpPr/>
          <p:nvPr/>
        </p:nvCxnSpPr>
        <p:spPr>
          <a:xfrm>
            <a:off x="670853" y="2844543"/>
            <a:ext cx="175520" cy="0"/>
          </a:xfrm>
          <a:prstGeom prst="line">
            <a:avLst/>
          </a:prstGeom>
          <a:noFill/>
          <a:ln w="9525" cap="flat" cmpd="sng" algn="ctr">
            <a:solidFill>
              <a:srgbClr val="008000"/>
            </a:solidFill>
            <a:prstDash val="solid"/>
          </a:ln>
          <a:effectLst/>
        </p:spPr>
      </p:cxn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A1540BDD-1419-22B8-E02C-B78C88F313B9}"/>
              </a:ext>
            </a:extLst>
          </p:cNvPr>
          <p:cNvGraphicFramePr>
            <a:graphicFrameLocks noGrp="1"/>
          </p:cNvGraphicFramePr>
          <p:nvPr/>
        </p:nvGraphicFramePr>
        <p:xfrm>
          <a:off x="325313" y="5501388"/>
          <a:ext cx="445784" cy="399351"/>
        </p:xfrm>
        <a:graphic>
          <a:graphicData uri="http://schemas.openxmlformats.org/drawingml/2006/table">
            <a:tbl>
              <a:tblPr/>
              <a:tblGrid>
                <a:gridCol w="1476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31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" name="직사각형 55">
            <a:extLst>
              <a:ext uri="{FF2B5EF4-FFF2-40B4-BE49-F238E27FC236}">
                <a16:creationId xmlns:a16="http://schemas.microsoft.com/office/drawing/2014/main" id="{DA973CFC-CAC4-AAA9-FD82-29A1F56AA966}"/>
              </a:ext>
            </a:extLst>
          </p:cNvPr>
          <p:cNvSpPr/>
          <p:nvPr/>
        </p:nvSpPr>
        <p:spPr>
          <a:xfrm>
            <a:off x="326390" y="5404284"/>
            <a:ext cx="129844" cy="800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defTabSz="742950" fontAlgn="auto" latinLnBrk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50" b="0" kern="0">
                <a:solidFill>
                  <a:srgbClr val="0000FF"/>
                </a:solidFill>
                <a:latin typeface="Arial"/>
                <a:ea typeface="맑은 고딕" panose="020B0503020000020004"/>
                <a:cs typeface="+mn-cs"/>
              </a:rPr>
              <a:t>4</a:t>
            </a:r>
            <a:r>
              <a:rPr kumimoji="0" lang="ko-KR" altLang="en-US" sz="650" b="0" kern="0">
                <a:solidFill>
                  <a:srgbClr val="0000FF"/>
                </a:solidFill>
                <a:latin typeface="Arial"/>
                <a:ea typeface="맑은 고딕" panose="020B0503020000020004"/>
                <a:cs typeface="+mn-cs"/>
              </a:rPr>
              <a:t>위</a:t>
            </a:r>
            <a:endParaRPr kumimoji="0" lang="en-US" altLang="ko-KR" sz="650" b="0" kern="0">
              <a:solidFill>
                <a:srgbClr val="0000FF"/>
              </a:solidFill>
              <a:latin typeface="Arial"/>
              <a:ea typeface="맑은 고딕" panose="020B0503020000020004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455A724-07CE-22AF-022C-89F6C5AB995A}"/>
              </a:ext>
            </a:extLst>
          </p:cNvPr>
          <p:cNvSpPr txBox="1"/>
          <p:nvPr/>
        </p:nvSpPr>
        <p:spPr bwMode="auto">
          <a:xfrm>
            <a:off x="3634458" y="5219123"/>
            <a:ext cx="450422" cy="38227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square" lIns="81401" tIns="40701" rIns="81401" bIns="40701" rtlCol="0">
            <a:spAutoFit/>
          </a:bodyPr>
          <a:lstStyle/>
          <a:p>
            <a:pPr algn="r"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975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$750</a:t>
            </a:r>
          </a:p>
          <a:p>
            <a:pPr algn="r"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975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~$600</a:t>
            </a:r>
            <a:endParaRPr kumimoji="0" lang="ko-KR" altLang="en-US" sz="975" b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343897B-12F9-14EA-DC3D-0258CA15033A}"/>
              </a:ext>
            </a:extLst>
          </p:cNvPr>
          <p:cNvSpPr txBox="1"/>
          <p:nvPr/>
        </p:nvSpPr>
        <p:spPr bwMode="auto">
          <a:xfrm>
            <a:off x="3646089" y="5732000"/>
            <a:ext cx="471650" cy="23223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square" lIns="81401" tIns="40701" rIns="81401" bIns="40701" rtlCol="0">
            <a:spAutoFit/>
          </a:bodyPr>
          <a:lstStyle/>
          <a:p>
            <a:pPr algn="r"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975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$600</a:t>
            </a:r>
            <a:r>
              <a:rPr kumimoji="0" lang="ko-KR" altLang="en-US" sz="975" b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↓</a:t>
            </a:r>
          </a:p>
        </p:txBody>
      </p:sp>
      <p:cxnSp>
        <p:nvCxnSpPr>
          <p:cNvPr id="59" name="연결선: 꺾임 58">
            <a:extLst>
              <a:ext uri="{FF2B5EF4-FFF2-40B4-BE49-F238E27FC236}">
                <a16:creationId xmlns:a16="http://schemas.microsoft.com/office/drawing/2014/main" id="{BD51897C-49F7-530A-AEAC-0369FE862733}"/>
              </a:ext>
            </a:extLst>
          </p:cNvPr>
          <p:cNvCxnSpPr>
            <a:cxnSpLocks/>
          </p:cNvCxnSpPr>
          <p:nvPr/>
        </p:nvCxnSpPr>
        <p:spPr>
          <a:xfrm flipV="1">
            <a:off x="2622773" y="5254580"/>
            <a:ext cx="1440344" cy="506988"/>
          </a:xfrm>
          <a:prstGeom prst="bentConnector3">
            <a:avLst>
              <a:gd name="adj1" fmla="val 50000"/>
            </a:avLst>
          </a:prstGeom>
          <a:noFill/>
          <a:ln w="3175" cap="rnd">
            <a:solidFill>
              <a:srgbClr val="C00000"/>
            </a:solidFill>
            <a:round/>
            <a:headEnd/>
            <a:tailEnd type="triangle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84ED5AEA-7324-61E6-1C84-D3D5CEE707ED}"/>
              </a:ext>
            </a:extLst>
          </p:cNvPr>
          <p:cNvCxnSpPr>
            <a:cxnSpLocks/>
          </p:cNvCxnSpPr>
          <p:nvPr/>
        </p:nvCxnSpPr>
        <p:spPr>
          <a:xfrm>
            <a:off x="2622773" y="5758987"/>
            <a:ext cx="1426305" cy="0"/>
          </a:xfrm>
          <a:prstGeom prst="straightConnector1">
            <a:avLst/>
          </a:prstGeom>
          <a:noFill/>
          <a:ln w="3175" cap="rnd">
            <a:solidFill>
              <a:srgbClr val="C00000"/>
            </a:solidFill>
            <a:round/>
            <a:headEnd/>
            <a:tailEnd type="triangle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32DA87D8-69B5-3EB6-6918-5CD83C372B06}"/>
              </a:ext>
            </a:extLst>
          </p:cNvPr>
          <p:cNvGraphicFramePr>
            <a:graphicFrameLocks noGrp="1"/>
          </p:cNvGraphicFramePr>
          <p:nvPr/>
        </p:nvGraphicFramePr>
        <p:xfrm>
          <a:off x="4066392" y="4966608"/>
          <a:ext cx="639192" cy="1053000"/>
        </p:xfrm>
        <a:graphic>
          <a:graphicData uri="http://schemas.openxmlformats.org/drawingml/2006/table">
            <a:tbl>
              <a:tblPr/>
              <a:tblGrid>
                <a:gridCol w="213064">
                  <a:extLst>
                    <a:ext uri="{9D8B030D-6E8A-4147-A177-3AD203B41FA5}">
                      <a16:colId xmlns:a16="http://schemas.microsoft.com/office/drawing/2014/main" val="2627980138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3454895726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3179816732"/>
                    </a:ext>
                  </a:extLst>
                </a:gridCol>
              </a:tblGrid>
              <a:tr h="175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3864289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404322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815985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331959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0339783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808080"/>
                          </a:solidFill>
                          <a:effectLst/>
                          <a:latin typeface="Arial Narrow" panose="020B0606020202030204"/>
                        </a:rPr>
                        <a:t>37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</a:rPr>
                        <a:t>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8305976"/>
                  </a:ext>
                </a:extLst>
              </a:tr>
            </a:tbl>
          </a:graphicData>
        </a:graphic>
      </p:graphicFrame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8EB2B243-F856-B8AE-FFA5-A7C991A65714}"/>
              </a:ext>
            </a:extLst>
          </p:cNvPr>
          <p:cNvGraphicFramePr>
            <a:graphicFrameLocks noGrp="1"/>
          </p:cNvGraphicFramePr>
          <p:nvPr/>
        </p:nvGraphicFramePr>
        <p:xfrm>
          <a:off x="4076543" y="4967922"/>
          <a:ext cx="639192" cy="1053000"/>
        </p:xfrm>
        <a:graphic>
          <a:graphicData uri="http://schemas.openxmlformats.org/drawingml/2006/table">
            <a:tbl>
              <a:tblPr/>
              <a:tblGrid>
                <a:gridCol w="213064">
                  <a:extLst>
                    <a:ext uri="{9D8B030D-6E8A-4147-A177-3AD203B41FA5}">
                      <a16:colId xmlns:a16="http://schemas.microsoft.com/office/drawing/2014/main" val="350376152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1673162681"/>
                    </a:ext>
                  </a:extLst>
                </a:gridCol>
                <a:gridCol w="213064">
                  <a:extLst>
                    <a:ext uri="{9D8B030D-6E8A-4147-A177-3AD203B41FA5}">
                      <a16:colId xmlns:a16="http://schemas.microsoft.com/office/drawing/2014/main" val="2073311849"/>
                    </a:ext>
                  </a:extLst>
                </a:gridCol>
              </a:tblGrid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0834211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794336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2153455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370112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1097356"/>
                  </a:ext>
                </a:extLst>
              </a:tr>
              <a:tr h="175500"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0" marR="0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ko-KR" altLang="en-US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2895" rtl="0" eaLnBrk="1" fontAlgn="ctr" latinLnBrk="0" hangingPunct="1"/>
                      <a:r>
                        <a:rPr lang="en-US" altLang="ko-KR" sz="700" b="1" i="0" u="none" strike="noStrike" kern="120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0" marR="0" marT="0" marB="0">
                    <a:lnL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8725134"/>
                  </a:ext>
                </a:extLst>
              </a:tr>
            </a:tbl>
          </a:graphicData>
        </a:graphic>
      </p:graphicFrame>
      <p:sp>
        <p:nvSpPr>
          <p:cNvPr id="63" name="직사각형 96">
            <a:extLst>
              <a:ext uri="{FF2B5EF4-FFF2-40B4-BE49-F238E27FC236}">
                <a16:creationId xmlns:a16="http://schemas.microsoft.com/office/drawing/2014/main" id="{63C8761E-D7E5-ACE9-F488-AC222B1F0B2D}"/>
              </a:ext>
            </a:extLst>
          </p:cNvPr>
          <p:cNvSpPr/>
          <p:nvPr/>
        </p:nvSpPr>
        <p:spPr bwMode="auto">
          <a:xfrm>
            <a:off x="3900488" y="2850906"/>
            <a:ext cx="656342" cy="540946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cxnSp>
        <p:nvCxnSpPr>
          <p:cNvPr id="64" name="연결선: 꺾임 63">
            <a:extLst>
              <a:ext uri="{FF2B5EF4-FFF2-40B4-BE49-F238E27FC236}">
                <a16:creationId xmlns:a16="http://schemas.microsoft.com/office/drawing/2014/main" id="{331EE21D-497B-839E-23EF-2F3780A582E0}"/>
              </a:ext>
            </a:extLst>
          </p:cNvPr>
          <p:cNvCxnSpPr>
            <a:cxnSpLocks/>
          </p:cNvCxnSpPr>
          <p:nvPr/>
        </p:nvCxnSpPr>
        <p:spPr>
          <a:xfrm flipV="1">
            <a:off x="2622773" y="5254580"/>
            <a:ext cx="1440344" cy="506988"/>
          </a:xfrm>
          <a:prstGeom prst="bentConnector3">
            <a:avLst>
              <a:gd name="adj1" fmla="val 50000"/>
            </a:avLst>
          </a:prstGeom>
          <a:noFill/>
          <a:ln w="3175" cap="rnd">
            <a:solidFill>
              <a:srgbClr val="C00000"/>
            </a:solidFill>
            <a:round/>
            <a:headEnd/>
            <a:tailEnd type="triangle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C7771717-2EBD-65B1-0C9E-E2D39BA7CB7B}"/>
              </a:ext>
            </a:extLst>
          </p:cNvPr>
          <p:cNvCxnSpPr>
            <a:cxnSpLocks/>
          </p:cNvCxnSpPr>
          <p:nvPr/>
        </p:nvCxnSpPr>
        <p:spPr>
          <a:xfrm>
            <a:off x="2622773" y="5758987"/>
            <a:ext cx="1426305" cy="0"/>
          </a:xfrm>
          <a:prstGeom prst="straightConnector1">
            <a:avLst/>
          </a:prstGeom>
          <a:noFill/>
          <a:ln w="3175" cap="rnd">
            <a:solidFill>
              <a:srgbClr val="C00000"/>
            </a:solidFill>
            <a:round/>
            <a:headEnd/>
            <a:tailEnd type="triangle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6" name="직사각형 96">
            <a:extLst>
              <a:ext uri="{FF2B5EF4-FFF2-40B4-BE49-F238E27FC236}">
                <a16:creationId xmlns:a16="http://schemas.microsoft.com/office/drawing/2014/main" id="{5DD074EE-185D-4A13-4226-A8A9CB8F03EF}"/>
              </a:ext>
            </a:extLst>
          </p:cNvPr>
          <p:cNvSpPr/>
          <p:nvPr/>
        </p:nvSpPr>
        <p:spPr bwMode="auto">
          <a:xfrm>
            <a:off x="2626172" y="4970918"/>
            <a:ext cx="646460" cy="530467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67" name="직사각형 96">
            <a:extLst>
              <a:ext uri="{FF2B5EF4-FFF2-40B4-BE49-F238E27FC236}">
                <a16:creationId xmlns:a16="http://schemas.microsoft.com/office/drawing/2014/main" id="{E22FE504-BD74-BD06-12CD-9E6D8CE9116C}"/>
              </a:ext>
            </a:extLst>
          </p:cNvPr>
          <p:cNvSpPr/>
          <p:nvPr/>
        </p:nvSpPr>
        <p:spPr bwMode="auto">
          <a:xfrm>
            <a:off x="2616835" y="2865596"/>
            <a:ext cx="643641" cy="526256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68" name="직사각형 67">
            <a:hlinkClick r:id="" action="ppaction://noaction"/>
            <a:extLst>
              <a:ext uri="{FF2B5EF4-FFF2-40B4-BE49-F238E27FC236}">
                <a16:creationId xmlns:a16="http://schemas.microsoft.com/office/drawing/2014/main" id="{64D86F35-6E87-140C-C701-C12355BD3CE8}"/>
              </a:ext>
            </a:extLst>
          </p:cNvPr>
          <p:cNvSpPr/>
          <p:nvPr/>
        </p:nvSpPr>
        <p:spPr>
          <a:xfrm>
            <a:off x="2489356" y="2799833"/>
            <a:ext cx="146250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9" name="직사각형 96">
            <a:extLst>
              <a:ext uri="{FF2B5EF4-FFF2-40B4-BE49-F238E27FC236}">
                <a16:creationId xmlns:a16="http://schemas.microsoft.com/office/drawing/2014/main" id="{6515B828-546B-D0B7-EBDB-9D0E3E04D87C}"/>
              </a:ext>
            </a:extLst>
          </p:cNvPr>
          <p:cNvSpPr/>
          <p:nvPr/>
        </p:nvSpPr>
        <p:spPr bwMode="auto">
          <a:xfrm>
            <a:off x="1991519" y="5506897"/>
            <a:ext cx="626095" cy="506950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70" name="직사각형 96">
            <a:extLst>
              <a:ext uri="{FF2B5EF4-FFF2-40B4-BE49-F238E27FC236}">
                <a16:creationId xmlns:a16="http://schemas.microsoft.com/office/drawing/2014/main" id="{2D62932B-DA09-7C5C-2303-9AB6F1F7ACCA}"/>
              </a:ext>
            </a:extLst>
          </p:cNvPr>
          <p:cNvSpPr/>
          <p:nvPr/>
        </p:nvSpPr>
        <p:spPr bwMode="auto">
          <a:xfrm>
            <a:off x="2616835" y="3391852"/>
            <a:ext cx="650134" cy="1576486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71" name="직사각형 70">
            <a:hlinkClick r:id="" action="ppaction://noaction"/>
            <a:extLst>
              <a:ext uri="{FF2B5EF4-FFF2-40B4-BE49-F238E27FC236}">
                <a16:creationId xmlns:a16="http://schemas.microsoft.com/office/drawing/2014/main" id="{17AF0428-23F0-1661-A7C0-FFADF38CDC92}"/>
              </a:ext>
            </a:extLst>
          </p:cNvPr>
          <p:cNvSpPr/>
          <p:nvPr/>
        </p:nvSpPr>
        <p:spPr>
          <a:xfrm>
            <a:off x="2514610" y="3298553"/>
            <a:ext cx="146250" cy="139263"/>
          </a:xfrm>
          <a:prstGeom prst="rect">
            <a:avLst/>
          </a:prstGeom>
          <a:solidFill>
            <a:schemeClr val="tx1"/>
          </a:solidFill>
        </p:spPr>
        <p:txBody>
          <a:bodyPr lIns="0" rIns="0"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2" name="직사각형 96">
            <a:extLst>
              <a:ext uri="{FF2B5EF4-FFF2-40B4-BE49-F238E27FC236}">
                <a16:creationId xmlns:a16="http://schemas.microsoft.com/office/drawing/2014/main" id="{CDABAD63-D989-B330-A2EA-08FDD1B2EA49}"/>
              </a:ext>
            </a:extLst>
          </p:cNvPr>
          <p:cNvSpPr/>
          <p:nvPr/>
        </p:nvSpPr>
        <p:spPr bwMode="auto">
          <a:xfrm>
            <a:off x="3258754" y="3385661"/>
            <a:ext cx="650134" cy="1582677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73" name="직사각형 72">
            <a:hlinkClick r:id="" action="ppaction://noaction"/>
            <a:extLst>
              <a:ext uri="{FF2B5EF4-FFF2-40B4-BE49-F238E27FC236}">
                <a16:creationId xmlns:a16="http://schemas.microsoft.com/office/drawing/2014/main" id="{EBED6D21-2C0D-D026-A99E-F113D0AE147A}"/>
              </a:ext>
            </a:extLst>
          </p:cNvPr>
          <p:cNvSpPr/>
          <p:nvPr/>
        </p:nvSpPr>
        <p:spPr>
          <a:xfrm>
            <a:off x="3199266" y="3333566"/>
            <a:ext cx="146250" cy="139263"/>
          </a:xfrm>
          <a:prstGeom prst="rect">
            <a:avLst/>
          </a:prstGeom>
          <a:solidFill>
            <a:schemeClr val="tx1"/>
          </a:solidFill>
        </p:spPr>
        <p:txBody>
          <a:bodyPr lIns="0" rIns="0"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4" name="직사각형 73">
            <a:hlinkClick r:id="" action="ppaction://noaction"/>
            <a:extLst>
              <a:ext uri="{FF2B5EF4-FFF2-40B4-BE49-F238E27FC236}">
                <a16:creationId xmlns:a16="http://schemas.microsoft.com/office/drawing/2014/main" id="{D04AD00D-23FA-9DB7-F0B0-BAC20DC3252A}"/>
              </a:ext>
            </a:extLst>
          </p:cNvPr>
          <p:cNvSpPr/>
          <p:nvPr/>
        </p:nvSpPr>
        <p:spPr>
          <a:xfrm>
            <a:off x="3786544" y="2795965"/>
            <a:ext cx="146250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5" name="직사각형 96">
            <a:extLst>
              <a:ext uri="{FF2B5EF4-FFF2-40B4-BE49-F238E27FC236}">
                <a16:creationId xmlns:a16="http://schemas.microsoft.com/office/drawing/2014/main" id="{321B2B06-DAFA-4E85-3F3E-79A91C9D4179}"/>
              </a:ext>
            </a:extLst>
          </p:cNvPr>
          <p:cNvSpPr/>
          <p:nvPr/>
        </p:nvSpPr>
        <p:spPr bwMode="auto">
          <a:xfrm>
            <a:off x="1991519" y="4979979"/>
            <a:ext cx="626095" cy="506950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9140" tIns="29569" rIns="59140" bIns="29569" numCol="1" rtlCol="0" anchor="ctr" anchorCtr="0" compatLnSpc="1">
            <a:prstTxWarp prst="textNoShape">
              <a:avLst/>
            </a:prstTxWarp>
          </a:bodyPr>
          <a:lstStyle/>
          <a:p>
            <a:pPr algn="ctr" defTabSz="602600" latinLnBrk="0">
              <a:spcBef>
                <a:spcPct val="30000"/>
              </a:spcBef>
              <a:defRPr/>
            </a:pPr>
            <a:endParaRPr lang="ko-KR" altLang="en-US" sz="925" u="sng" kern="0">
              <a:noFill/>
              <a:latin typeface="Arial Narrow" panose="020B0606020202030204" pitchFamily="34" charset="0"/>
              <a:ea typeface="LG스마트체 Regular" pitchFamily="50" charset="-127"/>
              <a:cs typeface="+mn-cs"/>
            </a:endParaRPr>
          </a:p>
        </p:txBody>
      </p:sp>
      <p:sp>
        <p:nvSpPr>
          <p:cNvPr id="76" name="직사각형 75">
            <a:hlinkClick r:id="" action="ppaction://noaction"/>
            <a:extLst>
              <a:ext uri="{FF2B5EF4-FFF2-40B4-BE49-F238E27FC236}">
                <a16:creationId xmlns:a16="http://schemas.microsoft.com/office/drawing/2014/main" id="{9DE1588C-C8F6-1118-C241-3C0637974233}"/>
              </a:ext>
            </a:extLst>
          </p:cNvPr>
          <p:cNvSpPr/>
          <p:nvPr/>
        </p:nvSpPr>
        <p:spPr>
          <a:xfrm>
            <a:off x="2504034" y="4902564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7" name="Text Box 5">
            <a:extLst>
              <a:ext uri="{FF2B5EF4-FFF2-40B4-BE49-F238E27FC236}">
                <a16:creationId xmlns:a16="http://schemas.microsoft.com/office/drawing/2014/main" id="{06E16CE2-3AE8-E8EF-9A58-E6E086589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831" y="5488459"/>
            <a:ext cx="697628" cy="3172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defPPr>
              <a:defRPr lang="ko-KR"/>
            </a:defPPr>
            <a:lvl1pPr eaLnBrk="1" hangingPunct="1">
              <a:defRPr sz="1400" b="1">
                <a:solidFill>
                  <a:prstClr val="black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‘21</a:t>
            </a:r>
            <a:r>
              <a:rPr lang="ko-KR" altLang="en-US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→</a:t>
            </a:r>
            <a:r>
              <a:rPr lang="en-US" altLang="ko-KR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’25</a:t>
            </a:r>
            <a:r>
              <a:rPr lang="ko-KR" altLang="en-US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</a:t>
            </a:r>
            <a:endParaRPr lang="en-US" altLang="ko-KR" sz="73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defTabSz="74277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0.8% </a:t>
            </a:r>
            <a:r>
              <a:rPr lang="ko-KR" altLang="en-US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4.3%</a:t>
            </a:r>
            <a:r>
              <a:rPr lang="ko-KR" altLang="en-US" sz="73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731" i="1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68BF1260-2466-9DA1-C08C-DDFC62EBB238}"/>
              </a:ext>
            </a:extLst>
          </p:cNvPr>
          <p:cNvSpPr txBox="1"/>
          <p:nvPr/>
        </p:nvSpPr>
        <p:spPr bwMode="auto">
          <a:xfrm>
            <a:off x="7447370" y="2308541"/>
            <a:ext cx="1499128" cy="300082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74811" indent="-74811"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/>
            </a:pPr>
            <a:r>
              <a:rPr kumimoji="0" lang="ko-KR" altLang="en-US" sz="975" kern="0" err="1">
                <a:solidFill>
                  <a:prstClr val="black"/>
                </a:solidFill>
                <a:cs typeface="+mn-cs"/>
              </a:rPr>
              <a:t>퀵존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기반 데일리 오븐으로 </a:t>
            </a:r>
            <a:br>
              <a:rPr kumimoji="0" lang="en-US" altLang="ko-KR" sz="975" kern="0">
                <a:solidFill>
                  <a:prstClr val="black"/>
                </a:solidFill>
                <a:cs typeface="+mn-cs"/>
              </a:rPr>
            </a:b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신규 카테고리 선점 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(’26.12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월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14DA104B-79BF-CECF-9178-A1E344A26EEE}"/>
              </a:ext>
            </a:extLst>
          </p:cNvPr>
          <p:cNvSpPr txBox="1"/>
          <p:nvPr/>
        </p:nvSpPr>
        <p:spPr bwMode="auto">
          <a:xfrm>
            <a:off x="7447370" y="2960119"/>
            <a:ext cx="1194558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74811" indent="-74811"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/>
            </a:pP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Next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S/in 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준비 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(‘27.3</a:t>
            </a: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월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)</a:t>
            </a: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2ED11736-1C01-9454-5753-311ABAD7E899}"/>
              </a:ext>
            </a:extLst>
          </p:cNvPr>
          <p:cNvSpPr/>
          <p:nvPr/>
        </p:nvSpPr>
        <p:spPr>
          <a:xfrm>
            <a:off x="7868012" y="3338556"/>
            <a:ext cx="713044" cy="162770"/>
          </a:xfrm>
          <a:prstGeom prst="roundRect">
            <a:avLst>
              <a:gd name="adj" fmla="val 6464"/>
            </a:avLst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13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경쟁력 강화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3B1F3062-9418-8E88-4A75-A43D41F59DEC}"/>
              </a:ext>
            </a:extLst>
          </p:cNvPr>
          <p:cNvSpPr/>
          <p:nvPr/>
        </p:nvSpPr>
        <p:spPr>
          <a:xfrm>
            <a:off x="8648528" y="3338556"/>
            <a:ext cx="713044" cy="162770"/>
          </a:xfrm>
          <a:prstGeom prst="roundRect">
            <a:avLst>
              <a:gd name="adj" fmla="val 6464"/>
            </a:avLst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ERRC</a:t>
            </a:r>
            <a:endParaRPr kumimoji="0" lang="ko-KR" altLang="en-US" sz="813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3F60D7B4-7AF3-C6AE-8123-EB3561841A3E}"/>
              </a:ext>
            </a:extLst>
          </p:cNvPr>
          <p:cNvSpPr txBox="1"/>
          <p:nvPr/>
        </p:nvSpPr>
        <p:spPr>
          <a:xfrm>
            <a:off x="7866824" y="3534934"/>
            <a:ext cx="737381" cy="393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R="0" lvl="0" indent="0" defTabSz="914400" fontAlgn="base" latin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>
              <a:buFontTx/>
              <a:buChar char="-"/>
              <a:defRPr/>
            </a:pPr>
            <a:r>
              <a:rPr lang="ko-KR" altLang="en-US" sz="853">
                <a:solidFill>
                  <a:prstClr val="black"/>
                </a:solidFill>
                <a:cs typeface="+mn-cs"/>
              </a:rPr>
              <a:t>신규 디자인</a:t>
            </a:r>
            <a:br>
              <a:rPr lang="en-US" altLang="ko-KR" sz="853">
                <a:solidFill>
                  <a:prstClr val="black"/>
                </a:solidFill>
                <a:cs typeface="+mn-cs"/>
              </a:rPr>
            </a:br>
            <a:r>
              <a:rPr lang="en-US" altLang="ko-KR" sz="853">
                <a:solidFill>
                  <a:prstClr val="black"/>
                </a:solidFill>
                <a:cs typeface="+mn-cs"/>
              </a:rPr>
              <a:t>- Inverter</a:t>
            </a:r>
            <a:r>
              <a:rPr lang="ko-KR" altLang="en-US" sz="853">
                <a:solidFill>
                  <a:prstClr val="black"/>
                </a:solidFill>
                <a:cs typeface="+mn-cs"/>
              </a:rPr>
              <a:t> </a:t>
            </a:r>
            <a:r>
              <a:rPr lang="en-US" altLang="ko-KR" sz="853" err="1">
                <a:solidFill>
                  <a:prstClr val="black"/>
                </a:solidFill>
                <a:cs typeface="+mn-cs"/>
              </a:rPr>
              <a:t>Probake</a:t>
            </a:r>
            <a:br>
              <a:rPr lang="en-US" altLang="ko-KR" sz="853">
                <a:solidFill>
                  <a:prstClr val="black"/>
                </a:solidFill>
                <a:cs typeface="+mn-cs"/>
              </a:rPr>
            </a:br>
            <a:r>
              <a:rPr lang="en-US" altLang="ko-KR" sz="853">
                <a:solidFill>
                  <a:prstClr val="black"/>
                </a:solidFill>
                <a:cs typeface="+mn-cs"/>
              </a:rPr>
              <a:t>- Speed Self-clean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3F2CA257-3872-92A1-4E2E-37904543BB68}"/>
              </a:ext>
            </a:extLst>
          </p:cNvPr>
          <p:cNvSpPr txBox="1"/>
          <p:nvPr/>
        </p:nvSpPr>
        <p:spPr>
          <a:xfrm>
            <a:off x="8651248" y="3534934"/>
            <a:ext cx="674865" cy="393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R="0" lvl="0" indent="0" defTabSz="914400" fontAlgn="base" latin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>
              <a:defRPr/>
            </a:pPr>
            <a:r>
              <a:rPr lang="en-US" altLang="ko-KR" sz="853">
                <a:solidFill>
                  <a:prstClr val="black"/>
                </a:solidFill>
                <a:cs typeface="+mn-cs"/>
              </a:rPr>
              <a:t>- </a:t>
            </a:r>
            <a:r>
              <a:rPr lang="ko-KR" altLang="en-US" sz="853" err="1">
                <a:solidFill>
                  <a:prstClr val="black"/>
                </a:solidFill>
                <a:cs typeface="+mn-cs"/>
              </a:rPr>
              <a:t>캐비티</a:t>
            </a:r>
            <a:r>
              <a:rPr lang="ko-KR" altLang="en-US" sz="853">
                <a:solidFill>
                  <a:prstClr val="black"/>
                </a:solidFill>
                <a:cs typeface="+mn-cs"/>
              </a:rPr>
              <a:t> 일원화</a:t>
            </a:r>
            <a:br>
              <a:rPr lang="en-US" altLang="ko-KR" sz="853">
                <a:solidFill>
                  <a:prstClr val="black"/>
                </a:solidFill>
                <a:cs typeface="+mn-cs"/>
              </a:rPr>
            </a:br>
            <a:r>
              <a:rPr lang="en-US" altLang="ko-KR" sz="853">
                <a:solidFill>
                  <a:prstClr val="black"/>
                </a:solidFill>
                <a:cs typeface="+mn-cs"/>
              </a:rPr>
              <a:t>- </a:t>
            </a:r>
            <a:r>
              <a:rPr lang="en-US" altLang="ko-KR" sz="853" err="1">
                <a:solidFill>
                  <a:prstClr val="black"/>
                </a:solidFill>
                <a:cs typeface="+mn-cs"/>
              </a:rPr>
              <a:t>Probake</a:t>
            </a:r>
            <a:r>
              <a:rPr lang="en-US" altLang="ko-KR" sz="853">
                <a:solidFill>
                  <a:prstClr val="black"/>
                </a:solidFill>
                <a:cs typeface="+mn-cs"/>
              </a:rPr>
              <a:t> </a:t>
            </a:r>
            <a:r>
              <a:rPr lang="ko-KR" altLang="en-US" sz="853">
                <a:solidFill>
                  <a:prstClr val="black"/>
                </a:solidFill>
                <a:cs typeface="+mn-cs"/>
              </a:rPr>
              <a:t>확대</a:t>
            </a:r>
            <a:br>
              <a:rPr lang="en-US" altLang="ko-KR" sz="853">
                <a:solidFill>
                  <a:prstClr val="black"/>
                </a:solidFill>
                <a:cs typeface="+mn-cs"/>
              </a:rPr>
            </a:br>
            <a:r>
              <a:rPr lang="en-US" altLang="ko-KR" sz="853">
                <a:solidFill>
                  <a:prstClr val="black"/>
                </a:solidFill>
                <a:cs typeface="+mn-cs"/>
              </a:rPr>
              <a:t>- Full Glass </a:t>
            </a:r>
            <a:r>
              <a:rPr lang="ko-KR" altLang="en-US" sz="853" err="1">
                <a:solidFill>
                  <a:prstClr val="black"/>
                </a:solidFill>
                <a:cs typeface="+mn-cs"/>
              </a:rPr>
              <a:t>쿡탑</a:t>
            </a:r>
            <a:endParaRPr lang="ko-KR" altLang="en-US" sz="853">
              <a:solidFill>
                <a:prstClr val="black"/>
              </a:solidFill>
              <a:cs typeface="+mn-cs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6E2D9DCD-B361-9EBA-060F-252D2B28E03A}"/>
              </a:ext>
            </a:extLst>
          </p:cNvPr>
          <p:cNvSpPr txBox="1"/>
          <p:nvPr/>
        </p:nvSpPr>
        <p:spPr bwMode="auto">
          <a:xfrm>
            <a:off x="7447370" y="4833954"/>
            <a:ext cx="1717137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74811" indent="-74811"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/>
            </a:pP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한계 돌파 기반 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S/in 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커버리지 확대</a:t>
            </a:r>
            <a:endParaRPr kumimoji="0" lang="en-US" altLang="ko-KR" sz="975" kern="0">
              <a:solidFill>
                <a:prstClr val="black"/>
              </a:solidFill>
              <a:cs typeface="+mn-cs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540FBA6-014D-02B0-2B8C-670DBC36B28C}"/>
              </a:ext>
            </a:extLst>
          </p:cNvPr>
          <p:cNvSpPr txBox="1"/>
          <p:nvPr/>
        </p:nvSpPr>
        <p:spPr>
          <a:xfrm>
            <a:off x="7492643" y="5726214"/>
            <a:ext cx="1594988" cy="1312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R="0" lvl="0" indent="0" defTabSz="914400" fontAlgn="base" latin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>
              <a:defRPr/>
            </a:pPr>
            <a:r>
              <a:rPr lang="en-US" altLang="ko-KR" sz="853">
                <a:solidFill>
                  <a:prstClr val="black"/>
                </a:solidFill>
                <a:cs typeface="+mn-cs"/>
              </a:rPr>
              <a:t>- S/in : </a:t>
            </a:r>
            <a:r>
              <a:rPr lang="ko-KR" altLang="en-US" sz="853">
                <a:solidFill>
                  <a:prstClr val="black"/>
                </a:solidFill>
                <a:cs typeface="+mn-cs"/>
              </a:rPr>
              <a:t>전기 </a:t>
            </a:r>
            <a:r>
              <a:rPr lang="en-US" altLang="ko-KR" sz="853">
                <a:solidFill>
                  <a:prstClr val="black"/>
                </a:solidFill>
                <a:cs typeface="+mn-cs"/>
              </a:rPr>
              <a:t>$799 / </a:t>
            </a:r>
            <a:r>
              <a:rPr lang="ko-KR" altLang="en-US" sz="853">
                <a:solidFill>
                  <a:prstClr val="black"/>
                </a:solidFill>
                <a:cs typeface="+mn-cs"/>
              </a:rPr>
              <a:t>가스 </a:t>
            </a:r>
            <a:r>
              <a:rPr lang="en-US" altLang="ko-KR" sz="853">
                <a:solidFill>
                  <a:prstClr val="black"/>
                </a:solidFill>
                <a:cs typeface="+mn-cs"/>
              </a:rPr>
              <a:t>$899 / IH $999</a:t>
            </a:r>
            <a:endParaRPr lang="ko-KR" altLang="en-US" sz="853">
              <a:solidFill>
                <a:prstClr val="black"/>
              </a:solidFill>
              <a:cs typeface="+mn-cs"/>
            </a:endParaRPr>
          </a:p>
        </p:txBody>
      </p:sp>
      <p:sp>
        <p:nvSpPr>
          <p:cNvPr id="89" name="직사각형 88">
            <a:hlinkClick r:id="" action="ppaction://noaction"/>
            <a:extLst>
              <a:ext uri="{FF2B5EF4-FFF2-40B4-BE49-F238E27FC236}">
                <a16:creationId xmlns:a16="http://schemas.microsoft.com/office/drawing/2014/main" id="{D01AD620-DED0-A3A0-2684-B917ABAAF6D1}"/>
              </a:ext>
            </a:extLst>
          </p:cNvPr>
          <p:cNvSpPr/>
          <p:nvPr/>
        </p:nvSpPr>
        <p:spPr>
          <a:xfrm>
            <a:off x="7378686" y="2312524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0" name="직사각형 89">
            <a:hlinkClick r:id="rId2" action="ppaction://hlinksldjump"/>
            <a:extLst>
              <a:ext uri="{FF2B5EF4-FFF2-40B4-BE49-F238E27FC236}">
                <a16:creationId xmlns:a16="http://schemas.microsoft.com/office/drawing/2014/main" id="{9DB91F24-7703-12A7-8518-7C7EF6DCD4A0}"/>
              </a:ext>
            </a:extLst>
          </p:cNvPr>
          <p:cNvSpPr/>
          <p:nvPr/>
        </p:nvSpPr>
        <p:spPr>
          <a:xfrm>
            <a:off x="7378686" y="4839343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D11043CE-9D16-C5F8-84FF-82709D58EF8B}"/>
              </a:ext>
            </a:extLst>
          </p:cNvPr>
          <p:cNvSpPr txBox="1"/>
          <p:nvPr/>
        </p:nvSpPr>
        <p:spPr bwMode="auto">
          <a:xfrm>
            <a:off x="5051624" y="2251485"/>
            <a:ext cx="1752403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74811" indent="-74811"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/>
            </a:pP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LG SIGNATURE 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리브랜딩 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(’26.3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월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)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5FF508F-618B-F5D6-6F06-8116E7BD3AC9}"/>
              </a:ext>
            </a:extLst>
          </p:cNvPr>
          <p:cNvSpPr txBox="1"/>
          <p:nvPr/>
        </p:nvSpPr>
        <p:spPr bwMode="auto">
          <a:xfrm>
            <a:off x="5054204" y="4833954"/>
            <a:ext cx="2289409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74811" indent="-74811"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/>
            </a:pP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원가 개선과</a:t>
            </a:r>
            <a:r>
              <a:rPr kumimoji="0" lang="en-US" altLang="ko-KR" sz="975" kern="0">
                <a:solidFill>
                  <a:prstClr val="black"/>
                </a:solidFill>
                <a:cs typeface="+mn-cs"/>
              </a:rPr>
              <a:t>, </a:t>
            </a:r>
            <a:r>
              <a:rPr kumimoji="0" lang="ko-KR" altLang="en-US" sz="975" kern="0" err="1">
                <a:solidFill>
                  <a:prstClr val="black"/>
                </a:solidFill>
                <a:cs typeface="+mn-cs"/>
              </a:rPr>
              <a:t>하방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 전개  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(20</a:t>
            </a: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만대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/Y</a:t>
            </a: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대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, COI 3%)</a:t>
            </a:r>
            <a:r>
              <a:rPr kumimoji="0" lang="ko-KR" altLang="en-US" sz="975" kern="0">
                <a:solidFill>
                  <a:prstClr val="black"/>
                </a:solidFill>
                <a:cs typeface="+mn-cs"/>
              </a:rPr>
              <a:t> </a:t>
            </a:r>
            <a:endParaRPr kumimoji="0" lang="en-US" altLang="ko-KR" sz="975" kern="0">
              <a:solidFill>
                <a:prstClr val="black"/>
              </a:solidFill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EFF47394-55D0-F492-D5FD-1B85A1481757}"/>
              </a:ext>
            </a:extLst>
          </p:cNvPr>
          <p:cNvSpPr txBox="1"/>
          <p:nvPr/>
        </p:nvSpPr>
        <p:spPr bwMode="auto">
          <a:xfrm>
            <a:off x="5128966" y="5172133"/>
            <a:ext cx="1439497" cy="137602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노바 싱글 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F/S</a:t>
            </a: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Basic</a:t>
            </a: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모델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(’26.3</a:t>
            </a: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월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)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9A12CF4-5D36-243E-3E5B-568A4169A310}"/>
              </a:ext>
            </a:extLst>
          </p:cNvPr>
          <p:cNvSpPr txBox="1"/>
          <p:nvPr/>
        </p:nvSpPr>
        <p:spPr bwMode="auto">
          <a:xfrm>
            <a:off x="5128966" y="5689497"/>
            <a:ext cx="1720023" cy="137602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노바 싱글 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F/S</a:t>
            </a: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 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Entry $599</a:t>
            </a: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모델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(’26.11</a:t>
            </a:r>
            <a:r>
              <a:rPr kumimoji="0" lang="ko-KR" altLang="en-US" sz="894" b="0" kern="0">
                <a:solidFill>
                  <a:prstClr val="black"/>
                </a:solidFill>
                <a:cs typeface="+mn-cs"/>
              </a:rPr>
              <a:t>월</a:t>
            </a:r>
            <a:r>
              <a:rPr kumimoji="0" lang="en-US" altLang="ko-KR" sz="894" b="0" kern="0">
                <a:solidFill>
                  <a:prstClr val="black"/>
                </a:solidFill>
                <a:cs typeface="+mn-cs"/>
              </a:rPr>
              <a:t>)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79CCC072-D615-DA3C-29DA-49A9E62FFC74}"/>
              </a:ext>
            </a:extLst>
          </p:cNvPr>
          <p:cNvSpPr/>
          <p:nvPr/>
        </p:nvSpPr>
        <p:spPr>
          <a:xfrm>
            <a:off x="4967859" y="4839343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7" name="직사각형 96">
            <a:hlinkClick r:id="" action="ppaction://noaction"/>
            <a:extLst>
              <a:ext uri="{FF2B5EF4-FFF2-40B4-BE49-F238E27FC236}">
                <a16:creationId xmlns:a16="http://schemas.microsoft.com/office/drawing/2014/main" id="{7CCEF0C6-B272-B955-D19E-BEB71402E612}"/>
              </a:ext>
            </a:extLst>
          </p:cNvPr>
          <p:cNvSpPr/>
          <p:nvPr/>
        </p:nvSpPr>
        <p:spPr>
          <a:xfrm>
            <a:off x="1903419" y="4915724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0" name="TextBox 99">
            <a:hlinkClick r:id="" action="ppaction://noaction"/>
            <a:extLst>
              <a:ext uri="{FF2B5EF4-FFF2-40B4-BE49-F238E27FC236}">
                <a16:creationId xmlns:a16="http://schemas.microsoft.com/office/drawing/2014/main" id="{E88C615B-EBB1-3BE1-56DC-691A53DEADCC}"/>
              </a:ext>
            </a:extLst>
          </p:cNvPr>
          <p:cNvSpPr txBox="1"/>
          <p:nvPr/>
        </p:nvSpPr>
        <p:spPr>
          <a:xfrm>
            <a:off x="4317073" y="6066168"/>
            <a:ext cx="413907" cy="11246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>
                <a:solidFill>
                  <a:prstClr val="white">
                    <a:lumMod val="8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시장변화</a:t>
            </a:r>
          </a:p>
        </p:txBody>
      </p:sp>
      <p:sp>
        <p:nvSpPr>
          <p:cNvPr id="106" name="오른쪽 화살표 248">
            <a:extLst>
              <a:ext uri="{FF2B5EF4-FFF2-40B4-BE49-F238E27FC236}">
                <a16:creationId xmlns:a16="http://schemas.microsoft.com/office/drawing/2014/main" id="{534CCFE8-5BFD-A776-8353-D0481FD5B493}"/>
              </a:ext>
            </a:extLst>
          </p:cNvPr>
          <p:cNvSpPr>
            <a:spLocks/>
          </p:cNvSpPr>
          <p:nvPr/>
        </p:nvSpPr>
        <p:spPr bwMode="auto">
          <a:xfrm>
            <a:off x="4927173" y="2726076"/>
            <a:ext cx="4572133" cy="182673"/>
          </a:xfrm>
          <a:prstGeom prst="rightArrow">
            <a:avLst>
              <a:gd name="adj1" fmla="val 100000"/>
              <a:gd name="adj2" fmla="val 29546"/>
            </a:avLst>
          </a:prstGeom>
          <a:solidFill>
            <a:schemeClr val="bg1">
              <a:lumMod val="85000"/>
            </a:schemeClr>
          </a:solidFill>
          <a:ln w="6350" cap="flat" cmpd="sng" algn="ctr">
            <a:solidFill>
              <a:sysClr val="window" lastClr="FFFFFF">
                <a:lumMod val="85000"/>
              </a:sys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defTabSz="742931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볼륨 존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슬라이드인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$900~2000)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건전한 사업 성장 위한 절대우위 확보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975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D9F4C6D-649E-8F2F-90B2-983876B9A750}"/>
              </a:ext>
            </a:extLst>
          </p:cNvPr>
          <p:cNvSpPr txBox="1"/>
          <p:nvPr/>
        </p:nvSpPr>
        <p:spPr bwMode="auto">
          <a:xfrm>
            <a:off x="7455109" y="3318726"/>
            <a:ext cx="360676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① 제품</a:t>
            </a:r>
            <a:endParaRPr kumimoji="0" lang="en-US" altLang="ko-KR" sz="975" b="0" kern="0">
              <a:solidFill>
                <a:prstClr val="black"/>
              </a:solidFill>
              <a:cs typeface="+mn-cs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036B225D-A244-63DF-B95F-DA3A84CBE760}"/>
              </a:ext>
            </a:extLst>
          </p:cNvPr>
          <p:cNvSpPr txBox="1"/>
          <p:nvPr/>
        </p:nvSpPr>
        <p:spPr bwMode="auto">
          <a:xfrm>
            <a:off x="7455109" y="4106690"/>
            <a:ext cx="1348126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② 생산지 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: KR-MN-VH </a:t>
            </a: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스윙 </a:t>
            </a:r>
            <a:endParaRPr kumimoji="0" lang="en-US" altLang="ko-KR" sz="975" b="0" kern="0">
              <a:solidFill>
                <a:prstClr val="black"/>
              </a:solidFill>
              <a:cs typeface="+mn-cs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020B4262-B284-5E98-0E33-221A1A376FF2}"/>
              </a:ext>
            </a:extLst>
          </p:cNvPr>
          <p:cNvSpPr txBox="1"/>
          <p:nvPr/>
        </p:nvSpPr>
        <p:spPr bwMode="auto">
          <a:xfrm>
            <a:off x="7455110" y="4272389"/>
            <a:ext cx="1790555" cy="15004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>
              <a:lnSpc>
                <a:spcPct val="80000"/>
              </a:lnSpc>
              <a:defRPr sz="9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31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③ 마케팅 </a:t>
            </a:r>
            <a:r>
              <a:rPr kumimoji="0" lang="en-US" altLang="ko-KR" sz="975" b="0" kern="0">
                <a:solidFill>
                  <a:prstClr val="black"/>
                </a:solidFill>
                <a:cs typeface="+mn-cs"/>
              </a:rPr>
              <a:t>: Why LG </a:t>
            </a:r>
            <a:r>
              <a:rPr kumimoji="0" lang="ko-KR" altLang="en-US" sz="975" b="0" kern="0" err="1">
                <a:solidFill>
                  <a:prstClr val="black"/>
                </a:solidFill>
                <a:cs typeface="+mn-cs"/>
              </a:rPr>
              <a:t>소구</a:t>
            </a:r>
            <a:r>
              <a:rPr kumimoji="0" lang="ko-KR" altLang="en-US" sz="975" b="0" kern="0">
                <a:solidFill>
                  <a:prstClr val="black"/>
                </a:solidFill>
                <a:cs typeface="+mn-cs"/>
              </a:rPr>
              <a:t> 포인트 강화</a:t>
            </a:r>
            <a:endParaRPr kumimoji="0" lang="en-US" altLang="ko-KR" sz="975" b="0" kern="0">
              <a:solidFill>
                <a:prstClr val="black"/>
              </a:solidFill>
              <a:cs typeface="+mn-cs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540C737-C40E-2A3E-7316-1DEA1B104364}"/>
              </a:ext>
            </a:extLst>
          </p:cNvPr>
          <p:cNvSpPr txBox="1"/>
          <p:nvPr/>
        </p:nvSpPr>
        <p:spPr>
          <a:xfrm>
            <a:off x="7330390" y="3091997"/>
            <a:ext cx="2575610" cy="3172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개년 시장변화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시장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저체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리프레시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출시 시점마다 자사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M/S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성장</a:t>
            </a:r>
            <a:endParaRPr kumimoji="0" lang="en-US" altLang="ko-KR" sz="731" b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A2B6055-92AA-C848-244B-AAA76A44B3EC}"/>
              </a:ext>
            </a:extLst>
          </p:cNvPr>
          <p:cNvSpPr txBox="1"/>
          <p:nvPr/>
        </p:nvSpPr>
        <p:spPr>
          <a:xfrm>
            <a:off x="4839421" y="2102331"/>
            <a:ext cx="3069901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개년 시장변화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M/S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순위 안 바뀜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카페출시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후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키친에이드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영향력축소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</a:t>
            </a:r>
          </a:p>
        </p:txBody>
      </p:sp>
      <p:sp>
        <p:nvSpPr>
          <p:cNvPr id="120" name="오른쪽 화살표 248">
            <a:extLst>
              <a:ext uri="{FF2B5EF4-FFF2-40B4-BE49-F238E27FC236}">
                <a16:creationId xmlns:a16="http://schemas.microsoft.com/office/drawing/2014/main" id="{8B9F905C-7BB7-0ACB-5EE6-0355A72D7B09}"/>
              </a:ext>
            </a:extLst>
          </p:cNvPr>
          <p:cNvSpPr>
            <a:spLocks/>
          </p:cNvSpPr>
          <p:nvPr/>
        </p:nvSpPr>
        <p:spPr bwMode="auto">
          <a:xfrm>
            <a:off x="4927173" y="4540506"/>
            <a:ext cx="4572133" cy="182673"/>
          </a:xfrm>
          <a:prstGeom prst="rightArrow">
            <a:avLst>
              <a:gd name="adj1" fmla="val 100000"/>
              <a:gd name="adj2" fmla="val 29546"/>
            </a:avLst>
          </a:prstGeom>
          <a:solidFill>
            <a:schemeClr val="bg1">
              <a:lumMod val="85000"/>
            </a:schemeClr>
          </a:solidFill>
          <a:ln w="6350" cap="flat" cmpd="sng" algn="ctr">
            <a:solidFill>
              <a:sysClr val="window" lastClr="FFFFFF">
                <a:lumMod val="85000"/>
              </a:sys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defTabSz="742931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로우 존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슬라이드인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975" b="0" kern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프리스탠딩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$900</a:t>
            </a:r>
            <a:r>
              <a:rPr kumimoji="0" lang="ko-KR" altLang="en-US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↓ 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수요 </a:t>
            </a:r>
            <a:r>
              <a:rPr kumimoji="0" lang="en-US" altLang="ko-KR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Shift</a:t>
            </a:r>
            <a:r>
              <a:rPr kumimoji="0" lang="ko-KR" altLang="en-US" sz="975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를 전제한 존재감 만들기</a:t>
            </a:r>
            <a:r>
              <a:rPr kumimoji="0" lang="ko-KR" altLang="en-US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75" b="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975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ADA27F96-3DC5-9796-02AA-F4BB19BCC4A0}"/>
              </a:ext>
            </a:extLst>
          </p:cNvPr>
          <p:cNvSpPr txBox="1"/>
          <p:nvPr/>
        </p:nvSpPr>
        <p:spPr>
          <a:xfrm>
            <a:off x="5017419" y="4960311"/>
            <a:ext cx="2795579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개년 시장변화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자사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쉐어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변변치 못함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가격이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안맞춰져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존재감없음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6FBAB7FD-44A0-5B15-08E5-D20E25FBC23A}"/>
              </a:ext>
            </a:extLst>
          </p:cNvPr>
          <p:cNvSpPr txBox="1"/>
          <p:nvPr/>
        </p:nvSpPr>
        <p:spPr>
          <a:xfrm>
            <a:off x="4932748" y="1750791"/>
            <a:ext cx="506870" cy="2048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00CC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14%</a:t>
            </a:r>
            <a:r>
              <a:rPr kumimoji="0" lang="ko-KR" altLang="en-US" sz="731" b="0">
                <a:solidFill>
                  <a:srgbClr val="0000CC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시장</a:t>
            </a:r>
            <a:endParaRPr kumimoji="0" lang="en-US" altLang="ko-KR" sz="731" b="0">
              <a:solidFill>
                <a:srgbClr val="0000CC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CE9534DE-7F4C-1486-C4E4-34849F26A8D2}"/>
              </a:ext>
            </a:extLst>
          </p:cNvPr>
          <p:cNvSpPr txBox="1"/>
          <p:nvPr/>
        </p:nvSpPr>
        <p:spPr>
          <a:xfrm>
            <a:off x="4932748" y="2563362"/>
            <a:ext cx="506870" cy="2048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00CC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40%</a:t>
            </a:r>
            <a:r>
              <a:rPr kumimoji="0" lang="ko-KR" altLang="en-US" sz="731" b="0">
                <a:solidFill>
                  <a:srgbClr val="0000CC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시장</a:t>
            </a:r>
            <a:endParaRPr kumimoji="0" lang="en-US" altLang="ko-KR" sz="731" b="0">
              <a:solidFill>
                <a:srgbClr val="0000CC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B167EC5-84BF-AD6E-74FD-6EC211911D48}"/>
              </a:ext>
            </a:extLst>
          </p:cNvPr>
          <p:cNvSpPr txBox="1"/>
          <p:nvPr/>
        </p:nvSpPr>
        <p:spPr>
          <a:xfrm>
            <a:off x="4932748" y="4350985"/>
            <a:ext cx="506870" cy="2048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00CC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46%</a:t>
            </a:r>
            <a:r>
              <a:rPr kumimoji="0" lang="ko-KR" altLang="en-US" sz="731" b="0">
                <a:solidFill>
                  <a:srgbClr val="0000CC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시장</a:t>
            </a:r>
            <a:endParaRPr kumimoji="0" lang="en-US" altLang="ko-KR" sz="731" b="0">
              <a:solidFill>
                <a:srgbClr val="0000CC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8AB48B0-86CB-F10C-6AA3-B764726E2C92}"/>
              </a:ext>
            </a:extLst>
          </p:cNvPr>
          <p:cNvSpPr txBox="1"/>
          <p:nvPr/>
        </p:nvSpPr>
        <p:spPr>
          <a:xfrm>
            <a:off x="6789086" y="5660006"/>
            <a:ext cx="1228583" cy="542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목표재료비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$205 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스펙증가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+$100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원가절감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$90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(Base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대비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en-US" altLang="ko-KR" sz="731" b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8BE1AED2-D3A0-A6FC-F1EC-8E1E59DA93D6}"/>
              </a:ext>
            </a:extLst>
          </p:cNvPr>
          <p:cNvSpPr txBox="1"/>
          <p:nvPr/>
        </p:nvSpPr>
        <p:spPr>
          <a:xfrm>
            <a:off x="7474336" y="2102331"/>
            <a:ext cx="2458974" cy="3172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시장변화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식생활 변화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쿠킹 라이프 변화하는데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제품은 그대로</a:t>
            </a:r>
            <a:endParaRPr kumimoji="0" lang="en-US" altLang="ko-KR" sz="731" b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0" name="직사각형 129">
            <a:hlinkClick r:id="" action="ppaction://noaction"/>
            <a:extLst>
              <a:ext uri="{FF2B5EF4-FFF2-40B4-BE49-F238E27FC236}">
                <a16:creationId xmlns:a16="http://schemas.microsoft.com/office/drawing/2014/main" id="{02F206A1-8A81-9E68-3F8C-3F84DC2ED73D}"/>
              </a:ext>
            </a:extLst>
          </p:cNvPr>
          <p:cNvSpPr/>
          <p:nvPr/>
        </p:nvSpPr>
        <p:spPr>
          <a:xfrm>
            <a:off x="7378686" y="2952050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1" name="Text Box 2">
            <a:hlinkClick r:id="" action="ppaction://noaction"/>
            <a:extLst>
              <a:ext uri="{FF2B5EF4-FFF2-40B4-BE49-F238E27FC236}">
                <a16:creationId xmlns:a16="http://schemas.microsoft.com/office/drawing/2014/main" id="{3BDBF175-94B9-1320-0C41-D81F12898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9136" y="2472574"/>
            <a:ext cx="1654299" cy="14523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R="0" lvl="0" indent="0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0" sz="11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 defTabSz="742950">
              <a:defRPr/>
            </a:pPr>
            <a:r>
              <a:rPr lang="en-US" altLang="ko-KR" sz="853"/>
              <a:t>-</a:t>
            </a:r>
            <a:r>
              <a:rPr lang="ko-KR" altLang="en-US" sz="853"/>
              <a:t> 패키지 </a:t>
            </a:r>
            <a:r>
              <a:rPr lang="en-US" altLang="ko-KR" sz="853"/>
              <a:t>: 4PCS</a:t>
            </a:r>
            <a:r>
              <a:rPr lang="ko-KR" altLang="en-US" sz="853"/>
              <a:t> 패키지</a:t>
            </a:r>
            <a:r>
              <a:rPr lang="en-US" altLang="ko-KR" sz="853"/>
              <a:t>/</a:t>
            </a:r>
            <a:r>
              <a:rPr lang="ko-KR" altLang="en-US" sz="853"/>
              <a:t> 컬러 </a:t>
            </a:r>
            <a:r>
              <a:rPr lang="en-US" altLang="ko-KR" sz="853"/>
              <a:t>SKU </a:t>
            </a:r>
            <a:r>
              <a:rPr lang="ko-KR" altLang="en-US" sz="853"/>
              <a:t>출시</a:t>
            </a:r>
          </a:p>
        </p:txBody>
      </p:sp>
      <p:sp>
        <p:nvSpPr>
          <p:cNvPr id="132" name="Text Box 2">
            <a:hlinkClick r:id="" action="ppaction://noaction"/>
            <a:extLst>
              <a:ext uri="{FF2B5EF4-FFF2-40B4-BE49-F238E27FC236}">
                <a16:creationId xmlns:a16="http://schemas.microsoft.com/office/drawing/2014/main" id="{FE2A5BA4-7B10-A7F5-C172-DB441A41CE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0455" y="2363986"/>
            <a:ext cx="1311256" cy="145233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R="0" lvl="0" indent="0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0" sz="11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 defTabSz="742950">
              <a:defRPr/>
            </a:pPr>
            <a:r>
              <a:rPr lang="en-US" altLang="ko-KR" sz="853" dirty="0"/>
              <a:t>-</a:t>
            </a:r>
            <a:r>
              <a:rPr lang="ko-KR" altLang="en-US" sz="853" dirty="0"/>
              <a:t> 단품 </a:t>
            </a:r>
            <a:r>
              <a:rPr lang="en-US" altLang="ko-KR" sz="853" dirty="0"/>
              <a:t>: </a:t>
            </a:r>
            <a:r>
              <a:rPr lang="ko-KR" altLang="en-US" sz="853" dirty="0"/>
              <a:t>본원 성능</a:t>
            </a:r>
            <a:r>
              <a:rPr lang="en-US" altLang="ko-KR" sz="853" dirty="0"/>
              <a:t>, </a:t>
            </a:r>
            <a:r>
              <a:rPr lang="ko-KR" altLang="en-US" sz="853" dirty="0"/>
              <a:t>편의성 강화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6E962932-52D3-3F40-F829-F37BB836ADE2}"/>
              </a:ext>
            </a:extLst>
          </p:cNvPr>
          <p:cNvSpPr txBox="1"/>
          <p:nvPr/>
        </p:nvSpPr>
        <p:spPr>
          <a:xfrm>
            <a:off x="7812998" y="3933061"/>
            <a:ext cx="1932153" cy="2048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31" b="0" kern="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밸류</a:t>
            </a:r>
            <a:r>
              <a:rPr lang="en-US" altLang="ko-KR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스펙</a:t>
            </a:r>
            <a:r>
              <a:rPr lang="en-US" altLang="ko-KR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lang="ko-KR" altLang="en-US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증가</a:t>
            </a:r>
            <a:r>
              <a:rPr lang="en-US" altLang="ko-KR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</a:t>
            </a:r>
            <a:r>
              <a:rPr lang="ko-KR" altLang="en-US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$150 </a:t>
            </a:r>
            <a:r>
              <a:rPr lang="ko-KR" altLang="en-US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증가</a:t>
            </a:r>
            <a:r>
              <a:rPr lang="en-US" altLang="ko-KR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원가절감</a:t>
            </a:r>
            <a:r>
              <a:rPr lang="en-US" altLang="ko-KR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$10</a:t>
            </a:r>
            <a:r>
              <a:rPr lang="ko-KR" altLang="en-US" sz="731" b="0" kern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개선</a:t>
            </a:r>
            <a:endParaRPr lang="en-US" altLang="ko-KR" sz="731" b="0" kern="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777C1E2-6EF5-E7A1-E518-12B15982DCC3}"/>
              </a:ext>
            </a:extLst>
          </p:cNvPr>
          <p:cNvSpPr/>
          <p:nvPr/>
        </p:nvSpPr>
        <p:spPr>
          <a:xfrm>
            <a:off x="7579579" y="4413545"/>
            <a:ext cx="1750479" cy="112467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pPr defTabSz="742931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itchFamily="2" charset="2"/>
              </a:rPr>
              <a:t>기술 과시보다 고객 가치</a:t>
            </a:r>
            <a:r>
              <a:rPr kumimoji="0" lang="en-US" altLang="ko-KR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itchFamily="2" charset="2"/>
              </a:rPr>
              <a:t>/ </a:t>
            </a:r>
            <a:r>
              <a:rPr kumimoji="0"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itchFamily="2" charset="2"/>
              </a:rPr>
              <a:t>효과 중심 </a:t>
            </a:r>
            <a:r>
              <a:rPr kumimoji="0" lang="ko-KR" altLang="en-US" sz="731" b="0" kern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itchFamily="2" charset="2"/>
              </a:rPr>
              <a:t>마컴물</a:t>
            </a:r>
            <a:r>
              <a:rPr kumimoji="0" lang="ko-KR" altLang="en-US" sz="731" b="0" kern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itchFamily="2" charset="2"/>
              </a:rPr>
              <a:t> 제작</a:t>
            </a:r>
            <a:endParaRPr kumimoji="0" lang="en-US" altLang="ko-KR" sz="731" b="0" kern="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  <a:sym typeface="Wingdings" pitchFamily="2" charset="2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CEBDA4A1-D0CA-68EE-9755-FC0F6756BF59}"/>
              </a:ext>
            </a:extLst>
          </p:cNvPr>
          <p:cNvSpPr txBox="1"/>
          <p:nvPr/>
        </p:nvSpPr>
        <p:spPr>
          <a:xfrm>
            <a:off x="6789086" y="5177386"/>
            <a:ext cx="1322300" cy="4297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목표재료비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$245 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 err="1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스펙증가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+$100</a:t>
            </a:r>
          </a:p>
          <a:p>
            <a:pPr defTabSz="742950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원가절감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$30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(Base </a:t>
            </a:r>
            <a:r>
              <a:rPr kumimoji="0" lang="ko-KR" altLang="en-US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대비</a:t>
            </a:r>
            <a:r>
              <a:rPr kumimoji="0" lang="en-US" altLang="ko-KR" sz="731" b="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AFF7166-5DD5-F4AC-9A1E-A0A347310108}"/>
              </a:ext>
            </a:extLst>
          </p:cNvPr>
          <p:cNvSpPr txBox="1"/>
          <p:nvPr/>
        </p:nvSpPr>
        <p:spPr>
          <a:xfrm>
            <a:off x="5136039" y="2957625"/>
            <a:ext cx="1910779" cy="15004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975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Entry </a:t>
            </a:r>
            <a:r>
              <a:rPr kumimoji="0" lang="ko-KR" altLang="en-US" sz="975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존</a:t>
            </a:r>
            <a:r>
              <a:rPr kumimoji="0" lang="en-US" altLang="ko-KR" sz="975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kumimoji="0" lang="ko-KR" altLang="en-US" sz="975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사업 규모 확대 위한 상품 준비</a:t>
            </a:r>
            <a:endParaRPr kumimoji="0" lang="en-US" altLang="ko-KR" sz="975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E872279-9B52-5F66-46B1-97BE197944EF}"/>
              </a:ext>
            </a:extLst>
          </p:cNvPr>
          <p:cNvSpPr txBox="1"/>
          <p:nvPr/>
        </p:nvSpPr>
        <p:spPr>
          <a:xfrm>
            <a:off x="4918335" y="3397384"/>
            <a:ext cx="2454198" cy="4128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defTabSz="742950">
              <a:defRPr/>
            </a:pPr>
            <a:r>
              <a:rPr lang="ko-KR" altLang="en-US" sz="894">
                <a:cs typeface="+mn-cs"/>
                <a:sym typeface="Wingdings" panose="05000000000000000000" pitchFamily="2" charset="2"/>
              </a:rPr>
              <a:t>① </a:t>
            </a:r>
            <a:r>
              <a:rPr lang="en-US" altLang="ko-KR" sz="894">
                <a:cs typeface="+mn-cs"/>
                <a:sym typeface="Wingdings" panose="05000000000000000000" pitchFamily="2" charset="2"/>
              </a:rPr>
              <a:t>IH Basic </a:t>
            </a:r>
            <a:r>
              <a:rPr lang="ko-KR" altLang="en-US" sz="894">
                <a:cs typeface="+mn-cs"/>
                <a:sym typeface="Wingdings" panose="05000000000000000000" pitchFamily="2" charset="2"/>
              </a:rPr>
              <a:t>가격</a:t>
            </a:r>
            <a:r>
              <a:rPr lang="en-US" altLang="ko-KR" sz="894">
                <a:cs typeface="+mn-cs"/>
                <a:sym typeface="Wingdings" panose="05000000000000000000" pitchFamily="2" charset="2"/>
              </a:rPr>
              <a:t>/ </a:t>
            </a:r>
            <a:r>
              <a:rPr lang="ko-KR" altLang="en-US" sz="894">
                <a:cs typeface="+mn-cs"/>
                <a:sym typeface="Wingdings" panose="05000000000000000000" pitchFamily="2" charset="2"/>
              </a:rPr>
              <a:t>제품 경쟁력 확보</a:t>
            </a:r>
            <a:r>
              <a:rPr lang="en-US" altLang="ko-KR" sz="894">
                <a:cs typeface="+mn-cs"/>
                <a:sym typeface="Wingdings" panose="05000000000000000000" pitchFamily="2" charset="2"/>
              </a:rPr>
              <a:t> </a:t>
            </a:r>
            <a:r>
              <a:rPr lang="ko-KR" altLang="en-US" sz="894">
                <a:cs typeface="+mn-cs"/>
              </a:rPr>
              <a:t> </a:t>
            </a:r>
            <a:r>
              <a:rPr lang="en-US" altLang="ko-KR" sz="894">
                <a:cs typeface="+mn-cs"/>
              </a:rPr>
              <a:t>(P MAP</a:t>
            </a:r>
            <a:r>
              <a:rPr lang="ko-KR" altLang="en-US" sz="894">
                <a:cs typeface="+mn-cs"/>
              </a:rPr>
              <a:t> </a:t>
            </a:r>
            <a:r>
              <a:rPr lang="en-US" altLang="ko-KR" sz="894">
                <a:cs typeface="+mn-cs"/>
              </a:rPr>
              <a:t>$999, ‘27.3)</a:t>
            </a:r>
            <a:r>
              <a:rPr lang="ko-KR" altLang="en-US" sz="894">
                <a:cs typeface="+mn-cs"/>
              </a:rPr>
              <a:t> </a:t>
            </a:r>
            <a:endParaRPr lang="en-US" altLang="ko-KR" sz="894">
              <a:cs typeface="+mn-cs"/>
              <a:sym typeface="Wingdings" panose="05000000000000000000" pitchFamily="2" charset="2"/>
            </a:endParaRPr>
          </a:p>
          <a:p>
            <a:pPr defTabSz="742950">
              <a:defRPr/>
            </a:pPr>
            <a:r>
              <a:rPr lang="en-US" altLang="ko-KR" sz="894">
                <a:cs typeface="+mn-cs"/>
                <a:sym typeface="Wingdings" panose="05000000000000000000" pitchFamily="2" charset="2"/>
              </a:rPr>
              <a:t>    </a:t>
            </a:r>
            <a:r>
              <a:rPr lang="en-US" altLang="ko-KR" sz="894">
                <a:cs typeface="+mn-cs"/>
              </a:rPr>
              <a:t>- </a:t>
            </a:r>
            <a:r>
              <a:rPr lang="ko-KR" altLang="en-US" sz="894">
                <a:cs typeface="+mn-cs"/>
              </a:rPr>
              <a:t>원가개선 </a:t>
            </a:r>
            <a:r>
              <a:rPr lang="en-US" altLang="ko-KR" sz="894">
                <a:cs typeface="+mn-cs"/>
              </a:rPr>
              <a:t>:’26</a:t>
            </a:r>
            <a:r>
              <a:rPr lang="ko-KR" altLang="en-US" sz="894">
                <a:cs typeface="+mn-cs"/>
              </a:rPr>
              <a:t>년 생산지 </a:t>
            </a:r>
            <a:r>
              <a:rPr lang="en-US" altLang="ko-KR" sz="894">
                <a:cs typeface="+mn-cs"/>
              </a:rPr>
              <a:t>KR</a:t>
            </a:r>
            <a:r>
              <a:rPr lang="ko-KR" altLang="en-US" sz="894">
                <a:cs typeface="+mn-cs"/>
              </a:rPr>
              <a:t>→</a:t>
            </a:r>
            <a:r>
              <a:rPr lang="en-US" altLang="ko-KR" sz="894">
                <a:cs typeface="+mn-cs"/>
              </a:rPr>
              <a:t>MN</a:t>
            </a:r>
            <a:r>
              <a:rPr lang="ko-KR" altLang="en-US" sz="894">
                <a:cs typeface="+mn-cs"/>
              </a:rPr>
              <a:t>이전</a:t>
            </a:r>
            <a:br>
              <a:rPr lang="en-US" altLang="ko-KR" sz="894">
                <a:cs typeface="+mn-cs"/>
                <a:sym typeface="Wingdings" panose="05000000000000000000" pitchFamily="2" charset="2"/>
              </a:rPr>
            </a:br>
            <a:r>
              <a:rPr lang="ko-KR" altLang="en-US" sz="894">
                <a:cs typeface="+mn-cs"/>
                <a:sym typeface="Wingdings" panose="05000000000000000000" pitchFamily="2" charset="2"/>
              </a:rPr>
              <a:t>   </a:t>
            </a:r>
            <a:r>
              <a:rPr lang="en-US" altLang="ko-KR" sz="894">
                <a:cs typeface="+mn-cs"/>
                <a:sym typeface="Wingdings" panose="05000000000000000000" pitchFamily="2" charset="2"/>
              </a:rPr>
              <a:t> - </a:t>
            </a:r>
            <a:r>
              <a:rPr lang="ko-KR" altLang="en-US" sz="894">
                <a:cs typeface="+mn-cs"/>
                <a:sym typeface="Wingdings" panose="05000000000000000000" pitchFamily="2" charset="2"/>
              </a:rPr>
              <a:t>제품개선 </a:t>
            </a:r>
            <a:r>
              <a:rPr lang="en-US" altLang="ko-KR" sz="894">
                <a:cs typeface="+mn-cs"/>
                <a:sym typeface="Wingdings" panose="05000000000000000000" pitchFamily="2" charset="2"/>
              </a:rPr>
              <a:t>: </a:t>
            </a:r>
            <a:r>
              <a:rPr lang="ko-KR" altLang="en-US" sz="894">
                <a:cs typeface="+mn-cs"/>
                <a:sym typeface="Wingdings" panose="05000000000000000000" pitchFamily="2" charset="2"/>
              </a:rPr>
              <a:t>터치컨트롤 </a:t>
            </a:r>
            <a:r>
              <a:rPr lang="en-US" altLang="ko-KR" sz="894">
                <a:cs typeface="+mn-cs"/>
                <a:sym typeface="Wingdings" panose="05000000000000000000" pitchFamily="2" charset="2"/>
              </a:rPr>
              <a:t>AAR </a:t>
            </a:r>
            <a:r>
              <a:rPr lang="ko-KR" altLang="en-US" sz="894">
                <a:cs typeface="+mn-cs"/>
                <a:sym typeface="Wingdings" panose="05000000000000000000" pitchFamily="2" charset="2"/>
              </a:rPr>
              <a:t>및 </a:t>
            </a:r>
            <a:r>
              <a:rPr lang="ko-KR" altLang="en-US" sz="894" err="1">
                <a:cs typeface="+mn-cs"/>
                <a:sym typeface="Wingdings" panose="05000000000000000000" pitchFamily="2" charset="2"/>
              </a:rPr>
              <a:t>놉</a:t>
            </a:r>
            <a:r>
              <a:rPr lang="ko-KR" altLang="en-US" sz="894">
                <a:cs typeface="+mn-cs"/>
                <a:sym typeface="Wingdings" panose="05000000000000000000" pitchFamily="2" charset="2"/>
              </a:rPr>
              <a:t> 교체 검토 </a:t>
            </a:r>
            <a:endParaRPr lang="en-US" altLang="ko-KR" sz="894">
              <a:cs typeface="+mn-cs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2FA15BE9-F2EB-3C77-6A0A-2C088A032B58}"/>
              </a:ext>
            </a:extLst>
          </p:cNvPr>
          <p:cNvSpPr txBox="1"/>
          <p:nvPr/>
        </p:nvSpPr>
        <p:spPr>
          <a:xfrm>
            <a:off x="6717602" y="3533074"/>
            <a:ext cx="809517" cy="1124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742950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31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Δ8.5%(’25)</a:t>
            </a:r>
            <a:r>
              <a:rPr kumimoji="0" lang="ko-KR" altLang="en-US" sz="731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731" b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2.7%(’26)</a:t>
            </a:r>
            <a:endParaRPr kumimoji="0" lang="ko-KR" altLang="en-US" sz="731" b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A0E48C5-96E5-60BA-600E-00F5D0EACE57}"/>
              </a:ext>
            </a:extLst>
          </p:cNvPr>
          <p:cNvSpPr txBox="1"/>
          <p:nvPr/>
        </p:nvSpPr>
        <p:spPr>
          <a:xfrm>
            <a:off x="4914210" y="3136676"/>
            <a:ext cx="2423740" cy="2249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algn="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900" b="0" i="0" u="none" strike="noStrike" cap="none" spc="0" normalizeH="0" baseline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algn="l" defTabSz="742950">
              <a:defRPr/>
            </a:pPr>
            <a:r>
              <a:rPr lang="ko-KR" altLang="en-US" sz="731">
                <a:cs typeface="+mn-cs"/>
              </a:rPr>
              <a:t>문제 </a:t>
            </a:r>
            <a:r>
              <a:rPr lang="en-US" altLang="ko-KR" sz="731">
                <a:cs typeface="+mn-cs"/>
              </a:rPr>
              <a:t>: GE IH</a:t>
            </a:r>
            <a:r>
              <a:rPr lang="ko-KR" altLang="en-US" sz="731">
                <a:cs typeface="+mn-cs"/>
              </a:rPr>
              <a:t> </a:t>
            </a:r>
            <a:r>
              <a:rPr lang="en-US" altLang="ko-KR" sz="731">
                <a:cs typeface="+mn-cs"/>
              </a:rPr>
              <a:t>(</a:t>
            </a:r>
            <a:r>
              <a:rPr lang="ko-KR" altLang="en-US" sz="731" err="1">
                <a:cs typeface="+mn-cs"/>
              </a:rPr>
              <a:t>놉적용</a:t>
            </a:r>
            <a:r>
              <a:rPr lang="en-US" altLang="ko-KR" sz="731">
                <a:cs typeface="+mn-cs"/>
              </a:rPr>
              <a:t>, $999)</a:t>
            </a:r>
            <a:r>
              <a:rPr lang="ko-KR" altLang="en-US" sz="731">
                <a:cs typeface="+mn-cs"/>
              </a:rPr>
              <a:t> 출시 후</a:t>
            </a:r>
            <a:r>
              <a:rPr lang="en-US" altLang="ko-KR" sz="731">
                <a:cs typeface="+mn-cs"/>
              </a:rPr>
              <a:t>, </a:t>
            </a:r>
            <a:r>
              <a:rPr lang="ko-KR" altLang="en-US" sz="731">
                <a:cs typeface="+mn-cs"/>
              </a:rPr>
              <a:t>자사 </a:t>
            </a:r>
            <a:r>
              <a:rPr lang="en-US" altLang="ko-KR" sz="731">
                <a:cs typeface="+mn-cs"/>
              </a:rPr>
              <a:t>IH</a:t>
            </a:r>
            <a:r>
              <a:rPr lang="ko-KR" altLang="en-US" sz="731">
                <a:cs typeface="+mn-cs"/>
              </a:rPr>
              <a:t> </a:t>
            </a:r>
            <a:r>
              <a:rPr lang="en-US" altLang="ko-KR" sz="731">
                <a:cs typeface="+mn-cs"/>
              </a:rPr>
              <a:t>(</a:t>
            </a:r>
            <a:r>
              <a:rPr lang="ko-KR" altLang="en-US" sz="731">
                <a:cs typeface="+mn-cs"/>
              </a:rPr>
              <a:t>터치</a:t>
            </a:r>
            <a:r>
              <a:rPr lang="en-US" altLang="ko-KR" sz="731">
                <a:cs typeface="+mn-cs"/>
              </a:rPr>
              <a:t>, $1299) </a:t>
            </a:r>
            <a:r>
              <a:rPr lang="ko-KR" altLang="en-US" sz="731">
                <a:cs typeface="+mn-cs"/>
              </a:rPr>
              <a:t>판매부진</a:t>
            </a:r>
            <a:br>
              <a:rPr lang="en-US" altLang="ko-KR" sz="731">
                <a:cs typeface="+mn-cs"/>
              </a:rPr>
            </a:br>
            <a:r>
              <a:rPr lang="en-US" altLang="ko-KR" sz="731">
                <a:cs typeface="+mn-cs"/>
              </a:rPr>
              <a:t>           THD Flooring </a:t>
            </a:r>
            <a:r>
              <a:rPr lang="ko-KR" altLang="en-US" sz="731">
                <a:cs typeface="+mn-cs"/>
              </a:rPr>
              <a:t>축소 </a:t>
            </a:r>
            <a:r>
              <a:rPr lang="en-US" altLang="ko-KR" sz="731">
                <a:cs typeface="+mn-cs"/>
              </a:rPr>
              <a:t>(1,600</a:t>
            </a:r>
            <a:r>
              <a:rPr lang="ko-KR" altLang="en-US" sz="731">
                <a:cs typeface="+mn-cs"/>
              </a:rPr>
              <a:t>개 → </a:t>
            </a:r>
            <a:r>
              <a:rPr lang="en-US" altLang="ko-KR" sz="731">
                <a:cs typeface="+mn-cs"/>
              </a:rPr>
              <a:t>1,200</a:t>
            </a:r>
            <a:r>
              <a:rPr lang="ko-KR" altLang="en-US" sz="731">
                <a:cs typeface="+mn-cs"/>
              </a:rPr>
              <a:t>개</a:t>
            </a:r>
            <a:r>
              <a:rPr lang="en-US" altLang="ko-KR" sz="731">
                <a:cs typeface="+mn-cs"/>
              </a:rPr>
              <a:t>)</a:t>
            </a:r>
          </a:p>
        </p:txBody>
      </p:sp>
      <p:sp>
        <p:nvSpPr>
          <p:cNvPr id="142" name="직사각형 141">
            <a:hlinkClick r:id="" action="ppaction://noaction"/>
            <a:extLst>
              <a:ext uri="{FF2B5EF4-FFF2-40B4-BE49-F238E27FC236}">
                <a16:creationId xmlns:a16="http://schemas.microsoft.com/office/drawing/2014/main" id="{DC0A55E9-2F04-5D4C-E54E-C797429CD54E}"/>
              </a:ext>
            </a:extLst>
          </p:cNvPr>
          <p:cNvSpPr/>
          <p:nvPr/>
        </p:nvSpPr>
        <p:spPr>
          <a:xfrm>
            <a:off x="4967859" y="2952050"/>
            <a:ext cx="131857" cy="139263"/>
          </a:xfrm>
          <a:prstGeom prst="rect">
            <a:avLst/>
          </a:prstGeom>
          <a:solidFill>
            <a:sysClr val="windowText" lastClr="0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74295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13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endParaRPr kumimoji="0" lang="ko-KR" altLang="en-US" sz="813" kern="0">
              <a:solidFill>
                <a:prstClr val="white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TextBox 5">
            <a:hlinkClick r:id="rId3" action="ppaction://hlinksldjump"/>
            <a:extLst>
              <a:ext uri="{FF2B5EF4-FFF2-40B4-BE49-F238E27FC236}">
                <a16:creationId xmlns:a16="http://schemas.microsoft.com/office/drawing/2014/main" id="{310DDCD5-EBB3-EF04-3F4D-B1750B265EB0}"/>
              </a:ext>
            </a:extLst>
          </p:cNvPr>
          <p:cNvSpPr txBox="1"/>
          <p:nvPr/>
        </p:nvSpPr>
        <p:spPr>
          <a:xfrm>
            <a:off x="3627326" y="6054563"/>
            <a:ext cx="464871" cy="1290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itchFamily="2" charset="2"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</a:lstStyle>
          <a:p>
            <a:pPr defTabSz="742950">
              <a:spcBef>
                <a:spcPts val="488"/>
              </a:spcBef>
              <a:defRPr/>
            </a:pPr>
            <a:r>
              <a:rPr lang="ko-KR" altLang="en-US" sz="813" b="0" err="1">
                <a:solidFill>
                  <a:prstClr val="white">
                    <a:lumMod val="75000"/>
                  </a:prstClr>
                </a:solidFill>
              </a:rPr>
              <a:t>커미티결과</a:t>
            </a:r>
            <a:endParaRPr lang="en-US" altLang="ko-KR" sz="813" b="0">
              <a:solidFill>
                <a:prstClr val="white">
                  <a:lumMod val="75000"/>
                </a:prstClr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06EE059-487A-D8C7-F0B0-A98415887BAC}"/>
              </a:ext>
            </a:extLst>
          </p:cNvPr>
          <p:cNvSpPr/>
          <p:nvPr/>
        </p:nvSpPr>
        <p:spPr>
          <a:xfrm>
            <a:off x="7357509" y="2241418"/>
            <a:ext cx="2156196" cy="420738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463" b="0">
              <a:solidFill>
                <a:prstClr val="white"/>
              </a:solidFill>
              <a:latin typeface="Arial Narrow"/>
              <a:ea typeface="LG스마트체 Regular"/>
            </a:endParaRPr>
          </a:p>
        </p:txBody>
      </p:sp>
      <p:sp>
        <p:nvSpPr>
          <p:cNvPr id="9" name="실행 단추: 돌아가기 8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DDA610B-1747-FA97-FDC1-D60CE118DD5B}"/>
              </a:ext>
            </a:extLst>
          </p:cNvPr>
          <p:cNvSpPr/>
          <p:nvPr/>
        </p:nvSpPr>
        <p:spPr>
          <a:xfrm>
            <a:off x="9577187" y="5843588"/>
            <a:ext cx="218515" cy="218515"/>
          </a:xfrm>
          <a:prstGeom prst="actionButtonReturn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4295" tIns="37148" rIns="74295" bIns="3714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742950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463" b="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36339836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3g541y6gUm92nN_iulCuQ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3g541y6gUm92nN_iulCuQ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3g541y6gUm92nN_iulCuQ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3g541y6gUm92nN_iulCuQ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3EkzrtF606GVFvaSHuuRg"/>
</p:tagLst>
</file>

<file path=ppt/theme/theme1.xml><?xml version="1.0" encoding="utf-8"?>
<a:theme xmlns:a="http://schemas.openxmlformats.org/drawingml/2006/main" name="1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표준 글꼴">
      <a:majorFont>
        <a:latin typeface="Arial"/>
        <a:ea typeface="돋움"/>
        <a:cs typeface=""/>
      </a:majorFont>
      <a:minorFont>
        <a:latin typeface="Arial"/>
        <a:ea typeface="돋움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5_기본 디자인">
  <a:themeElements>
    <a:clrScheme name="1_기본 디자인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기본 디자인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37_디자인 사용자 지정">
  <a:themeElements>
    <a:clrScheme name="17_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7_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wrap="square" rtlCol="0" anchor="ctr">
        <a:spAutoFit/>
      </a:bodyPr>
      <a:lstStyle>
        <a:defPPr algn="r">
          <a:defRPr sz="800" i="0" smtClean="0">
            <a:solidFill>
              <a:schemeClr val="tx1"/>
            </a:solidFill>
            <a:latin typeface="돋움" pitchFamily="50" charset="-127"/>
            <a:ea typeface="돋움" pitchFamily="50" charset="-127"/>
            <a:cs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2700" cap="flat" cmpd="sng" algn="ctr">
          <a:solidFill>
            <a:srgbClr val="A5002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굴림" pitchFamily="50" charset="-127"/>
            <a:ea typeface="굴림" pitchFamily="50" charset="-127"/>
          </a:defRPr>
        </a:defPPr>
      </a:lstStyle>
    </a:lnDef>
  </a:objectDefaults>
  <a:extraClrSchemeLst>
    <a:extraClrScheme>
      <a:clrScheme name="17_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9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2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3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3_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4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lIns="0" tIns="0" rIns="0" bIns="0" rtlCol="0">
        <a:spAutoFit/>
      </a:bodyPr>
      <a:lstStyle>
        <a:defPPr algn="l">
          <a:defRPr sz="1200" b="1" dirty="0" smtClean="0">
            <a:latin typeface="Arial Narrow" panose="020B0606020202030204" pitchFamily="34" charset="0"/>
            <a:ea typeface="LG스마트체 Regular" panose="020B0600000101010101" pitchFamily="50" charset="-127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맑은 고딕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맑은 고딕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116753</TotalTime>
  <Words>20332</Words>
  <Application>Microsoft Office PowerPoint</Application>
  <PresentationFormat>A4 용지(210x297mm)</PresentationFormat>
  <Paragraphs>7727</Paragraphs>
  <Slides>47</Slides>
  <Notes>29</Notes>
  <HiddenSlides>9</HiddenSlides>
  <MMClips>0</MMClips>
  <ScaleCrop>false</ScaleCrop>
  <HeadingPairs>
    <vt:vector size="8" baseType="variant">
      <vt:variant>
        <vt:lpstr>사용한 글꼴</vt:lpstr>
      </vt:variant>
      <vt:variant>
        <vt:i4>13</vt:i4>
      </vt:variant>
      <vt:variant>
        <vt:lpstr>테마</vt:lpstr>
      </vt:variant>
      <vt:variant>
        <vt:i4>10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47</vt:i4>
      </vt:variant>
    </vt:vector>
  </HeadingPairs>
  <TitlesOfParts>
    <vt:vector size="71" baseType="lpstr">
      <vt:lpstr>Arial Unicode MS</vt:lpstr>
      <vt:lpstr>LG스마트체 Regular</vt:lpstr>
      <vt:lpstr>굴림</vt:lpstr>
      <vt:lpstr>굴림체</vt:lpstr>
      <vt:lpstr>돋움</vt:lpstr>
      <vt:lpstr>맑은 고딕</vt:lpstr>
      <vt:lpstr>Arial</vt:lpstr>
      <vt:lpstr>Arial Narrow</vt:lpstr>
      <vt:lpstr>Calibri</vt:lpstr>
      <vt:lpstr>Calibri Light</vt:lpstr>
      <vt:lpstr>Times New Roman</vt:lpstr>
      <vt:lpstr>Trebuchet MS</vt:lpstr>
      <vt:lpstr>Wingdings</vt:lpstr>
      <vt:lpstr>1_기본 디자인</vt:lpstr>
      <vt:lpstr>1_Office 테마</vt:lpstr>
      <vt:lpstr>5_기본 디자인</vt:lpstr>
      <vt:lpstr>37_디자인 사용자 지정</vt:lpstr>
      <vt:lpstr>9_기본 디자인</vt:lpstr>
      <vt:lpstr>2_Office 테마</vt:lpstr>
      <vt:lpstr>디자인 사용자 지정</vt:lpstr>
      <vt:lpstr>33_디자인 사용자 지정</vt:lpstr>
      <vt:lpstr>3_Office 테마</vt:lpstr>
      <vt:lpstr>4_Office 테마</vt:lpstr>
      <vt:lpstr>Worksheet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개발 유형 및 등급 확정 심의회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NDSystem</dc:creator>
  <cp:lastModifiedBy>이종현/선임연구원/30인치오븐개발Project</cp:lastModifiedBy>
  <cp:revision>3093</cp:revision>
  <cp:lastPrinted>2020-11-02T23:03:22Z</cp:lastPrinted>
  <dcterms:created xsi:type="dcterms:W3CDTF">2011-03-07T09:09:03Z</dcterms:created>
  <dcterms:modified xsi:type="dcterms:W3CDTF">2026-03-21T07:44:22Z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c6ed9fc-fefc-4a0c-a6d6-10cf236c0d4f_Enabled">
    <vt:lpwstr>true</vt:lpwstr>
  </property>
  <property fmtid="{D5CDD505-2E9C-101B-9397-08002B2CF9AE}" pid="3" name="MSIP_Label_cc6ed9fc-fefc-4a0c-a6d6-10cf236c0d4f_SetDate">
    <vt:lpwstr>2025-06-07T12:26:16Z</vt:lpwstr>
  </property>
  <property fmtid="{D5CDD505-2E9C-101B-9397-08002B2CF9AE}" pid="4" name="MSIP_Label_cc6ed9fc-fefc-4a0c-a6d6-10cf236c0d4f_Method">
    <vt:lpwstr>Standard</vt:lpwstr>
  </property>
  <property fmtid="{D5CDD505-2E9C-101B-9397-08002B2CF9AE}" pid="5" name="MSIP_Label_cc6ed9fc-fefc-4a0c-a6d6-10cf236c0d4f_Name">
    <vt:lpwstr>Internal use only</vt:lpwstr>
  </property>
  <property fmtid="{D5CDD505-2E9C-101B-9397-08002B2CF9AE}" pid="6" name="MSIP_Label_cc6ed9fc-fefc-4a0c-a6d6-10cf236c0d4f_SiteId">
    <vt:lpwstr>5069cde4-642a-45c0-8094-d0c2dec10be3</vt:lpwstr>
  </property>
  <property fmtid="{D5CDD505-2E9C-101B-9397-08002B2CF9AE}" pid="7" name="MSIP_Label_cc6ed9fc-fefc-4a0c-a6d6-10cf236c0d4f_ActionId">
    <vt:lpwstr>2775bda4-067b-4f5a-be9b-20c02043aedb</vt:lpwstr>
  </property>
  <property fmtid="{D5CDD505-2E9C-101B-9397-08002B2CF9AE}" pid="8" name="MSIP_Label_cc6ed9fc-fefc-4a0c-a6d6-10cf236c0d4f_ContentBits">
    <vt:lpwstr>1</vt:lpwstr>
  </property>
  <property fmtid="{D5CDD505-2E9C-101B-9397-08002B2CF9AE}" pid="9" name="MSIP_Label_cc6ed9fc-fefc-4a0c-a6d6-10cf236c0d4f_Tag">
    <vt:lpwstr>10, 3, 0, 1</vt:lpwstr>
  </property>
  <property fmtid="{D5CDD505-2E9C-101B-9397-08002B2CF9AE}" pid="10" name="ClassificationContentMarkingHeaderLocations">
    <vt:lpwstr>1_기본 디자인:3\기본 디자인:3\1_Office 테마:8\5_기본 디자인:3\37_디자인 사용자 지정:3\9_기본 디자인:3\2_Office 테마:8\10_기본 디자인:3\디자인 사용자 지정:5</vt:lpwstr>
  </property>
  <property fmtid="{D5CDD505-2E9C-101B-9397-08002B2CF9AE}" pid="11" name="ClassificationContentMarkingHeaderText">
    <vt:lpwstr>LGE Internal Use Only</vt:lpwstr>
  </property>
</Properties>
</file>